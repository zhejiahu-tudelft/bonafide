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4"/>
    <p:sldMasterId id="2147483675" r:id="rId5"/>
  </p:sldMasterIdLst>
  <p:notesMasterIdLst>
    <p:notesMasterId r:id="rId6"/>
  </p:notesMasterIdLst>
  <p:sldIdLst>
    <p:sldId id="258" r:id="rId13"/>
    <p:sldId id="259" r:id="rId14"/>
    <p:sldId id="282" r:id="rId35"/>
    <p:sldId id="260" r:id="rId15"/>
    <p:sldId id="283" r:id="rId36"/>
    <p:sldId id="261" r:id="rId16"/>
    <p:sldId id="265" r:id="rId20"/>
    <p:sldId id="286" r:id="rId39"/>
    <p:sldId id="287" r:id="rId40"/>
    <p:sldId id="267" r:id="rId22"/>
    <p:sldId id="284" r:id="rId37"/>
    <p:sldId id="266" r:id="rId21"/>
    <p:sldId id="269" r:id="rId24"/>
    <p:sldId id="271" r:id="rId26"/>
    <p:sldId id="270" r:id="rId25"/>
    <p:sldId id="272" r:id="rId27"/>
    <p:sldId id="273" r:id="rId28"/>
    <p:sldId id="276" r:id="rId31"/>
    <p:sldId id="277" r:id="rId32"/>
    <p:sldId id="285" r:id="rId38"/>
    <p:sldId id="278" r:id="rId8"/>
    <p:sldId id="262" r:id="rId17"/>
    <p:sldId id="263" r:id="rId18"/>
    <p:sldId id="264" r:id="rId19"/>
    <p:sldId id="268" r:id="rId23"/>
    <p:sldId id="274" r:id="rId29"/>
    <p:sldId id="275" r:id="rId30"/>
    <p:sldId id="279" r:id="rId7"/>
    <p:sldId id="280" r:id="rId33"/>
    <p:sldId id="281" r:id="rId34"/>
  </p:sldIdLst>
  <p:sldSz cy="5143500" cx="9144000"/>
  <p:notesSz cx="6858000" cy="9144000"/>
  <p:embeddedFontLst>
    <p:embeddedFont>
      <p:font typeface="Helvetica Neue"/>
      <p:regular r:id="rId9"/>
      <p:bold r:id="rId10"/>
      <p:italic r:id="rId11"/>
      <p:boldItalic r:id="rId1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28.xml"/><Relationship Id="rId8" Type="http://schemas.openxmlformats.org/officeDocument/2006/relationships/slide" Target="slides/slide21.xml"/><Relationship Id="rId9" Type="http://schemas.openxmlformats.org/officeDocument/2006/relationships/font" Target="fonts/HelveticaNeue-regular.fntdata"/><Relationship Id="rId10" Type="http://schemas.openxmlformats.org/officeDocument/2006/relationships/font" Target="fonts/HelveticaNeue-bold.fntdata"/><Relationship Id="rId11" Type="http://schemas.openxmlformats.org/officeDocument/2006/relationships/font" Target="fonts/HelveticaNeue-italic.fntdata"/><Relationship Id="rId12" Type="http://schemas.openxmlformats.org/officeDocument/2006/relationships/font" Target="fonts/HelveticaNeue-boldItalic.fntdata"/><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4.xml"/><Relationship Id="rId16" Type="http://schemas.openxmlformats.org/officeDocument/2006/relationships/slide" Target="slides/slide6.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4.xml"/><Relationship Id="rId20" Type="http://schemas.openxmlformats.org/officeDocument/2006/relationships/slide" Target="slides/slide7.xml"/><Relationship Id="rId21" Type="http://schemas.openxmlformats.org/officeDocument/2006/relationships/slide" Target="slides/slide12.xml"/><Relationship Id="rId22" Type="http://schemas.openxmlformats.org/officeDocument/2006/relationships/slide" Target="slides/slide10.xml"/><Relationship Id="rId23" Type="http://schemas.openxmlformats.org/officeDocument/2006/relationships/slide" Target="slides/slide25.xml"/><Relationship Id="rId24" Type="http://schemas.openxmlformats.org/officeDocument/2006/relationships/slide" Target="slides/slide13.xml"/><Relationship Id="rId25" Type="http://schemas.openxmlformats.org/officeDocument/2006/relationships/slide" Target="slides/slide15.xml"/><Relationship Id="rId26" Type="http://schemas.openxmlformats.org/officeDocument/2006/relationships/slide" Target="slides/slide1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xml"/><Relationship Id="rId36" Type="http://schemas.openxmlformats.org/officeDocument/2006/relationships/slide" Target="slides/slide5.xml"/><Relationship Id="rId37" Type="http://schemas.openxmlformats.org/officeDocument/2006/relationships/slide" Target="slides/slide11.xml"/><Relationship Id="rId38" Type="http://schemas.openxmlformats.org/officeDocument/2006/relationships/slide" Target="slides/slide20.xml"/><Relationship Id="rId39" Type="http://schemas.openxmlformats.org/officeDocument/2006/relationships/slide" Target="slides/slide8.xml"/><Relationship Id="rId40"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 per share</c:v>
                </c:pt>
              </c:strCache>
            </c:strRef>
          </c:tx>
          <c:dPt>
            <c:idx val="0"/>
            <c:spPr>
              <a:solidFill>
                <a:srgbClr val="135927"/>
              </a:solidFill>
            </c:spPr>
          </c:dPt>
          <c:dPt>
            <c:idx val="1"/>
            <c:spPr>
              <a:solidFill>
                <a:srgbClr val="135927"/>
              </a:solidFill>
            </c:spPr>
          </c:dPt>
          <c:dPt>
            <c:idx val="2"/>
            <c:spPr>
              <a:solidFill>
                <a:srgbClr val="135927"/>
              </a:solidFill>
            </c:spPr>
          </c:dPt>
          <c:dPt>
            <c:idx val="3"/>
            <c:spPr>
              <a:solidFill>
                <a:srgbClr val="135927"/>
              </a:solidFill>
            </c:spPr>
          </c:dPt>
          <c:dPt>
            <c:idx val="4"/>
            <c:spPr>
              <a:solidFill>
                <a:srgbClr val="FCC80D"/>
              </a:solidFill>
            </c:spPr>
          </c:dPt>
          <c:cat>
            <c:strRef>
              <c:f>Sheet1!$A$2:$A$6</c:f>
              <c:strCache>
                <c:ptCount val="5"/>
                <c:pt idx="0">
                  <c:v>Bear DCF</c:v>
                </c:pt>
                <c:pt idx="1">
                  <c:v>Base DCF</c:v>
                </c:pt>
                <c:pt idx="2">
                  <c:v>Prob.-weighted</c:v>
                </c:pt>
                <c:pt idx="3">
                  <c:v>Bull DCF</c:v>
                </c:pt>
                <c:pt idx="4">
                  <c:v>Share price</c:v>
                </c:pt>
              </c:strCache>
            </c:strRef>
          </c:cat>
          <c:val>
            <c:numRef>
              <c:f>Sheet1!$B$2:$B$6</c:f>
              <c:numCache>
                <c:formatCode>General</c:formatCode>
                <c:ptCount val="5"/>
                <c:pt idx="0">
                  <c:v>22.19</c:v>
                </c:pt>
                <c:pt idx="1">
                  <c:v>38.8</c:v>
                </c:pt>
                <c:pt idx="2">
                  <c:v>38.43</c:v>
                </c:pt>
                <c:pt idx="3">
                  <c:v>53.93</c:v>
                </c:pt>
                <c:pt idx="4">
                  <c:v>62.09</c:v>
                </c:pt>
              </c:numCache>
            </c:numRef>
          </c:val>
        </c:ser>
        <c:dLbls>
          <c:numFmt formatCode="&quot;$&quot;0.00" sourceLinked="0"/>
          <c:txPr>
            <a:bodyPr/>
            <a:lstStyle/>
            <a:p>
              <a:pPr>
                <a:defRPr sz="9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axMin"/>
        </c:scaling>
        <c:delete val="0"/>
        <c:axPos val="l"/>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9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Title</a:t>
            </a:r>
          </a:p>
          <a:p/>
          <a:p>
            <a:r>
              <a:t>Time: 0:20 (cumulative 0:20)</a:t>
            </a:r>
          </a:p>
          <a:p/>
          <a:p>
            <a:r>
              <a:t>Script: Good evening. This is our pitch on Hewlett Packard Enterprise, HPE, priced at the close on 11 September 2026: $62.09. Over the next 24 minutes I won't just show you data. I'll show you how we reasoned from the data to a decision, and which patterns you can reuse on the next company.</a:t>
            </a:r>
          </a:p>
          <a:p/>
          <a:p>
            <a:r>
              <a:t>Transition: Let me start with the answer.</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better business is not yet a better investment</a:t>
            </a:r>
          </a:p>
          <a:p/>
          <a:p>
            <a:r>
              <a:t>Time: 1:30 (cumulative 1:50)</a:t>
            </a:r>
          </a:p>
          <a:p/>
          <a:p>
            <a:r>
              <a:t>Goal: Give the conclusion and the four-step argument up front.</a:t>
            </a:r>
          </a:p>
          <a:p/>
          <a:p>
            <a:r>
              <a:t>Script: Here is the whole pitch on one slide.</a:t>
            </a:r>
          </a:p>
          <a:p>
            <a:r>
              <a:t>• Step one: HPE is a genuinely better business than a year ago. After buying Juniper, networking is 26% of revenue but 40% of segment profit, and return on invested capital is above the cost of capital for the first time in the six years we reviewed.</a:t>
            </a:r>
          </a:p>
          <a:p>
            <a:r>
              <a:t>• Step two: most of this year's jump is cyclical. Gross margin hit a record 40.4% on memory-driven pricing, and last quarter's EPS beat the top of guidance by 19%, mostly on margin. Management itself says margins will moderate.</a:t>
            </a:r>
          </a:p>
          <a:p>
            <a:r>
              <a:t>• Step three: the cash flow looks great, a record $4.5 billion, but suppliers are funding a $5.5 billion inventory build.</a:t>
            </a:r>
          </a:p>
          <a:p>
            <a:r>
              <a:t>• Step four: the price. At $62.09 the market pays 13.5 times next year's earnings against a 4-to-10-times history, and our reverse DCF says it needs an 18% long-term margin or 11% growth for a decade.</a:t>
            </a:r>
          </a:p>
          <a:p/>
          <a:p>
            <a:r>
              <a:t>Our fundamental range is $35 to $43, and even our bull case is $54. So we are not giving you a rating or a target. We are telling you the price is a bet that peak-cycle economics and sector multiples persist, and we will show you the signposts that would prove us wrong.</a:t>
            </a:r>
          </a:p>
          <a:p/>
          <a:p>
            <a:r>
              <a:t>Numbers to say:</a:t>
            </a:r>
          </a:p>
          <a:p>
            <a:r>
              <a:t>• 26% of revenue, 40% of profit;</a:t>
            </a:r>
          </a:p>
          <a:p>
            <a:r>
              <a:t>• ROIC 11.2% vs WACC 9.3%;</a:t>
            </a:r>
          </a:p>
          <a:p>
            <a:r>
              <a:t>• gross margin 40.4%;</a:t>
            </a:r>
          </a:p>
          <a:p>
            <a:r>
              <a:t>• Q3 EPS +19% vs the top of guidance;</a:t>
            </a:r>
          </a:p>
          <a:p>
            <a:r>
              <a:t>• free cash flow $4.5bn;</a:t>
            </a:r>
          </a:p>
          <a:p>
            <a:r>
              <a:t>• 13.5x vs 4–10x;</a:t>
            </a:r>
          </a:p>
          <a:p>
            <a:r>
              <a:t>• 18% margin / 11% growth;</a:t>
            </a:r>
          </a:p>
          <a:p>
            <a:r>
              <a:t>• range $35–43, bull $54.</a:t>
            </a:r>
          </a:p>
          <a:p/>
          <a:p>
            <a:r>
              <a:t>Slide takeaway: Conclusion: A better business, priced for a cycle that never turns — intrinsic value $35–43 against a $62.09 share price.</a:t>
            </a:r>
          </a:p>
          <a:p/>
          <a:p>
            <a:r>
              <a:t>Transition: How did we get there? Five questions.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questions, one decision</a:t>
            </a:r>
          </a:p>
          <a:p/>
          <a:p>
            <a:r>
              <a:t>Time: 0:40 (cumulative 2:30)</a:t>
            </a:r>
          </a:p>
          <a:p/>
          <a:p>
            <a:r>
              <a:t>Goal: Show the reasoning map.</a:t>
            </a:r>
          </a:p>
          <a:p/>
          <a:p>
            <a:r>
              <a:t>Script: We reasoned through five questions, each with a tool that could have proved us wrong:</a:t>
            </a:r>
          </a:p>
          <a:p>
            <a:r>
              <a:t>1. what HPE really sells: its profit mix and place in the value chain;</a:t>
            </a:r>
          </a:p>
          <a:p>
            <a:r>
              <a:t>2. structure or cycle: a counterfactual and a decomposition of the latest quarter;</a:t>
            </a:r>
          </a:p>
          <a:p>
            <a:r>
              <a:t>3. is the cash real: working capital;</a:t>
            </a:r>
          </a:p>
          <a:p>
            <a:r>
              <a:t>4. what the price assumes: a reverse DCF and a steelman of the bull case;</a:t>
            </a:r>
          </a:p>
          <a:p>
            <a:r>
              <a:t>5. what would change our mind: scenarios and signposts.</a:t>
            </a:r>
          </a:p>
          <a:p/>
          <a:p>
            <a:r>
              <a:t>The rest of the deck answers them in order.</a:t>
            </a:r>
          </a:p>
          <a:p/>
          <a:p>
            <a:r>
              <a:t>Slide takeaway: Method: Test the thesis, don't tell it — five questions, each with a tool that could have proved us wrong.</a:t>
            </a:r>
          </a:p>
          <a:p/>
          <a:p>
            <a:r>
              <a:t>Transition: Question one: what does HPE sell?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Networking is 26% of revenue but 40% of segment profit</a:t>
            </a:r>
          </a:p>
          <a:p/>
          <a:p>
            <a:r>
              <a:t>Time: 1:00 (cumulative 3:30)</a:t>
            </a:r>
          </a:p>
          <a:p/>
          <a:p>
            <a:r>
              <a:t>Goal: Establish the first pattern: profit mix, not revenue mix.</a:t>
            </a:r>
          </a:p>
          <a:p/>
          <a:p>
            <a:r>
              <a:t>Script: HPE sells servers, storage, networking and financing to enterprises, governments and cloud providers. Fully diluted market value is $89.7 billion, enterprise value $103.8 billion, and trailing revenue $41.9 billion, up 31%.</a:t>
            </a:r>
          </a:p>
          <a:p/>
          <a:p>
            <a:r>
              <a:t>The table holds the first pattern: follow profit, not revenue.</a:t>
            </a:r>
          </a:p>
          <a:p>
            <a:r>
              <a:t>• Cloud &amp; AI (servers, storage and financing) is 71% of revenue at a 12.6% segment margin.</a:t>
            </a:r>
          </a:p>
          <a:p>
            <a:r>
              <a:t>• Networking is only 26% of revenue, but at a 22.7% margin it earns 40% of segment profit.</a:t>
            </a:r>
          </a:p>
          <a:p/>
          <a:p>
            <a:r>
              <a:t>So the smaller segment now decides the valuation. About two-thirds of revenue is transactional hardware, and recurring ARR is $3.15 billion. We'll come back to the latest quarter in part two.</a:t>
            </a:r>
          </a:p>
          <a:p/>
          <a:p>
            <a:r>
              <a:t>Numbers to say: $89.7bn; $103.8bn; $41.9bn +31%; 71% at 12.6%; 26% at 22.7% = 40% of profit; ARR $3.15bn.</a:t>
            </a:r>
          </a:p>
          <a:p/>
          <a:p>
            <a:r>
              <a:t>Slide takeaway: Pattern: Follow the profit, not the revenue — Networking is 26% of revenue but 40% of segment profit, so it sets the multiple.</a:t>
            </a:r>
          </a:p>
          <a:p/>
          <a:p>
            <a:r>
              <a:t>Transition: What kind of revenue is the 71%? That depends on where HPE sits in the AI stack.</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HPE sits in the layer that is paid at shipment</a:t>
            </a:r>
          </a:p>
          <a:p/>
          <a:p>
            <a:r>
              <a:t>Time: 1:30 (cumulative 5:00)</a:t>
            </a:r>
          </a:p>
          <a:p/>
          <a:p>
            <a:r>
              <a:t>Goal: Place HPE in the AI value chain and explain why its revenue is cyclical.</a:t>
            </a:r>
          </a:p>
          <a:p/>
          <a:p>
            <a:r>
              <a:t>Script: This comes from our practitioner Q&amp;A work. The AI data centre has three business models:</a:t>
            </a:r>
          </a:p>
          <a:p>
            <a:r>
              <a:t>• landlords like Digital Realty build and lease the building;</a:t>
            </a:r>
          </a:p>
          <a:p>
            <a:r>
              <a:t>• neoclouds like CoreWeave own GPUs and rent compute on multi-year contracts;</a:t>
            </a:r>
          </a:p>
          <a:p>
            <a:r>
              <a:t>• server providers like HPE and Dell sell the equipment.</a:t>
            </a:r>
          </a:p>
          <a:p/>
          <a:p>
            <a:r>
              <a:t>Same capex dollar, three different financial fingerprints.</a:t>
            </a:r>
          </a:p>
          <a:p>
            <a:r>
              <a:t>• The chart is a stylised 100-megawatt build. The landlord pays first and gets its cash back over about eleven and a half years. The neocloud needs about three years, if its GPUs stay contracted. The server provider is paid at shipment, within two quarters, but earns a thin margin once and needs a new order for every future dollar.</a:t>
            </a:r>
          </a:p>
          <a:p>
            <a:r>
              <a:t>• The table shows the consequence. Server providers have almost no capex and less than a year of revenue in contracted backlog, so their revenue is the most elastic to AI spending: 0.84 at Dell and 0.41 at HPE per point of cloud-capex growth. Digital Realty is the opposite; its revenue hasn't fallen year on year since 2018.</a:t>
            </a:r>
          </a:p>
          <a:p/>
          <a:p>
            <a:r>
              <a:t>The investing implication: you can't value a shipment-paid business on its best year; you value it on through-cycle margins. HPE's elasticity is half Dell's, because networking and services dampen the swing. Once you control for Juniper, the link to cloud capex is weaker still.</a:t>
            </a:r>
          </a:p>
          <a:p/>
          <a:p>
            <a:r>
              <a:t>Numbers to say:</a:t>
            </a:r>
          </a:p>
          <a:p>
            <a:r>
              <a:t>• cash payback ~11.5 years (landlord), ~3 years (neocloud), 2 quarters (server provider);</a:t>
            </a:r>
          </a:p>
          <a:p>
            <a:r>
              <a:t>• revenue elasticity: Dell 0.84, HPE 0.41 (Digital Realty 0.06, not significant);</a:t>
            </a:r>
          </a:p>
          <a:p>
            <a:r>
              <a:t>• controlling for Juniper, HPE's link is 0.19 and not significant.</a:t>
            </a:r>
          </a:p>
          <a:p/>
          <a:p>
            <a:r>
              <a:t>Slide takeaway: Pattern: Paid at shipment, first to feel the cycle — server revenue is the most capex-elastic (0.41–0.84) with under a year of backlog.</a:t>
            </a:r>
          </a:p>
          <a:p/>
          <a:p>
            <a:r>
              <a:t>Transition: So inside HPE, where are the switching costs?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Servers bring the revenue; networking brings the returns</a:t>
            </a:r>
          </a:p>
          <a:p/>
          <a:p>
            <a:r>
              <a:t>Time: 1:30 (cumulative 6:30)</a:t>
            </a:r>
          </a:p>
          <a:p/>
          <a:p>
            <a:r>
              <a:t>Goal: Moat reasoning: returns, not stories.</a:t>
            </a:r>
          </a:p>
          <a:p/>
          <a:p>
            <a:r>
              <a:t>Script: The chart shows HPE's business lines over the last twelve months. Servers are half of revenue, and routing and data-centre networking grow fastest, much of it Juniper being consolidated.</a:t>
            </a:r>
          </a:p>
          <a:p/>
          <a:p>
            <a:r>
              <a:t>The moat table:</a:t>
            </a:r>
          </a:p>
          <a:p>
            <a:r>
              <a:t>• Servers and AI systems: bought competitively, so no moat.</a:t>
            </a:r>
          </a:p>
          <a:p>
            <a:r>
              <a:t>• Networking and storage: narrow moats. Campus networks run through Aruba Central and Juniper Mist and are embedded in security policy, and routing uses HPE's own Express 5 silicon.</a:t>
            </a:r>
          </a:p>
          <a:p>
            <a:r>
              <a:t>• Financial Services: a credit business.</a:t>
            </a:r>
          </a:p>
          <a:p/>
          <a:p>
            <a:r>
              <a:t>A booming market doesn't create a moat either: in the second quarter HPE's server revenue grew 46% while the market grew 52% and Dell 165%.</a:t>
            </a:r>
          </a:p>
          <a:p/>
          <a:p>
            <a:r>
              <a:t>The test that matters most is returns. HPE's adjusted after-tax ROIC averaged 8.1% from FY2020 to FY2025, below any reasonable cost of capital, and reached 11.2% only in this AI-cycle year. Juniper is a deliberate move toward the part of the stack with pricing power. But after $1.6 billion of impairments on earlier deals in FY2025, we want evidence in returns before we pay for the synergies.</a:t>
            </a:r>
          </a:p>
          <a:p/>
          <a:p>
            <a:r>
              <a:t>Numbers to say: ROIC 8.1% average FY20–25; 11.2% TTM; WACC 9.3%; HPE +46% vs market +52% and Dell +165%; impairments $1.6bn.</a:t>
            </a:r>
          </a:p>
          <a:p/>
          <a:p>
            <a:r>
              <a:t>Slide takeaway: Pattern: Moats show up in returns, not revenue — adjusted ROIC averaged 8.1% in FY20–25, below WACC; only now 11.2%, led by networking.</a:t>
            </a:r>
          </a:p>
          <a:p/>
          <a:p>
            <a:r>
              <a:t>Transition: Question two: structure or cycle?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industry and market size</a:t>
            </a:r>
          </a:p>
          <a:p/>
          <a:p>
            <a:r>
              <a:t>When to use: Questions about market growth, market share or the profit pool.</a:t>
            </a:r>
          </a:p>
          <a:p/>
          <a:p>
            <a:r>
              <a:t>Slide takeaway: Pattern: Market growth is not market power — HPE's servers grew 46% vs the market's 52%; suppliers and hyperscale buyers hold the profit pool.</a:t>
            </a:r>
          </a:p>
          <a:p>
            <a:r>
              <a:t>• Market size: IDC puts AI infrastructure at $497bn in 2026; the server market grew 52% in 2Q26; the five big cloud spenders' capex is $566bn over twelve months, up 81%.</a:t>
            </a:r>
          </a:p>
          <a:p>
            <a:r>
              <a:t>• Share: HPE grew 46% against the market's 52% and Dell's 165%. It has 3.5% of all servers and about 7.7% of the OEM market it competes in, because more than half of servers go ODM-direct to hyperscalers.</a:t>
            </a:r>
          </a:p>
          <a:p>
            <a:r>
              <a:t>• Profit pool: it goes to whoever has bargaining power, here NVIDIA, the memory makers and giant buyers ordering in competitive lots. A rising tide is not a moat.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flat years, then a step change in scale and margins</a:t>
            </a:r>
          </a:p>
          <a:p/>
          <a:p>
            <a:r>
              <a:t>Time: 1:10 (cumulative 7:40)</a:t>
            </a:r>
          </a:p>
          <a:p/>
          <a:p>
            <a:r>
              <a:t>Goal: Read both charts and frame the structure-versus-cycle question.</a:t>
            </a:r>
          </a:p>
          <a:p/>
          <a:p>
            <a:r>
              <a:t>Script: Start with the long view, and read the two boxes under the charts.</a:t>
            </a:r>
          </a:p>
          <a:p>
            <a:r>
              <a:t>• Revenue (left): compounded at just 2.8% a year from FY2020 to FY2024, from $27 billion to $30 billion. FY2025 grew 13.8% with part of a Juniper year, and the last twelve months grew 30.8% to $41.9 billion. What changed is a full year of Juniper, AI systems and higher server prices.</a:t>
            </a:r>
          </a:p>
          <a:p>
            <a:r>
              <a:t>• Margins (right): non-GAAP operating margin sat between 8.5 and 10.8% for six years; it is now 13.8% over twelve months and 16.2% in the latest quarter. GAAP gross margin rose to 36.7% from 30.3%, helped by networking mix and pricing. But GAAP operating margin is only 6.2%: the 7.6-point gap is mainly Juniper amortisation and stock-based compensation, which we treat as a real cost.</a:t>
            </a:r>
          </a:p>
          <a:p/>
          <a:p>
            <a:r>
              <a:t>When a company that was flat for four years suddenly steps up, the job isn't to extrapolate; it is to ask what caused the step. Start with the latest quarter.</a:t>
            </a:r>
          </a:p>
          <a:p/>
          <a:p>
            <a:r>
              <a:t>Numbers to say: 2.8% CAGR FY20–24 ($27.0bn → $30.1bn); +13.8% FY25; +30.8% TTM to $41.9bn; non-GAAP margin 8.5–10.8% → 13.8% TTM, 16.2% Q3; GAAP gross margin 36.7% vs 30.3%; GAAP operating margin 6.2%, gap 7.6pp.</a:t>
            </a:r>
          </a:p>
          <a:p/>
          <a:p>
            <a:r>
              <a:t>Slide takeaway: Pattern: Explain a break before you extrapolate it — revenue +30.8% TTM after a 2.8% CAGR in FY20–24: structure or cycle?</a:t>
            </a:r>
          </a:p>
          <a:p/>
          <a:p>
            <a:r>
              <a:t>Transition: Here is the latest quarter.</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Only a third of FY26's jump above trend is Juniper</a:t>
            </a:r>
          </a:p>
          <a:p/>
          <a:p>
            <a:r>
              <a:t>Time: 1:30 (cumulative 11:55)</a:t>
            </a:r>
          </a:p>
          <a:p/>
          <a:p>
            <a:r>
              <a:t>Goal: Quantify structure versus cycle with a counterfactual.</a:t>
            </a:r>
          </a:p>
          <a:p/>
          <a:p>
            <a:r>
              <a:t>Script: The tool here is a counterfactual.</a:t>
            </a:r>
          </a:p>
          <a:p>
            <a:r>
              <a:t>• The model: we fitted an ARIMA model, a statistical trend model, to HPE's quarterly revenue from FY2018 to mid-FY2025, before Juniper. In a rolling backtest it missed by 4.8% on average, better than a random walk at 5.8%.</a:t>
            </a:r>
          </a:p>
          <a:p>
            <a:r>
              <a:t>• The question: what would FY26 look like with no structural change? About $29 billion, against guidance of $46.5 billion. That is $17.4 billion above trend. All five quarters since the Juniper close sit above the model's 95% band, so this is a genuine break.</a:t>
            </a:r>
          </a:p>
          <a:p>
            <a:r>
              <a:t>• The attribution: using the company's own normalised growth, Juniper explains about $5.7 billion, roughly a third. The remaining $11.8 billion is AI systems, pricing and refresh: the cyclical part.</a:t>
            </a:r>
          </a:p>
          <a:p>
            <a:r>
              <a:t>• Two regressions back this up:</a:t>
            </a:r>
          </a:p>
          <a:p>
            <a:r>
              <a:t>  - once you account for Juniper quarters, revenue growth has only a weak link to cloud capex;</a:t>
            </a:r>
          </a:p>
          <a:p>
            <a:r>
              <a:t>  - memory-price spikes compress HPE's gross margin only modestly, because HPE passes costs through in price, which works in reverse when memory prices fall.</a:t>
            </a:r>
          </a:p>
          <a:p/>
          <a:p>
            <a:r>
              <a:t>The pattern: separate the tide from the boat. The boat got bigger with Juniper, but two-thirds of the rise is tide.</a:t>
            </a:r>
          </a:p>
          <a:p/>
          <a:p>
            <a:r>
              <a:t>Numbers to say: backtest error 4.8% vs 5.8%; trend $29.1bn vs guide $46.5bn; excess $17.4bn; Juniper ≈ $5.7bn; AI and pricing ≈ $11.8bn.</a:t>
            </a:r>
          </a:p>
          <a:p/>
          <a:p>
            <a:r>
              <a:t>Slide takeaway: Pattern: Separate the tide from the boat — of FY26's $17.4bn above trend, about two-thirds is AI and pricing, one-third Juniper.</a:t>
            </a:r>
          </a:p>
          <a:p/>
          <a:p>
            <a:r>
              <a:t>Transition: If most of the jump is tide, does HPE look like a company at a cycle high? We checked.</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macro levers</a:t>
            </a:r>
          </a:p>
          <a:p/>
          <a:p>
            <a:r>
              <a:t>When to use: Questions about cloud capex, memory prices or rates.</a:t>
            </a:r>
          </a:p>
          <a:p/>
          <a:p>
            <a:r>
              <a:t>Slide takeaway: Pattern: Borrowed tailwinds reverse — cloud capex +81% and DRAM +13–18% QoQ lift results, but HPE controls neither.</a:t>
            </a:r>
          </a:p>
          <a:p>
            <a:r>
              <a:t>• Cloud capex: quarterly capex at Microsoft, Alphabet, Amazon, Meta and Oracle is at a record run-rate. It feeds AI orders and backlog, but AI systems dilute margin and swell inventory.</a:t>
            </a:r>
          </a:p>
          <a:p>
            <a:r>
              <a:t>• Memory prices: Micron's gross margin rose from 38% to 85% in a year, and DRAM contract prices rose 13–18% quarter on quarter in Q3. HPE passed the costs on, so Q3 server revenue grew 35% largely on price while units were supply-constrained.</a:t>
            </a:r>
          </a:p>
          <a:p>
            <a:r>
              <a:t>• Reversibility: both levers are external and at records, and both can reverse. When memory prices fall, server revenue can shrink even if unit demand is flat. Rates (10-year at 4.95%) set the WACC.</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Seven late-cycle signals, three structural offsets</a:t>
            </a:r>
          </a:p>
          <a:p/>
          <a:p>
            <a:r>
              <a:t>Time: 1:30 (cumulative 13:25)</a:t>
            </a:r>
          </a:p>
          <a:p/>
          <a:p>
            <a:r>
              <a:t>Goal: Pattern recognition, with the counter-evidence shown.</a:t>
            </a:r>
          </a:p>
          <a:p/>
          <a:p>
            <a:r>
              <a:t>Script: No single indicator calls a cycle peak, but cycles leave a recognisable cluster of fingerprints. We checked HPE against seven:</a:t>
            </a:r>
          </a:p>
          <a:p>
            <a:r>
              <a:t>1. Growth led by price rather than units: present; the latest quarter proved it.</a:t>
            </a:r>
          </a:p>
          <a:p>
            <a:r>
              <a:t>2. Record margins that management guides lower: present, at 40.4%.</a:t>
            </a:r>
          </a:p>
          <a:p>
            <a:r>
              <a:t>3. Inventory financed by suppliers: present. Inventory is up $5.5 billion and payables up $6 billion.</a:t>
            </a:r>
          </a:p>
          <a:p>
            <a:r>
              <a:t>4. Record backlog while supply is the constraint: present, at $7.6 billion. Long lead times inflate orders, and slippage tends to follow when supply eases.</a:t>
            </a:r>
          </a:p>
          <a:p>
            <a:r>
              <a:t>5. Customers' capex at records, partly debt-funded: present, up 81%.</a:t>
            </a:r>
          </a:p>
          <a:p>
            <a:r>
              <a:t>6. A multiple above its own history: present, 13.5 times against 4 to 10.</a:t>
            </a:r>
          </a:p>
          <a:p>
            <a:r>
              <a:t>7. Momentum with insiders selling: only partly. The stock is up 155% in a year with a blow-off day on 2 June, and insiders made 31 sales and no purchases, though most of those sales came before the re-rating.</a:t>
            </a:r>
          </a:p>
          <a:p/>
          <a:p>
            <a:r>
              <a:t>The discipline is to also list what doesn't fit a pure cycle story: networking earns 40% of profit, ROIC is above WACC, and ARR grew 63%. So our conclusion isn't "HPE is at a cyclical peak". It is "HPE is a better business at a cyclical high", and the price has to tell the two apart.</a:t>
            </a:r>
          </a:p>
          <a:p/>
          <a:p>
            <a:r>
              <a:t>Numbers to say: gross margin 40.4%; inventory +$5.5bn, payables +$6.0bn; backlog $7.6bn; capex +81%; 13.5x vs 4–10x; +155% in a year; 31 insider sales, no purchases.</a:t>
            </a:r>
          </a:p>
          <a:p/>
          <a:p>
            <a:r>
              <a:t>Slide takeaway: Pattern: One signal is noise; six is a pattern — six of seven late-cycle signals are present; networking profit and ROIC are the offsets.</a:t>
            </a:r>
          </a:p>
          <a:p/>
          <a:p>
            <a:r>
              <a:t>Transition: Signal three deserves a closer look: is the cash real?</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Record free cash flow, but suppliers fund the AI backlog</a:t>
            </a:r>
          </a:p>
          <a:p/>
          <a:p>
            <a:r>
              <a:t>Time: 1:15 (cumulative 14:40)</a:t>
            </a:r>
          </a:p>
          <a:p/>
          <a:p>
            <a:r>
              <a:t>Goal: Cash quality, and why the balance sheet is not the issue.</a:t>
            </a:r>
          </a:p>
          <a:p/>
          <a:p>
            <a:r>
              <a:t>Script: Question three: is the cash real?</a:t>
            </a:r>
          </a:p>
          <a:p>
            <a:r>
              <a:t>• The headline: trailing free cash flow is a record $4.5 billion, a 10.7% margin, against about $1 billion in FY2025.</a:t>
            </a:r>
          </a:p>
          <a:p>
            <a:r>
              <a:t>• Working capital (right chart): since October, inventory rose $5.5 billion and payables rose $6 billion. Suppliers are financing the AI backlog.</a:t>
            </a:r>
          </a:p>
          <a:p>
            <a:r>
              <a:t>• The pattern: at cycle peaks, when orders grow, payables can grow faster than inventory, so free cash flow looks best. When orders slow the financing unwinds, and free cash flow can swing by billions.</a:t>
            </a:r>
          </a:p>
          <a:p>
            <a:r>
              <a:t>• The balance sheet (bottom row) can absorb that:</a:t>
            </a:r>
          </a:p>
          <a:p>
            <a:r>
              <a:t>  - gross debt is $20.2 billion against $6.2 billion of cash, but about $11.5 billion of the debt funds Financial Services receivables;</a:t>
            </a:r>
          </a:p>
          <a:p>
            <a:r>
              <a:t>  - liquidity is $11.5 billion;</a:t>
            </a:r>
          </a:p>
          <a:p>
            <a:r>
              <a:t>  - dilution from the preferred and employee awards is 8.8%.</a:t>
            </a:r>
          </a:p>
          <a:p/>
          <a:p>
            <a:r>
              <a:t>So the balance sheet isn't the risk; the quality of this year's cash is.</a:t>
            </a:r>
          </a:p>
          <a:p/>
          <a:p>
            <a:r>
              <a:t>Numbers to say: free cash flow $4.5bn (10.7%) vs $986m in FY2025; inventory +$5.5bn; payables +$6.0bn; debt $20.2bn, cash $6.2bn; ~$11.5bn funds FS; dilution 8.8%.</a:t>
            </a:r>
          </a:p>
          <a:p/>
          <a:p>
            <a:r>
              <a:t>Slide takeaway: Pattern: Peak cash flow is often borrowed from suppliers — payables +$6.0bn funded a $5.5bn inventory build.</a:t>
            </a:r>
          </a:p>
          <a:p/>
          <a:p>
            <a:r>
              <a:t>Transition: Part three: what does the price assume? First, the best case for the bulls.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Steelman: at peer multiples, HPE is worth $67–106</a:t>
            </a:r>
          </a:p>
          <a:p/>
          <a:p>
            <a:r>
              <a:t>Time: 1:00 (cumulative 15:40)</a:t>
            </a:r>
          </a:p>
          <a:p/>
          <a:p>
            <a:r>
              <a:t>Goal: Steelman the bull case before testing it.</a:t>
            </a:r>
          </a:p>
          <a:p/>
          <a:p>
            <a:r>
              <a:t>Script: Before attacking the price, steelman it. The best bull argument is relative:</a:t>
            </a:r>
          </a:p>
          <a:p>
            <a:r>
              <a:t>• HPE has about twice Dell's gross margin and a networking business that looks more like Cisco;</a:t>
            </a:r>
          </a:p>
          <a:p>
            <a:r>
              <a:t>• yet it trades at 13.5 times next year's earnings, against Dell at 23 and Cisco at 20;</a:t>
            </a:r>
          </a:p>
          <a:p>
            <a:r>
              <a:t>• apply the core peers' multiples and you get $67 to $106, and a sum of the parts using Cisco's multiple for networking gives $67 to $94.</a:t>
            </a:r>
          </a:p>
          <a:p/>
          <a:p>
            <a:r>
              <a:t>Our response: those multiples aren't independent evidence. Dell at 23 times already embeds the same AI-cycle assumptions we are testing. Relative value can tell you HPE is cheap against its sector; it can't tell you the sector is priced right.</a:t>
            </a:r>
          </a:p>
          <a:p/>
          <a:p>
            <a:r>
              <a:t>Numbers to say: gross margin 37% vs Dell 20%; P/E 13.5x vs Dell 23.0x, Cisco 20.0x; peers imply $67–106; sum of the parts $67–94.</a:t>
            </a:r>
          </a:p>
          <a:p/>
          <a:p>
            <a:r>
              <a:t>Slide takeaway: Steelman: Cheaper than peers is not the same as cheap — peer multiples ($67–106) embed the same AI-cycle assumptions we are testing.</a:t>
            </a:r>
          </a:p>
          <a:p/>
          <a:p>
            <a:r>
              <a:t>Transition: So we value the cash flows directly, and then run the valuation backwards.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price needs an 18% margin or 11% growth for a decade</a:t>
            </a:r>
          </a:p>
          <a:p/>
          <a:p>
            <a:r>
              <a:t>Time: 1:30 (cumulative 17:10)</a:t>
            </a:r>
          </a:p>
          <a:p/>
          <a:p>
            <a:r>
              <a:t>Goal: Expectations investing with a reverse DCF.</a:t>
            </a:r>
          </a:p>
          <a:p/>
          <a:p>
            <a:r>
              <a:t>Script: Instead of forecasting the price, we treat the price as the forecast and solve for what it requires.</a:t>
            </a:r>
          </a:p>
          <a:p>
            <a:r>
              <a:t>• Our DCF: FY27 to FY36 at a 9.3% WACC (risk-free rate 4.95%, equity risk premium 3.97%, beta 1.35), with stock compensation expensed. It uses FY26 guidance and the FY27 framework, revenue up 15% at a 14.5% non-GAAP margin, fading to 12.5% long term.</a:t>
            </a:r>
          </a:p>
          <a:p>
            <a:r>
              <a:t>• Reversed, one variable at a time, $62.09 needs one of:</a:t>
            </a:r>
          </a:p>
          <a:p>
            <a:r>
              <a:t>  - a long-term non-GAAP margin of 18.4%, when HPE's range from FY2020 to FY2025 was 8.5 to 10.8% and the FY27 guide is 14–15%;</a:t>
            </a:r>
          </a:p>
          <a:p>
            <a:r>
              <a:t>  - revenue growth of 10.8% a year for ten years instead of 5%;</a:t>
            </a:r>
          </a:p>
          <a:p>
            <a:r>
              <a:t>  - a 7% cost of capital, which isn't plausible for a hardware company with a 1.4 beta.</a:t>
            </a:r>
          </a:p>
          <a:p>
            <a:r>
              <a:t>• Even if FY27's 14.5% margin held forever, growth would still need to be 3.5 points faster than our base.</a:t>
            </a:r>
          </a:p>
          <a:p/>
          <a:p>
            <a:r>
              <a:t>The logic: we don't have to be right about next quarter. We only have to ask whether the world the price implies is more likely than not, and here it looks like a stretch.</a:t>
            </a:r>
          </a:p>
          <a:p/>
          <a:p>
            <a:r>
              <a:t>Numbers to say: WACC 9.3%; implied margin 18.4% vs history 8.5–10.8% and guide 14–15%; implied CAGR 10.8% vs 5.0%; implied WACC 7.0%; +3.5pp growth even at a 14.5% margin.</a:t>
            </a:r>
          </a:p>
          <a:p/>
          <a:p>
            <a:r>
              <a:t>Slide takeaway: Conclusion: Read the price as a forecast — $62.09 needs an 18.4% long-term margin, above the record 16.2% quarter and the 14–15% FY27 guide.</a:t>
            </a:r>
          </a:p>
          <a:p/>
          <a:p>
            <a:r>
              <a:t>Transition: Here is every method on one scale.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Intrinsic value sits below the price; peer multiples sit above</a:t>
            </a:r>
          </a:p>
          <a:p/>
          <a:p>
            <a:r>
              <a:t>Time: 1:15 (cumulative 18:25)</a:t>
            </a:r>
          </a:p>
          <a:p/>
          <a:p>
            <a:r>
              <a:t>Goal: Show where the methods cluster and why they disagree.</a:t>
            </a:r>
          </a:p>
          <a:p/>
          <a:p>
            <a:r>
              <a:t>Script: The football field puts every method on one scale against the $62.09 price line.</a:t>
            </a:r>
          </a:p>
          <a:p>
            <a:r>
              <a:t>• Methods that value HPE's own cash flows cluster together:</a:t>
            </a:r>
          </a:p>
          <a:p>
            <a:r>
              <a:t>  - base DCF $38.80, with a $35 to $43 range for half a point either way on WACC and a quarter point on terminal growth;</a:t>
            </a:r>
          </a:p>
          <a:p>
            <a:r>
              <a:t>  - probability-weighted scenario value $38.43;</a:t>
            </a:r>
          </a:p>
          <a:p>
            <a:r>
              <a:t>  - an independent Damodaran model at $31.57, using a regional equity risk premium.</a:t>
            </a:r>
          </a:p>
          <a:p>
            <a:r>
              <a:t>• HPE's own forward P/E history gives $20 to $46.</a:t>
            </a:r>
          </a:p>
          <a:p>
            <a:r>
              <a:t>• Only methods that borrow today's peer multiples reach the price: comparables and sum of the parts. An M&amp;A value of $69–74 needs a buyer, which is improbable at an enterprise value above $100 billion.</a:t>
            </a:r>
          </a:p>
          <a:p/>
          <a:p>
            <a:r>
              <a:t>The pattern: when intrinsic methods agree with each other and disagree with the price, relative multiples are setting the price, and relative multiples are the most fragile input in a sector cycle.</a:t>
            </a:r>
          </a:p>
          <a:p/>
          <a:p>
            <a:r>
              <a:t>Numbers to say: DCF $38.80 ($35–43); probability-weighted $38.43; Ginzu $31.57; own history $20–46; M&amp;A $69–74.</a:t>
            </a:r>
          </a:p>
          <a:p/>
          <a:p>
            <a:r>
              <a:t>Slide takeaway: Conclusion: Cash flows say $31–43; only borrowed multiples reach $62 — DCF, scenarios and Ginzu all sit below the price.</a:t>
            </a:r>
          </a:p>
          <a:p/>
          <a:p>
            <a:r>
              <a:t>Transition: How lopsided is the risk-reward? Scenarios.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Asymmetry: even our bull case falls short of today's price</a:t>
            </a:r>
          </a:p>
          <a:p/>
          <a:p>
            <a:r>
              <a:t>Time: 1:15 (cumulative 19:40)</a:t>
            </a:r>
          </a:p>
          <a:p/>
          <a:p>
            <a:r>
              <a:t>Goal: Make the asymmetry explicit.</a:t>
            </a:r>
          </a:p>
          <a:p/>
          <a:p>
            <a:r>
              <a:t>Script: Scenarios make the asymmetry explicit.</a:t>
            </a:r>
          </a:p>
          <a:p>
            <a:r>
              <a:t>• Bear (25%): AI digestion and memory normalisation reverse this year's price gains, FY28 revenue falls 3%, and margin returns to 10.5%. Value: $22.</a:t>
            </a:r>
          </a:p>
          <a:p>
            <a:r>
              <a:t>• Base (50%): the FY27 framework is delivered, growth fades to mid-single digits, and margin settles at 12.5%. Value: $38.80.</a:t>
            </a:r>
          </a:p>
          <a:p>
            <a:r>
              <a:t>• Bull (25%): Oracle and Helios lift networking, and margin holds at 14.5%. Value: $54.</a:t>
            </a:r>
          </a:p>
          <a:p>
            <a:r>
              <a:t>• Probability-weighted: $38.43.</a:t>
            </a:r>
          </a:p>
          <a:p/>
          <a:p>
            <a:r>
              <a:t>The key point: even the bull case sits below today's price, so upside from here needs assumptions beyond what the evidence supports. The tornado on the right shows what matters: the discount rate, growth and long-term margin each swing value by about $12 to $14, while terminal growth and working capital matter much less. Margin is the one where the evidence is genuinely open, which is why margin durability is at the centre of our monitoring.</a:t>
            </a:r>
          </a:p>
          <a:p/>
          <a:p>
            <a:r>
              <a:t>Numbers to say: $22 / $38.80 / $54; probability-weighted $38.43; WACC ±1pp $33–47; growth ±2pp $33–46; margin ±1.5pp $33–45.</a:t>
            </a:r>
          </a:p>
          <a:p/>
          <a:p>
            <a:r>
              <a:t>Slide takeaway: Conclusion: No margin of safety, even in the bull case — bull $54 and probability-weighted $38 both sit below $62.09.</a:t>
            </a:r>
          </a:p>
          <a:p/>
          <a:p>
            <a:r>
              <a:t>Transition: Part four: what the market is doing, the risks, and the decision.</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market is pricing a regime change, not a cycle</a:t>
            </a:r>
          </a:p>
          <a:p/>
          <a:p>
            <a:r>
              <a:t>Time: 1:00 (cumulative 20:40)</a:t>
            </a:r>
          </a:p>
          <a:p/>
          <a:p>
            <a:r>
              <a:t>Goal: Read the market's behaviour and draw the position-sizing lesson.</a:t>
            </a:r>
          </a:p>
          <a:p/>
          <a:p>
            <a:r>
              <a:t>Script: For a decade the stock traded between about $8 and $26, as an ex-growth hardware company. In April 2026 it broke out, and it is up 155% in a year.</a:t>
            </a:r>
          </a:p>
          <a:p/>
          <a:p>
            <a:r>
              <a:t>Two patterns matter for how you act:</a:t>
            </a:r>
          </a:p>
          <a:p>
            <a:r>
              <a:t>• HPE now trades as an AI-hardware name. Its correlation with Dell (0.66) exceeds its correlation with the S&amp;P 500 (0.47).</a:t>
            </a:r>
          </a:p>
          <a:p>
            <a:r>
              <a:t>• Returns show no significant autocorrelation, so past prices don't predict direction, but three-sigma days happen 6.8 times as often as a normal distribution implies.</a:t>
            </a:r>
          </a:p>
          <a:p/>
          <a:p>
            <a:r>
              <a:t>So think in ranges and size positions for fat tails. Next catalysts: the Networking Investor Day on 30 September and full FY27 guidance in early December.</a:t>
            </a:r>
          </a:p>
          <a:p/>
          <a:p>
            <a:r>
              <a:t>Numbers to say: range $7.83–26.25 for a decade; +155% in a year; correlation with Dell 0.66 vs S&amp;P 500 0.47; 3σ days 6.8x normal.</a:t>
            </a:r>
          </a:p>
          <a:p/>
          <a:p>
            <a:r>
              <a:t>Slide takeaway: Pattern: Re-rated as AI hardware: size for turbulence — correlation with Dell (0.66) exceeds the S&amp;P 500 (0.47); 3σ days are 6.8x normal.</a:t>
            </a:r>
          </a:p>
          <a:p/>
          <a:p>
            <a:r>
              <a:t>Transition: What could go wrong for anyone owning it at $62?</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biggest risks are the forces that created the rally</a:t>
            </a:r>
          </a:p>
          <a:p/>
          <a:p>
            <a:r>
              <a:t>Time: 1:15 (cumulative 21:55)</a:t>
            </a:r>
          </a:p>
          <a:p/>
          <a:p>
            <a:r>
              <a:t>Goal: Trace each risk through the statements to valuation.</a:t>
            </a:r>
          </a:p>
          <a:p/>
          <a:p>
            <a:r>
              <a:t>Script: The risk slide has one idea: the biggest risks are the forces that created the rally, running in reverse. For each one we trace the chain from revenue to margin to cash to balance sheet to valuation, and name the indicator to watch.</a:t>
            </a:r>
          </a:p>
          <a:p/>
          <a:p>
            <a:r>
              <a:t>Company-specific:</a:t>
            </a:r>
          </a:p>
          <a:p>
            <a:r>
              <a:t>• Cloud &amp; AI margin reversal: memory prices fall, prices and gross margin fall together, and inventory bought at peak cost gets written down. Watch TrendForce prices and HPE's gross margin.</a:t>
            </a:r>
          </a:p>
          <a:p>
            <a:r>
              <a:t>• Networking execution: share loss to Cisco and Arista, or missed synergies, hits the highest-margin revenue. Watch normalised growth and the Investor Day.</a:t>
            </a:r>
          </a:p>
          <a:p>
            <a:r>
              <a:t>• Lumpy AI deals and customer credit: slippage swings free cash flow by billions. Watch backlog conversion and inventory days.</a:t>
            </a:r>
          </a:p>
          <a:p/>
          <a:p>
            <a:r>
              <a:t>External:</a:t>
            </a:r>
          </a:p>
          <a:p>
            <a:r>
              <a:t>• AI capex digestion: the largest valuation risk, because it hits both earnings and sector multiples.</a:t>
            </a:r>
          </a:p>
          <a:p>
            <a:r>
              <a:t>• Supply and trade policy.</a:t>
            </a:r>
          </a:p>
          <a:p>
            <a:r>
              <a:t>• Rates: each percentage point of WACC is worth roughly $6 to $8 a share.</a:t>
            </a:r>
          </a:p>
          <a:p/>
          <a:p>
            <a:r>
              <a:t>Notice the asymmetry: most of these risks push value down from $38, and almost none push it toward $62.</a:t>
            </a:r>
          </a:p>
          <a:p/>
          <a:p>
            <a:r>
              <a:t>Numbers to say: peers at 18–23x P/E; ±1pp WACC ≈ ±$6–8 per share.</a:t>
            </a:r>
          </a:p>
          <a:p/>
          <a:p>
            <a:r>
              <a:t>Slide takeaway: Pattern: The rally's engines are its risks — memory prices, AI capex and sector multiples can all run in reverse.</a:t>
            </a:r>
          </a:p>
          <a:p/>
          <a:p>
            <a:r>
              <a:t>Transition: Which brings us to the decision.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Price vs range: what must be true, and what to watch</a:t>
            </a:r>
          </a:p>
          <a:p/>
          <a:p>
            <a:r>
              <a:t>Time: 1:30 (cumulative 23:25)</a:t>
            </a:r>
          </a:p>
          <a:p/>
          <a:p>
            <a:r>
              <a:t>Goal: Close on the decision logic without a rating.</a:t>
            </a:r>
          </a:p>
          <a:p/>
          <a:p>
            <a:r>
              <a:t>Script: Here is the decision framework.</a:t>
            </a:r>
          </a:p>
          <a:p>
            <a:r>
              <a:t>• Left: our ranges against the price. Intrinsic value is $35 to $43. Relative value is $67 to $106, but only if peer multiples hold.</a:t>
            </a:r>
          </a:p>
          <a:p>
            <a:r>
              <a:t>• Right: for $62.09 to be fair value, one of these must be true:</a:t>
            </a:r>
          </a:p>
          <a:p>
            <a:r>
              <a:t>  - an 18% long-term margin, when FY27 guidance is 14–15%;</a:t>
            </a:r>
          </a:p>
          <a:p>
            <a:r>
              <a:t>  - 11% revenue growth for ten years, when our base is 5%;</a:t>
            </a:r>
          </a:p>
          <a:p>
            <a:r>
              <a:t>  - a 7% cost of capital, or AI-hardware multiples that persist.</a:t>
            </a:r>
          </a:p>
          <a:p/>
          <a:p>
            <a:r>
              <a:t>We don't need to predict which way the cycle turns. We need to know what would change our mind.</a:t>
            </a:r>
          </a:p>
          <a:p>
            <a:r>
              <a:t>• Upward: Cloud &amp; AI margin holding at 13% or more through a memory-price decline, networking growing mid-teens organically at 25%-plus margins, and FY27 free cash flow well above $5 billion with inventory normalising. Together those would lift the long-term margin toward 15% and our range toward $55–60: still below today's price, but close.</a:t>
            </a:r>
          </a:p>
          <a:p>
            <a:r>
              <a:t>• Downward: non-GAAP gross margin back below 33%, a sequential decline in AI backlog, or a sector de-rating.</a:t>
            </a:r>
          </a:p>
          <a:p/>
          <a:p>
            <a:r>
              <a:t>That is the conclusion: a better business, priced as if the cycle never turns, with a clear list of signposts to update on.</a:t>
            </a:r>
          </a:p>
          <a:p/>
          <a:p>
            <a:r>
              <a:t>Numbers to say: $35–43 vs $62.09; peer multiples $67–106; 18% vs 14–15%; 11% vs 5%; 7% WACC. Upward signposts: 13%, 25%, $5bn → $55–60. Downward: gross margin below 33%.</a:t>
            </a:r>
          </a:p>
          <a:p/>
          <a:p>
            <a:r>
              <a:t>Slide takeaway: Conclusion: $62 is fair only if peak economics persist — watch Cloud &amp; AI margin through a memory downturn, networking growth and AI backlog.</a:t>
            </a:r>
          </a:p>
          <a:p/>
          <a:p>
            <a:r>
              <a:t>Transition: Let me leave you with what carries over to the next company.</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patterns to take away</a:t>
            </a:r>
          </a:p>
          <a:p/>
          <a:p>
            <a:r>
              <a:t>Time: 0:45 (cumulative 24:10)</a:t>
            </a:r>
          </a:p>
          <a:p/>
          <a:p>
            <a:r>
              <a:t>Goal: Make the reasoning reusable.</a:t>
            </a:r>
          </a:p>
          <a:p/>
          <a:p>
            <a:r>
              <a:t>Slide takeaway: Bottom line: A better business, priced as if the cycle never turns — five patterns that travel beyond HPE.</a:t>
            </a:r>
          </a:p>
          <a:p/>
          <a:p>
            <a:r>
              <a:t>Script: Five patterns outlive this stock:</a:t>
            </a:r>
          </a:p>
          <a:p>
            <a:r>
              <a:t>1. Follow profit, not revenue.</a:t>
            </a:r>
          </a:p>
          <a:p>
            <a:r>
              <a:t>2. Separate the tide from the boat.</a:t>
            </a:r>
          </a:p>
          <a:p>
            <a:r>
              <a:t>3. Your place in the value chain sets your cycle.</a:t>
            </a:r>
          </a:p>
          <a:p>
            <a:r>
              <a:t>4. Working capital narrates the cycle.</a:t>
            </a:r>
          </a:p>
          <a:p>
            <a:r>
              <a:t>5. Treat the price as a forecast: reverse it, and think in ranges, because the tails are fat.</a:t>
            </a:r>
          </a:p>
          <a:p/>
          <a:p>
            <a:r>
              <a:t>Thank you. I'm happy to take questions; the appendix has backup on industry, macro, moat, capital structure, price action, catalysts and our two practitioner questions.</a:t>
            </a:r>
          </a:p>
          <a:p/>
          <a:p>
            <a:r>
              <a:t>Transition: Open for questions; use the Q&amp;A preparation below.</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divider</a:t>
            </a:r>
          </a:p>
          <a:p/>
          <a:p>
            <a:r>
              <a:t>When to use: Jump here when a question needs detail. Slides 22–30 are not timed.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competitive position and moat</a:t>
            </a:r>
          </a:p>
          <a:p/>
          <a:p>
            <a:r>
              <a:t>When to use: Questions about competition or pricing power.</a:t>
            </a:r>
          </a:p>
          <a:p/>
          <a:p>
            <a:r>
              <a:t>Slide takeaway: Conclusion: Narrow moat, and only in networking — rivalry and supplier power are high; servers and financing compete on scale and price.</a:t>
            </a:r>
          </a:p>
          <a:p>
            <a:r>
              <a:t>• Porter: rivalry and supplier power are high (NVIDIA, the memory makers, Broadcom); buyers medium-to-high; substitutes medium (public cloud vs on-premises inference); new entrants low-to-medium.</a:t>
            </a:r>
          </a:p>
          <a:p>
            <a:r>
              <a:t>• Moat by business: narrow in networking and storage/GreenLake; none in servers and AI systems or in Financial Services.</a:t>
            </a:r>
          </a:p>
          <a:p>
            <a:r>
              <a:t>• Returns test: adjusted ROIC averaged 8.1% over FY20–25 and is 11.2% TTM. Technology edge: Express 5 routing silicon, liquid cooling (Cray heritage), on-premises inference.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balance sheet, capital structure and dilution</a:t>
            </a:r>
          </a:p>
          <a:p/>
          <a:p>
            <a:r>
              <a:t>When to use: Questions about leverage, the preferred, buybacks or refinancing.</a:t>
            </a:r>
          </a:p>
          <a:p/>
          <a:p>
            <a:r>
              <a:t>Slide takeaway: Conclusion: Leverage is manageable; dilution is the real cost — 1.75x net leverage and $11.5bn liquidity, but 8.8% more shares than basic.</a:t>
            </a:r>
          </a:p>
          <a:p>
            <a:r>
              <a:t>• Debt and cash: gross debt $20.2bn and cash $6.2bn; about $11.5bn funds Financial Services receivables (estimate); net debt 1.75x adjusted EBITDA; S&amp;P rating BBB, stable.</a:t>
            </a:r>
          </a:p>
          <a:p>
            <a:r>
              <a:t>• Share count: 1,445m fully diluted shares (+8.8%). Mostly the 7.625% mandatory convertible preferred (76.1m shares at the minimum conversion rate, around 1-Sep-2027), plus RSUs and the Oracle warrant (up to 4.2m).</a:t>
            </a:r>
          </a:p>
          <a:p>
            <a:r>
              <a:t>• Capital returns: $3.2bn buyback authorisation remaining; management intends to return at least 75% of free cash flow from Q4 FY26.</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price action and technicals</a:t>
            </a:r>
          </a:p>
          <a:p/>
          <a:p>
            <a:r>
              <a:t>When to use: Questions about timing or the chart.</a:t>
            </a:r>
          </a:p>
          <a:p/>
          <a:p>
            <a:r>
              <a:t>Slide takeaway: Pattern: Strong trend, stretched price — a tightening $41–64 range since the June blow-off; 83% above the 200-day average.</a:t>
            </a:r>
          </a:p>
          <a:p>
            <a:r>
              <a:t>• Breakout: first close above the $26.25 decade high on 17-Apr-2026, after a golden cross on 15-Apr.</a:t>
            </a:r>
          </a:p>
          <a:p>
            <a:r>
              <a:t>• Blow-off: on 2-Jun the stock opened +34% and closed +19.5% on 7.4x volume, then drew down 26% into July.</a:t>
            </a:r>
          </a:p>
          <a:p>
            <a:r>
              <a:t>• Range: highs $64.25 / $63.44, lows $40.72 / $45.70, with Bollinger bandwidth compressing from 85% to 18%. Support is at the ~$51 50-day average and $41–46; resistance at $63–64.</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major stock moves and catalysts</a:t>
            </a:r>
          </a:p>
          <a:p/>
          <a:p>
            <a:r>
              <a:t>When to use: Questions about what moves the stock, or upcoming dates.</a:t>
            </a:r>
          </a:p>
          <a:p/>
          <a:p>
            <a:r>
              <a:t>Slide takeaway: Pattern: Earnings days carry the risk — average earnings-day move 6.7% vs 1.6% on a normal day; insiders sold, none bought.</a:t>
            </a:r>
          </a:p>
          <a:p>
            <a:r>
              <a:t>• What moves it: earnings and guidance, not deals. The average earnings-day move is 6.7%, against 1.6% on a normal day; the largest was +19.5% on the Q2 FY26 results.</a:t>
            </a:r>
          </a:p>
          <a:p>
            <a:r>
              <a:t>• Catalysts: 30-Sep-2026 Networking Investor Day; early December Q4 FY26 and FY27 guidance; Oracle warrant milestones and the Helios ramp; ~1-Sep-2027 preferred conversion.</a:t>
            </a:r>
          </a:p>
          <a:p>
            <a:r>
              <a:t>• Ownership: 31 insider open-market sales ($49m) and no purchases in 12 months, mostly at $24–30. Elliott raised its stake 18% in Q2 to 2.4% and holds a board seat.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Q&amp;A 1, Juniper equipment and security</a:t>
            </a:r>
          </a:p>
          <a:p/>
          <a:p>
            <a:r>
              <a:t>When to use: Questions about Juniper's security history or reputation.</a:t>
            </a:r>
          </a:p>
          <a:p/>
          <a:p>
            <a:r>
              <a:t>Slide takeaway: Conclusion: A named SOP step signals governance, not a flaw — Juniper has 8 CISA known-exploited entries, 8th of 13 vendors (Cisco 97).</a:t>
            </a:r>
          </a:p>
          <a:p/>
          <a:p>
            <a:r>
              <a:t>Revised question: our data-centre SOP requires notifying designated personnel whenever Juniper equipment is installed. Does that imply Juniper devices have technical, security or compliance characteristics that other network equipment lacks?</a:t>
            </a:r>
          </a:p>
          <a:p>
            <a:r>
              <a:t>• Why SOPs single out Juniper: mainly governance, not unique hardware. Core-router role, security history (ScreenOS 2015, J-Web 2023, backdoors on end-of-life MX routers in 2025), cloud management and the ownership change.</a:t>
            </a:r>
          </a:p>
          <a:p>
            <a:r>
              <a:t>• Not an outlier: Juniper has 8 entries in CISA's Known Exploited Vulnerabilities catalogue, 8th of 13 vendors (Cisco 97).</a:t>
            </a:r>
          </a:p>
          <a:p>
            <a:r>
              <a:t>• For HPE: the risk is event-driven (a new implant-style incident during cross-selling), and replacing end-of-life routers is also Networking revenue.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Q&amp;A 2, three business models</a:t>
            </a:r>
          </a:p>
          <a:p/>
          <a:p>
            <a:r>
              <a:t>When to use: Questions about landlords, neoclouds or how HPE compares.</a:t>
            </a:r>
          </a:p>
          <a:p/>
          <a:p>
            <a:r>
              <a:t>Slide takeaway: Pattern: Same AI dollar, three risk profiles — neoclouds carry capex and depreciation, landlords duration, server providers the order cycle.</a:t>
            </a:r>
          </a:p>
          <a:p/>
          <a:p>
            <a:r>
              <a:t>Revised question: how do data-centre landlords, neoclouds and server providers differ financially, which gains most from AI spending, and should an investor own one model or several?</a:t>
            </a:r>
          </a:p>
          <a:p>
            <a:r>
              <a:t>• Landlords (Digital Realty): property and leases are 62% of assets; depreciation cuts a 44% EBITDA margin to 14%; revenue has not fallen year on year since 2018.</a:t>
            </a:r>
          </a:p>
          <a:p>
            <a:r>
              <a:t>• Neoclouds: capex 2.7–8.2x revenue; depreciation plus interest 67–74% of revenue; backlog 14–28x revenue; deeply negative free cash flow.</a:t>
            </a:r>
          </a:p>
          <a:p>
            <a:r>
              <a:t>• Server providers: capex at most 0.06x revenue; operating margins 6–9%; positive free cash flow; backlog under a year of revenue. CoreWeave's operating margin would be −26% on a 4-year GPU life instead of −3% on 6 years.</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Appendix: Q&amp;A 2, AI elasticity and portfolio mix</a:t>
            </a:r>
          </a:p>
          <a:p/>
          <a:p>
            <a:r>
              <a:t>When to use: Questions about which layer benefits most from AI, or whether to own several.</a:t>
            </a:r>
          </a:p>
          <a:p/>
          <a:p>
            <a:r>
              <a:t>Slide takeaway: Conclusion: Servers move revenue; neoclouds move share prices — lowest risk: 45% landlords + 55% servers; best Sharpe: 72% servers + 28% neoclouds.</a:t>
            </a:r>
          </a:p>
          <a:p>
            <a:r>
              <a:t>• Revenue elasticity is highest at server providers (Dell 0.84, HPE 0.41). Share-price AI beta is highest at neoclouds (0.81–0.85 at Nebius and CoreWeave).</a:t>
            </a:r>
          </a:p>
          <a:p>
            <a:r>
              <a:t>• Only the neocloud basket touches the efficient frontier, and only at its riskiest end. The lowest-risk mix was landlords 45% plus servers 55%; neoclouds got no weight in 97% of bootstraps.</a:t>
            </a:r>
          </a:p>
          <a:p>
            <a:r>
              <a:t>• Best Sharpe: servers 72% plus neoclouds 28%. This rests on 17 months of AI-boom returns, so trust the covariance more than the averages.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Q3 FY26: a record beat-and-raise quarter</a:t>
            </a:r>
          </a:p>
          <a:p/>
          <a:p>
            <a:r>
              <a:t>Time: 1:30 (cumulative 9:10)</a:t>
            </a:r>
          </a:p>
          <a:p/>
          <a:p>
            <a:r>
              <a:t>Goal: Give the latest results precisely: actual vs guidance vs consensus, segments and the raised outlook.</a:t>
            </a:r>
          </a:p>
          <a:p/>
          <a:p>
            <a:r>
              <a:t>Script: Q3 FY26, reported on 2 September, was a record on every line.</a:t>
            </a:r>
          </a:p>
          <a:p>
            <a:r>
              <a:t>• Revenue: $12.2 billion, up 34%, just above the top of guidance and 1% above consensus.</a:t>
            </a:r>
          </a:p>
          <a:p>
            <a:r>
              <a:t>• Margins: non-GAAP gross margin a record 40.4%, up 10.5 points; operating margin 16.2%, up 7.7 points.</a:t>
            </a:r>
          </a:p>
          <a:p>
            <a:r>
              <a:t>• EPS: $1.11, 19% above the top of guidance and 18% above consensus.</a:t>
            </a:r>
          </a:p>
          <a:p>
            <a:r>
              <a:t>• Cash and demand: free cash flow $958 million; orders up 42% normalised; AI backlog a record $7.6 billion.</a:t>
            </a:r>
          </a:p>
          <a:p>
            <a:r>
              <a:t>• Segments:</a:t>
            </a:r>
          </a:p>
          <a:p>
            <a:r>
              <a:t>  - Networking grew 75% at a 22% margin, but only 10% on a normalised basis, because last year's quarter had just one month of Juniper.</a:t>
            </a:r>
          </a:p>
          <a:p>
            <a:r>
              <a:t>  - Cloud &amp; AI grew 25%, and its margin jumped from 7% to 17%.</a:t>
            </a:r>
          </a:p>
          <a:p>
            <a:r>
              <a:t>• Outlook, raised across the board:</a:t>
            </a:r>
          </a:p>
          <a:p>
            <a:r>
              <a:t>  - Q4 revenue guidance of $13.9 to $14.8 billion implies 44 to 53% growth;</a:t>
            </a:r>
          </a:p>
          <a:p>
            <a:r>
              <a:t>  - FY26 EPS guidance went to $3.75–3.85;</a:t>
            </a:r>
          </a:p>
          <a:p>
            <a:r>
              <a:t>  - the FY27 framework went to 13–17% revenue growth and at least $5 billion of free cash flow.</a:t>
            </a:r>
          </a:p>
          <a:p/>
          <a:p>
            <a:r>
              <a:t>The chart shows how far FY26 EPS guidance has moved since last October, already past the FY2028 target. This is what a strong cycle looks like; the question is which parts repeat.</a:t>
            </a:r>
          </a:p>
          <a:p/>
          <a:p>
            <a:r>
              <a:t>Numbers to say:</a:t>
            </a:r>
          </a:p>
          <a:p>
            <a:r>
              <a:t>• revenue $12.2bn +34% (guide $11.5–12.1bn, consensus $12.1bn);</a:t>
            </a:r>
          </a:p>
          <a:p>
            <a:r>
              <a:t>• gross margin 40.4% (+10.5pp); operating margin 16.2% (+7.7pp);</a:t>
            </a:r>
          </a:p>
          <a:p>
            <a:r>
              <a:t>• EPS $1.11 (guide $0.88–0.93, consensus $0.94);</a:t>
            </a:r>
          </a:p>
          <a:p>
            <a:r>
              <a:t>• free cash flow $958m; orders +42%; AI backlog $7.6bn;</a:t>
            </a:r>
          </a:p>
          <a:p>
            <a:r>
              <a:t>• Networking +75% (+10% normalised) at 22.0%; Cloud &amp; AI +25% at 17.0%;</a:t>
            </a:r>
          </a:p>
          <a:p>
            <a:r>
              <a:t>• Q4 guide $13.9–14.8bn (+44–53%); FY26 EPS $3.75–3.85; FY27 +13–17%, free cash flow ≥$5.0bn.</a:t>
            </a:r>
          </a:p>
          <a:p/>
          <a:p>
            <a:r>
              <a:t>Slide takeaway: Conclusion: A record quarter proves the cycle, not the run-rate — EPS beat consensus by 18%, revenue by only 1%.</a:t>
            </a:r>
          </a:p>
          <a:p/>
          <a:p>
            <a:r>
              <a:t>Transition: So what actually drove that beat?</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Inside the beat: margin, not volume</a:t>
            </a:r>
          </a:p>
          <a:p/>
          <a:p>
            <a:r>
              <a:t>Time: 1:15 (cumulative 10:25)</a:t>
            </a:r>
          </a:p>
          <a:p/>
          <a:p>
            <a:r>
              <a:t>Goal: Decompose the beat and judge its repeatability.</a:t>
            </a:r>
          </a:p>
          <a:p/>
          <a:p>
            <a:r>
              <a:t>Script: Let's decompose the beat.</a:t>
            </a:r>
          </a:p>
          <a:p>
            <a:r>
              <a:t>• Left chart: green bars are EPS, grey bars revenue, each against the top of the guidance range. Over six quarters EPS beat the top of guidance five times, by 44% and 19% in the last two, while revenue beats stayed in single digits. That is the signature of a margin-led beat.</a:t>
            </a:r>
          </a:p>
          <a:p>
            <a:r>
              <a:t>• Operating-profit bridge (our estimate): non-GAAP operating profit rose about $1.2 billion year on year, and roughly 78% of that came from margin rather than volume.</a:t>
            </a:r>
          </a:p>
          <a:p>
            <a:r>
              <a:t>• Where the margin came from: price. Server revenue rose 35% on higher average selling prices while supply was constrained, as memory prices spiked and HPE passed them on. Management itself expects gross margin to moderate back toward historical levels. Cloud capex and memory prices, the two macro levers, lifted both volume and price, and both can reverse.</a:t>
            </a:r>
          </a:p>
          <a:p>
            <a:r>
              <a:t>• Networking's 75% is mostly acquired: organic growth was 10%, although orders grew 36%.</a:t>
            </a:r>
          </a:p>
          <a:p>
            <a:r>
              <a:t>• Cash: free cash flow was 48% of operating profit, with $11.8 billion of inventory on the balance sheet.</a:t>
            </a:r>
          </a:p>
          <a:p>
            <a:r>
              <a:t>• Guidance has ratcheted: the FY26 EPS guide already exceeds the target HPE set for FY28 only last October.</a:t>
            </a:r>
          </a:p>
          <a:p/>
          <a:p>
            <a:r>
              <a:t>The pattern: margin-led beats with rising guidance are the least repeatable part of a cycle.</a:t>
            </a:r>
          </a:p>
          <a:p/>
          <a:p>
            <a:r>
              <a:t>Numbers to say: EPS beat the top of guidance in 5 of 6 quarters (+44%, +19%); ~78% of the $1.2bn profit rise from margin; server +35%; Networking +10% normalised, orders +36%; free cash flow 48% of operating profit; FY28 EPS target ≥$3.00 vs FY26 guide $3.75–3.85.</a:t>
            </a:r>
          </a:p>
          <a:p/>
          <a:p>
            <a:r>
              <a:t>Slide takeaway: Pattern: The source of a beat matters more than its size — ~78% of the profit rise came from margin, and management guides gross margin lower.</a:t>
            </a:r>
          </a:p>
          <a:p/>
          <a:p>
            <a:r>
              <a:t>Transition: Now step back from one quarter: how much of the whole jump is structural?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type="title">
  <p:cSld name="TITLE">
    <p:spTree>
      <p:nvGrpSpPr>
        <p:cNvPr id="54" name="Shape 54"/>
        <p:cNvGrpSpPr/>
        <p:nvPr/>
      </p:nvGrpSpPr>
      <p:grpSpPr>
        <a:xfrm>
          <a:off x="0" y="0"/>
          <a:ext cx="0" cy="0"/>
          <a:chOff x="0" y="0"/>
          <a:chExt cx="0" cy="0"/>
        </a:xfrm>
      </p:grpSpPr>
      <p:sp>
        <p:nvSpPr>
          <p:cNvPr id="55" name="Google Shape;55;p14"/>
          <p:cNvSpPr txBox="1"/>
          <p:nvPr>
            <p:ph idx="1" type="body"/>
          </p:nvPr>
        </p:nvSpPr>
        <p:spPr>
          <a:xfrm>
            <a:off x="450503" y="4447448"/>
            <a:ext cx="8239126"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56" name="Google Shape;56;p14"/>
          <p:cNvSpPr txBox="1"/>
          <p:nvPr>
            <p:ph type="title"/>
          </p:nvPr>
        </p:nvSpPr>
        <p:spPr>
          <a:xfrm>
            <a:off x="452436" y="965622"/>
            <a:ext cx="8239127" cy="1743075"/>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sz="4400"/>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57" name="Google Shape;57;p14"/>
          <p:cNvSpPr txBox="1"/>
          <p:nvPr>
            <p:ph idx="2" type="body"/>
          </p:nvPr>
        </p:nvSpPr>
        <p:spPr>
          <a:xfrm>
            <a:off x="450503" y="2708696"/>
            <a:ext cx="8239125" cy="714375"/>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58" name="Google Shape;58;p14"/>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opsomming" type="tx">
  <p:cSld name="TITLE_AND_BODY">
    <p:spTree>
      <p:nvGrpSpPr>
        <p:cNvPr id="59" name="Shape 59"/>
        <p:cNvGrpSpPr/>
        <p:nvPr/>
      </p:nvGrpSpPr>
      <p:grpSpPr>
        <a:xfrm>
          <a:off x="0" y="0"/>
          <a:ext cx="0" cy="0"/>
          <a:chOff x="0" y="0"/>
          <a:chExt cx="0" cy="0"/>
        </a:xfrm>
      </p:grpSpPr>
      <p:sp>
        <p:nvSpPr>
          <p:cNvPr id="60" name="Google Shape;60;p15"/>
          <p:cNvSpPr txBox="1"/>
          <p:nvPr>
            <p:ph type="title"/>
          </p:nvPr>
        </p:nvSpPr>
        <p:spPr>
          <a:xfrm>
            <a:off x="452438" y="404813"/>
            <a:ext cx="8239125" cy="537436"/>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61" name="Google Shape;61;p15"/>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2" name="Google Shape;62;p15"/>
          <p:cNvSpPr txBox="1"/>
          <p:nvPr>
            <p:ph idx="2"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3" name="Google Shape;63;p15"/>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foto">
  <p:cSld name="Titel en foto">
    <p:spTree>
      <p:nvGrpSpPr>
        <p:cNvPr id="64" name="Shape 64"/>
        <p:cNvGrpSpPr/>
        <p:nvPr/>
      </p:nvGrpSpPr>
      <p:grpSpPr>
        <a:xfrm>
          <a:off x="0" y="0"/>
          <a:ext cx="0" cy="0"/>
          <a:chOff x="0" y="0"/>
          <a:chExt cx="0" cy="0"/>
        </a:xfrm>
      </p:grpSpPr>
      <p:sp>
        <p:nvSpPr>
          <p:cNvPr id="65" name="Google Shape;65;p16"/>
          <p:cNvSpPr/>
          <p:nvPr>
            <p:ph idx="2" type="pic"/>
          </p:nvPr>
        </p:nvSpPr>
        <p:spPr>
          <a:xfrm>
            <a:off x="-433387" y="-485775"/>
            <a:ext cx="10029825" cy="6007100"/>
          </a:xfrm>
          <a:prstGeom prst="rect">
            <a:avLst/>
          </a:prstGeom>
          <a:noFill/>
          <a:ln>
            <a:noFill/>
          </a:ln>
        </p:spPr>
      </p:sp>
      <p:sp>
        <p:nvSpPr>
          <p:cNvPr id="66" name="Google Shape;66;p16"/>
          <p:cNvSpPr txBox="1"/>
          <p:nvPr>
            <p:ph type="title"/>
          </p:nvPr>
        </p:nvSpPr>
        <p:spPr>
          <a:xfrm>
            <a:off x="452438" y="2671763"/>
            <a:ext cx="8239125" cy="1743075"/>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sz="4400"/>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67" name="Google Shape;67;p16"/>
          <p:cNvSpPr txBox="1"/>
          <p:nvPr>
            <p:ph idx="1" type="body"/>
          </p:nvPr>
        </p:nvSpPr>
        <p:spPr>
          <a:xfrm>
            <a:off x="452884" y="414801"/>
            <a:ext cx="8238233"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8" name="Google Shape;68;p16"/>
          <p:cNvSpPr txBox="1"/>
          <p:nvPr>
            <p:ph idx="3" type="body"/>
          </p:nvPr>
        </p:nvSpPr>
        <p:spPr>
          <a:xfrm>
            <a:off x="452438" y="4353716"/>
            <a:ext cx="8239125" cy="418857"/>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69" name="Google Shape;69;p16"/>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en foto alt">
  <p:cSld name="Titel en foto alt">
    <p:spTree>
      <p:nvGrpSpPr>
        <p:cNvPr id="70" name="Shape 70"/>
        <p:cNvGrpSpPr/>
        <p:nvPr/>
      </p:nvGrpSpPr>
      <p:grpSpPr>
        <a:xfrm>
          <a:off x="0" y="0"/>
          <a:ext cx="0" cy="0"/>
          <a:chOff x="0" y="0"/>
          <a:chExt cx="0" cy="0"/>
        </a:xfrm>
      </p:grpSpPr>
      <p:sp>
        <p:nvSpPr>
          <p:cNvPr id="71" name="Google Shape;71;p17"/>
          <p:cNvSpPr/>
          <p:nvPr>
            <p:ph idx="2" type="pic"/>
          </p:nvPr>
        </p:nvSpPr>
        <p:spPr>
          <a:xfrm>
            <a:off x="4114800" y="-76200"/>
            <a:ext cx="4554314" cy="5300663"/>
          </a:xfrm>
          <a:prstGeom prst="rect">
            <a:avLst/>
          </a:prstGeom>
          <a:noFill/>
          <a:ln>
            <a:noFill/>
          </a:ln>
        </p:spPr>
      </p:sp>
      <p:sp>
        <p:nvSpPr>
          <p:cNvPr id="72" name="Google Shape;72;p17"/>
          <p:cNvSpPr txBox="1"/>
          <p:nvPr>
            <p:ph type="title"/>
          </p:nvPr>
        </p:nvSpPr>
        <p:spPr>
          <a:xfrm>
            <a:off x="452438" y="476250"/>
            <a:ext cx="3667125" cy="2205852"/>
          </a:xfrm>
          <a:prstGeom prst="rect">
            <a:avLst/>
          </a:prstGeom>
          <a:noFill/>
          <a:ln>
            <a:noFill/>
          </a:ln>
        </p:spPr>
        <p:txBody>
          <a:bodyPr anchorCtr="0" anchor="b"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73" name="Google Shape;73;p17"/>
          <p:cNvSpPr txBox="1"/>
          <p:nvPr>
            <p:ph idx="1" type="body"/>
          </p:nvPr>
        </p:nvSpPr>
        <p:spPr>
          <a:xfrm>
            <a:off x="452438" y="2647716"/>
            <a:ext cx="3667125" cy="2019534"/>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28600" lvl="1" marL="914400" algn="l">
              <a:lnSpc>
                <a:spcPct val="100000"/>
              </a:lnSpc>
              <a:spcBef>
                <a:spcPts val="0"/>
              </a:spcBef>
              <a:spcAft>
                <a:spcPts val="0"/>
              </a:spcAft>
              <a:buClr>
                <a:srgbClr val="000000"/>
              </a:buClr>
              <a:buSzPts val="2100"/>
              <a:buFont typeface="Helvetica Neue"/>
              <a:buNone/>
              <a:defRPr b="1" sz="2100"/>
            </a:lvl2pPr>
            <a:lvl3pPr indent="-228600" lvl="2" marL="1371600" algn="l">
              <a:lnSpc>
                <a:spcPct val="100000"/>
              </a:lnSpc>
              <a:spcBef>
                <a:spcPts val="0"/>
              </a:spcBef>
              <a:spcAft>
                <a:spcPts val="0"/>
              </a:spcAft>
              <a:buClr>
                <a:srgbClr val="000000"/>
              </a:buClr>
              <a:buSzPts val="2100"/>
              <a:buFont typeface="Helvetica Neue"/>
              <a:buNone/>
              <a:defRPr b="1" sz="2100"/>
            </a:lvl3pPr>
            <a:lvl4pPr indent="-228600" lvl="3" marL="1828800" algn="l">
              <a:lnSpc>
                <a:spcPct val="100000"/>
              </a:lnSpc>
              <a:spcBef>
                <a:spcPts val="0"/>
              </a:spcBef>
              <a:spcAft>
                <a:spcPts val="0"/>
              </a:spcAft>
              <a:buClr>
                <a:srgbClr val="000000"/>
              </a:buClr>
              <a:buSzPts val="2100"/>
              <a:buFont typeface="Helvetica Neue"/>
              <a:buNone/>
              <a:defRPr b="1" sz="2100"/>
            </a:lvl4pPr>
            <a:lvl5pPr indent="-228600" lvl="4" marL="2286000" algn="l">
              <a:lnSpc>
                <a:spcPct val="100000"/>
              </a:lnSpc>
              <a:spcBef>
                <a:spcPts val="0"/>
              </a:spcBef>
              <a:spcAft>
                <a:spcPts val="0"/>
              </a:spcAft>
              <a:buClr>
                <a:srgbClr val="000000"/>
              </a:buClr>
              <a:buSzPts val="2100"/>
              <a:buFont typeface="Helvetica Neue"/>
              <a:buNone/>
              <a:defRPr b="1"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74" name="Google Shape;74;p17"/>
          <p:cNvSpPr txBox="1"/>
          <p:nvPr>
            <p:ph idx="12" type="sldNum"/>
          </p:nvPr>
        </p:nvSpPr>
        <p:spPr>
          <a:xfrm>
            <a:off x="4500562" y="4906962"/>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psomming">
  <p:cSld name="Opsomming">
    <p:spTree>
      <p:nvGrpSpPr>
        <p:cNvPr id="75" name="Shape 75"/>
        <p:cNvGrpSpPr/>
        <p:nvPr/>
      </p:nvGrpSpPr>
      <p:grpSpPr>
        <a:xfrm>
          <a:off x="0" y="0"/>
          <a:ext cx="0" cy="0"/>
          <a:chOff x="0" y="0"/>
          <a:chExt cx="0" cy="0"/>
        </a:xfrm>
      </p:grpSpPr>
      <p:sp>
        <p:nvSpPr>
          <p:cNvPr id="76" name="Google Shape;76;p18"/>
          <p:cNvSpPr txBox="1"/>
          <p:nvPr>
            <p:ph idx="1"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77" name="Google Shape;77;p18"/>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el, opsomm., foto">
  <p:cSld name="Titel, opsomm., foto">
    <p:spTree>
      <p:nvGrpSpPr>
        <p:cNvPr id="78" name="Shape 78"/>
        <p:cNvGrpSpPr/>
        <p:nvPr/>
      </p:nvGrpSpPr>
      <p:grpSpPr>
        <a:xfrm>
          <a:off x="0" y="0"/>
          <a:ext cx="0" cy="0"/>
          <a:chOff x="0" y="0"/>
          <a:chExt cx="0" cy="0"/>
        </a:xfrm>
      </p:grpSpPr>
      <p:sp>
        <p:nvSpPr>
          <p:cNvPr id="79" name="Google Shape;79;p19"/>
          <p:cNvSpPr txBox="1"/>
          <p:nvPr>
            <p:ph idx="1" type="body"/>
          </p:nvPr>
        </p:nvSpPr>
        <p:spPr>
          <a:xfrm>
            <a:off x="452438" y="889861"/>
            <a:ext cx="3667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80" name="Google Shape;80;p19"/>
          <p:cNvSpPr txBox="1"/>
          <p:nvPr>
            <p:ph idx="2" type="body"/>
          </p:nvPr>
        </p:nvSpPr>
        <p:spPr>
          <a:xfrm>
            <a:off x="452438" y="1593189"/>
            <a:ext cx="3667125" cy="3096236"/>
          </a:xfrm>
          <a:prstGeom prst="rect">
            <a:avLst/>
          </a:prstGeom>
          <a:noFill/>
          <a:ln>
            <a:noFill/>
          </a:ln>
        </p:spPr>
        <p:txBody>
          <a:bodyPr anchorCtr="0" anchor="t" bIns="19050" lIns="19050" spcFirstLastPara="1" rIns="19050" wrap="square" tIns="19050">
            <a:normAutofit/>
          </a:bodyPr>
          <a:lstStyle>
            <a:lvl1pPr indent="-279400" lvl="0" marL="457200" algn="l">
              <a:lnSpc>
                <a:spcPct val="90000"/>
              </a:lnSpc>
              <a:spcBef>
                <a:spcPts val="1700"/>
              </a:spcBef>
              <a:spcAft>
                <a:spcPts val="0"/>
              </a:spcAft>
              <a:buClr>
                <a:srgbClr val="000000"/>
              </a:buClr>
              <a:buSzPts val="800"/>
              <a:buChar char="•"/>
              <a:defRPr/>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81" name="Google Shape;81;p19"/>
          <p:cNvSpPr/>
          <p:nvPr>
            <p:ph idx="3" type="pic"/>
          </p:nvPr>
        </p:nvSpPr>
        <p:spPr>
          <a:xfrm>
            <a:off x="4572000" y="-152725"/>
            <a:ext cx="4093828" cy="5458437"/>
          </a:xfrm>
          <a:prstGeom prst="rect">
            <a:avLst/>
          </a:prstGeom>
          <a:noFill/>
          <a:ln>
            <a:noFill/>
          </a:ln>
        </p:spPr>
      </p:sp>
      <p:sp>
        <p:nvSpPr>
          <p:cNvPr id="82" name="Google Shape;82;p19"/>
          <p:cNvSpPr txBox="1"/>
          <p:nvPr>
            <p:ph type="title"/>
          </p:nvPr>
        </p:nvSpPr>
        <p:spPr>
          <a:xfrm>
            <a:off x="452438" y="404813"/>
            <a:ext cx="3667125" cy="538163"/>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3" name="Google Shape;83;p19"/>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e">
  <p:cSld name="Sectie">
    <p:spTree>
      <p:nvGrpSpPr>
        <p:cNvPr id="84" name="Shape 84"/>
        <p:cNvGrpSpPr/>
        <p:nvPr/>
      </p:nvGrpSpPr>
      <p:grpSpPr>
        <a:xfrm>
          <a:off x="0" y="0"/>
          <a:ext cx="0" cy="0"/>
          <a:chOff x="0" y="0"/>
          <a:chExt cx="0" cy="0"/>
        </a:xfrm>
      </p:grpSpPr>
      <p:sp>
        <p:nvSpPr>
          <p:cNvPr id="85" name="Google Shape;85;p20"/>
          <p:cNvSpPr txBox="1"/>
          <p:nvPr>
            <p:ph type="title"/>
          </p:nvPr>
        </p:nvSpPr>
        <p:spPr>
          <a:xfrm>
            <a:off x="452436" y="1700213"/>
            <a:ext cx="8239127" cy="1743075"/>
          </a:xfrm>
          <a:prstGeom prst="rect">
            <a:avLst/>
          </a:prstGeom>
          <a:noFill/>
          <a:ln>
            <a:noFill/>
          </a:ln>
        </p:spPr>
        <p:txBody>
          <a:bodyPr anchorCtr="0" anchor="ctr" bIns="19050" lIns="19050" spcFirstLastPara="1" rIns="19050" wrap="square" tIns="19050">
            <a:normAutofit/>
          </a:bodyPr>
          <a:lstStyle>
            <a:lvl1pPr lvl="0" algn="l">
              <a:lnSpc>
                <a:spcPct val="80000"/>
              </a:lnSpc>
              <a:spcBef>
                <a:spcPts val="0"/>
              </a:spcBef>
              <a:spcAft>
                <a:spcPts val="0"/>
              </a:spcAft>
              <a:buClr>
                <a:srgbClr val="000000"/>
              </a:buClr>
              <a:buSzPts val="4400"/>
              <a:buFont typeface="Helvetica Neue"/>
              <a:buNone/>
              <a:defRPr b="0" sz="4400">
                <a:latin typeface="Helvetica Neue"/>
                <a:ea typeface="Helvetica Neue"/>
                <a:cs typeface="Helvetica Neue"/>
                <a:sym typeface="Helvetica Neu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6" name="Google Shape;86;p20"/>
          <p:cNvSpPr txBox="1"/>
          <p:nvPr>
            <p:ph idx="12" type="sldNum"/>
          </p:nvPr>
        </p:nvSpPr>
        <p:spPr>
          <a:xfrm>
            <a:off x="4500562" y="4906962"/>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lleen titel">
  <p:cSld name="Alleen titel">
    <p:spTree>
      <p:nvGrpSpPr>
        <p:cNvPr id="87" name="Shape 87"/>
        <p:cNvGrpSpPr/>
        <p:nvPr/>
      </p:nvGrpSpPr>
      <p:grpSpPr>
        <a:xfrm>
          <a:off x="0" y="0"/>
          <a:ext cx="0" cy="0"/>
          <a:chOff x="0" y="0"/>
          <a:chExt cx="0" cy="0"/>
        </a:xfrm>
      </p:grpSpPr>
      <p:sp>
        <p:nvSpPr>
          <p:cNvPr id="88" name="Google Shape;88;p21"/>
          <p:cNvSpPr txBox="1"/>
          <p:nvPr>
            <p:ph type="title"/>
          </p:nvPr>
        </p:nvSpPr>
        <p:spPr>
          <a:xfrm>
            <a:off x="452438" y="404813"/>
            <a:ext cx="8239125" cy="538106"/>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89" name="Google Shape;89;p21"/>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0" name="Google Shape;90;p21"/>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91" name="Shape 91"/>
        <p:cNvGrpSpPr/>
        <p:nvPr/>
      </p:nvGrpSpPr>
      <p:grpSpPr>
        <a:xfrm>
          <a:off x="0" y="0"/>
          <a:ext cx="0" cy="0"/>
          <a:chOff x="0" y="0"/>
          <a:chExt cx="0" cy="0"/>
        </a:xfrm>
      </p:grpSpPr>
      <p:sp>
        <p:nvSpPr>
          <p:cNvPr id="92" name="Google Shape;92;p22"/>
          <p:cNvSpPr txBox="1"/>
          <p:nvPr>
            <p:ph type="title"/>
          </p:nvPr>
        </p:nvSpPr>
        <p:spPr>
          <a:xfrm>
            <a:off x="452438" y="404813"/>
            <a:ext cx="8239125" cy="538163"/>
          </a:xfrm>
          <a:prstGeom prst="rect">
            <a:avLst/>
          </a:prstGeom>
          <a:noFill/>
          <a:ln>
            <a:noFill/>
          </a:ln>
        </p:spPr>
        <p:txBody>
          <a:bodyPr anchorCtr="0" anchor="t" bIns="19050" lIns="19050" spcFirstLastPara="1" rIns="19050" wrap="square" tIns="19050">
            <a:normAutofit/>
          </a:bodyPr>
          <a:lstStyle>
            <a:lvl1pPr lvl="0" algn="l">
              <a:lnSpc>
                <a:spcPct val="80000"/>
              </a:lnSpc>
              <a:spcBef>
                <a:spcPts val="0"/>
              </a:spcBef>
              <a:spcAft>
                <a:spcPts val="0"/>
              </a:spcAft>
              <a:buClr>
                <a:srgbClr val="000000"/>
              </a:buClr>
              <a:buSzPts val="700"/>
              <a:buNone/>
              <a:defRPr/>
            </a:lvl1pPr>
            <a:lvl2pPr lvl="1" algn="l">
              <a:lnSpc>
                <a:spcPct val="80000"/>
              </a:lnSpc>
              <a:spcBef>
                <a:spcPts val="0"/>
              </a:spcBef>
              <a:spcAft>
                <a:spcPts val="0"/>
              </a:spcAft>
              <a:buClr>
                <a:srgbClr val="000000"/>
              </a:buClr>
              <a:buSzPts val="700"/>
              <a:buNone/>
              <a:defRPr/>
            </a:lvl2pPr>
            <a:lvl3pPr lvl="2" algn="l">
              <a:lnSpc>
                <a:spcPct val="80000"/>
              </a:lnSpc>
              <a:spcBef>
                <a:spcPts val="0"/>
              </a:spcBef>
              <a:spcAft>
                <a:spcPts val="0"/>
              </a:spcAft>
              <a:buClr>
                <a:srgbClr val="000000"/>
              </a:buClr>
              <a:buSzPts val="700"/>
              <a:buNone/>
              <a:defRPr/>
            </a:lvl3pPr>
            <a:lvl4pPr lvl="3" algn="l">
              <a:lnSpc>
                <a:spcPct val="80000"/>
              </a:lnSpc>
              <a:spcBef>
                <a:spcPts val="0"/>
              </a:spcBef>
              <a:spcAft>
                <a:spcPts val="0"/>
              </a:spcAft>
              <a:buClr>
                <a:srgbClr val="000000"/>
              </a:buClr>
              <a:buSzPts val="700"/>
              <a:buNone/>
              <a:defRPr/>
            </a:lvl4pPr>
            <a:lvl5pPr lvl="4" algn="l">
              <a:lnSpc>
                <a:spcPct val="80000"/>
              </a:lnSpc>
              <a:spcBef>
                <a:spcPts val="0"/>
              </a:spcBef>
              <a:spcAft>
                <a:spcPts val="0"/>
              </a:spcAft>
              <a:buClr>
                <a:srgbClr val="000000"/>
              </a:buClr>
              <a:buSzPts val="700"/>
              <a:buNone/>
              <a:defRPr/>
            </a:lvl5pPr>
            <a:lvl6pPr lvl="5" algn="l">
              <a:lnSpc>
                <a:spcPct val="80000"/>
              </a:lnSpc>
              <a:spcBef>
                <a:spcPts val="0"/>
              </a:spcBef>
              <a:spcAft>
                <a:spcPts val="0"/>
              </a:spcAft>
              <a:buClr>
                <a:srgbClr val="000000"/>
              </a:buClr>
              <a:buSzPts val="700"/>
              <a:buNone/>
              <a:defRPr/>
            </a:lvl6pPr>
            <a:lvl7pPr lvl="6" algn="l">
              <a:lnSpc>
                <a:spcPct val="80000"/>
              </a:lnSpc>
              <a:spcBef>
                <a:spcPts val="0"/>
              </a:spcBef>
              <a:spcAft>
                <a:spcPts val="0"/>
              </a:spcAft>
              <a:buClr>
                <a:srgbClr val="000000"/>
              </a:buClr>
              <a:buSzPts val="700"/>
              <a:buNone/>
              <a:defRPr/>
            </a:lvl7pPr>
            <a:lvl8pPr lvl="7" algn="l">
              <a:lnSpc>
                <a:spcPct val="80000"/>
              </a:lnSpc>
              <a:spcBef>
                <a:spcPts val="0"/>
              </a:spcBef>
              <a:spcAft>
                <a:spcPts val="0"/>
              </a:spcAft>
              <a:buClr>
                <a:srgbClr val="000000"/>
              </a:buClr>
              <a:buSzPts val="700"/>
              <a:buNone/>
              <a:defRPr/>
            </a:lvl8pPr>
            <a:lvl9pPr lvl="8" algn="l">
              <a:lnSpc>
                <a:spcPct val="80000"/>
              </a:lnSpc>
              <a:spcBef>
                <a:spcPts val="0"/>
              </a:spcBef>
              <a:spcAft>
                <a:spcPts val="0"/>
              </a:spcAft>
              <a:buClr>
                <a:srgbClr val="000000"/>
              </a:buClr>
              <a:buSzPts val="700"/>
              <a:buNone/>
              <a:defRPr/>
            </a:lvl9pPr>
          </a:lstStyle>
          <a:p/>
        </p:txBody>
      </p:sp>
      <p:sp>
        <p:nvSpPr>
          <p:cNvPr id="93" name="Google Shape;93;p22"/>
          <p:cNvSpPr txBox="1"/>
          <p:nvPr>
            <p:ph idx="1" type="body"/>
          </p:nvPr>
        </p:nvSpPr>
        <p:spPr>
          <a:xfrm>
            <a:off x="452438" y="889861"/>
            <a:ext cx="8239125" cy="350542"/>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4" name="Google Shape;94;p22"/>
          <p:cNvSpPr txBox="1"/>
          <p:nvPr>
            <p:ph idx="2"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228600" lvl="0" marL="457200" algn="l">
              <a:lnSpc>
                <a:spcPct val="100000"/>
              </a:lnSpc>
              <a:spcBef>
                <a:spcPts val="700"/>
              </a:spcBef>
              <a:spcAft>
                <a:spcPts val="0"/>
              </a:spcAft>
              <a:buClr>
                <a:srgbClr val="000000"/>
              </a:buClr>
              <a:buSzPts val="2100"/>
              <a:buFont typeface="Helvetica Neue"/>
              <a:buNone/>
              <a:defRPr sz="2100"/>
            </a:lvl1pPr>
            <a:lvl2pPr indent="-228600" lvl="1" marL="914400" algn="l">
              <a:lnSpc>
                <a:spcPct val="100000"/>
              </a:lnSpc>
              <a:spcBef>
                <a:spcPts val="700"/>
              </a:spcBef>
              <a:spcAft>
                <a:spcPts val="0"/>
              </a:spcAft>
              <a:buClr>
                <a:srgbClr val="000000"/>
              </a:buClr>
              <a:buSzPts val="2100"/>
              <a:buFont typeface="Helvetica Neue"/>
              <a:buNone/>
              <a:defRPr sz="2100"/>
            </a:lvl2pPr>
            <a:lvl3pPr indent="-228600" lvl="2" marL="1371600" algn="l">
              <a:lnSpc>
                <a:spcPct val="100000"/>
              </a:lnSpc>
              <a:spcBef>
                <a:spcPts val="700"/>
              </a:spcBef>
              <a:spcAft>
                <a:spcPts val="0"/>
              </a:spcAft>
              <a:buClr>
                <a:srgbClr val="000000"/>
              </a:buClr>
              <a:buSzPts val="2100"/>
              <a:buFont typeface="Helvetica Neue"/>
              <a:buNone/>
              <a:defRPr sz="2100"/>
            </a:lvl3pPr>
            <a:lvl4pPr indent="-228600" lvl="3" marL="1828800" algn="l">
              <a:lnSpc>
                <a:spcPct val="100000"/>
              </a:lnSpc>
              <a:spcBef>
                <a:spcPts val="700"/>
              </a:spcBef>
              <a:spcAft>
                <a:spcPts val="0"/>
              </a:spcAft>
              <a:buClr>
                <a:srgbClr val="000000"/>
              </a:buClr>
              <a:buSzPts val="2100"/>
              <a:buFont typeface="Helvetica Neue"/>
              <a:buNone/>
              <a:defRPr sz="2100"/>
            </a:lvl4pPr>
            <a:lvl5pPr indent="-228600" lvl="4" marL="2286000" algn="l">
              <a:lnSpc>
                <a:spcPct val="100000"/>
              </a:lnSpc>
              <a:spcBef>
                <a:spcPts val="700"/>
              </a:spcBef>
              <a:spcAft>
                <a:spcPts val="0"/>
              </a:spcAft>
              <a:buClr>
                <a:srgbClr val="000000"/>
              </a:buClr>
              <a:buSzPts val="2100"/>
              <a:buFont typeface="Helvetica Neue"/>
              <a:buNone/>
              <a:defRPr sz="21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5" name="Google Shape;95;p22"/>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Uiting">
  <p:cSld name="Uiting">
    <p:spTree>
      <p:nvGrpSpPr>
        <p:cNvPr id="96" name="Shape 96"/>
        <p:cNvGrpSpPr/>
        <p:nvPr/>
      </p:nvGrpSpPr>
      <p:grpSpPr>
        <a:xfrm>
          <a:off x="0" y="0"/>
          <a:ext cx="0" cy="0"/>
          <a:chOff x="0" y="0"/>
          <a:chExt cx="0" cy="0"/>
        </a:xfrm>
      </p:grpSpPr>
      <p:sp>
        <p:nvSpPr>
          <p:cNvPr id="97" name="Google Shape;97;p23"/>
          <p:cNvSpPr txBox="1"/>
          <p:nvPr>
            <p:ph idx="1" type="body"/>
          </p:nvPr>
        </p:nvSpPr>
        <p:spPr>
          <a:xfrm>
            <a:off x="452438" y="1845316"/>
            <a:ext cx="8239125" cy="1452868"/>
          </a:xfrm>
          <a:prstGeom prst="rect">
            <a:avLst/>
          </a:prstGeom>
          <a:noFill/>
          <a:ln>
            <a:noFill/>
          </a:ln>
        </p:spPr>
        <p:txBody>
          <a:bodyPr anchorCtr="0" anchor="ctr" bIns="19050" lIns="19050" spcFirstLastPara="1" rIns="19050" wrap="square" tIns="19050">
            <a:normAutofit/>
          </a:bodyPr>
          <a:lstStyle>
            <a:lvl1pPr indent="-228600" lvl="0" marL="4572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1pPr>
            <a:lvl2pPr indent="-228600" lvl="1" marL="9144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2pPr>
            <a:lvl3pPr indent="-228600" lvl="2" marL="13716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3pPr>
            <a:lvl4pPr indent="-228600" lvl="3" marL="18288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4pPr>
            <a:lvl5pPr indent="-228600" lvl="4" marL="2286000" algn="ctr">
              <a:lnSpc>
                <a:spcPct val="80000"/>
              </a:lnSpc>
              <a:spcBef>
                <a:spcPts val="0"/>
              </a:spcBef>
              <a:spcAft>
                <a:spcPts val="0"/>
              </a:spcAft>
              <a:buClr>
                <a:srgbClr val="000000"/>
              </a:buClr>
              <a:buSzPts val="4400"/>
              <a:buFont typeface="Helvetica Neue"/>
              <a:buNone/>
              <a:defRPr sz="4400">
                <a:latin typeface="Helvetica Neue"/>
                <a:ea typeface="Helvetica Neue"/>
                <a:cs typeface="Helvetica Neue"/>
                <a:sym typeface="Helvetica Neue"/>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98" name="Google Shape;98;p23"/>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oot feit">
  <p:cSld name="Groot feit">
    <p:spTree>
      <p:nvGrpSpPr>
        <p:cNvPr id="99" name="Shape 99"/>
        <p:cNvGrpSpPr/>
        <p:nvPr/>
      </p:nvGrpSpPr>
      <p:grpSpPr>
        <a:xfrm>
          <a:off x="0" y="0"/>
          <a:ext cx="0" cy="0"/>
          <a:chOff x="0" y="0"/>
          <a:chExt cx="0" cy="0"/>
        </a:xfrm>
      </p:grpSpPr>
      <p:sp>
        <p:nvSpPr>
          <p:cNvPr id="100" name="Google Shape;100;p24"/>
          <p:cNvSpPr txBox="1"/>
          <p:nvPr>
            <p:ph idx="1" type="body"/>
          </p:nvPr>
        </p:nvSpPr>
        <p:spPr>
          <a:xfrm>
            <a:off x="452438" y="403473"/>
            <a:ext cx="8239125" cy="2715594"/>
          </a:xfrm>
          <a:prstGeom prst="rect">
            <a:avLst/>
          </a:prstGeom>
          <a:noFill/>
          <a:ln>
            <a:noFill/>
          </a:ln>
        </p:spPr>
        <p:txBody>
          <a:bodyPr anchorCtr="0" anchor="b" bIns="19050" lIns="19050" spcFirstLastPara="1" rIns="19050" wrap="square" tIns="19050">
            <a:normAutofit/>
          </a:bodyPr>
          <a:lstStyle>
            <a:lvl1pPr indent="-228600" lvl="0" marL="457200" algn="ctr">
              <a:lnSpc>
                <a:spcPct val="80000"/>
              </a:lnSpc>
              <a:spcBef>
                <a:spcPts val="0"/>
              </a:spcBef>
              <a:spcAft>
                <a:spcPts val="0"/>
              </a:spcAft>
              <a:buClr>
                <a:srgbClr val="000000"/>
              </a:buClr>
              <a:buSzPts val="9400"/>
              <a:buFont typeface="Helvetica Neue"/>
              <a:buNone/>
              <a:defRPr b="1" sz="9400"/>
            </a:lvl1pPr>
            <a:lvl2pPr indent="-228600" lvl="1" marL="914400" algn="ctr">
              <a:lnSpc>
                <a:spcPct val="80000"/>
              </a:lnSpc>
              <a:spcBef>
                <a:spcPts val="0"/>
              </a:spcBef>
              <a:spcAft>
                <a:spcPts val="0"/>
              </a:spcAft>
              <a:buClr>
                <a:srgbClr val="000000"/>
              </a:buClr>
              <a:buSzPts val="9400"/>
              <a:buFont typeface="Helvetica Neue"/>
              <a:buNone/>
              <a:defRPr b="1" sz="9400"/>
            </a:lvl2pPr>
            <a:lvl3pPr indent="-228600" lvl="2" marL="1371600" algn="ctr">
              <a:lnSpc>
                <a:spcPct val="80000"/>
              </a:lnSpc>
              <a:spcBef>
                <a:spcPts val="0"/>
              </a:spcBef>
              <a:spcAft>
                <a:spcPts val="0"/>
              </a:spcAft>
              <a:buClr>
                <a:srgbClr val="000000"/>
              </a:buClr>
              <a:buSzPts val="9400"/>
              <a:buFont typeface="Helvetica Neue"/>
              <a:buNone/>
              <a:defRPr b="1" sz="9400"/>
            </a:lvl3pPr>
            <a:lvl4pPr indent="-228600" lvl="3" marL="1828800" algn="ctr">
              <a:lnSpc>
                <a:spcPct val="80000"/>
              </a:lnSpc>
              <a:spcBef>
                <a:spcPts val="0"/>
              </a:spcBef>
              <a:spcAft>
                <a:spcPts val="0"/>
              </a:spcAft>
              <a:buClr>
                <a:srgbClr val="000000"/>
              </a:buClr>
              <a:buSzPts val="9400"/>
              <a:buFont typeface="Helvetica Neue"/>
              <a:buNone/>
              <a:defRPr b="1" sz="9400"/>
            </a:lvl4pPr>
            <a:lvl5pPr indent="-228600" lvl="4" marL="2286000" algn="ctr">
              <a:lnSpc>
                <a:spcPct val="80000"/>
              </a:lnSpc>
              <a:spcBef>
                <a:spcPts val="0"/>
              </a:spcBef>
              <a:spcAft>
                <a:spcPts val="0"/>
              </a:spcAft>
              <a:buClr>
                <a:srgbClr val="000000"/>
              </a:buClr>
              <a:buSzPts val="9400"/>
              <a:buFont typeface="Helvetica Neue"/>
              <a:buNone/>
              <a:defRPr b="1" sz="9400"/>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1" name="Google Shape;101;p24"/>
          <p:cNvSpPr txBox="1"/>
          <p:nvPr>
            <p:ph idx="2" type="body"/>
          </p:nvPr>
        </p:nvSpPr>
        <p:spPr>
          <a:xfrm>
            <a:off x="452438" y="3098318"/>
            <a:ext cx="8239125" cy="350543"/>
          </a:xfrm>
          <a:prstGeom prst="rect">
            <a:avLst/>
          </a:prstGeom>
          <a:noFill/>
          <a:ln>
            <a:noFill/>
          </a:ln>
        </p:spPr>
        <p:txBody>
          <a:bodyPr anchorCtr="0" anchor="t" bIns="17150" lIns="17150" spcFirstLastPara="1" rIns="17150" wrap="square" tIns="17150">
            <a:normAutofit/>
          </a:bodyPr>
          <a:lstStyle>
            <a:lvl1pPr indent="-228600" lvl="0" marL="457200" algn="ctr">
              <a:lnSpc>
                <a:spcPct val="100000"/>
              </a:lnSpc>
              <a:spcBef>
                <a:spcPts val="0"/>
              </a:spcBef>
              <a:spcAft>
                <a:spcPts val="0"/>
              </a:spcAft>
              <a:buClr>
                <a:srgbClr val="000000"/>
              </a:buClr>
              <a:buSzPts val="2100"/>
              <a:buFont typeface="Helvetica Neue"/>
              <a:buNone/>
              <a:defRPr b="1" sz="21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2" name="Google Shape;102;p24"/>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itaat">
  <p:cSld name="Citaat">
    <p:spTree>
      <p:nvGrpSpPr>
        <p:cNvPr id="103" name="Shape 103"/>
        <p:cNvGrpSpPr/>
        <p:nvPr/>
      </p:nvGrpSpPr>
      <p:grpSpPr>
        <a:xfrm>
          <a:off x="0" y="0"/>
          <a:ext cx="0" cy="0"/>
          <a:chOff x="0" y="0"/>
          <a:chExt cx="0" cy="0"/>
        </a:xfrm>
      </p:grpSpPr>
      <p:sp>
        <p:nvSpPr>
          <p:cNvPr id="104" name="Google Shape;104;p25"/>
          <p:cNvSpPr txBox="1"/>
          <p:nvPr>
            <p:ph idx="1" type="body"/>
          </p:nvPr>
        </p:nvSpPr>
        <p:spPr>
          <a:xfrm>
            <a:off x="911259" y="4003295"/>
            <a:ext cx="7575020" cy="238867"/>
          </a:xfrm>
          <a:prstGeom prst="rect">
            <a:avLst/>
          </a:prstGeom>
          <a:noFill/>
          <a:ln>
            <a:noFill/>
          </a:ln>
        </p:spPr>
        <p:txBody>
          <a:bodyPr anchorCtr="0" anchor="t" bIns="17150" lIns="17150" spcFirstLastPara="1" rIns="17150" wrap="square" tIns="17150">
            <a:normAutofit/>
          </a:bodyPr>
          <a:lstStyle>
            <a:lvl1pPr indent="-228600" lvl="0" marL="457200" algn="l">
              <a:lnSpc>
                <a:spcPct val="100000"/>
              </a:lnSpc>
              <a:spcBef>
                <a:spcPts val="0"/>
              </a:spcBef>
              <a:spcAft>
                <a:spcPts val="0"/>
              </a:spcAft>
              <a:buClr>
                <a:srgbClr val="000000"/>
              </a:buClr>
              <a:buSzPts val="1400"/>
              <a:buFont typeface="Helvetica Neue"/>
              <a:buNone/>
              <a:defRPr b="1" sz="1400"/>
            </a:lvl1pPr>
            <a:lvl2pPr indent="-279400" lvl="1" marL="914400" algn="l">
              <a:lnSpc>
                <a:spcPct val="90000"/>
              </a:lnSpc>
              <a:spcBef>
                <a:spcPts val="1700"/>
              </a:spcBef>
              <a:spcAft>
                <a:spcPts val="0"/>
              </a:spcAft>
              <a:buClr>
                <a:srgbClr val="000000"/>
              </a:buClr>
              <a:buSzPts val="800"/>
              <a:buChar char="•"/>
              <a:defRPr/>
            </a:lvl2pPr>
            <a:lvl3pPr indent="-279400" lvl="2" marL="1371600" algn="l">
              <a:lnSpc>
                <a:spcPct val="90000"/>
              </a:lnSpc>
              <a:spcBef>
                <a:spcPts val="1700"/>
              </a:spcBef>
              <a:spcAft>
                <a:spcPts val="0"/>
              </a:spcAft>
              <a:buClr>
                <a:srgbClr val="000000"/>
              </a:buClr>
              <a:buSzPts val="800"/>
              <a:buChar char="•"/>
              <a:defRPr/>
            </a:lvl3pPr>
            <a:lvl4pPr indent="-279400" lvl="3" marL="1828800" algn="l">
              <a:lnSpc>
                <a:spcPct val="90000"/>
              </a:lnSpc>
              <a:spcBef>
                <a:spcPts val="1700"/>
              </a:spcBef>
              <a:spcAft>
                <a:spcPts val="0"/>
              </a:spcAft>
              <a:buClr>
                <a:srgbClr val="000000"/>
              </a:buClr>
              <a:buSzPts val="800"/>
              <a:buChar char="•"/>
              <a:defRPr/>
            </a:lvl4pPr>
            <a:lvl5pPr indent="-279400" lvl="4" marL="2286000" algn="l">
              <a:lnSpc>
                <a:spcPct val="90000"/>
              </a:lnSpc>
              <a:spcBef>
                <a:spcPts val="1700"/>
              </a:spcBef>
              <a:spcAft>
                <a:spcPts val="0"/>
              </a:spcAft>
              <a:buClr>
                <a:srgbClr val="000000"/>
              </a:buClr>
              <a:buSzPts val="800"/>
              <a:buChar char="•"/>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5" name="Google Shape;105;p25"/>
          <p:cNvSpPr txBox="1"/>
          <p:nvPr>
            <p:ph idx="2" type="body"/>
          </p:nvPr>
        </p:nvSpPr>
        <p:spPr>
          <a:xfrm>
            <a:off x="657721" y="1852447"/>
            <a:ext cx="7828558" cy="1438605"/>
          </a:xfrm>
          <a:prstGeom prst="rect">
            <a:avLst/>
          </a:prstGeom>
          <a:noFill/>
          <a:ln>
            <a:noFill/>
          </a:ln>
        </p:spPr>
        <p:txBody>
          <a:bodyPr anchorCtr="0" anchor="t" bIns="19050" lIns="19050" spcFirstLastPara="1" rIns="19050" wrap="square" tIns="19050">
            <a:normAutofit/>
          </a:bodyPr>
          <a:lstStyle>
            <a:lvl1pPr indent="-228600" lvl="0" marL="4572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1pPr>
            <a:lvl2pPr indent="-228600" lvl="1" marL="9144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2pPr>
            <a:lvl3pPr indent="-228600" lvl="2" marL="13716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3pPr>
            <a:lvl4pPr indent="-228600" lvl="3" marL="18288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4pPr>
            <a:lvl5pPr indent="-228600" lvl="4" marL="2286000" algn="l">
              <a:lnSpc>
                <a:spcPct val="90000"/>
              </a:lnSpc>
              <a:spcBef>
                <a:spcPts val="0"/>
              </a:spcBef>
              <a:spcAft>
                <a:spcPts val="0"/>
              </a:spcAft>
              <a:buClr>
                <a:srgbClr val="000000"/>
              </a:buClr>
              <a:buSzPts val="3200"/>
              <a:buFont typeface="Helvetica Neue"/>
              <a:buNone/>
              <a:defRPr sz="3200">
                <a:latin typeface="Helvetica Neue"/>
                <a:ea typeface="Helvetica Neue"/>
                <a:cs typeface="Helvetica Neue"/>
                <a:sym typeface="Helvetica Neue"/>
              </a:defRPr>
            </a:lvl5pPr>
            <a:lvl6pPr indent="-279400" lvl="5" marL="2743200" algn="l">
              <a:lnSpc>
                <a:spcPct val="90000"/>
              </a:lnSpc>
              <a:spcBef>
                <a:spcPts val="1700"/>
              </a:spcBef>
              <a:spcAft>
                <a:spcPts val="0"/>
              </a:spcAft>
              <a:buClr>
                <a:srgbClr val="000000"/>
              </a:buClr>
              <a:buSzPts val="800"/>
              <a:buChar char="•"/>
              <a:defRPr/>
            </a:lvl6pPr>
            <a:lvl7pPr indent="-279400" lvl="6" marL="3200400" algn="l">
              <a:lnSpc>
                <a:spcPct val="90000"/>
              </a:lnSpc>
              <a:spcBef>
                <a:spcPts val="1700"/>
              </a:spcBef>
              <a:spcAft>
                <a:spcPts val="0"/>
              </a:spcAft>
              <a:buClr>
                <a:srgbClr val="000000"/>
              </a:buClr>
              <a:buSzPts val="800"/>
              <a:buChar char="•"/>
              <a:defRPr/>
            </a:lvl7pPr>
            <a:lvl8pPr indent="-279400" lvl="7" marL="3657600" algn="l">
              <a:lnSpc>
                <a:spcPct val="90000"/>
              </a:lnSpc>
              <a:spcBef>
                <a:spcPts val="1700"/>
              </a:spcBef>
              <a:spcAft>
                <a:spcPts val="0"/>
              </a:spcAft>
              <a:buClr>
                <a:srgbClr val="000000"/>
              </a:buClr>
              <a:buSzPts val="800"/>
              <a:buChar char="•"/>
              <a:defRPr/>
            </a:lvl8pPr>
            <a:lvl9pPr indent="-279400" lvl="8" marL="4114800" algn="l">
              <a:lnSpc>
                <a:spcPct val="90000"/>
              </a:lnSpc>
              <a:spcBef>
                <a:spcPts val="1700"/>
              </a:spcBef>
              <a:spcAft>
                <a:spcPts val="0"/>
              </a:spcAft>
              <a:buClr>
                <a:srgbClr val="000000"/>
              </a:buClr>
              <a:buSzPts val="800"/>
              <a:buChar char="•"/>
              <a:defRPr/>
            </a:lvl9pPr>
          </a:lstStyle>
          <a:p/>
        </p:txBody>
      </p:sp>
      <p:sp>
        <p:nvSpPr>
          <p:cNvPr id="106" name="Google Shape;106;p25"/>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 driemaal">
  <p:cSld name="Foto - driemaal">
    <p:spTree>
      <p:nvGrpSpPr>
        <p:cNvPr id="107" name="Shape 107"/>
        <p:cNvGrpSpPr/>
        <p:nvPr/>
      </p:nvGrpSpPr>
      <p:grpSpPr>
        <a:xfrm>
          <a:off x="0" y="0"/>
          <a:ext cx="0" cy="0"/>
          <a:chOff x="0" y="0"/>
          <a:chExt cx="0" cy="0"/>
        </a:xfrm>
      </p:grpSpPr>
      <p:sp>
        <p:nvSpPr>
          <p:cNvPr id="108" name="Google Shape;108;p26"/>
          <p:cNvSpPr/>
          <p:nvPr>
            <p:ph idx="2" type="pic"/>
          </p:nvPr>
        </p:nvSpPr>
        <p:spPr>
          <a:xfrm>
            <a:off x="5910263" y="381000"/>
            <a:ext cx="2789662" cy="2231129"/>
          </a:xfrm>
          <a:prstGeom prst="rect">
            <a:avLst/>
          </a:prstGeom>
          <a:noFill/>
          <a:ln>
            <a:noFill/>
          </a:ln>
        </p:spPr>
      </p:sp>
      <p:sp>
        <p:nvSpPr>
          <p:cNvPr id="109" name="Google Shape;109;p26"/>
          <p:cNvSpPr/>
          <p:nvPr>
            <p:ph idx="3" type="pic"/>
          </p:nvPr>
        </p:nvSpPr>
        <p:spPr>
          <a:xfrm>
            <a:off x="5062538" y="1491853"/>
            <a:ext cx="3914775" cy="4556318"/>
          </a:xfrm>
          <a:prstGeom prst="rect">
            <a:avLst/>
          </a:prstGeom>
          <a:noFill/>
          <a:ln>
            <a:noFill/>
          </a:ln>
        </p:spPr>
      </p:sp>
      <p:sp>
        <p:nvSpPr>
          <p:cNvPr id="110" name="Google Shape;110;p26"/>
          <p:cNvSpPr/>
          <p:nvPr>
            <p:ph idx="4" type="pic"/>
          </p:nvPr>
        </p:nvSpPr>
        <p:spPr>
          <a:xfrm>
            <a:off x="-52387" y="185738"/>
            <a:ext cx="6229350" cy="4672013"/>
          </a:xfrm>
          <a:prstGeom prst="rect">
            <a:avLst/>
          </a:prstGeom>
          <a:noFill/>
          <a:ln>
            <a:noFill/>
          </a:ln>
        </p:spPr>
      </p:sp>
      <p:sp>
        <p:nvSpPr>
          <p:cNvPr id="111" name="Google Shape;111;p26"/>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to">
  <p:cSld name="Foto">
    <p:spTree>
      <p:nvGrpSpPr>
        <p:cNvPr id="112" name="Shape 112"/>
        <p:cNvGrpSpPr/>
        <p:nvPr/>
      </p:nvGrpSpPr>
      <p:grpSpPr>
        <a:xfrm>
          <a:off x="0" y="0"/>
          <a:ext cx="0" cy="0"/>
          <a:chOff x="0" y="0"/>
          <a:chExt cx="0" cy="0"/>
        </a:xfrm>
      </p:grpSpPr>
      <p:sp>
        <p:nvSpPr>
          <p:cNvPr id="113" name="Google Shape;113;p27"/>
          <p:cNvSpPr/>
          <p:nvPr>
            <p:ph idx="2" type="pic"/>
          </p:nvPr>
        </p:nvSpPr>
        <p:spPr>
          <a:xfrm>
            <a:off x="-500062" y="-2071687"/>
            <a:ext cx="10144125" cy="8115300"/>
          </a:xfrm>
          <a:prstGeom prst="rect">
            <a:avLst/>
          </a:prstGeom>
          <a:noFill/>
          <a:ln>
            <a:noFill/>
          </a:ln>
        </p:spPr>
      </p:sp>
      <p:sp>
        <p:nvSpPr>
          <p:cNvPr id="114" name="Google Shape;114;p27"/>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FFFFFF"/>
              </a:buClr>
              <a:buSzPts val="700"/>
              <a:buFont typeface="Helvetica Neue"/>
              <a:buNone/>
              <a:defRPr>
                <a:solidFill>
                  <a:srgbClr val="FFFFFF"/>
                </a:solidFill>
              </a:defRPr>
            </a:lvl1pPr>
            <a:lvl2pPr indent="0" lvl="1" marL="0" algn="ctr">
              <a:lnSpc>
                <a:spcPct val="100000"/>
              </a:lnSpc>
              <a:spcBef>
                <a:spcPts val="0"/>
              </a:spcBef>
              <a:spcAft>
                <a:spcPts val="0"/>
              </a:spcAft>
              <a:buClr>
                <a:srgbClr val="FFFFFF"/>
              </a:buClr>
              <a:buSzPts val="700"/>
              <a:buFont typeface="Helvetica Neue"/>
              <a:buNone/>
              <a:defRPr>
                <a:solidFill>
                  <a:srgbClr val="FFFFFF"/>
                </a:solidFill>
              </a:defRPr>
            </a:lvl2pPr>
            <a:lvl3pPr indent="0" lvl="2" marL="0" algn="ctr">
              <a:lnSpc>
                <a:spcPct val="100000"/>
              </a:lnSpc>
              <a:spcBef>
                <a:spcPts val="0"/>
              </a:spcBef>
              <a:spcAft>
                <a:spcPts val="0"/>
              </a:spcAft>
              <a:buClr>
                <a:srgbClr val="FFFFFF"/>
              </a:buClr>
              <a:buSzPts val="700"/>
              <a:buFont typeface="Helvetica Neue"/>
              <a:buNone/>
              <a:defRPr>
                <a:solidFill>
                  <a:srgbClr val="FFFFFF"/>
                </a:solidFill>
              </a:defRPr>
            </a:lvl3pPr>
            <a:lvl4pPr indent="0" lvl="3" marL="0" algn="ctr">
              <a:lnSpc>
                <a:spcPct val="100000"/>
              </a:lnSpc>
              <a:spcBef>
                <a:spcPts val="0"/>
              </a:spcBef>
              <a:spcAft>
                <a:spcPts val="0"/>
              </a:spcAft>
              <a:buClr>
                <a:srgbClr val="FFFFFF"/>
              </a:buClr>
              <a:buSzPts val="700"/>
              <a:buFont typeface="Helvetica Neue"/>
              <a:buNone/>
              <a:defRPr>
                <a:solidFill>
                  <a:srgbClr val="FFFFFF"/>
                </a:solidFill>
              </a:defRPr>
            </a:lvl4pPr>
            <a:lvl5pPr indent="0" lvl="4" marL="0" algn="ctr">
              <a:lnSpc>
                <a:spcPct val="100000"/>
              </a:lnSpc>
              <a:spcBef>
                <a:spcPts val="0"/>
              </a:spcBef>
              <a:spcAft>
                <a:spcPts val="0"/>
              </a:spcAft>
              <a:buClr>
                <a:srgbClr val="FFFFFF"/>
              </a:buClr>
              <a:buSzPts val="700"/>
              <a:buFont typeface="Helvetica Neue"/>
              <a:buNone/>
              <a:defRPr>
                <a:solidFill>
                  <a:srgbClr val="FFFFFF"/>
                </a:solidFill>
              </a:defRPr>
            </a:lvl5pPr>
            <a:lvl6pPr indent="0" lvl="5" marL="0" algn="ctr">
              <a:lnSpc>
                <a:spcPct val="100000"/>
              </a:lnSpc>
              <a:spcBef>
                <a:spcPts val="0"/>
              </a:spcBef>
              <a:spcAft>
                <a:spcPts val="0"/>
              </a:spcAft>
              <a:buClr>
                <a:srgbClr val="FFFFFF"/>
              </a:buClr>
              <a:buSzPts val="700"/>
              <a:buFont typeface="Helvetica Neue"/>
              <a:buNone/>
              <a:defRPr>
                <a:solidFill>
                  <a:srgbClr val="FFFFFF"/>
                </a:solidFill>
              </a:defRPr>
            </a:lvl6pPr>
            <a:lvl7pPr indent="0" lvl="6" marL="0" algn="ctr">
              <a:lnSpc>
                <a:spcPct val="100000"/>
              </a:lnSpc>
              <a:spcBef>
                <a:spcPts val="0"/>
              </a:spcBef>
              <a:spcAft>
                <a:spcPts val="0"/>
              </a:spcAft>
              <a:buClr>
                <a:srgbClr val="FFFFFF"/>
              </a:buClr>
              <a:buSzPts val="700"/>
              <a:buFont typeface="Helvetica Neue"/>
              <a:buNone/>
              <a:defRPr>
                <a:solidFill>
                  <a:srgbClr val="FFFFFF"/>
                </a:solidFill>
              </a:defRPr>
            </a:lvl7pPr>
            <a:lvl8pPr indent="0" lvl="7" marL="0" algn="ctr">
              <a:lnSpc>
                <a:spcPct val="100000"/>
              </a:lnSpc>
              <a:spcBef>
                <a:spcPts val="0"/>
              </a:spcBef>
              <a:spcAft>
                <a:spcPts val="0"/>
              </a:spcAft>
              <a:buClr>
                <a:srgbClr val="FFFFFF"/>
              </a:buClr>
              <a:buSzPts val="700"/>
              <a:buFont typeface="Helvetica Neue"/>
              <a:buNone/>
              <a:defRPr>
                <a:solidFill>
                  <a:srgbClr val="FFFFFF"/>
                </a:solidFill>
              </a:defRPr>
            </a:lvl8pPr>
            <a:lvl9pPr indent="0" lvl="8" marL="0" algn="ctr">
              <a:lnSpc>
                <a:spcPct val="100000"/>
              </a:lnSpc>
              <a:spcBef>
                <a:spcPts val="0"/>
              </a:spcBef>
              <a:spcAft>
                <a:spcPts val="0"/>
              </a:spcAft>
              <a:buClr>
                <a:srgbClr val="FFFFFF"/>
              </a:buClr>
              <a:buSzPts val="700"/>
              <a:buFont typeface="Helvetica Neue"/>
              <a:buNone/>
              <a:defRPr>
                <a:solidFill>
                  <a:srgbClr val="FFFFFF"/>
                </a:solidFill>
              </a:defRPr>
            </a:lvl9pPr>
          </a:lstStyle>
          <a:p>
            <a:pPr indent="0" lvl="0" marL="0" rtl="0" algn="ctr">
              <a:spcBef>
                <a:spcPts val="0"/>
              </a:spcBef>
              <a:spcAft>
                <a:spcPts val="0"/>
              </a:spcAft>
              <a:buNone/>
            </a:pPr>
            <a:fld id="{00000000-1234-1234-1234-123412341234}" type="slidenum">
              <a:rPr lang="nl"/>
              <a:t>‹#›</a:t>
            </a:fld>
            <a:endParaRPr b="0" i="0" sz="700" u="none" cap="none" strike="noStrike">
              <a:latin typeface="Helvetica Neue"/>
              <a:ea typeface="Helvetica Neue"/>
              <a:cs typeface="Helvetica Neue"/>
              <a:sym typeface="Helvetica Neue"/>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eeg">
  <p:cSld name="Leeg">
    <p:spTree>
      <p:nvGrpSpPr>
        <p:cNvPr id="115" name="Shape 115"/>
        <p:cNvGrpSpPr/>
        <p:nvPr/>
      </p:nvGrpSpPr>
      <p:grpSpPr>
        <a:xfrm>
          <a:off x="0" y="0"/>
          <a:ext cx="0" cy="0"/>
          <a:chOff x="0" y="0"/>
          <a:chExt cx="0" cy="0"/>
        </a:xfrm>
      </p:grpSpPr>
      <p:sp>
        <p:nvSpPr>
          <p:cNvPr id="116" name="Google Shape;116;p28"/>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algn="ctr">
              <a:lnSpc>
                <a:spcPct val="100000"/>
              </a:lnSpc>
              <a:spcBef>
                <a:spcPts val="0"/>
              </a:spcBef>
              <a:spcAft>
                <a:spcPts val="0"/>
              </a:spcAft>
              <a:buClr>
                <a:srgbClr val="000000"/>
              </a:buClr>
              <a:buSzPts val="700"/>
              <a:buFont typeface="Helvetica Neue"/>
              <a:buNone/>
              <a:defRPr sz="700">
                <a:solidFill>
                  <a:srgbClr val="000000"/>
                </a:solidFill>
              </a:defRPr>
            </a:lvl1pPr>
            <a:lvl2pPr indent="0" lvl="1" marL="0" algn="ctr">
              <a:lnSpc>
                <a:spcPct val="100000"/>
              </a:lnSpc>
              <a:spcBef>
                <a:spcPts val="0"/>
              </a:spcBef>
              <a:spcAft>
                <a:spcPts val="0"/>
              </a:spcAft>
              <a:buClr>
                <a:srgbClr val="000000"/>
              </a:buClr>
              <a:buSzPts val="700"/>
              <a:buFont typeface="Helvetica Neue"/>
              <a:buNone/>
              <a:defRPr sz="700">
                <a:solidFill>
                  <a:srgbClr val="000000"/>
                </a:solidFill>
              </a:defRPr>
            </a:lvl2pPr>
            <a:lvl3pPr indent="0" lvl="2" marL="0" algn="ctr">
              <a:lnSpc>
                <a:spcPct val="100000"/>
              </a:lnSpc>
              <a:spcBef>
                <a:spcPts val="0"/>
              </a:spcBef>
              <a:spcAft>
                <a:spcPts val="0"/>
              </a:spcAft>
              <a:buClr>
                <a:srgbClr val="000000"/>
              </a:buClr>
              <a:buSzPts val="700"/>
              <a:buFont typeface="Helvetica Neue"/>
              <a:buNone/>
              <a:defRPr sz="700">
                <a:solidFill>
                  <a:srgbClr val="000000"/>
                </a:solidFill>
              </a:defRPr>
            </a:lvl3pPr>
            <a:lvl4pPr indent="0" lvl="3" marL="0" algn="ctr">
              <a:lnSpc>
                <a:spcPct val="100000"/>
              </a:lnSpc>
              <a:spcBef>
                <a:spcPts val="0"/>
              </a:spcBef>
              <a:spcAft>
                <a:spcPts val="0"/>
              </a:spcAft>
              <a:buClr>
                <a:srgbClr val="000000"/>
              </a:buClr>
              <a:buSzPts val="700"/>
              <a:buFont typeface="Helvetica Neue"/>
              <a:buNone/>
              <a:defRPr sz="700">
                <a:solidFill>
                  <a:srgbClr val="000000"/>
                </a:solidFill>
              </a:defRPr>
            </a:lvl4pPr>
            <a:lvl5pPr indent="0" lvl="4" marL="0" algn="ctr">
              <a:lnSpc>
                <a:spcPct val="100000"/>
              </a:lnSpc>
              <a:spcBef>
                <a:spcPts val="0"/>
              </a:spcBef>
              <a:spcAft>
                <a:spcPts val="0"/>
              </a:spcAft>
              <a:buClr>
                <a:srgbClr val="000000"/>
              </a:buClr>
              <a:buSzPts val="700"/>
              <a:buFont typeface="Helvetica Neue"/>
              <a:buNone/>
              <a:defRPr sz="700">
                <a:solidFill>
                  <a:srgbClr val="000000"/>
                </a:solidFill>
              </a:defRPr>
            </a:lvl5pPr>
            <a:lvl6pPr indent="0" lvl="5" marL="0" algn="ctr">
              <a:lnSpc>
                <a:spcPct val="100000"/>
              </a:lnSpc>
              <a:spcBef>
                <a:spcPts val="0"/>
              </a:spcBef>
              <a:spcAft>
                <a:spcPts val="0"/>
              </a:spcAft>
              <a:buClr>
                <a:srgbClr val="000000"/>
              </a:buClr>
              <a:buSzPts val="700"/>
              <a:buFont typeface="Helvetica Neue"/>
              <a:buNone/>
              <a:defRPr sz="700">
                <a:solidFill>
                  <a:srgbClr val="000000"/>
                </a:solidFill>
              </a:defRPr>
            </a:lvl6pPr>
            <a:lvl7pPr indent="0" lvl="6" marL="0" algn="ctr">
              <a:lnSpc>
                <a:spcPct val="100000"/>
              </a:lnSpc>
              <a:spcBef>
                <a:spcPts val="0"/>
              </a:spcBef>
              <a:spcAft>
                <a:spcPts val="0"/>
              </a:spcAft>
              <a:buClr>
                <a:srgbClr val="000000"/>
              </a:buClr>
              <a:buSzPts val="700"/>
              <a:buFont typeface="Helvetica Neue"/>
              <a:buNone/>
              <a:defRPr sz="700">
                <a:solidFill>
                  <a:srgbClr val="000000"/>
                </a:solidFill>
              </a:defRPr>
            </a:lvl7pPr>
            <a:lvl8pPr indent="0" lvl="7" marL="0" algn="ctr">
              <a:lnSpc>
                <a:spcPct val="100000"/>
              </a:lnSpc>
              <a:spcBef>
                <a:spcPts val="0"/>
              </a:spcBef>
              <a:spcAft>
                <a:spcPts val="0"/>
              </a:spcAft>
              <a:buClr>
                <a:srgbClr val="000000"/>
              </a:buClr>
              <a:buSzPts val="700"/>
              <a:buFont typeface="Helvetica Neue"/>
              <a:buNone/>
              <a:defRPr sz="700">
                <a:solidFill>
                  <a:srgbClr val="000000"/>
                </a:solidFill>
              </a:defRPr>
            </a:lvl8pPr>
            <a:lvl9pPr indent="0" lvl="8" marL="0" algn="ctr">
              <a:lnSpc>
                <a:spcPct val="100000"/>
              </a:lnSpc>
              <a:spcBef>
                <a:spcPts val="0"/>
              </a:spcBef>
              <a:spcAft>
                <a:spcPts val="0"/>
              </a:spcAft>
              <a:buClr>
                <a:srgbClr val="000000"/>
              </a:buClr>
              <a:buSzPts val="700"/>
              <a:buFont typeface="Helvetica Neue"/>
              <a:buNone/>
              <a:defRPr sz="700">
                <a:solidFill>
                  <a:srgbClr val="000000"/>
                </a:solidFill>
              </a:defRPr>
            </a:lvl9pPr>
          </a:lstStyle>
          <a:p>
            <a:pPr indent="0" lvl="0" marL="0" rtl="0" algn="ctr">
              <a:spcBef>
                <a:spcPts val="0"/>
              </a:spcBef>
              <a:spcAft>
                <a:spcPts val="0"/>
              </a:spcAft>
              <a:buNone/>
            </a:pPr>
            <a:fld id="{00000000-1234-1234-1234-123412341234}" type="slidenum">
              <a:rPr lang="nl"/>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nl"/>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2438" y="404813"/>
            <a:ext cx="8239125" cy="537436"/>
          </a:xfrm>
          <a:prstGeom prst="rect">
            <a:avLst/>
          </a:prstGeom>
          <a:noFill/>
          <a:ln>
            <a:noFill/>
          </a:ln>
        </p:spPr>
        <p:txBody>
          <a:bodyPr anchorCtr="0" anchor="t" bIns="19050" lIns="19050" spcFirstLastPara="1" rIns="19050" wrap="square" tIns="19050">
            <a:normAutofit/>
          </a:bodyPr>
          <a:lstStyle>
            <a:lvl1pPr lvl="0"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1pPr>
            <a:lvl2pPr lvl="1"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2pPr>
            <a:lvl3pPr lvl="2"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3pPr>
            <a:lvl4pPr lvl="3"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4pPr>
            <a:lvl5pPr lvl="4"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5pPr>
            <a:lvl6pPr lvl="5"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6pPr>
            <a:lvl7pPr lvl="6"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7pPr>
            <a:lvl8pPr lvl="7"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8pPr>
            <a:lvl9pPr lvl="8" marR="0" rtl="0" algn="l">
              <a:lnSpc>
                <a:spcPct val="80000"/>
              </a:lnSpc>
              <a:spcBef>
                <a:spcPts val="0"/>
              </a:spcBef>
              <a:spcAft>
                <a:spcPts val="0"/>
              </a:spcAft>
              <a:buClr>
                <a:srgbClr val="000000"/>
              </a:buClr>
              <a:buSzPts val="3200"/>
              <a:buFont typeface="Helvetica Neue"/>
              <a:buNone/>
              <a:defRPr b="1" i="0" sz="3200" u="none" cap="none" strike="noStrike">
                <a:solidFill>
                  <a:srgbClr val="000000"/>
                </a:solidFill>
                <a:latin typeface="Helvetica Neue"/>
                <a:ea typeface="Helvetica Neue"/>
                <a:cs typeface="Helvetica Neue"/>
                <a:sym typeface="Helvetica Neue"/>
              </a:defRPr>
            </a:lvl9pPr>
          </a:lstStyle>
          <a:p/>
        </p:txBody>
      </p:sp>
      <p:sp>
        <p:nvSpPr>
          <p:cNvPr id="52" name="Google Shape;52;p13"/>
          <p:cNvSpPr txBox="1"/>
          <p:nvPr>
            <p:ph idx="1" type="body"/>
          </p:nvPr>
        </p:nvSpPr>
        <p:spPr>
          <a:xfrm>
            <a:off x="452438" y="1593189"/>
            <a:ext cx="8239125" cy="3096005"/>
          </a:xfrm>
          <a:prstGeom prst="rect">
            <a:avLst/>
          </a:prstGeom>
          <a:noFill/>
          <a:ln>
            <a:noFill/>
          </a:ln>
        </p:spPr>
        <p:txBody>
          <a:bodyPr anchorCtr="0" anchor="t" bIns="19050" lIns="19050" spcFirstLastPara="1" rIns="19050" wrap="square" tIns="19050">
            <a:normAutofit/>
          </a:bodyPr>
          <a:lstStyle>
            <a:lvl1pPr indent="-368300" lvl="0" marL="4572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1pPr>
            <a:lvl2pPr indent="-368300" lvl="1" marL="9144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2pPr>
            <a:lvl3pPr indent="-368300" lvl="2" marL="13716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3pPr>
            <a:lvl4pPr indent="-368300" lvl="3" marL="18288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4pPr>
            <a:lvl5pPr indent="-368300" lvl="4" marL="22860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5pPr>
            <a:lvl6pPr indent="-368300" lvl="5" marL="27432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6pPr>
            <a:lvl7pPr indent="-368300" lvl="6" marL="32004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7pPr>
            <a:lvl8pPr indent="-368300" lvl="7" marL="36576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8pPr>
            <a:lvl9pPr indent="-368300" lvl="8" marL="4114800" marR="0" rtl="0" algn="l">
              <a:lnSpc>
                <a:spcPct val="90000"/>
              </a:lnSpc>
              <a:spcBef>
                <a:spcPts val="1700"/>
              </a:spcBef>
              <a:spcAft>
                <a:spcPts val="0"/>
              </a:spcAft>
              <a:buClr>
                <a:srgbClr val="000000"/>
              </a:buClr>
              <a:buSzPts val="2200"/>
              <a:buFont typeface="Helvetica Neue"/>
              <a:buChar char="•"/>
              <a:defRPr b="0" i="0" sz="1800" u="none" cap="none" strike="noStrike">
                <a:solidFill>
                  <a:srgbClr val="000000"/>
                </a:solidFill>
                <a:latin typeface="Helvetica Neue"/>
                <a:ea typeface="Helvetica Neue"/>
                <a:cs typeface="Helvetica Neue"/>
                <a:sym typeface="Helvetica Neue"/>
              </a:defRPr>
            </a:lvl9pPr>
          </a:lstStyle>
          <a:p/>
        </p:txBody>
      </p:sp>
      <p:sp>
        <p:nvSpPr>
          <p:cNvPr id="53" name="Google Shape;53;p13"/>
          <p:cNvSpPr txBox="1"/>
          <p:nvPr>
            <p:ph idx="12" type="sldNum"/>
          </p:nvPr>
        </p:nvSpPr>
        <p:spPr>
          <a:xfrm>
            <a:off x="4500562" y="4905375"/>
            <a:ext cx="138189" cy="140475"/>
          </a:xfrm>
          <a:prstGeom prst="rect">
            <a:avLst/>
          </a:prstGeom>
          <a:noFill/>
          <a:ln>
            <a:noFill/>
          </a:ln>
        </p:spPr>
        <p:txBody>
          <a:bodyPr anchorCtr="0" anchor="b" bIns="19050" lIns="19050" spcFirstLastPara="1" rIns="19050" wrap="square" tIns="19050">
            <a:spAutoFit/>
          </a:bodyPr>
          <a:lstStyle>
            <a:lvl1pPr indent="0" lvl="0"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1pPr>
            <a:lvl2pPr indent="0" lvl="1"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2pPr>
            <a:lvl3pPr indent="0" lvl="2"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3pPr>
            <a:lvl4pPr indent="0" lvl="3"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4pPr>
            <a:lvl5pPr indent="0" lvl="4"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5pPr>
            <a:lvl6pPr indent="0" lvl="5"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6pPr>
            <a:lvl7pPr indent="0" lvl="6"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7pPr>
            <a:lvl8pPr indent="0" lvl="7"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8pPr>
            <a:lvl9pPr indent="0" lvl="8" marL="0" marR="0" rtl="0" algn="ctr">
              <a:lnSpc>
                <a:spcPct val="100000"/>
              </a:lnSpc>
              <a:spcBef>
                <a:spcPts val="0"/>
              </a:spcBef>
              <a:spcAft>
                <a:spcPts val="0"/>
              </a:spcAft>
              <a:buClr>
                <a:srgbClr val="000000"/>
              </a:buClr>
              <a:buSzPts val="700"/>
              <a:buFont typeface="Helvetica Neue"/>
              <a:buNone/>
              <a:defRPr b="0" i="0" sz="700" u="none" cap="none" strike="noStrike">
                <a:solidFill>
                  <a:srgbClr val="000000"/>
                </a:solidFill>
                <a:latin typeface="Helvetica Neue"/>
                <a:ea typeface="Helvetica Neue"/>
                <a:cs typeface="Helvetica Neue"/>
                <a:sym typeface="Helvetica Neue"/>
              </a:defRPr>
            </a:lvl9pPr>
          </a:lstStyle>
          <a:p>
            <a:pPr indent="0" lvl="0" marL="0" rtl="0" algn="ctr">
              <a:spcBef>
                <a:spcPts val="0"/>
              </a:spcBef>
              <a:spcAft>
                <a:spcPts val="0"/>
              </a:spcAft>
              <a:buNone/>
            </a:pPr>
            <a:fld id="{00000000-1234-1234-1234-123412341234}" type="slidenum">
              <a:rPr lang="nl"/>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7.png"/><Relationship Id="rId5" Type="http://schemas.openxmlformats.org/officeDocument/2006/relationships/notesSlide" Target="../notesSlides/notesSlide8.xml"/><Relationship Id="rId6"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notesSlide" Target="../notesSlides/notesSlide2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25.png"/><Relationship Id="rId4" Type="http://schemas.openxmlformats.org/officeDocument/2006/relationships/notesSlide" Target="../notesSlides/notesSlide3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9.png"/><Relationship Id="rId5" Type="http://schemas.openxmlformats.org/officeDocument/2006/relationships/notesSlide" Target="../notesSlides/notesSlide12.xml"/><Relationship Id="rId6"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chart" Target="../charts/char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5.png"/><Relationship Id="rId5" Type="http://schemas.openxmlformats.org/officeDocument/2006/relationships/notesSlide" Target="../notesSlides/notesSlide10.xml"/><Relationship Id="rId6"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3" Type="http://schemas.openxmlformats.org/officeDocument/2006/relationships/image" Target="../media/image12.png"/><Relationship Id="rId5" Type="http://schemas.openxmlformats.org/officeDocument/2006/relationships/notesSlide" Target="../notesSlides/notesSlide23.xml"/><Relationship Id="rId6"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descr="header_linkedin.png" id="2" name="Google Shape;121;p29"/>
          <p:cNvPicPr preferRelativeResize="0"/>
          <p:nvPr/>
        </p:nvPicPr>
        <p:blipFill rotWithShape="1">
          <a:blip r:embed="rId2">
            <a:alphaModFix/>
          </a:blip>
          <a:srcRect b="0" l="0" r="0" t="0"/>
          <a:stretch/>
        </p:blipFill>
        <p:spPr>
          <a:xfrm>
            <a:off x="-12073" y="-90539"/>
            <a:ext cx="9168146" cy="5324578"/>
          </a:xfrm>
          <a:prstGeom prst="rect">
            <a:avLst/>
          </a:prstGeom>
          <a:noFill/>
          <a:ln>
            <a:noFill/>
          </a:ln>
        </p:spPr>
      </p:pic>
      <p:sp>
        <p:nvSpPr>
          <p:cNvPr id="3" name="Google Shape;122;p29"/>
          <p:cNvSpPr txBox="1"/>
          <p:nvPr>
            <p:ph idx="1" type="body"/>
          </p:nvPr>
        </p:nvSpPr>
        <p:spPr>
          <a:xfrm>
            <a:off x="452437" y="4750459"/>
            <a:ext cx="8239126" cy="238867"/>
          </a:xfrm>
          <a:prstGeom prst="rect">
            <a:avLst/>
          </a:prstGeom>
          <a:noFill/>
          <a:ln>
            <a:noFill/>
          </a:ln>
        </p:spPr>
        <p:txBody>
          <a:bodyPr anchorCtr="0" anchor="t" bIns="17150" lIns="17150" spcFirstLastPara="1" rIns="17150" wrap="square" tIns="17150">
            <a:normAutofit lnSpcReduction="10000"/>
          </a:bodyPr>
          <a:lstStyle/>
          <a:p>
            <a:pPr indent="0" lvl="0" marL="0" rtl="0" algn="l">
              <a:lnSpc>
                <a:spcPct val="100000"/>
              </a:lnSpc>
              <a:spcBef>
                <a:spcPts val="0"/>
              </a:spcBef>
              <a:spcAft>
                <a:spcPts val="0"/>
              </a:spcAft>
              <a:buClr>
                <a:srgbClr val="FFFFFF"/>
              </a:buClr>
              <a:buSzPts val="1400"/>
              <a:buFont typeface="Helvetica Neue"/>
              <a:buNone/>
            </a:pPr>
            <a:r>
              <a:rPr b="1" i="0" lang="nl" sz="1400" u="none" cap="none" strike="noStrike">
                <a:solidFill>
                  <a:srgbClr val="FFFFFF"/>
                </a:solidFill>
                <a:latin typeface="Helvetica Neue"/>
                <a:ea typeface="Helvetica Neue"/>
                <a:cs typeface="Helvetica Neue"/>
                <a:sym typeface="Helvetica Neue"/>
              </a:rPr>
              <a:t/>
            </a:r>
            <a:r>
              <a:rPr lang="nl">
                <a:solidFill>
                  <a:srgbClr val="FFFFFF"/>
                </a:solidFill>
              </a:rPr>
              <a:t>Bona Fide Student Investment Society · 2026-2027 · Prices as of 11-Sep-2026</a:t>
            </a:r>
            <a:endParaRPr b="1" i="0" sz="1400" u="none" cap="none" strike="noStrike">
              <a:solidFill>
                <a:srgbClr val="FFFFFF"/>
              </a:solidFill>
              <a:latin typeface="Helvetica Neue"/>
              <a:ea typeface="Helvetica Neue"/>
              <a:cs typeface="Helvetica Neue"/>
              <a:sym typeface="Helvetica Neue"/>
            </a:endParaRPr>
          </a:p>
        </p:txBody>
      </p:sp>
      <p:sp>
        <p:nvSpPr>
          <p:cNvPr id="4" name="Google Shape;123;p29"/>
          <p:cNvSpPr txBox="1"/>
          <p:nvPr>
            <p:ph idx="4294967295" type="ctrTitle"/>
          </p:nvPr>
        </p:nvSpPr>
        <p:spPr>
          <a:xfrm>
            <a:off x="452437" y="2139890"/>
            <a:ext cx="8239127" cy="1743075"/>
          </a:xfrm>
          <a:prstGeom prst="rect">
            <a:avLst/>
          </a:prstGeom>
          <a:noFill/>
          <a:ln>
            <a:noFill/>
          </a:ln>
        </p:spPr>
        <p:txBody>
          <a:bodyPr anchorCtr="0" anchor="b" bIns="19050" lIns="19050" spcFirstLastPara="1" rIns="19050" wrap="square" tIns="19050">
            <a:normAutofit/>
          </a:bodyPr>
          <a:lstStyle/>
          <a:p>
            <a:pPr indent="0" lvl="0" marL="0" marR="0" rtl="0" algn="l">
              <a:lnSpc>
                <a:spcPct val="80000"/>
              </a:lnSpc>
              <a:spcBef>
                <a:spcPts val="0"/>
              </a:spcBef>
              <a:spcAft>
                <a:spcPts val="0"/>
              </a:spcAft>
              <a:buClr>
                <a:srgbClr val="FCC80D"/>
              </a:buClr>
              <a:buSzPts val="4400"/>
              <a:buFont typeface="Twentieth Century"/>
              <a:buNone/>
            </a:pPr>
            <a:r>
              <a:rPr b="1" i="0" lang="nl" sz="4400" u="none" cap="none" strike="noStrike">
                <a:solidFill>
                  <a:srgbClr val="FCC80D"/>
                </a:solidFill>
                <a:latin typeface="Twentieth Century"/>
                <a:ea typeface="Twentieth Century"/>
                <a:cs typeface="Twentieth Century"/>
                <a:sym typeface="Twentieth Century"/>
              </a:rPr>
              <a:t>HPE</a:t>
            </a:r>
            <a:endParaRPr/>
          </a:p>
        </p:txBody>
      </p:sp>
      <p:sp>
        <p:nvSpPr>
          <p:cNvPr id="5" name="Google Shape;124;p29"/>
          <p:cNvSpPr txBox="1"/>
          <p:nvPr>
            <p:ph idx="4294967295" type="subTitle"/>
          </p:nvPr>
        </p:nvSpPr>
        <p:spPr>
          <a:xfrm>
            <a:off x="478206" y="3761037"/>
            <a:ext cx="3657600" cy="492382"/>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CC80D"/>
              </a:buClr>
              <a:buSzPts val="1400"/>
              <a:buFont typeface="Twentieth Century"/>
              <a:buNone/>
            </a:pPr>
            <a:r>
              <a:rPr b="1" i="1" lang="nl" sz="1400" u="none" cap="none" strike="noStrike">
                <a:solidFill>
                  <a:srgbClr val="FCC80D"/>
                </a:solidFill>
                <a:latin typeface="Twentieth Century"/>
                <a:ea typeface="Twentieth Century"/>
                <a:cs typeface="Twentieth Century"/>
                <a:sym typeface="Twentieth Century"/>
              </a:rPr>
              <a:t>Hewlett Packard Enterprise · NYSE: HPE</a:t>
            </a:r>
            <a:endParaRPr/>
          </a:p>
          <a:p>
            <a:pPr indent="0" lvl="0" marL="0" marR="0" rtl="0" algn="l">
              <a:lnSpc>
                <a:spcPct val="100000"/>
              </a:lnSpc>
              <a:spcBef>
                <a:spcPts val="0"/>
              </a:spcBef>
              <a:spcAft>
                <a:spcPts val="0"/>
              </a:spcAft>
              <a:buClr>
                <a:srgbClr val="FCC80D"/>
              </a:buClr>
              <a:buSzPts val="1400"/>
              <a:buFont typeface="Twentieth Century"/>
              <a:buNone/>
            </a:pPr>
            <a:r>
              <a:rPr b="1" i="1" lang="nl" sz="1400" u="none" cap="none" strike="noStrike">
                <a:solidFill>
                  <a:srgbClr val="FCC80D"/>
                </a:solidFill>
                <a:latin typeface="Twentieth Century"/>
                <a:ea typeface="Twentieth Century"/>
                <a:cs typeface="Twentieth Century"/>
                <a:sym typeface="Twentieth Century"/>
              </a:rPr>
              <a:t>Investment pitch · 14 September 2026</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A better business is not yet a better investment</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INVESTMENT THESIS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HPE filings; Yahoo Finance.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a:t>
            </a:r>
          </a:p>
        </p:txBody>
      </p:sp>
      <p:sp>
        <p:nvSpPr>
          <p:cNvPr id="7" name="TextBox 133"/>
          <p:cNvSpPr txBox="1"/>
          <p:nvPr/>
        </p:nvSpPr>
        <p:spPr>
          <a:xfrm>
            <a:off x="320040" y="1481328"/>
            <a:ext cx="4663440" cy="3200400"/>
          </a:xfrm>
          <a:prstGeom prst="rect">
            <a:avLst/>
          </a:prstGeom>
          <a:noFill/>
        </p:spPr>
        <p:txBody>
          <a:bodyPr wrap="square" anchor="t" lIns="36576" rIns="36576" tIns="18288" bIns="18288">
            <a:spAutoFit/>
          </a:bodyPr>
          <a:lstStyle/>
          <a:p>
            <a:pPr algn="l" marL="155448" indent="-155448">
              <a:spcAft>
                <a:spcPts val="700"/>
              </a:spcAft>
              <a:buClr>
                <a:srgbClr val="135927"/>
              </a:buClr>
              <a:buSzPct val="100000"/>
              <a:buFont typeface="Helvetica Neue"/>
              <a:buChar char="•"/>
            </a:pPr>
            <a:r>
              <a:rPr sz="1000" b="1">
                <a:solidFill>
                  <a:srgbClr val="1F2421"/>
                </a:solidFill>
                <a:latin typeface="Helvetica Neue"/>
              </a:rPr>
              <a:t>1 · Better business: </a:t>
            </a:r>
            <a:r>
              <a:rPr sz="1000" b="0">
                <a:solidFill>
                  <a:srgbClr val="1F2421"/>
                </a:solidFill>
                <a:latin typeface="Helvetica Neue"/>
              </a:rPr>
              <a:t>networking is 26% of revenue but 40% of segment profit; ROIC of 11.2% now exceeds the 9.3% WACC.</a:t>
            </a:r>
          </a:p>
          <a:p>
            <a:pPr algn="l" marL="155448" indent="-155448">
              <a:spcAft>
                <a:spcPts val="700"/>
              </a:spcAft>
              <a:buClr>
                <a:srgbClr val="135927"/>
              </a:buClr>
              <a:buSzPct val="100000"/>
              <a:buFont typeface="Helvetica Neue"/>
              <a:buChar char="•"/>
            </a:pPr>
            <a:r>
              <a:rPr sz="1000" b="1">
                <a:solidFill>
                  <a:srgbClr val="1F2421"/>
                </a:solidFill>
                <a:latin typeface="Helvetica Neue"/>
              </a:rPr>
              <a:t>2 · Cycle-boosted: </a:t>
            </a:r>
            <a:r>
              <a:rPr sz="1000" b="0">
                <a:solidFill>
                  <a:srgbClr val="1F2421"/>
                </a:solidFill>
                <a:latin typeface="Helvetica Neue"/>
              </a:rPr>
              <a:t>record 40.4% non-GAAP gross margin on memory pricing; Q3 EPS beat guidance by 19%, mostly on margin; about two-thirds of FY26's jump above trend is AI and pricing.</a:t>
            </a:r>
          </a:p>
          <a:p>
            <a:pPr algn="l" marL="155448" indent="-155448">
              <a:spcAft>
                <a:spcPts val="700"/>
              </a:spcAft>
              <a:buClr>
                <a:srgbClr val="135927"/>
              </a:buClr>
              <a:buSzPct val="100000"/>
              <a:buFont typeface="Helvetica Neue"/>
              <a:buChar char="•"/>
            </a:pPr>
            <a:r>
              <a:rPr sz="1000" b="1">
                <a:solidFill>
                  <a:srgbClr val="1F2421"/>
                </a:solidFill>
                <a:latin typeface="Helvetica Neue"/>
              </a:rPr>
              <a:t>3 · Late-cycle cash: </a:t>
            </a:r>
            <a:r>
              <a:rPr sz="1000" b="0">
                <a:solidFill>
                  <a:srgbClr val="1F2421"/>
                </a:solidFill>
                <a:latin typeface="Helvetica Neue"/>
              </a:rPr>
              <a:t>record $4.5bn free cash flow, but a $5.5bn inventory build is funded by $6.0bn of extra payables.</a:t>
            </a:r>
          </a:p>
          <a:p>
            <a:pPr algn="l" marL="155448" indent="-155448">
              <a:spcAft>
                <a:spcPts val="700"/>
              </a:spcAft>
              <a:buClr>
                <a:srgbClr val="135927"/>
              </a:buClr>
              <a:buSzPct val="100000"/>
              <a:buFont typeface="Helvetica Neue"/>
              <a:buChar char="•"/>
            </a:pPr>
            <a:r>
              <a:rPr sz="1000" b="1">
                <a:solidFill>
                  <a:srgbClr val="1F2421"/>
                </a:solidFill>
                <a:latin typeface="Helvetica Neue"/>
              </a:rPr>
              <a:t>4 · Price extrapolates the peak: </a:t>
            </a:r>
            <a:r>
              <a:rPr sz="1000" b="0">
                <a:solidFill>
                  <a:srgbClr val="1F2421"/>
                </a:solidFill>
                <a:latin typeface="Helvetica Neue"/>
              </a:rPr>
              <a:t>13.5x FY27 EPS against a 4–10x history; the reverse DCF needs an 18% margin or 11% growth for a decade.</a:t>
            </a:r>
          </a:p>
          <a:p>
            <a:pPr algn="l" marL="155448" indent="-155448">
              <a:spcAft>
                <a:spcPts val="700"/>
              </a:spcAft>
              <a:buClr>
                <a:srgbClr val="135927"/>
              </a:buClr>
              <a:buSzPct val="100000"/>
              <a:buFont typeface="Helvetica Neue"/>
              <a:buChar char="•"/>
            </a:pPr>
            <a:r>
              <a:rPr sz="1000" b="1">
                <a:solidFill>
                  <a:srgbClr val="1F2421"/>
                </a:solidFill>
                <a:latin typeface="Helvetica Neue"/>
              </a:rPr>
              <a:t>So: </a:t>
            </a:r>
            <a:r>
              <a:rPr sz="1000" b="0">
                <a:solidFill>
                  <a:srgbClr val="1F2421"/>
                </a:solidFill>
                <a:latin typeface="Helvetica Neue"/>
              </a:rPr>
              <a:t>a real quality upgrade priced as permanent; the gap to value is a bet that multiples persist.</a:t>
            </a:r>
          </a:p>
        </p:txBody>
      </p:sp>
      <p:sp>
        <p:nvSpPr>
          <p:cNvPr id="8" name="Rectangle 134"/>
          <p:cNvSpPr/>
          <p:nvPr/>
        </p:nvSpPr>
        <p:spPr>
          <a:xfrm>
            <a:off x="5212080" y="1481328"/>
            <a:ext cx="3611880" cy="1536192"/>
          </a:xfrm>
          <a:prstGeom prst="rect">
            <a:avLst/>
          </a:prstGeom>
          <a:solidFill>
            <a:srgbClr val="135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5349240" y="1554480"/>
            <a:ext cx="3383280" cy="228600"/>
          </a:xfrm>
          <a:prstGeom prst="rect">
            <a:avLst/>
          </a:prstGeom>
          <a:noFill/>
        </p:spPr>
        <p:txBody>
          <a:bodyPr wrap="square" anchor="t" lIns="36576" rIns="36576" tIns="18288" bIns="18288">
            <a:spAutoFit/>
          </a:bodyPr>
          <a:lstStyle/>
          <a:p>
            <a:pPr algn="l">
              <a:spcAft>
                <a:spcPts val="300"/>
              </a:spcAft>
            </a:pPr>
            <a:r>
              <a:rPr sz="800" b="1">
                <a:solidFill>
                  <a:srgbClr val="FCC80D"/>
                </a:solidFill>
                <a:latin typeface="Helvetica Neue"/>
              </a:rPr>
              <a:t>WHAT THE MARKET PRICES IN</a:t>
            </a:r>
          </a:p>
        </p:txBody>
      </p:sp>
      <p:sp>
        <p:nvSpPr>
          <p:cNvPr id="10" name="TextBox 136"/>
          <p:cNvSpPr txBox="1"/>
          <p:nvPr/>
        </p:nvSpPr>
        <p:spPr>
          <a:xfrm>
            <a:off x="5349240" y="1764792"/>
            <a:ext cx="3383280" cy="457200"/>
          </a:xfrm>
          <a:prstGeom prst="rect">
            <a:avLst/>
          </a:prstGeom>
          <a:noFill/>
        </p:spPr>
        <p:txBody>
          <a:bodyPr wrap="square" anchor="t" lIns="36576" rIns="36576" tIns="18288" bIns="18288">
            <a:spAutoFit/>
          </a:bodyPr>
          <a:lstStyle/>
          <a:p>
            <a:pPr algn="l">
              <a:spcAft>
                <a:spcPts val="300"/>
              </a:spcAft>
            </a:pPr>
            <a:r>
              <a:rPr sz="2600" b="1">
                <a:solidFill>
                  <a:srgbClr val="FFFFFF"/>
                </a:solidFill>
                <a:latin typeface="Twentieth Century"/>
              </a:rPr>
              <a:t>$62.09</a:t>
            </a:r>
          </a:p>
        </p:txBody>
      </p:sp>
      <p:sp>
        <p:nvSpPr>
          <p:cNvPr id="11" name="TextBox 137"/>
          <p:cNvSpPr txBox="1"/>
          <p:nvPr/>
        </p:nvSpPr>
        <p:spPr>
          <a:xfrm>
            <a:off x="5349240" y="2267712"/>
            <a:ext cx="3383280" cy="731520"/>
          </a:xfrm>
          <a:prstGeom prst="rect">
            <a:avLst/>
          </a:prstGeom>
          <a:noFill/>
        </p:spPr>
        <p:txBody>
          <a:bodyPr wrap="square" anchor="t" lIns="36576" rIns="36576" tIns="18288" bIns="18288">
            <a:spAutoFit/>
          </a:bodyPr>
          <a:lstStyle/>
          <a:p>
            <a:pPr algn="l">
              <a:spcAft>
                <a:spcPts val="200"/>
              </a:spcAft>
            </a:pPr>
            <a:r>
              <a:rPr sz="950" b="0">
                <a:solidFill>
                  <a:srgbClr val="FFFFFF"/>
                </a:solidFill>
                <a:latin typeface="Helvetica Neue"/>
              </a:rPr>
              <a:t>13.5x FY27 EPS (history 4–10x)</a:t>
            </a:r>
          </a:p>
          <a:p>
            <a:pPr algn="l">
              <a:spcAft>
                <a:spcPts val="200"/>
              </a:spcAft>
            </a:pPr>
            <a:r>
              <a:rPr sz="950" b="0">
                <a:solidFill>
                  <a:srgbClr val="FFFFFF"/>
                </a:solidFill>
                <a:latin typeface="Helvetica Neue"/>
              </a:rPr>
              <a:t>Reverse DCF: 18% LT margin or 11% growth to FY36</a:t>
            </a:r>
          </a:p>
        </p:txBody>
      </p:sp>
      <p:sp>
        <p:nvSpPr>
          <p:cNvPr id="12" name="Rectangle 138"/>
          <p:cNvSpPr/>
          <p:nvPr/>
        </p:nvSpPr>
        <p:spPr>
          <a:xfrm>
            <a:off x="5212080" y="3127248"/>
            <a:ext cx="3611880" cy="1536192"/>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39"/>
          <p:cNvSpPr txBox="1"/>
          <p:nvPr/>
        </p:nvSpPr>
        <p:spPr>
          <a:xfrm>
            <a:off x="5349240" y="3200400"/>
            <a:ext cx="3383280" cy="22860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FUNDAMENTALS SUGGEST</a:t>
            </a:r>
          </a:p>
        </p:txBody>
      </p:sp>
      <p:sp>
        <p:nvSpPr>
          <p:cNvPr id="14" name="TextBox 140"/>
          <p:cNvSpPr txBox="1"/>
          <p:nvPr/>
        </p:nvSpPr>
        <p:spPr>
          <a:xfrm>
            <a:off x="5349240" y="3410712"/>
            <a:ext cx="3383280" cy="457200"/>
          </a:xfrm>
          <a:prstGeom prst="rect">
            <a:avLst/>
          </a:prstGeom>
          <a:noFill/>
        </p:spPr>
        <p:txBody>
          <a:bodyPr wrap="square" anchor="t" lIns="36576" rIns="36576" tIns="18288" bIns="18288">
            <a:spAutoFit/>
          </a:bodyPr>
          <a:lstStyle/>
          <a:p>
            <a:pPr algn="l">
              <a:spcAft>
                <a:spcPts val="300"/>
              </a:spcAft>
            </a:pPr>
            <a:r>
              <a:rPr sz="2600" b="1">
                <a:solidFill>
                  <a:srgbClr val="135927"/>
                </a:solidFill>
                <a:latin typeface="Twentieth Century"/>
              </a:rPr>
              <a:t>$35–$43</a:t>
            </a:r>
          </a:p>
        </p:txBody>
      </p:sp>
      <p:sp>
        <p:nvSpPr>
          <p:cNvPr id="15" name="TextBox 141"/>
          <p:cNvSpPr txBox="1"/>
          <p:nvPr/>
        </p:nvSpPr>
        <p:spPr>
          <a:xfrm>
            <a:off x="5349240" y="3913632"/>
            <a:ext cx="3383280" cy="731520"/>
          </a:xfrm>
          <a:prstGeom prst="rect">
            <a:avLst/>
          </a:prstGeom>
          <a:noFill/>
        </p:spPr>
        <p:txBody>
          <a:bodyPr wrap="square" anchor="t" lIns="36576" rIns="36576" tIns="18288" bIns="18288">
            <a:spAutoFit/>
          </a:bodyPr>
          <a:lstStyle/>
          <a:p>
            <a:pPr algn="l">
              <a:spcAft>
                <a:spcPts val="200"/>
              </a:spcAft>
            </a:pPr>
            <a:r>
              <a:rPr sz="950" b="0">
                <a:solidFill>
                  <a:srgbClr val="1F2421"/>
                </a:solidFill>
                <a:latin typeface="Helvetica Neue"/>
              </a:rPr>
              <a:t>Base DCF $38.80; bear $22 – bull $54</a:t>
            </a:r>
          </a:p>
          <a:p>
            <a:pPr algn="l">
              <a:spcAft>
                <a:spcPts val="200"/>
              </a:spcAft>
            </a:pPr>
            <a:r>
              <a:rPr sz="950" b="0">
                <a:solidFill>
                  <a:srgbClr val="1F2421"/>
                </a:solidFill>
                <a:latin typeface="Helvetica Neue"/>
              </a:rPr>
              <a:t>Damodaran Ginzu $31.57; no rating or target</a:t>
            </a:r>
          </a:p>
        </p:txBody>
      </p:sp>
      <p:sp>
        <p:nvSpPr>
          <p:cNvPr id="16"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A better business, priced for a cycle that never turns</a:t>
            </a:r>
            <a:r>
              <a:rPr sz="1050" b="0" i="0">
                <a:solidFill>
                  <a:srgbClr val="404040"/>
                </a:solidFill>
                <a:latin typeface="Helvetica Neue"/>
              </a:rPr>
              <a:t> — intrinsic value $35–43 against a $62.09 share price.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Five questions, one decision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HOW WE REASONED</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Each question maps to one part of this pitch and to sections 1–11 of the HTML report.</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3</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Method: </a:t>
            </a:r>
            <a:r>
              <a:rPr sz="1050" b="1" i="0">
                <a:solidFill>
                  <a:srgbClr val="1F2421"/>
                </a:solidFill>
                <a:latin typeface="Helvetica Neue"/>
              </a:rPr>
              <a:t>Test the thesis, don't tell it</a:t>
            </a:r>
            <a:r>
              <a:rPr sz="1050" b="0" i="0">
                <a:solidFill>
                  <a:srgbClr val="404040"/>
                </a:solidFill>
                <a:latin typeface="Helvetica Neue"/>
              </a:rPr>
              <a:t> — five questions, each with a tool that could have proved us wrong.</a:t>
            </a:r>
          </a:p>
        </p:txBody>
      </p:sp>
      <p:sp>
        <p:nvSpPr>
          <p:cNvPr id="8" name="Rectangle 133"/>
          <p:cNvSpPr/>
          <p:nvPr/>
        </p:nvSpPr>
        <p:spPr>
          <a:xfrm>
            <a:off x="320040"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1</a:t>
            </a:r>
          </a:p>
          <a:p>
            <a:pPr>
              <a:spcAft>
                <a:spcPts val="800"/>
              </a:spcAft>
            </a:pPr>
            <a:r>
              <a:rPr sz="1050" b="1" i="0">
                <a:solidFill>
                  <a:srgbClr val="135927"/>
                </a:solidFill>
                <a:latin typeface="Helvetica Neue"/>
              </a:rPr>
              <a:t>What does HPE really sell?</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Segment profit mix; position in the AI value chain</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 server volume business with a networking profit engine</a:t>
            </a:r>
          </a:p>
        </p:txBody>
      </p:sp>
      <p:sp>
        <p:nvSpPr>
          <p:cNvPr id="9" name="Chevron 134"/>
          <p:cNvSpPr/>
          <p:nvPr/>
        </p:nvSpPr>
        <p:spPr>
          <a:xfrm>
            <a:off x="1901951"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135"/>
          <p:cNvSpPr/>
          <p:nvPr/>
        </p:nvSpPr>
        <p:spPr>
          <a:xfrm>
            <a:off x="2066543"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2</a:t>
            </a:r>
          </a:p>
          <a:p>
            <a:pPr>
              <a:spcAft>
                <a:spcPts val="800"/>
              </a:spcAft>
            </a:pPr>
            <a:r>
              <a:rPr sz="1050" b="1" i="0">
                <a:solidFill>
                  <a:srgbClr val="135927"/>
                </a:solidFill>
                <a:latin typeface="Helvetica Neue"/>
              </a:rPr>
              <a:t>Structure or cycle?</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ARIMA counterfactual; latest-quarter decomposition; peak-cycle checklist</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About a third of the break is Juniper; the rest is AI and pricing</a:t>
            </a:r>
          </a:p>
        </p:txBody>
      </p:sp>
      <p:sp>
        <p:nvSpPr>
          <p:cNvPr id="11" name="Chevron 136"/>
          <p:cNvSpPr/>
          <p:nvPr/>
        </p:nvSpPr>
        <p:spPr>
          <a:xfrm>
            <a:off x="3648456"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37"/>
          <p:cNvSpPr/>
          <p:nvPr/>
        </p:nvSpPr>
        <p:spPr>
          <a:xfrm>
            <a:off x="3813048"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3</a:t>
            </a:r>
          </a:p>
          <a:p>
            <a:pPr>
              <a:spcAft>
                <a:spcPts val="800"/>
              </a:spcAft>
            </a:pPr>
            <a:r>
              <a:rPr sz="1050" b="1" i="0">
                <a:solidFill>
                  <a:srgbClr val="135927"/>
                </a:solidFill>
                <a:latin typeface="Helvetica Neue"/>
              </a:rPr>
              <a:t>Is the cash real?</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Working-capital pattern; balance sheet</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Record free cash flow, but suppliers fund the inventory</a:t>
            </a:r>
          </a:p>
        </p:txBody>
      </p:sp>
      <p:sp>
        <p:nvSpPr>
          <p:cNvPr id="13" name="Chevron 138"/>
          <p:cNvSpPr/>
          <p:nvPr/>
        </p:nvSpPr>
        <p:spPr>
          <a:xfrm>
            <a:off x="5394960"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9"/>
          <p:cNvSpPr/>
          <p:nvPr/>
        </p:nvSpPr>
        <p:spPr>
          <a:xfrm>
            <a:off x="5559551"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4</a:t>
            </a:r>
          </a:p>
          <a:p>
            <a:pPr>
              <a:spcAft>
                <a:spcPts val="800"/>
              </a:spcAft>
            </a:pPr>
            <a:r>
              <a:rPr sz="1050" b="1" i="0">
                <a:solidFill>
                  <a:srgbClr val="135927"/>
                </a:solidFill>
                <a:latin typeface="Helvetica Neue"/>
              </a:rPr>
              <a:t>What does the price assume?</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Reverse DCF; peer steelman; football field</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An 18% margin or 11% growth for a decade</a:t>
            </a:r>
          </a:p>
        </p:txBody>
      </p:sp>
      <p:sp>
        <p:nvSpPr>
          <p:cNvPr id="15" name="Chevron 140"/>
          <p:cNvSpPr/>
          <p:nvPr/>
        </p:nvSpPr>
        <p:spPr>
          <a:xfrm>
            <a:off x="7141464" y="2615184"/>
            <a:ext cx="109728" cy="274320"/>
          </a:xfrm>
          <a:prstGeom prst="chevron">
            <a:avLst/>
          </a:prstGeom>
          <a:solidFill>
            <a:srgbClr val="FCC8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41"/>
          <p:cNvSpPr/>
          <p:nvPr/>
        </p:nvSpPr>
        <p:spPr>
          <a:xfrm>
            <a:off x="7306055" y="1481328"/>
            <a:ext cx="1517904" cy="2542032"/>
          </a:xfrm>
          <a:prstGeom prst="rect">
            <a:avLst/>
          </a:prstGeom>
          <a:solidFill>
            <a:srgbClr val="F3F5F3"/>
          </a:solidFill>
          <a:ln w="9525">
            <a:solidFill>
              <a:srgbClr val="135927"/>
            </a:solidFill>
          </a:ln>
          <a:effectLst/>
        </p:spPr>
        <p:style>
          <a:lnRef idx="1">
            <a:schemeClr val="accent1"/>
          </a:lnRef>
          <a:fillRef idx="3">
            <a:schemeClr val="accent1"/>
          </a:fillRef>
          <a:effectRef idx="2">
            <a:schemeClr val="accent1"/>
          </a:effectRef>
          <a:fontRef idx="minor">
            <a:schemeClr val="lt1"/>
          </a:fontRef>
        </p:style>
        <p:txBody>
          <a:bodyPr rtlCol="0" anchor="t" wrap="square" tIns="73152"/>
          <a:lstStyle/>
          <a:p>
            <a:pPr algn="ctr">
              <a:spcAft>
                <a:spcPts val="0"/>
              </a:spcAft>
            </a:pPr>
            <a:r>
              <a:rPr sz="2000" b="1" i="0">
                <a:solidFill>
                  <a:srgbClr val="135927"/>
                </a:solidFill>
                <a:latin typeface="Helvetica Neue"/>
              </a:rPr>
              <a:t>5</a:t>
            </a:r>
          </a:p>
          <a:p>
            <a:pPr>
              <a:spcAft>
                <a:spcPts val="800"/>
              </a:spcAft>
            </a:pPr>
            <a:r>
              <a:rPr sz="1050" b="1" i="0">
                <a:solidFill>
                  <a:srgbClr val="135927"/>
                </a:solidFill>
                <a:latin typeface="Helvetica Neue"/>
              </a:rPr>
              <a:t>What would change our mind?</a:t>
            </a:r>
          </a:p>
          <a:p>
            <a:pPr>
              <a:spcAft>
                <a:spcPts val="100"/>
              </a:spcAft>
            </a:pPr>
            <a:r>
              <a:rPr sz="750" b="1" i="0" spc="60">
                <a:solidFill>
                  <a:srgbClr val="8C8C8C"/>
                </a:solidFill>
                <a:latin typeface="Helvetica Neue"/>
              </a:rPr>
              <a:t>TOOL</a:t>
            </a:r>
          </a:p>
          <a:p>
            <a:pPr>
              <a:spcAft>
                <a:spcPts val="900"/>
              </a:spcAft>
            </a:pPr>
            <a:r>
              <a:rPr sz="900" b="0" i="0">
                <a:solidFill>
                  <a:srgbClr val="595959"/>
                </a:solidFill>
                <a:latin typeface="Helvetica Neue"/>
              </a:rPr>
              <a:t>Scenarios; risk transmission; signposts</a:t>
            </a:r>
          </a:p>
          <a:p>
            <a:pPr>
              <a:spcAft>
                <a:spcPts val="150"/>
              </a:spcAft>
            </a:pPr>
            <a:r>
              <a:rPr sz="850" b="1" i="0" spc="60">
                <a:solidFill>
                  <a:srgbClr val="135927"/>
                </a:solidFill>
                <a:latin typeface="Helvetica Neue"/>
              </a:rPr>
              <a:t>ANSWER</a:t>
            </a:r>
          </a:p>
          <a:p>
            <a:pPr>
              <a:spcAft>
                <a:spcPts val="0"/>
              </a:spcAft>
            </a:pPr>
            <a:r>
              <a:rPr sz="950" b="1" i="0">
                <a:solidFill>
                  <a:srgbClr val="1F2421"/>
                </a:solidFill>
                <a:latin typeface="Helvetica Neue"/>
              </a:rPr>
              <a:t>Margins through a memory downturn; networking growth</a:t>
            </a:r>
          </a:p>
        </p:txBody>
      </p:sp>
      <p:sp>
        <p:nvSpPr>
          <p:cNvPr id="17" name="Rectangle 142"/>
          <p:cNvSpPr/>
          <p:nvPr/>
        </p:nvSpPr>
        <p:spPr>
          <a:xfrm>
            <a:off x="320040" y="4160520"/>
            <a:ext cx="8503920" cy="502920"/>
          </a:xfrm>
          <a:prstGeom prst="rect">
            <a:avLst/>
          </a:prstGeom>
          <a:solidFill>
            <a:srgbClr val="13592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a:lstStyle/>
          <a:p>
            <a:pPr algn="ctr"/>
            <a:r>
              <a:rPr sz="1050" b="1" i="0">
                <a:solidFill>
                  <a:srgbClr val="FFFFFF"/>
                </a:solidFill>
                <a:latin typeface="Helvetica Neue"/>
              </a:rPr>
              <a:t>Our answer: value of $35–43 per share (bull case $54) against a $62.09 price. The gap is a bet that peak-cycle margins and sector multiples persist.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Networking is 26% of revenue but 40% of segment profit</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SNAPSHOT</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Follow the profit, not the revenue</a:t>
            </a:r>
            <a:r>
              <a:rPr sz="1050" b="0" i="0">
                <a:solidFill>
                  <a:srgbClr val="404040"/>
                </a:solidFill>
                <a:latin typeface="Helvetica Neue"/>
              </a:rPr>
              <a:t> — Networking is 26% of revenue but 40% of segment profit, so it sets the multiple.</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10-Q Q3 FY26 and earnings releases; Yahoo Finance prices; Bona Fide calculations.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4</a:t>
            </a:r>
          </a:p>
        </p:txBody>
      </p:sp>
      <p:sp>
        <p:nvSpPr>
          <p:cNvPr id="8" name="Rectangle 134"/>
          <p:cNvSpPr/>
          <p:nvPr/>
        </p:nvSpPr>
        <p:spPr>
          <a:xfrm>
            <a:off x="320040" y="1481328"/>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393192" y="1527048"/>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SHARE PRICE 11-SEP-26</a:t>
            </a:r>
          </a:p>
        </p:txBody>
      </p:sp>
      <p:sp>
        <p:nvSpPr>
          <p:cNvPr id="10" name="TextBox 136"/>
          <p:cNvSpPr txBox="1"/>
          <p:nvPr/>
        </p:nvSpPr>
        <p:spPr>
          <a:xfrm>
            <a:off x="393192" y="1700784"/>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$62.09</a:t>
            </a:r>
          </a:p>
        </p:txBody>
      </p:sp>
      <p:sp>
        <p:nvSpPr>
          <p:cNvPr id="11" name="Rectangle 137"/>
          <p:cNvSpPr/>
          <p:nvPr/>
        </p:nvSpPr>
        <p:spPr>
          <a:xfrm>
            <a:off x="2194560" y="1481328"/>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38"/>
          <p:cNvSpPr txBox="1"/>
          <p:nvPr/>
        </p:nvSpPr>
        <p:spPr>
          <a:xfrm>
            <a:off x="2267712" y="1527048"/>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MKT CAP</a:t>
            </a:r>
          </a:p>
        </p:txBody>
      </p:sp>
      <p:sp>
        <p:nvSpPr>
          <p:cNvPr id="13" name="TextBox 139"/>
          <p:cNvSpPr txBox="1"/>
          <p:nvPr/>
        </p:nvSpPr>
        <p:spPr>
          <a:xfrm>
            <a:off x="2267712" y="1700784"/>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$89.7bn</a:t>
            </a:r>
          </a:p>
        </p:txBody>
      </p:sp>
      <p:sp>
        <p:nvSpPr>
          <p:cNvPr id="14" name="Rectangle 140"/>
          <p:cNvSpPr/>
          <p:nvPr/>
        </p:nvSpPr>
        <p:spPr>
          <a:xfrm>
            <a:off x="320040" y="2551176"/>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1"/>
          <p:cNvSpPr txBox="1"/>
          <p:nvPr/>
        </p:nvSpPr>
        <p:spPr>
          <a:xfrm>
            <a:off x="393192" y="2596896"/>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ENTERPRISE VALUE</a:t>
            </a:r>
          </a:p>
        </p:txBody>
      </p:sp>
      <p:sp>
        <p:nvSpPr>
          <p:cNvPr id="16" name="TextBox 142"/>
          <p:cNvSpPr txBox="1"/>
          <p:nvPr/>
        </p:nvSpPr>
        <p:spPr>
          <a:xfrm>
            <a:off x="393192" y="2770632"/>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$103.8bn</a:t>
            </a:r>
          </a:p>
        </p:txBody>
      </p:sp>
      <p:sp>
        <p:nvSpPr>
          <p:cNvPr id="17" name="Rectangle 143"/>
          <p:cNvSpPr/>
          <p:nvPr/>
        </p:nvSpPr>
        <p:spPr>
          <a:xfrm>
            <a:off x="2194560" y="2551176"/>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44"/>
          <p:cNvSpPr txBox="1"/>
          <p:nvPr/>
        </p:nvSpPr>
        <p:spPr>
          <a:xfrm>
            <a:off x="2267712" y="2596896"/>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TTM REVENUE</a:t>
            </a:r>
          </a:p>
        </p:txBody>
      </p:sp>
      <p:sp>
        <p:nvSpPr>
          <p:cNvPr id="19" name="TextBox 145"/>
          <p:cNvSpPr txBox="1"/>
          <p:nvPr/>
        </p:nvSpPr>
        <p:spPr>
          <a:xfrm>
            <a:off x="2267712" y="2770632"/>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$41.9bn</a:t>
            </a:r>
          </a:p>
        </p:txBody>
      </p:sp>
      <p:sp>
        <p:nvSpPr>
          <p:cNvPr id="20" name="TextBox 146"/>
          <p:cNvSpPr txBox="1"/>
          <p:nvPr/>
        </p:nvSpPr>
        <p:spPr>
          <a:xfrm>
            <a:off x="2267712" y="3255264"/>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+31% vs prior TTM</a:t>
            </a:r>
          </a:p>
        </p:txBody>
      </p:sp>
      <p:sp>
        <p:nvSpPr>
          <p:cNvPr id="21" name="Rectangle 147"/>
          <p:cNvSpPr/>
          <p:nvPr/>
        </p:nvSpPr>
        <p:spPr>
          <a:xfrm>
            <a:off x="320040" y="3621024"/>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8"/>
          <p:cNvSpPr txBox="1"/>
          <p:nvPr/>
        </p:nvSpPr>
        <p:spPr>
          <a:xfrm>
            <a:off x="393192" y="3666744"/>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TTM FREE CASH FLOW</a:t>
            </a:r>
          </a:p>
        </p:txBody>
      </p:sp>
      <p:sp>
        <p:nvSpPr>
          <p:cNvPr id="23" name="TextBox 149"/>
          <p:cNvSpPr txBox="1"/>
          <p:nvPr/>
        </p:nvSpPr>
        <p:spPr>
          <a:xfrm>
            <a:off x="393192" y="3840480"/>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$4.5bn</a:t>
            </a:r>
          </a:p>
        </p:txBody>
      </p:sp>
      <p:sp>
        <p:nvSpPr>
          <p:cNvPr id="24" name="TextBox 150"/>
          <p:cNvSpPr txBox="1"/>
          <p:nvPr/>
        </p:nvSpPr>
        <p:spPr>
          <a:xfrm>
            <a:off x="393192" y="4325112"/>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HPE definition</a:t>
            </a:r>
          </a:p>
        </p:txBody>
      </p:sp>
      <p:sp>
        <p:nvSpPr>
          <p:cNvPr id="25" name="Rectangle 151"/>
          <p:cNvSpPr/>
          <p:nvPr/>
        </p:nvSpPr>
        <p:spPr>
          <a:xfrm>
            <a:off x="2194560" y="3621024"/>
            <a:ext cx="1783080" cy="978408"/>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152"/>
          <p:cNvSpPr txBox="1"/>
          <p:nvPr/>
        </p:nvSpPr>
        <p:spPr>
          <a:xfrm>
            <a:off x="2267712" y="3666744"/>
            <a:ext cx="163677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NET DEBT / ADJ. EBITDA</a:t>
            </a:r>
          </a:p>
        </p:txBody>
      </p:sp>
      <p:sp>
        <p:nvSpPr>
          <p:cNvPr id="27" name="TextBox 153"/>
          <p:cNvSpPr txBox="1"/>
          <p:nvPr/>
        </p:nvSpPr>
        <p:spPr>
          <a:xfrm>
            <a:off x="2267712" y="3840480"/>
            <a:ext cx="1636776" cy="384048"/>
          </a:xfrm>
          <a:prstGeom prst="rect">
            <a:avLst/>
          </a:prstGeom>
          <a:noFill/>
        </p:spPr>
        <p:txBody>
          <a:bodyPr wrap="square" anchor="t" lIns="36576" rIns="36576" tIns="18288" bIns="18288">
            <a:spAutoFit/>
          </a:bodyPr>
          <a:lstStyle/>
          <a:p>
            <a:pPr algn="l">
              <a:spcAft>
                <a:spcPts val="300"/>
              </a:spcAft>
            </a:pPr>
            <a:r>
              <a:rPr sz="2000" b="1">
                <a:solidFill>
                  <a:srgbClr val="135927"/>
                </a:solidFill>
                <a:latin typeface="Twentieth Century"/>
              </a:rPr>
              <a:t>1.75x</a:t>
            </a:r>
          </a:p>
        </p:txBody>
      </p:sp>
      <p:sp>
        <p:nvSpPr>
          <p:cNvPr id="28" name="TextBox 154"/>
          <p:cNvSpPr txBox="1"/>
          <p:nvPr/>
        </p:nvSpPr>
        <p:spPr>
          <a:xfrm>
            <a:off x="2267712" y="4325112"/>
            <a:ext cx="1636776"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company: 1.8x</a:t>
            </a:r>
          </a:p>
        </p:txBody>
      </p:sp>
      <p:graphicFrame>
        <p:nvGraphicFramePr>
          <p:cNvPr id="29" name="Table 155"/>
          <p:cNvGraphicFramePr>
            <a:graphicFrameLocks noGrp="1"/>
          </p:cNvGraphicFramePr>
          <p:nvPr/>
        </p:nvGraphicFramePr>
        <p:xfrm>
          <a:off x="4251960" y="1481328"/>
          <a:ext cx="4572000" cy="1170432"/>
        </p:xfrm>
        <a:graphic>
          <a:graphicData uri="http://schemas.openxmlformats.org/drawingml/2006/table">
            <a:tbl>
              <a:tblPr firstRow="1">
                <a:tableStyleId>{5C22544A-7EE6-4342-B048-85BDC9FD1C3A}</a:tableStyleId>
              </a:tblPr>
              <a:tblGrid>
                <a:gridCol w="1463040"/>
                <a:gridCol w="822960"/>
                <a:gridCol w="640080"/>
                <a:gridCol w="822960"/>
                <a:gridCol w="822960"/>
              </a:tblGrid>
              <a:tr h="292608">
                <a:tc>
                  <a:txBody>
                    <a:bodyPr/>
                    <a:lstStyle/>
                    <a:p>
                      <a:pPr algn="l"/>
                      <a:r>
                        <a:rPr sz="900" b="1">
                          <a:solidFill>
                            <a:srgbClr val="FCC80D"/>
                          </a:solidFill>
                          <a:latin typeface="Helvetica Neue"/>
                        </a:rPr>
                        <a:t>Segment (TTM)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Revenue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Op.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Profit 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92608">
                <a:tc>
                  <a:txBody>
                    <a:bodyPr/>
                    <a:lstStyle/>
                    <a:p>
                      <a:pPr algn="l"/>
                      <a:r>
                        <a:rPr sz="900" b="1">
                          <a:solidFill>
                            <a:srgbClr val="1F2421"/>
                          </a:solidFill>
                          <a:latin typeface="Helvetica Neue"/>
                        </a:rPr>
                        <a:t>Cloud &amp; AI</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$29.8bn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61%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$11.0bn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22.7%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92608">
                <a:tc>
                  <a:txBody>
                    <a:bodyPr/>
                    <a:lstStyle/>
                    <a:p>
                      <a:pPr algn="l"/>
                      <a:r>
                        <a:rPr sz="900" b="1">
                          <a:solidFill>
                            <a:srgbClr val="1F2421"/>
                          </a:solidFill>
                          <a:latin typeface="Helvetica Neue"/>
                        </a:rPr>
                        <a:t>Corp. Inv. &amp; Other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$1.1bn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30" name="TextBox 156"/>
          <p:cNvSpPr txBox="1"/>
          <p:nvPr/>
        </p:nvSpPr>
        <p:spPr>
          <a:xfrm>
            <a:off x="4251960" y="2788920"/>
            <a:ext cx="4572000" cy="1828800"/>
          </a:xfrm>
          <a:prstGeom prst="rect">
            <a:avLst/>
          </a:prstGeom>
          <a:noFill/>
        </p:spPr>
        <p:txBody>
          <a:bodyPr wrap="square" anchor="t" lIns="36576" rIns="36576" tIns="18288" bIns="18288">
            <a:spAutoFit/>
          </a:bodyPr>
          <a:lstStyle/>
          <a:p>
            <a:pPr algn="l" marL="155448" indent="-155448">
              <a:spcAft>
                <a:spcPts val="600"/>
              </a:spcAft>
              <a:buClr>
                <a:srgbClr val="135927"/>
              </a:buClr>
              <a:buSzPct val="100000"/>
              <a:buFont typeface="Helvetica Neue"/>
              <a:buChar char="•"/>
            </a:pPr>
            <a:r>
              <a:rPr sz="1000" b="0">
                <a:solidFill>
                  <a:srgbClr val="1F2421"/>
                </a:solidFill>
                <a:latin typeface="Helvetica Neue"/>
              </a:rPr>
              <a:t>Products 64% · services 34% · financing 2% of FY25 revenue</a:t>
            </a:r>
          </a:p>
          <a:p>
            <a:pPr algn="l" marL="155448" indent="-155448">
              <a:spcAft>
                <a:spcPts val="600"/>
              </a:spcAft>
              <a:buClr>
                <a:srgbClr val="135927"/>
              </a:buClr>
              <a:buSzPct val="100000"/>
              <a:buFont typeface="Helvetica Neue"/>
              <a:buChar char="•"/>
            </a:pPr>
            <a:r>
              <a:rPr sz="1000" b="0">
                <a:solidFill>
                  <a:srgbClr val="1F2421"/>
                </a:solidFill>
                <a:latin typeface="Helvetica Neue"/>
              </a:rPr>
              <a:t>61% of revenue outside the US; no customer disclosed above 10%</a:t>
            </a:r>
          </a:p>
          <a:p>
            <a:pPr algn="l" marL="155448" indent="-155448">
              <a:spcAft>
                <a:spcPts val="600"/>
              </a:spcAft>
              <a:buClr>
                <a:srgbClr val="135927"/>
              </a:buClr>
              <a:buSzPct val="100000"/>
              <a:buFont typeface="Helvetica Neue"/>
              <a:buChar char="•"/>
            </a:pPr>
            <a:r>
              <a:rPr sz="1000" b="0">
                <a:solidFill>
                  <a:srgbClr val="1F2421"/>
                </a:solidFill>
                <a:latin typeface="Helvetica Neue"/>
              </a:rPr>
              <a:t>ARR $3.15bn at FY25 (+63%); 52,000 GreenLake customers (+18%)</a:t>
            </a:r>
          </a:p>
          <a:p>
            <a:pPr algn="l" marL="155448" indent="-155448">
              <a:spcAft>
                <a:spcPts val="600"/>
              </a:spcAft>
              <a:buClr>
                <a:srgbClr val="135927"/>
              </a:buClr>
              <a:buSzPct val="100000"/>
              <a:buFont typeface="Helvetica Neue"/>
              <a:buChar char="•"/>
            </a:pPr>
            <a:r>
              <a:rPr sz="1000" b="0">
                <a:solidFill>
                  <a:srgbClr val="1F2421"/>
                </a:solidFill>
                <a:latin typeface="Helvetica Neue"/>
              </a:rPr>
              <a:t>Q3 FY26: revenue $12.2bn (+34%), non-GAAP EPS $1.11, FCF $958m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HPE sits in the layer that is paid at shipment</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VALUE CHAIN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company filings; Yahoo Finance; Bona Fide analysis (code/business_model_analysis.py). † Digital Realty. Revenue elasticity: revenue growth per point of hyperscaler capex growth, 2018Q2–2026Q2. Report section 12.</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5</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Paid at shipment, first to feel the cycle</a:t>
            </a:r>
            <a:r>
              <a:rPr sz="1050" b="0" i="0">
                <a:solidFill>
                  <a:srgbClr val="404040"/>
                </a:solidFill>
                <a:latin typeface="Helvetica Neue"/>
              </a:rPr>
              <a:t> — server revenue is the most capex-elastic (0.41–0.84) with under a year of backlog.</a:t>
            </a:r>
          </a:p>
        </p:txBody>
      </p:sp>
      <p:sp>
        <p:nvSpPr>
          <p:cNvPr id="8" name="TextBox 135"/>
          <p:cNvSpPr txBox="1"/>
          <p:nvPr/>
        </p:nvSpPr>
        <p:spPr>
          <a:xfrm>
            <a:off x="320040" y="1463040"/>
            <a:ext cx="457200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STYLISED 100 MW BUILD: CUMULATIVE CASH AND PROFIT ÷ CAPITAL</a:t>
            </a:r>
          </a:p>
        </p:txBody>
      </p:sp>
      <p:pic>
        <p:nvPicPr>
          <p:cNvPr id="9" name="Picture 136" descr="qa_q2_phase_shift_deck.png"/>
          <p:cNvPicPr>
            <a:picLocks noChangeAspect="1"/>
          </p:cNvPicPr>
          <p:nvPr/>
        </p:nvPicPr>
        <p:blipFill>
          <a:blip r:embed="rId5"/>
          <a:stretch>
            <a:fillRect/>
          </a:stretch>
        </p:blipFill>
        <p:spPr>
          <a:xfrm>
            <a:off x="320040" y="1700784"/>
            <a:ext cx="4572000" cy="2663504"/>
          </a:xfrm>
          <a:prstGeom prst="rect">
            <a:avLst/>
          </a:prstGeom>
        </p:spPr>
      </p:pic>
      <p:graphicFrame>
        <p:nvGraphicFramePr>
          <p:cNvPr id="10" name="Table 137"/>
          <p:cNvGraphicFramePr>
            <a:graphicFrameLocks noGrp="1"/>
          </p:cNvGraphicFramePr>
          <p:nvPr/>
        </p:nvGraphicFramePr>
        <p:xfrm>
          <a:off x="5074920" y="1481328"/>
          <a:ext cx="3749040" cy="1728216"/>
        </p:xfrm>
        <a:graphic>
          <a:graphicData uri="http://schemas.openxmlformats.org/drawingml/2006/table">
            <a:tbl>
              <a:tblPr firstRow="1" bandRow="1">
                <a:tableStyleId>{5C22544A-7EE6-4342-B048-85BDC9FD1C3A}</a:tableStyleId>
              </a:tblPr>
              <a:tblGrid>
                <a:gridCol w="1280160"/>
                <a:gridCol w="822960"/>
                <a:gridCol w="822960"/>
                <a:gridCol w="822960"/>
              </a:tblGrid>
              <a:tr h="246888">
                <a:tc>
                  <a:txBody>
                    <a:bodyPr wrap="square"/>
                    <a:lstStyle/>
                    <a:p>
                      <a:r>
                        <a:rPr sz="800" b="1" i="0">
                          <a:solidFill>
                            <a:srgbClr val="FCC80D"/>
                          </a:solidFill>
                          <a:latin typeface="Helvetica Neue"/>
                        </a:rPr>
                        <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Landlords†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Neoclouds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Servers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46888">
                <a:tc>
                  <a:txBody>
                    <a:bodyPr wrap="square"/>
                    <a:lstStyle/>
                    <a:p>
                      <a:r>
                        <a:rPr sz="800" b="1" i="0">
                          <a:solidFill>
                            <a:srgbClr val="1F2421"/>
                          </a:solidFill>
                          <a:latin typeface="Helvetica Neue"/>
                        </a:rPr>
                        <a:t>Capex / 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0.5x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2.7x–8.2x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≤0.06x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wrap="square"/>
                    <a:lstStyle/>
                    <a:p>
                      <a:r>
                        <a:rPr sz="800" b="1" i="0">
                          <a:solidFill>
                            <a:srgbClr val="1F2421"/>
                          </a:solidFill>
                          <a:latin typeface="Helvetica Neue"/>
                        </a:rPr>
                        <a:t>D&amp;A + interest / rev.</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36%</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67%–74%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3%–10%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46888">
                <a:tc>
                  <a:txBody>
                    <a:bodyPr wrap="square"/>
                    <a:lstStyle/>
                    <a:p>
                      <a:r>
                        <a:rPr sz="800" b="1" i="0">
                          <a:solidFill>
                            <a:srgbClr val="1F2421"/>
                          </a:solidFill>
                          <a:latin typeface="Helvetica Neue"/>
                        </a:rPr>
                        <a:t>Backlog / 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5.3x est.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14x–28x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0.3x–0.9x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wrap="square"/>
                    <a:lstStyle/>
                    <a:p>
                      <a:r>
                        <a:rPr sz="800" b="1" i="0">
                          <a:solidFill>
                            <a:srgbClr val="1F2421"/>
                          </a:solidFill>
                          <a:latin typeface="Helvetica Neue"/>
                        </a:rPr>
                        <a:t>Revenue elasticity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0.06 n.s.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too new</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0.41–0.84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46888">
                <a:tc>
                  <a:txBody>
                    <a:bodyPr wrap="square"/>
                    <a:lstStyle/>
                    <a:p>
                      <a:r>
                        <a:rPr sz="800" b="1" i="0">
                          <a:solidFill>
                            <a:srgbClr val="1F2421"/>
                          </a:solidFill>
                          <a:latin typeface="Helvetica Neue"/>
                        </a:rPr>
                        <a:t>AI beta (share price)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0.03</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0.40–0.85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0.02–0.18</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46888">
                <a:tc>
                  <a:txBody>
                    <a:bodyPr wrap="square"/>
                    <a:lstStyle/>
                    <a:p>
                      <a:r>
                        <a:rPr sz="800" b="1" i="0">
                          <a:solidFill>
                            <a:srgbClr val="1F2421"/>
                          </a:solidFill>
                          <a:latin typeface="Helvetica Neue"/>
                        </a:rPr>
                        <a:t>Cash payback (model)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~11.5 yrs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~3.2 yrs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2 qtrs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11" name="TextBox 135"/>
          <p:cNvSpPr txBox="1"/>
          <p:nvPr/>
        </p:nvSpPr>
        <p:spPr>
          <a:xfrm>
            <a:off x="5074920" y="3465576"/>
            <a:ext cx="3749039"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SO WHAT FOR HPE</a:t>
            </a:r>
          </a:p>
        </p:txBody>
      </p:sp>
      <p:sp>
        <p:nvSpPr>
          <p:cNvPr id="12" name="TextBox 136"/>
          <p:cNvSpPr txBox="1"/>
          <p:nvPr/>
        </p:nvSpPr>
        <p:spPr>
          <a:xfrm>
            <a:off x="5074920" y="3694176"/>
            <a:ext cx="3749039" cy="1014984"/>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Value on through-cycle margins, </a:t>
            </a:r>
            <a:r>
              <a:rPr sz="850" b="0">
                <a:solidFill>
                  <a:srgbClr val="1F2421"/>
                </a:solidFill>
                <a:latin typeface="Helvetica Neue"/>
              </a:rPr>
              <a:t>not the FY26 peak.</a:t>
            </a:r>
          </a:p>
          <a:p>
            <a:pPr algn="l" marL="155448" indent="-155448">
              <a:spcAft>
                <a:spcPts val="200"/>
              </a:spcAft>
              <a:buClr>
                <a:srgbClr val="135927"/>
              </a:buClr>
              <a:buSzPct val="100000"/>
              <a:buFont typeface="Helvetica Neue"/>
              <a:buChar char="•"/>
            </a:pPr>
            <a:r>
              <a:rPr sz="850" b="1">
                <a:solidFill>
                  <a:srgbClr val="1F2421"/>
                </a:solidFill>
                <a:latin typeface="Helvetica Neue"/>
              </a:rPr>
              <a:t>Less levered than Dell: </a:t>
            </a:r>
            <a:r>
              <a:rPr sz="850" b="0">
                <a:solidFill>
                  <a:srgbClr val="1F2421"/>
                </a:solidFill>
                <a:latin typeface="Helvetica Neue"/>
              </a:rPr>
              <a:t>elasticity 0.41 vs 0.84; controlling for Juniper the capex link is weaker still (0.19, n.s.).</a:t>
            </a:r>
          </a:p>
          <a:p>
            <a:pPr algn="l" marL="155448" indent="-155448">
              <a:spcAft>
                <a:spcPts val="200"/>
              </a:spcAft>
              <a:buClr>
                <a:srgbClr val="135927"/>
              </a:buClr>
              <a:buSzPct val="100000"/>
              <a:buFont typeface="Helvetica Neue"/>
              <a:buChar char="•"/>
            </a:pPr>
            <a:r>
              <a:rPr sz="850" b="1">
                <a:solidFill>
                  <a:srgbClr val="1F2421"/>
                </a:solidFill>
                <a:latin typeface="Helvetica Neue"/>
              </a:rPr>
              <a:t>Second-order risk: </a:t>
            </a:r>
            <a:r>
              <a:rPr sz="850" b="0">
                <a:solidFill>
                  <a:srgbClr val="1F2421"/>
                </a:solidFill>
                <a:latin typeface="Helvetica Neue"/>
              </a:rPr>
              <a:t>neoclouds burn cash; vendors that finance them share the credit risk.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Servers bring the revenue; networking brings the returns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1 · BUSINESS MODEL · MOAT</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earnings releases Q1–Q3 FY26; Bona Fide analysis. Routing/DCN growth largely reflects Juniper consolidation.</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6</a:t>
            </a:r>
          </a:p>
        </p:txBody>
      </p:sp>
      <p:pic>
        <p:nvPicPr>
          <p:cNvPr id="7" name="Picture 133" descr="seg_lines_ttm_deck.png"/>
          <p:cNvPicPr>
            <a:picLocks noChangeAspect="1"/>
          </p:cNvPicPr>
          <p:nvPr/>
        </p:nvPicPr>
        <p:blipFill>
          <a:blip r:embed="rId5"/>
          <a:stretch>
            <a:fillRect/>
          </a:stretch>
        </p:blipFill>
        <p:spPr>
          <a:xfrm>
            <a:off x="274320" y="1463040"/>
            <a:ext cx="5394960" cy="2001805"/>
          </a:xfrm>
          <a:prstGeom prst="rect">
            <a:avLst/>
          </a:prstGeom>
        </p:spPr>
      </p:pic>
      <p:sp>
        <p:nvSpPr>
          <p:cNvPr id="8" name="TextBox 134"/>
          <p:cNvSpPr txBox="1"/>
          <p:nvPr/>
        </p:nvSpPr>
        <p:spPr>
          <a:xfrm>
            <a:off x="5806440" y="1481328"/>
            <a:ext cx="3017520" cy="320040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950" b="1">
                <a:solidFill>
                  <a:srgbClr val="1F2421"/>
                </a:solidFill>
                <a:latin typeface="Helvetica Neue"/>
              </a:rPr>
              <a:t>Transactional core: </a:t>
            </a:r>
            <a:r>
              <a:rPr sz="950" b="0">
                <a:solidFill>
                  <a:srgbClr val="1F2421"/>
                </a:solidFill>
                <a:latin typeface="Helvetica Neue"/>
              </a:rPr>
              <a:t>servers and AI systems bought competitively; lowest switching costs.</a:t>
            </a:r>
          </a:p>
          <a:p>
            <a:pPr algn="l" marL="155448" indent="-155448">
              <a:spcAft>
                <a:spcPts val="500"/>
              </a:spcAft>
              <a:buClr>
                <a:srgbClr val="135927"/>
              </a:buClr>
              <a:buSzPct val="100000"/>
              <a:buFont typeface="Helvetica Neue"/>
              <a:buChar char="•"/>
            </a:pPr>
            <a:r>
              <a:rPr sz="950" b="1">
                <a:solidFill>
                  <a:srgbClr val="1F2421"/>
                </a:solidFill>
                <a:latin typeface="Helvetica Neue"/>
              </a:rPr>
              <a:t>Sticky networking: </a:t>
            </a:r>
            <a:r>
              <a:rPr sz="950" b="0">
                <a:solidFill>
                  <a:srgbClr val="1F2421"/>
                </a:solidFill>
                <a:latin typeface="Helvetica Neue"/>
              </a:rPr>
              <a:t>Aruba Central and Juniper Mist management, security policy, own Express 5 routing silicon.</a:t>
            </a:r>
          </a:p>
          <a:p>
            <a:pPr algn="l" marL="155448" indent="-155448">
              <a:spcAft>
                <a:spcPts val="500"/>
              </a:spcAft>
              <a:buClr>
                <a:srgbClr val="135927"/>
              </a:buClr>
              <a:buSzPct val="100000"/>
              <a:buFont typeface="Helvetica Neue"/>
              <a:buChar char="•"/>
            </a:pPr>
            <a:r>
              <a:rPr sz="950" b="1">
                <a:solidFill>
                  <a:srgbClr val="1F2421"/>
                </a:solidFill>
                <a:latin typeface="Helvetica Neue"/>
              </a:rPr>
              <a:t>Recurring layer: </a:t>
            </a:r>
            <a:r>
              <a:rPr sz="950" b="0">
                <a:solidFill>
                  <a:srgbClr val="1F2421"/>
                </a:solidFill>
                <a:latin typeface="Helvetica Neue"/>
              </a:rPr>
              <a:t>services, Financial Services leases and GreenLake contracts; ARR $3.15bn.</a:t>
            </a:r>
          </a:p>
          <a:p>
            <a:pPr algn="l" marL="155448" indent="-155448">
              <a:spcAft>
                <a:spcPts val="500"/>
              </a:spcAft>
              <a:buClr>
                <a:srgbClr val="135927"/>
              </a:buClr>
              <a:buSzPct val="100000"/>
              <a:buFont typeface="Helvetica Neue"/>
              <a:buChar char="•"/>
            </a:pPr>
            <a:r>
              <a:rPr sz="950" b="1">
                <a:solidFill>
                  <a:srgbClr val="1F2421"/>
                </a:solidFill>
                <a:latin typeface="Helvetica Neue"/>
              </a:rPr>
              <a:t>Returns test: </a:t>
            </a:r>
            <a:r>
              <a:rPr sz="950" b="0">
                <a:solidFill>
                  <a:srgbClr val="1F2421"/>
                </a:solidFill>
                <a:latin typeface="Helvetica Neue"/>
              </a:rPr>
              <a:t>adjusted ROIC averaged 8.1% over FY20–25, below WACC; 11.2% TTM.</a:t>
            </a:r>
          </a:p>
          <a:p>
            <a:pPr algn="l" marL="155448" indent="-155448">
              <a:spcAft>
                <a:spcPts val="500"/>
              </a:spcAft>
              <a:buClr>
                <a:srgbClr val="135927"/>
              </a:buClr>
              <a:buSzPct val="100000"/>
              <a:buFont typeface="Helvetica Neue"/>
              <a:buChar char="•"/>
            </a:pPr>
            <a:r>
              <a:rPr sz="950" b="1">
                <a:solidFill>
                  <a:srgbClr val="1F2421"/>
                </a:solidFill>
                <a:latin typeface="Helvetica Neue"/>
              </a:rPr>
              <a:t>Read: </a:t>
            </a:r>
            <a:r>
              <a:rPr sz="950" b="0">
                <a:solidFill>
                  <a:srgbClr val="1F2421"/>
                </a:solidFill>
                <a:latin typeface="Helvetica Neue"/>
              </a:rPr>
              <a:t>Juniper moves HPE toward pricing power; credit it when returns show it.</a:t>
            </a:r>
          </a:p>
        </p:txBody>
      </p:sp>
      <p:sp>
        <p:nvSpPr>
          <p:cNvPr id="9"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Moats show up in returns, not revenue</a:t>
            </a:r>
            <a:r>
              <a:rPr sz="1050" b="0" i="0">
                <a:solidFill>
                  <a:srgbClr val="404040"/>
                </a:solidFill>
                <a:latin typeface="Helvetica Neue"/>
              </a:rPr>
              <a:t> — adjusted ROIC averaged 8.1% in FY20–25, below WACC; only now 11.2%, led by networking.</a:t>
            </a:r>
          </a:p>
        </p:txBody>
      </p:sp>
      <p:graphicFrame>
        <p:nvGraphicFramePr>
          <p:cNvPr id="10" name="Table 134"/>
          <p:cNvGraphicFramePr>
            <a:graphicFrameLocks noGrp="1"/>
          </p:cNvGraphicFramePr>
          <p:nvPr/>
        </p:nvGraphicFramePr>
        <p:xfrm>
          <a:off x="274320" y="3566160"/>
          <a:ext cx="5394960" cy="1645920"/>
        </p:xfrm>
        <a:graphic>
          <a:graphicData uri="http://schemas.openxmlformats.org/drawingml/2006/table">
            <a:tbl>
              <a:tblPr firstRow="1">
                <a:tableStyleId>{5C22544A-7EE6-4342-B048-85BDC9FD1C3A}</a:tableStyleId>
              </a:tblPr>
              <a:tblGrid>
                <a:gridCol w="2329641"/>
                <a:gridCol w="1348740"/>
                <a:gridCol w="1716578"/>
              </a:tblGrid>
              <a:tr h="214884">
                <a:tc>
                  <a:txBody>
                    <a:bodyPr/>
                    <a:lstStyle/>
                    <a:p>
                      <a:pPr algn="l"/>
                      <a:r>
                        <a:rPr sz="900" b="1">
                          <a:solidFill>
                            <a:srgbClr val="FCC80D"/>
                          </a:solidFill>
                          <a:latin typeface="Helvetica Neue"/>
                        </a:rPr>
                        <a:t>Business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Moat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Durability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14884">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14884">
                <a:tc>
                  <a:txBody>
                    <a:bodyPr/>
                    <a:lstStyle/>
                    <a:p>
                      <a:pPr algn="l"/>
                      <a:r>
                        <a:rPr sz="900" b="1">
                          <a:solidFill>
                            <a:srgbClr val="1F2421"/>
                          </a:solidFill>
                          <a:latin typeface="Helvetica Neue"/>
                        </a:rPr>
                        <a:t>Storage / GreenLake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14884">
                <a:tc>
                  <a:txBody>
                    <a:bodyPr/>
                    <a:lstStyle/>
                    <a:p>
                      <a:pPr algn="l"/>
                      <a:r>
                        <a:rPr sz="900" b="1">
                          <a:solidFill>
                            <a:srgbClr val="1F2421"/>
                          </a:solidFill>
                          <a:latin typeface="Helvetica Neue"/>
                        </a:rPr>
                        <a:t>Servers &amp; AI systems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Low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14884">
                <a:tc>
                  <a:txBody>
                    <a:bodyPr/>
                    <a:lstStyle/>
                    <a:p>
                      <a:pPr algn="l"/>
                      <a:r>
                        <a:rPr sz="900" b="1">
                          <a:solidFill>
                            <a:srgbClr val="1F2421"/>
                          </a:solidFill>
                          <a:latin typeface="Helvetica Neue"/>
                        </a:rPr>
                        <a:t>Financial Services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Cyclical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Four flat years, then a step change in scale and margins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FINANCIALS</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Explain a break before you extrapolate it</a:t>
            </a:r>
            <a:r>
              <a:rPr sz="1050" b="0" i="0">
                <a:solidFill>
                  <a:srgbClr val="404040"/>
                </a:solidFill>
                <a:latin typeface="Helvetica Neue"/>
              </a:rPr>
              <a:t> — revenue +30.8% TTM after a 2.8% CAGR in FY20–24: structure or cycle?</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 FY2020–FY2025, 10-Q Q3 FY26, earnings releases; Bona Fide analysis.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7</a:t>
            </a:r>
          </a:p>
        </p:txBody>
      </p:sp>
      <p:pic>
        <p:nvPicPr>
          <p:cNvPr id="8" name="Picture 134" descr="fin_revenue_deck.png"/>
          <p:cNvPicPr>
            <a:picLocks noChangeAspect="1"/>
          </p:cNvPicPr>
          <p:nvPr/>
        </p:nvPicPr>
        <p:blipFill>
          <a:blip r:embed="rId6"/>
          <a:stretch>
            <a:fillRect/>
          </a:stretch>
        </p:blipFill>
        <p:spPr>
          <a:xfrm>
            <a:off x="274320" y="1417320"/>
            <a:ext cx="4251960" cy="1577418"/>
          </a:xfrm>
          <a:prstGeom prst="rect">
            <a:avLst/>
          </a:prstGeom>
        </p:spPr>
      </p:pic>
      <p:pic>
        <p:nvPicPr>
          <p:cNvPr id="9" name="Picture 135" descr="fin_margins_deck.png"/>
          <p:cNvPicPr>
            <a:picLocks noChangeAspect="1"/>
          </p:cNvPicPr>
          <p:nvPr/>
        </p:nvPicPr>
        <p:blipFill>
          <a:blip r:embed="rId3"/>
          <a:stretch>
            <a:fillRect/>
          </a:stretch>
        </p:blipFill>
        <p:spPr>
          <a:xfrm>
            <a:off x="4617720" y="1417320"/>
            <a:ext cx="4206240" cy="1569456"/>
          </a:xfrm>
          <a:prstGeom prst="rect">
            <a:avLst/>
          </a:prstGeom>
        </p:spPr>
      </p:pic>
      <p:sp>
        <p:nvSpPr>
          <p:cNvPr id="10" name="TextBox 135"/>
          <p:cNvSpPr txBox="1"/>
          <p:nvPr/>
        </p:nvSpPr>
        <p:spPr>
          <a:xfrm>
            <a:off x="320040" y="3122754"/>
            <a:ext cx="41605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REVENUE CHART SHOWS</a:t>
            </a:r>
          </a:p>
        </p:txBody>
      </p:sp>
      <p:sp>
        <p:nvSpPr>
          <p:cNvPr id="11" name="TextBox 135"/>
          <p:cNvSpPr txBox="1"/>
          <p:nvPr/>
        </p:nvSpPr>
        <p:spPr>
          <a:xfrm>
            <a:off x="4617720" y="3122754"/>
            <a:ext cx="4206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MARGIN CHART SHOWS</a:t>
            </a:r>
          </a:p>
        </p:txBody>
      </p:sp>
      <p:sp>
        <p:nvSpPr>
          <p:cNvPr id="12" name="TextBox 136"/>
          <p:cNvSpPr txBox="1"/>
          <p:nvPr/>
        </p:nvSpPr>
        <p:spPr>
          <a:xfrm>
            <a:off x="320040" y="3360498"/>
            <a:ext cx="4160520" cy="134866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50" b="1">
                <a:solidFill>
                  <a:srgbClr val="1F2421"/>
                </a:solidFill>
                <a:latin typeface="Helvetica Neue"/>
              </a:rPr>
              <a:t>Flat for four years: </a:t>
            </a:r>
            <a:r>
              <a:rPr sz="950" b="0">
                <a:solidFill>
                  <a:srgbClr val="1F2421"/>
                </a:solidFill>
                <a:latin typeface="Helvetica Neue"/>
              </a:rPr>
              <a:t>revenue went from $27.0bn in FY2020 to $30.1bn in FY2024, a 2.8% CAGR.</a:t>
            </a:r>
          </a:p>
          <a:p>
            <a:pPr algn="l" marL="155448" indent="-155448">
              <a:spcAft>
                <a:spcPts val="300"/>
              </a:spcAft>
              <a:buClr>
                <a:srgbClr val="135927"/>
              </a:buClr>
              <a:buSzPct val="100000"/>
              <a:buFont typeface="Helvetica Neue"/>
              <a:buChar char="•"/>
            </a:pPr>
            <a:r>
              <a:rPr sz="950" b="1">
                <a:solidFill>
                  <a:srgbClr val="1F2421"/>
                </a:solidFill>
                <a:latin typeface="Helvetica Neue"/>
              </a:rPr>
              <a:t>Step up: </a:t>
            </a:r>
            <a:r>
              <a:rPr sz="950" b="0">
                <a:solidFill>
                  <a:srgbClr val="1F2421"/>
                </a:solidFill>
                <a:latin typeface="Helvetica Neue"/>
              </a:rPr>
              <a:t>FY2025 +13.8% with part-year Juniper; TTM +30.8% to $41.9bn.</a:t>
            </a:r>
          </a:p>
          <a:p>
            <a:pPr algn="l" marL="155448" indent="-155448">
              <a:spcAft>
                <a:spcPts val="300"/>
              </a:spcAft>
              <a:buClr>
                <a:srgbClr val="135927"/>
              </a:buClr>
              <a:buSzPct val="100000"/>
              <a:buFont typeface="Helvetica Neue"/>
              <a:buChar char="•"/>
            </a:pPr>
            <a:r>
              <a:rPr sz="950" b="1">
                <a:solidFill>
                  <a:srgbClr val="1F2421"/>
                </a:solidFill>
                <a:latin typeface="Helvetica Neue"/>
              </a:rPr>
              <a:t>What changed: </a:t>
            </a:r>
            <a:r>
              <a:rPr sz="950" b="0">
                <a:solidFill>
                  <a:srgbClr val="1F2421"/>
                </a:solidFill>
                <a:latin typeface="Helvetica Neue"/>
              </a:rPr>
              <a:t>a full year of Juniper, AI systems and higher server prices.</a:t>
            </a:r>
          </a:p>
        </p:txBody>
      </p:sp>
      <p:sp>
        <p:nvSpPr>
          <p:cNvPr id="13" name="TextBox 136"/>
          <p:cNvSpPr txBox="1"/>
          <p:nvPr/>
        </p:nvSpPr>
        <p:spPr>
          <a:xfrm>
            <a:off x="4617720" y="3360498"/>
            <a:ext cx="4206240" cy="134866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50" b="1">
                <a:solidFill>
                  <a:srgbClr val="1F2421"/>
                </a:solidFill>
                <a:latin typeface="Helvetica Neue"/>
              </a:rPr>
              <a:t>Adjusted margin: </a:t>
            </a:r>
            <a:r>
              <a:rPr sz="950" b="0">
                <a:solidFill>
                  <a:srgbClr val="1F2421"/>
                </a:solidFill>
                <a:latin typeface="Helvetica Neue"/>
              </a:rPr>
              <a:t>non-GAAP operating margin held at 8.5–10.8% in FY2020–25; now 13.8% TTM and 16.2% in Q3 FY26.</a:t>
            </a:r>
          </a:p>
          <a:p>
            <a:pPr algn="l" marL="155448" indent="-155448">
              <a:spcAft>
                <a:spcPts val="300"/>
              </a:spcAft>
              <a:buClr>
                <a:srgbClr val="135927"/>
              </a:buClr>
              <a:buSzPct val="100000"/>
              <a:buFont typeface="Helvetica Neue"/>
              <a:buChar char="•"/>
            </a:pPr>
            <a:r>
              <a:rPr sz="950" b="1">
                <a:solidFill>
                  <a:srgbClr val="1F2421"/>
                </a:solidFill>
                <a:latin typeface="Helvetica Neue"/>
              </a:rPr>
              <a:t>Gross margin: </a:t>
            </a:r>
            <a:r>
              <a:rPr sz="950" b="0">
                <a:solidFill>
                  <a:srgbClr val="1F2421"/>
                </a:solidFill>
                <a:latin typeface="Helvetica Neue"/>
              </a:rPr>
              <a:t>GAAP 36.7% TTM vs 30.3% in FY2025, from networking mix and pricing.</a:t>
            </a:r>
          </a:p>
          <a:p>
            <a:pPr algn="l" marL="155448" indent="-155448">
              <a:spcAft>
                <a:spcPts val="300"/>
              </a:spcAft>
              <a:buClr>
                <a:srgbClr val="135927"/>
              </a:buClr>
              <a:buSzPct val="100000"/>
              <a:buFont typeface="Helvetica Neue"/>
              <a:buChar char="•"/>
            </a:pPr>
            <a:r>
              <a:rPr sz="950" b="1">
                <a:solidFill>
                  <a:srgbClr val="1F2421"/>
                </a:solidFill>
                <a:latin typeface="Helvetica Neue"/>
              </a:rPr>
              <a:t>GAAP gap: </a:t>
            </a:r>
            <a:r>
              <a:rPr sz="950" b="0">
                <a:solidFill>
                  <a:srgbClr val="1F2421"/>
                </a:solidFill>
                <a:latin typeface="Helvetica Neue"/>
              </a:rPr>
              <a:t>GAAP operating margin is 6.2%; the 7.6pp gap is mainly Juniper amortisation ($1.26bn) and SBC ($0.80bn).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Q3 FY26: a record beat-and-raise quarter</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LATEST QUARTER</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A record quarter proves the cycle, not the run-rate</a:t>
            </a:r>
            <a:r>
              <a:rPr sz="1050" b="0" i="0">
                <a:solidFill>
                  <a:srgbClr val="404040"/>
                </a:solidFill>
                <a:latin typeface="Helvetica Neue"/>
              </a:rPr>
              <a:t> — EPS beat consensus by 18%, revenue by only 1%.</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Q3 FY26 press release, presentation and call (2-Sep-2026); Zacks consensus via Yahoo Finance (28-Aug-2026); Bona Fide analysis (code/earnings_analysis.py). Normalised = including Juniper in the prior year.</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8</a:t>
            </a:r>
          </a:p>
        </p:txBody>
      </p:sp>
      <p:graphicFrame>
        <p:nvGraphicFramePr>
          <p:cNvPr id="8" name="Table 14"/>
          <p:cNvGraphicFramePr>
            <a:graphicFrameLocks noGrp="1"/>
          </p:cNvGraphicFramePr>
          <p:nvPr/>
        </p:nvGraphicFramePr>
        <p:xfrm>
          <a:off x="320040" y="1463040"/>
          <a:ext cx="4846320" cy="2286000"/>
        </p:xfrm>
        <a:graphic>
          <a:graphicData uri="http://schemas.openxmlformats.org/drawingml/2006/table">
            <a:tbl>
              <a:tblPr firstRow="1" bandRow="1">
                <a:tableStyleId>{5C22544A-7EE6-4342-B048-85BDC9FD1C3A}</a:tableStyleId>
              </a:tblPr>
              <a:tblGrid>
                <a:gridCol w="1417320"/>
                <a:gridCol w="960120"/>
                <a:gridCol w="868680"/>
                <a:gridCol w="685800"/>
                <a:gridCol w="914400"/>
              </a:tblGrid>
              <a:tr h="228600">
                <a:tc>
                  <a:txBody>
                    <a:bodyPr/>
                    <a:lstStyle/>
                    <a:p>
                      <a:r>
                        <a:rPr sz="800" b="1">
                          <a:solidFill>
                            <a:srgbClr val="FCC80D"/>
                          </a:solidFill>
                          <a:latin typeface="Helvetica Neue"/>
                        </a:rPr>
                        <a:t>Q3 FY26</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Reported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Guidance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Consensus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YoY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28600">
                <a:tc>
                  <a:txBody>
                    <a:bodyPr/>
                    <a:lstStyle/>
                    <a:p>
                      <a:r>
                        <a:rPr sz="800" b="1">
                          <a:solidFill>
                            <a:srgbClr val="1F2421"/>
                          </a:solidFill>
                          <a:latin typeface="Helvetica Neue"/>
                        </a:rPr>
                        <a:t>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$12.2bn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$11.5–12.1bn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$12.1bn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+34%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Non-GAAP gross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40.4%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+10.5pp</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Non-GAAP operating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16.2%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+7.7pp</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Non-GAAP EPS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$1.11</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$0.88–0.93</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$0.94</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+152%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Free cash flow</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$958m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+$168m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Orders (normalised)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Record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+42%</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AI backlog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$7.6bn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Record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28600">
                <a:tc>
                  <a:txBody>
                    <a:bodyPr/>
                    <a:lstStyle/>
                    <a:p>
                      <a:r>
                        <a:rPr sz="800" b="1">
                          <a:solidFill>
                            <a:srgbClr val="1F2421"/>
                          </a:solidFill>
                          <a:latin typeface="Helvetica Neue"/>
                        </a:rPr>
                        <a:t>Networking ·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$2.9bn · 22.0%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+75% (+10% norm.)</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28600">
                <a:tc>
                  <a:txBody>
                    <a:bodyPr/>
                    <a:lstStyle/>
                    <a:p>
                      <a:r>
                        <a:rPr sz="800" b="1">
                          <a:solidFill>
                            <a:srgbClr val="1F2421"/>
                          </a:solidFill>
                          <a:latin typeface="Helvetica Neue"/>
                        </a:rPr>
                        <a:t>Cloud &amp; AI · margin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$9.0bn · 17.0%</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+25%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6"/>
          <p:cNvSpPr txBox="1"/>
          <p:nvPr/>
        </p:nvSpPr>
        <p:spPr>
          <a:xfrm>
            <a:off x="320040" y="4224528"/>
            <a:ext cx="4846320" cy="457200"/>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900" b="1">
                <a:solidFill>
                  <a:srgbClr val="1F2421"/>
                </a:solidFill>
                <a:latin typeface="Helvetica Neue"/>
              </a:rPr>
              <a:t>Read: </a:t>
            </a:r>
            <a:r>
              <a:rPr sz="900" b="0">
                <a:solidFill>
                  <a:srgbClr val="1F2421"/>
                </a:solidFill>
                <a:latin typeface="Helvetica Neue"/>
              </a:rPr>
              <a:t>every line beat, but the EPS beat against consensus (+18%) was about 20x the revenue beat (+1%).</a:t>
            </a:r>
          </a:p>
        </p:txBody>
      </p:sp>
      <p:sp>
        <p:nvSpPr>
          <p:cNvPr id="10" name="TextBox 135"/>
          <p:cNvSpPr txBox="1"/>
          <p:nvPr/>
        </p:nvSpPr>
        <p:spPr>
          <a:xfrm>
            <a:off x="5349240" y="1463040"/>
            <a:ext cx="34747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FY26 NON-GAAP EPS GUIDANCE SINCE OCTOBER 2025</a:t>
            </a:r>
          </a:p>
        </p:txBody>
      </p:sp>
      <p:pic>
        <p:nvPicPr>
          <p:cNvPr id="11" name="Picture 15" descr="earn_eps_guidance_ladder_deck.png"/>
          <p:cNvPicPr>
            <a:picLocks noChangeAspect="1"/>
          </p:cNvPicPr>
          <p:nvPr/>
        </p:nvPicPr>
        <p:blipFill>
          <a:blip r:embed="rId3"/>
          <a:stretch>
            <a:fillRect/>
          </a:stretch>
        </p:blipFill>
        <p:spPr>
          <a:xfrm>
            <a:off x="5349240" y="1700784"/>
            <a:ext cx="3474720" cy="1377783"/>
          </a:xfrm>
          <a:prstGeom prst="rect">
            <a:avLst/>
          </a:prstGeom>
        </p:spPr>
      </p:pic>
      <p:sp>
        <p:nvSpPr>
          <p:cNvPr id="12" name="TextBox 135"/>
          <p:cNvSpPr txBox="1"/>
          <p:nvPr/>
        </p:nvSpPr>
        <p:spPr>
          <a:xfrm>
            <a:off x="5349240" y="3151719"/>
            <a:ext cx="34747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RAISED OUTLOOK (PREVIOUS → NEW)</a:t>
            </a:r>
          </a:p>
        </p:txBody>
      </p:sp>
      <p:sp>
        <p:nvSpPr>
          <p:cNvPr id="13" name="TextBox 136"/>
          <p:cNvSpPr txBox="1"/>
          <p:nvPr/>
        </p:nvSpPr>
        <p:spPr>
          <a:xfrm>
            <a:off x="5349240" y="3380319"/>
            <a:ext cx="3474720" cy="1328840"/>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850" b="1">
                <a:solidFill>
                  <a:srgbClr val="1F2421"/>
                </a:solidFill>
                <a:latin typeface="Helvetica Neue"/>
              </a:rPr>
              <a:t>Q4 FY26: </a:t>
            </a:r>
            <a:r>
              <a:rPr sz="850" b="0">
                <a:solidFill>
                  <a:srgbClr val="1F2421"/>
                </a:solidFill>
                <a:latin typeface="Helvetica Neue"/>
              </a:rPr>
              <a:t>revenue $13.9–14.8bn (+44% to +53% YoY); EPS $1.20–1.30.</a:t>
            </a:r>
          </a:p>
          <a:p>
            <a:pPr algn="l" marL="155448" indent="-155448">
              <a:spcAft>
                <a:spcPts val="250"/>
              </a:spcAft>
              <a:buClr>
                <a:srgbClr val="135927"/>
              </a:buClr>
              <a:buSzPct val="100000"/>
              <a:buFont typeface="Helvetica Neue"/>
              <a:buChar char="•"/>
            </a:pPr>
            <a:r>
              <a:rPr sz="850" b="1">
                <a:solidFill>
                  <a:srgbClr val="1F2421"/>
                </a:solidFill>
                <a:latin typeface="Helvetica Neue"/>
              </a:rPr>
              <a:t>FY26: </a:t>
            </a:r>
            <a:r>
              <a:rPr sz="850" b="0">
                <a:solidFill>
                  <a:srgbClr val="1F2421"/>
                </a:solidFill>
                <a:latin typeface="Helvetica Neue"/>
              </a:rPr>
              <a:t>revenue +29–33% → +34–37%; EPS $3.35–3.45 → $3.75–3.85; FCF ≥$3.5bn → ≥$3.75bn.</a:t>
            </a:r>
          </a:p>
          <a:p>
            <a:pPr algn="l" marL="155448" indent="-155448">
              <a:spcAft>
                <a:spcPts val="250"/>
              </a:spcAft>
              <a:buClr>
                <a:srgbClr val="135927"/>
              </a:buClr>
              <a:buSzPct val="100000"/>
              <a:buFont typeface="Helvetica Neue"/>
              <a:buChar char="•"/>
            </a:pPr>
            <a:r>
              <a:rPr sz="850" b="1">
                <a:solidFill>
                  <a:srgbClr val="1F2421"/>
                </a:solidFill>
                <a:latin typeface="Helvetica Neue"/>
              </a:rPr>
              <a:t>FY27: </a:t>
            </a:r>
            <a:r>
              <a:rPr sz="850" b="0">
                <a:solidFill>
                  <a:srgbClr val="1F2421"/>
                </a:solidFill>
                <a:latin typeface="Helvetica Neue"/>
              </a:rPr>
              <a:t>revenue +8–12% → +13–17%; EPS growth +12–16% → +16–20%; FCF ≥$4.5bn → ≥$5.0bn.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Inside the beat: margin, not volume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LATEST QUARTER</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The source of a beat matters more than its size</a:t>
            </a:r>
            <a:r>
              <a:rPr sz="1050" b="0" i="0">
                <a:solidFill>
                  <a:srgbClr val="404040"/>
                </a:solidFill>
                <a:latin typeface="Helvetica Neue"/>
              </a:rPr>
              <a:t> — ~78% of the profit rise came from margin, and management guides gross margin lower.</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earnings releases Q2 FY25–Q3 FY26, Q3 FY26 presentation and call; SAM 2025; TrendForce; SEC capex filings; Bona Fide analysis. Operating-profit bridge is an estimate from reported margins.</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9</a:t>
            </a:r>
          </a:p>
        </p:txBody>
      </p:sp>
      <p:sp>
        <p:nvSpPr>
          <p:cNvPr id="8" name="TextBox 135"/>
          <p:cNvSpPr txBox="1"/>
          <p:nvPr/>
        </p:nvSpPr>
        <p:spPr>
          <a:xfrm>
            <a:off x="320040" y="1463040"/>
            <a:ext cx="49377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HOW FAR RESULTS BEAT THE TOP OF GUIDANCE: EPS VS REVENUE</a:t>
            </a:r>
          </a:p>
        </p:txBody>
      </p:sp>
      <p:pic>
        <p:nvPicPr>
          <p:cNvPr id="9" name="Picture 14" descr="earn_beat_gap_deck.png"/>
          <p:cNvPicPr>
            <a:picLocks noChangeAspect="1"/>
          </p:cNvPicPr>
          <p:nvPr/>
        </p:nvPicPr>
        <p:blipFill>
          <a:blip r:embed="rId3"/>
          <a:stretch>
            <a:fillRect/>
          </a:stretch>
        </p:blipFill>
        <p:spPr>
          <a:xfrm>
            <a:off x="320040" y="1700784"/>
            <a:ext cx="4937760" cy="1825153"/>
          </a:xfrm>
          <a:prstGeom prst="rect">
            <a:avLst/>
          </a:prstGeom>
        </p:spPr>
      </p:pic>
      <p:sp>
        <p:nvSpPr>
          <p:cNvPr id="10" name="TextBox 136"/>
          <p:cNvSpPr txBox="1"/>
          <p:nvPr/>
        </p:nvSpPr>
        <p:spPr>
          <a:xfrm>
            <a:off x="320040" y="3635665"/>
            <a:ext cx="4937760" cy="1073494"/>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900" b="1">
                <a:solidFill>
                  <a:srgbClr val="1F2421"/>
                </a:solidFill>
                <a:latin typeface="Helvetica Neue"/>
              </a:rPr>
              <a:t>Read: </a:t>
            </a:r>
            <a:r>
              <a:rPr sz="900" b="0">
                <a:solidFill>
                  <a:srgbClr val="1F2421"/>
                </a:solidFill>
                <a:latin typeface="Helvetica Neue"/>
              </a:rPr>
              <a:t>EPS beat the top of guidance in 5 of the last 6 quarters, by +44% and +19% in the last two, while revenue beats stayed in single digits.</a:t>
            </a:r>
          </a:p>
        </p:txBody>
      </p:sp>
      <p:sp>
        <p:nvSpPr>
          <p:cNvPr id="11" name="TextBox 135"/>
          <p:cNvSpPr txBox="1"/>
          <p:nvPr/>
        </p:nvSpPr>
        <p:spPr>
          <a:xfrm>
            <a:off x="5440680" y="146304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DROVE THE QUARTER</a:t>
            </a:r>
          </a:p>
        </p:txBody>
      </p:sp>
      <p:sp>
        <p:nvSpPr>
          <p:cNvPr id="12" name="TextBox 136"/>
          <p:cNvSpPr txBox="1"/>
          <p:nvPr/>
        </p:nvSpPr>
        <p:spPr>
          <a:xfrm>
            <a:off x="5440680" y="1700784"/>
            <a:ext cx="3383280" cy="3008376"/>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Margin, not volume: </a:t>
            </a:r>
            <a:r>
              <a:rPr sz="850" b="0">
                <a:solidFill>
                  <a:srgbClr val="1F2421"/>
                </a:solidFill>
                <a:latin typeface="Helvetica Neue"/>
              </a:rPr>
              <a:t>~78% of the $1.2bn rise in non-GAAP operating profit came from margin (est.).</a:t>
            </a:r>
          </a:p>
          <a:p>
            <a:pPr algn="l" marL="155448" indent="-155448">
              <a:spcAft>
                <a:spcPts val="300"/>
              </a:spcAft>
              <a:buClr>
                <a:srgbClr val="135927"/>
              </a:buClr>
              <a:buSzPct val="100000"/>
              <a:buFont typeface="Helvetica Neue"/>
              <a:buChar char="•"/>
            </a:pPr>
            <a:r>
              <a:rPr sz="850" b="1">
                <a:solidFill>
                  <a:srgbClr val="1F2421"/>
                </a:solidFill>
                <a:latin typeface="Helvetica Neue"/>
              </a:rPr>
              <a:t>Price over units: </a:t>
            </a:r>
            <a:r>
              <a:rPr sz="850" b="0">
                <a:solidFill>
                  <a:srgbClr val="1F2421"/>
                </a:solidFill>
                <a:latin typeface="Helvetica Neue"/>
              </a:rPr>
              <a:t>server revenue +35% on higher ASPs while supply was constrained; management expects gross margin to moderate toward historical levels.</a:t>
            </a:r>
          </a:p>
          <a:p>
            <a:pPr algn="l" marL="155448" indent="-155448">
              <a:spcAft>
                <a:spcPts val="300"/>
              </a:spcAft>
              <a:buClr>
                <a:srgbClr val="135927"/>
              </a:buClr>
              <a:buSzPct val="100000"/>
              <a:buFont typeface="Helvetica Neue"/>
              <a:buChar char="•"/>
            </a:pPr>
            <a:r>
              <a:rPr sz="850" b="1">
                <a:solidFill>
                  <a:srgbClr val="1F2421"/>
                </a:solidFill>
                <a:latin typeface="Helvetica Neue"/>
              </a:rPr>
              <a:t>Acquired vs organic: </a:t>
            </a:r>
            <a:r>
              <a:rPr sz="850" b="0">
                <a:solidFill>
                  <a:srgbClr val="1F2421"/>
                </a:solidFill>
                <a:latin typeface="Helvetica Neue"/>
              </a:rPr>
              <a:t>Networking +75% reported but +10% normalised; orders +36%.</a:t>
            </a:r>
          </a:p>
          <a:p>
            <a:pPr algn="l" marL="155448" indent="-155448">
              <a:spcAft>
                <a:spcPts val="300"/>
              </a:spcAft>
              <a:buClr>
                <a:srgbClr val="135927"/>
              </a:buClr>
              <a:buSzPct val="100000"/>
              <a:buFont typeface="Helvetica Neue"/>
              <a:buChar char="•"/>
            </a:pPr>
            <a:r>
              <a:rPr sz="850" b="1">
                <a:solidFill>
                  <a:srgbClr val="1F2421"/>
                </a:solidFill>
                <a:latin typeface="Helvetica Neue"/>
              </a:rPr>
              <a:t>Macro levers: </a:t>
            </a:r>
            <a:r>
              <a:rPr sz="850" b="0">
                <a:solidFill>
                  <a:srgbClr val="1F2421"/>
                </a:solidFill>
                <a:latin typeface="Helvetica Neue"/>
              </a:rPr>
              <a:t>cloud capex +81% and memory prices (DRAM +13–18% QoQ) lifted both volume and price, and both can reverse.</a:t>
            </a:r>
          </a:p>
          <a:p>
            <a:pPr algn="l" marL="155448" indent="-155448">
              <a:spcAft>
                <a:spcPts val="300"/>
              </a:spcAft>
              <a:buClr>
                <a:srgbClr val="135927"/>
              </a:buClr>
              <a:buSzPct val="100000"/>
              <a:buFont typeface="Helvetica Neue"/>
              <a:buChar char="•"/>
            </a:pPr>
            <a:r>
              <a:rPr sz="850" b="1">
                <a:solidFill>
                  <a:srgbClr val="1F2421"/>
                </a:solidFill>
                <a:latin typeface="Helvetica Neue"/>
              </a:rPr>
              <a:t>Cash: </a:t>
            </a:r>
            <a:r>
              <a:rPr sz="850" b="0">
                <a:solidFill>
                  <a:srgbClr val="1F2421"/>
                </a:solidFill>
                <a:latin typeface="Helvetica Neue"/>
              </a:rPr>
              <a:t>free cash flow $958m, 48% of non-GAAP operating profit, with $11.8bn of inventory.</a:t>
            </a:r>
          </a:p>
          <a:p>
            <a:pPr algn="l" marL="155448" indent="-155448">
              <a:spcAft>
                <a:spcPts val="300"/>
              </a:spcAft>
              <a:buClr>
                <a:srgbClr val="135927"/>
              </a:buClr>
              <a:buSzPct val="100000"/>
              <a:buFont typeface="Helvetica Neue"/>
              <a:buChar char="•"/>
            </a:pPr>
            <a:r>
              <a:rPr sz="850" b="1">
                <a:solidFill>
                  <a:srgbClr val="1F2421"/>
                </a:solidFill>
                <a:latin typeface="Helvetica Neue"/>
              </a:rPr>
              <a:t>Guidance ratchet: </a:t>
            </a:r>
            <a:r>
              <a:rPr sz="850" b="0">
                <a:solidFill>
                  <a:srgbClr val="1F2421"/>
                </a:solidFill>
                <a:latin typeface="Helvetica Neue"/>
              </a:rPr>
              <a:t>FY26 revenue guide 17–22% → 34–37% since October 2025; the FY26 EPS guide already beats the FY28 target (≥$3.00).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Only a third of FY26's jump above trend is Juniper</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COUNTERFACTUAL</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Separate the tide from the boat</a:t>
            </a:r>
            <a:r>
              <a:rPr sz="1050" b="0" i="0">
                <a:solidFill>
                  <a:srgbClr val="404040"/>
                </a:solidFill>
                <a:latin typeface="Helvetica Neue"/>
              </a:rPr>
              <a:t> — of FY26's $17.4bn above trend, about two-thirds is AI and pricing, one-third Juniper.</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XBRL and 10-Q/10-K statements; hyperscaler and Micron XBRL; Yahoo Finance prices; Bona Fide analysis (statsmodels, HAC OLS).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10</a:t>
            </a:r>
          </a:p>
        </p:txBody>
      </p:sp>
      <p:pic>
        <p:nvPicPr>
          <p:cNvPr id="8" name="Picture 134" descr="stat_arima_counterfactual_deck.png"/>
          <p:cNvPicPr>
            <a:picLocks noChangeAspect="1"/>
          </p:cNvPicPr>
          <p:nvPr/>
        </p:nvPicPr>
        <p:blipFill>
          <a:blip r:embed="rId5"/>
          <a:stretch>
            <a:fillRect/>
          </a:stretch>
        </p:blipFill>
        <p:spPr>
          <a:xfrm>
            <a:off x="274320" y="1463040"/>
            <a:ext cx="4846320" cy="1920187"/>
          </a:xfrm>
          <a:prstGeom prst="rect">
            <a:avLst/>
          </a:prstGeom>
        </p:spPr>
      </p:pic>
      <p:graphicFrame>
        <p:nvGraphicFramePr>
          <p:cNvPr id="9" name="Table 135"/>
          <p:cNvGraphicFramePr>
            <a:graphicFrameLocks noGrp="1"/>
          </p:cNvGraphicFramePr>
          <p:nvPr/>
        </p:nvGraphicFramePr>
        <p:xfrm>
          <a:off x="5257800" y="1463040"/>
          <a:ext cx="3566160" cy="2121408"/>
        </p:xfrm>
        <a:graphic>
          <a:graphicData uri="http://schemas.openxmlformats.org/drawingml/2006/table">
            <a:tbl>
              <a:tblPr firstRow="1">
                <a:tableStyleId>{5C22544A-7EE6-4342-B048-85BDC9FD1C3A}</a:tableStyleId>
              </a:tblPr>
              <a:tblGrid>
                <a:gridCol w="2331720"/>
                <a:gridCol w="685800"/>
                <a:gridCol w="548640"/>
              </a:tblGrid>
              <a:tr h="265176">
                <a:tc>
                  <a:txBody>
                    <a:bodyPr/>
                    <a:lstStyle/>
                    <a:p>
                      <a:pPr algn="l"/>
                      <a:r>
                        <a:rPr sz="800" b="1">
                          <a:solidFill>
                            <a:srgbClr val="FCC80D"/>
                          </a:solidFill>
                          <a:latin typeface="Helvetica Neue"/>
                        </a:rPr>
                        <a:t>Test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00" b="1">
                          <a:solidFill>
                            <a:srgbClr val="FCC80D"/>
                          </a:solidFill>
                          <a:latin typeface="Helvetica Neue"/>
                        </a:rPr>
                        <a:t>Coef.</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00" b="1">
                          <a:solidFill>
                            <a:srgbClr val="FCC80D"/>
                          </a:solidFill>
                          <a:latin typeface="Helvetica Neue"/>
                        </a:rPr>
                        <a:t>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65176">
                <a:tc>
                  <a:txBody>
                    <a:bodyPr/>
                    <a:lstStyle/>
                    <a:p>
                      <a:pPr algn="l"/>
                      <a:r>
                        <a:rPr sz="800" b="1">
                          <a:solidFill>
                            <a:srgbClr val="1F2421"/>
                          </a:solidFill>
                          <a:latin typeface="Helvetica Neue"/>
                        </a:rPr>
                        <a:t>Revenue growth ~ capex growth (sum of lags 0–2; best-lag 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65176">
                <a:tc>
                  <a:txBody>
                    <a:bodyPr/>
                    <a:lstStyle/>
                    <a:p>
                      <a:pPr algn="l"/>
                      <a:r>
                        <a:rPr sz="800" b="1">
                          <a:solidFill>
                            <a:srgbClr val="1F2421"/>
                          </a:solidFill>
                          <a:latin typeface="Helvetica Neue"/>
                        </a:rPr>
                        <a:t>Juniper quarters, revenue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+15pp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0.001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65176">
                <a:tc>
                  <a:txBody>
                    <a:bodyPr/>
                    <a:lstStyle/>
                    <a:p>
                      <a:pPr algn="l"/>
                      <a:r>
                        <a:rPr sz="800" b="1">
                          <a:solidFill>
                            <a:srgbClr val="1F2421"/>
                          </a:solidFill>
                          <a:latin typeface="Helvetica Neue"/>
                        </a:rPr>
                        <a:t>Gross margin ~ Micron margin (pp)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-0.046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0.002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65176">
                <a:tc>
                  <a:txBody>
                    <a:bodyPr/>
                    <a:lstStyle/>
                    <a:p>
                      <a:pPr algn="l"/>
                      <a:r>
                        <a:rPr sz="800" b="1">
                          <a:solidFill>
                            <a:srgbClr val="1F2421"/>
                          </a:solidFill>
                          <a:latin typeface="Helvetica Neue"/>
                        </a:rPr>
                        <a:t>Juniper quarters, gross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+6.8pp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0.001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65176">
                <a:tc>
                  <a:txBody>
                    <a:bodyPr/>
                    <a:lstStyle/>
                    <a:p>
                      <a:pPr algn="l"/>
                      <a:r>
                        <a:rPr sz="800" b="1">
                          <a:solidFill>
                            <a:srgbClr val="1F2421"/>
                          </a:solidFill>
                          <a:latin typeface="Helvetica Neue"/>
                        </a:rPr>
                        <a:t>Ljung-Box, daily returns (10 lags)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0.06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65176">
                <a:tc>
                  <a:txBody>
                    <a:bodyPr/>
                    <a:lstStyle/>
                    <a:p>
                      <a:pPr algn="l"/>
                      <a:r>
                        <a:rPr sz="800" b="1">
                          <a:solidFill>
                            <a:srgbClr val="1F2421"/>
                          </a:solidFill>
                          <a:latin typeface="Helvetica Neue"/>
                        </a:rPr>
                        <a:t>ARCH-LM, volatility clustering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00" b="0">
                          <a:solidFill>
                            <a:srgbClr val="1F2421"/>
                          </a:solidFill>
                          <a:latin typeface="Helvetica Neue"/>
                        </a:rPr>
                        <a:t>&lt;0.001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65176">
                <a:tc>
                  <a:txBody>
                    <a:bodyPr/>
                    <a:lstStyle/>
                    <a:p>
                      <a:pPr algn="l"/>
                      <a:r>
                        <a:rPr sz="800" b="1">
                          <a:solidFill>
                            <a:srgbClr val="1F2421"/>
                          </a:solidFill>
                          <a:latin typeface="Helvetica Neue"/>
                        </a:rPr>
                        <a:t>3σ days vs normal distribution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00" b="0">
                          <a:solidFill>
                            <a:srgbClr val="1F2421"/>
                          </a:solidFill>
                          <a:latin typeface="Helvetica Neue"/>
                        </a:rPr>
                        <a:t>6.8x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10" name="TextBox 136"/>
          <p:cNvSpPr txBox="1"/>
          <p:nvPr/>
        </p:nvSpPr>
        <p:spPr>
          <a:xfrm>
            <a:off x="5257800" y="3611880"/>
            <a:ext cx="3566160" cy="109728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Attribution: </a:t>
            </a:r>
            <a:r>
              <a:rPr sz="900" b="0">
                <a:solidFill>
                  <a:srgbClr val="1F2421"/>
                </a:solidFill>
                <a:latin typeface="Helvetica Neue"/>
              </a:rPr>
              <a:t>FY26 guide $46.5bn vs $29.1bn trend = $17.4bn excess; Juniper ≈ $5.7bn, AI and pricing ≈ $11.8bn (est.).</a:t>
            </a:r>
          </a:p>
          <a:p>
            <a:pPr algn="l" marL="155448" indent="-155448">
              <a:spcAft>
                <a:spcPts val="300"/>
              </a:spcAft>
              <a:buClr>
                <a:srgbClr val="135927"/>
              </a:buClr>
              <a:buSzPct val="100000"/>
              <a:buFont typeface="Helvetica Neue"/>
              <a:buChar char="•"/>
            </a:pPr>
            <a:r>
              <a:rPr sz="900" b="1">
                <a:solidFill>
                  <a:srgbClr val="1F2421"/>
                </a:solidFill>
                <a:latin typeface="Helvetica Neue"/>
              </a:rPr>
              <a:t>Market data: </a:t>
            </a:r>
            <a:r>
              <a:rPr sz="900" b="0">
                <a:solidFill>
                  <a:srgbClr val="1F2421"/>
                </a:solidFill>
                <a:latin typeface="Helvetica Neue"/>
              </a:rPr>
              <a:t>returns unpredictable, volatility clusters, fat tails → ranges, not price targets.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Seven late-cycle signals, three structural offsets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PATTERN CHECK</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Q3 FY26 materials and 10-Q; TrendForce; SEC capex filings; Form 4 filings; Yahoo Finance;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11</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One signal is noise; six is a pattern</a:t>
            </a:r>
            <a:r>
              <a:rPr sz="1050" b="0" i="0">
                <a:solidFill>
                  <a:srgbClr val="404040"/>
                </a:solidFill>
                <a:latin typeface="Helvetica Neue"/>
              </a:rPr>
              <a:t> — six of seven late-cycle signals are present; networking profit and ROIC are the offsets.</a:t>
            </a:r>
          </a:p>
        </p:txBody>
      </p:sp>
      <p:graphicFrame>
        <p:nvGraphicFramePr>
          <p:cNvPr id="8" name="Table 133"/>
          <p:cNvGraphicFramePr>
            <a:graphicFrameLocks noGrp="1"/>
          </p:cNvGraphicFramePr>
          <p:nvPr/>
        </p:nvGraphicFramePr>
        <p:xfrm>
          <a:off x="320040" y="1463040"/>
          <a:ext cx="8503919" cy="2487168"/>
        </p:xfrm>
        <a:graphic>
          <a:graphicData uri="http://schemas.openxmlformats.org/drawingml/2006/table">
            <a:tbl>
              <a:tblPr firstRow="1" bandRow="1">
                <a:tableStyleId>{5C22544A-7EE6-4342-B048-85BDC9FD1C3A}</a:tableStyleId>
              </a:tblPr>
              <a:tblGrid>
                <a:gridCol w="1874519"/>
                <a:gridCol w="2743200"/>
                <a:gridCol w="3154680"/>
                <a:gridCol w="731520"/>
              </a:tblGrid>
              <a:tr h="310896">
                <a:tc>
                  <a:txBody>
                    <a:bodyPr wrap="square"/>
                    <a:lstStyle/>
                    <a:p>
                      <a:r>
                        <a:rPr sz="800" b="1" i="0">
                          <a:solidFill>
                            <a:srgbClr val="FCC80D"/>
                          </a:solidFill>
                          <a:latin typeface="Helvetica Neue"/>
                        </a:rPr>
                        <a:t>Late-cycle signal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The pattern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HPE today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800" b="1" i="0">
                          <a:solidFill>
                            <a:srgbClr val="FCC80D"/>
                          </a:solidFill>
                          <a:latin typeface="Helvetica Neue"/>
                        </a:rPr>
                        <a:t>Read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10896">
                <a:tc>
                  <a:txBody>
                    <a:bodyPr wrap="square"/>
                    <a:lstStyle/>
                    <a:p>
                      <a:r>
                        <a:rPr sz="800" b="1" i="0">
                          <a:solidFill>
                            <a:srgbClr val="1F2421"/>
                          </a:solidFill>
                          <a:latin typeface="Helvetica Neue"/>
                        </a:rPr>
                        <a:t>Growth led by price, not units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Pass-through pricing reverses when component costs fall</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Q3 server growth ASP-led; DRAM contract prices +13–18% QoQ</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Record margin, guided lower</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Management sees its own cycle first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Record 40.4% non-GAAP gross margin; guided to “moderate”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Inventory funded by suppliers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Working capital flatters FCF at peaks, then unwinds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Inventory +$5.5bn, payables +$6.0bn since Oct-2025</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Record backlog, supply-constrained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Long lead times inflate orders; slippage follows when supply eases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AI backlog $7.6bn; supply is the binding constraint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Customers' capex at records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Capex cycles overshoot, then digest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Hyperscaler + Oracle capex $566bn TTM, +81%, partly debt-funded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wrap="square"/>
                    <a:lstStyle/>
                    <a:p>
                      <a:r>
                        <a:rPr sz="800" b="1" i="0">
                          <a:solidFill>
                            <a:srgbClr val="1F2421"/>
                          </a:solidFill>
                          <a:latin typeface="Helvetica Neue"/>
                        </a:rPr>
                        <a:t>Multiple above its own history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Peak earnings × peak multiple = double exposure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13.5x FY27 EPS vs 4–10x FY20–24; peers 18–23x</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800" b="0" i="0">
                          <a:solidFill>
                            <a:srgbClr val="1F2421"/>
                          </a:solidFill>
                          <a:latin typeface="Helvetica Neue"/>
                        </a:rPr>
                        <a:t>Present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wrap="square"/>
                    <a:lstStyle/>
                    <a:p>
                      <a:r>
                        <a:rPr sz="800" b="1" i="0">
                          <a:solidFill>
                            <a:srgbClr val="1F2421"/>
                          </a:solidFill>
                          <a:latin typeface="Helvetica Neue"/>
                        </a:rPr>
                        <a:t>Momentum and insider selling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Informed sellers, no informed buyers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+155% in a year; 2-Jun +19.5% on 7.4x volume; 31 insider sales, no buys (mostly pre-rally)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800" b="0" i="0">
                          <a:solidFill>
                            <a:srgbClr val="1F2421"/>
                          </a:solidFill>
                          <a:latin typeface="Helvetica Neue"/>
                        </a:rPr>
                        <a:t>Partly</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5"/>
          <p:cNvSpPr txBox="1"/>
          <p:nvPr/>
        </p:nvSpPr>
        <p:spPr>
          <a:xfrm>
            <a:off x="320040" y="4023360"/>
            <a:ext cx="850392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STRUCTURAL OFFSETS: WHY THIS IS NOT ONLY A CYCLE</a:t>
            </a:r>
          </a:p>
        </p:txBody>
      </p:sp>
      <p:sp>
        <p:nvSpPr>
          <p:cNvPr id="10" name="TextBox 136"/>
          <p:cNvSpPr txBox="1"/>
          <p:nvPr/>
        </p:nvSpPr>
        <p:spPr>
          <a:xfrm>
            <a:off x="320040" y="4242816"/>
            <a:ext cx="8503920" cy="320040"/>
          </a:xfrm>
          <a:prstGeom prst="rect">
            <a:avLst/>
          </a:prstGeom>
          <a:noFill/>
        </p:spPr>
        <p:txBody>
          <a:bodyPr wrap="square" anchor="t" lIns="36576" rIns="36576" tIns="18288" bIns="18288">
            <a:spAutoFit/>
          </a:bodyPr>
          <a:lstStyle/>
          <a:p>
            <a:pPr algn="l">
              <a:spcAft>
                <a:spcPts val="500"/>
              </a:spcAft>
            </a:pPr>
            <a:r>
              <a:rPr sz="950" b="0">
                <a:solidFill>
                  <a:srgbClr val="1F2421"/>
                </a:solidFill>
                <a:latin typeface="Helvetica Neue"/>
              </a:rPr>
              <a:t>Networking earns 40% of segment profit  ·  ROIC 11.2% above the 9.3% WACC  ·  ARR $3.15bn, +63%  ·  FY27 framework raised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Record free cash flow, but suppliers fund the AI backlog</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2 · STRUCTURE VS CYCLE · CASH QUALITY</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Peak cash flow is often borrowed from suppliers</a:t>
            </a:r>
            <a:r>
              <a:rPr sz="1050" b="0" i="0">
                <a:solidFill>
                  <a:srgbClr val="404040"/>
                </a:solidFill>
                <a:latin typeface="Helvetica Neue"/>
              </a:rPr>
              <a:t> — payables +$6.0bn funded a $5.5bn inventory build.</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10-K/10-Q; Q3 FY26 press release; Bona Fide analysis.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12</a:t>
            </a:r>
          </a:p>
        </p:txBody>
      </p:sp>
      <p:pic>
        <p:nvPicPr>
          <p:cNvPr id="8" name="Picture 134" descr="fin_fcf_deck.png"/>
          <p:cNvPicPr>
            <a:picLocks noChangeAspect="1"/>
          </p:cNvPicPr>
          <p:nvPr/>
        </p:nvPicPr>
        <p:blipFill>
          <a:blip r:embed="rId6"/>
          <a:stretch>
            <a:fillRect/>
          </a:stretch>
        </p:blipFill>
        <p:spPr>
          <a:xfrm>
            <a:off x="274320" y="1417320"/>
            <a:ext cx="4251960" cy="1477458"/>
          </a:xfrm>
          <a:prstGeom prst="rect">
            <a:avLst/>
          </a:prstGeom>
        </p:spPr>
      </p:pic>
      <p:pic>
        <p:nvPicPr>
          <p:cNvPr id="9" name="Picture 135" descr="fin_working_capital_deck.png"/>
          <p:cNvPicPr>
            <a:picLocks noChangeAspect="1"/>
          </p:cNvPicPr>
          <p:nvPr/>
        </p:nvPicPr>
        <p:blipFill>
          <a:blip r:embed="rId3"/>
          <a:stretch>
            <a:fillRect/>
          </a:stretch>
        </p:blipFill>
        <p:spPr>
          <a:xfrm>
            <a:off x="4617720" y="1417320"/>
            <a:ext cx="4206240" cy="1348215"/>
          </a:xfrm>
          <a:prstGeom prst="rect">
            <a:avLst/>
          </a:prstGeom>
        </p:spPr>
      </p:pic>
      <p:sp>
        <p:nvSpPr>
          <p:cNvPr id="10" name="Rectangle 135"/>
          <p:cNvSpPr/>
          <p:nvPr/>
        </p:nvSpPr>
        <p:spPr>
          <a:xfrm>
            <a:off x="320040"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36"/>
          <p:cNvSpPr txBox="1"/>
          <p:nvPr/>
        </p:nvSpPr>
        <p:spPr>
          <a:xfrm>
            <a:off x="393192"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GROSS DEBT / CASH</a:t>
            </a:r>
          </a:p>
        </p:txBody>
      </p:sp>
      <p:sp>
        <p:nvSpPr>
          <p:cNvPr id="12" name="TextBox 137"/>
          <p:cNvSpPr txBox="1"/>
          <p:nvPr/>
        </p:nvSpPr>
        <p:spPr>
          <a:xfrm>
            <a:off x="393192"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$20.2bn / $6.2bn</a:t>
            </a:r>
          </a:p>
        </p:txBody>
      </p:sp>
      <p:sp>
        <p:nvSpPr>
          <p:cNvPr id="13" name="TextBox 138"/>
          <p:cNvSpPr txBox="1"/>
          <p:nvPr/>
        </p:nvSpPr>
        <p:spPr>
          <a:xfrm>
            <a:off x="393192"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~$11.5bn funds FS receivables (est.)</a:t>
            </a:r>
          </a:p>
        </p:txBody>
      </p:sp>
      <p:sp>
        <p:nvSpPr>
          <p:cNvPr id="14" name="Rectangle 139"/>
          <p:cNvSpPr/>
          <p:nvPr/>
        </p:nvSpPr>
        <p:spPr>
          <a:xfrm>
            <a:off x="2450592"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0"/>
          <p:cNvSpPr txBox="1"/>
          <p:nvPr/>
        </p:nvSpPr>
        <p:spPr>
          <a:xfrm>
            <a:off x="2523744"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SHARES</a:t>
            </a:r>
          </a:p>
        </p:txBody>
      </p:sp>
      <p:sp>
        <p:nvSpPr>
          <p:cNvPr id="16" name="TextBox 141"/>
          <p:cNvSpPr txBox="1"/>
          <p:nvPr/>
        </p:nvSpPr>
        <p:spPr>
          <a:xfrm>
            <a:off x="2523744"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1,445m</a:t>
            </a:r>
          </a:p>
        </p:txBody>
      </p:sp>
      <p:sp>
        <p:nvSpPr>
          <p:cNvPr id="17" name="TextBox 142"/>
          <p:cNvSpPr txBox="1"/>
          <p:nvPr/>
        </p:nvSpPr>
        <p:spPr>
          <a:xfrm>
            <a:off x="2523744"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+8.8% vs basic</a:t>
            </a:r>
          </a:p>
        </p:txBody>
      </p:sp>
      <p:sp>
        <p:nvSpPr>
          <p:cNvPr id="18" name="Rectangle 143"/>
          <p:cNvSpPr/>
          <p:nvPr/>
        </p:nvSpPr>
        <p:spPr>
          <a:xfrm>
            <a:off x="4581144"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44"/>
          <p:cNvSpPr txBox="1"/>
          <p:nvPr/>
        </p:nvSpPr>
        <p:spPr>
          <a:xfrm>
            <a:off x="4654296"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LIQUIDITY</a:t>
            </a:r>
          </a:p>
        </p:txBody>
      </p:sp>
      <p:sp>
        <p:nvSpPr>
          <p:cNvPr id="20" name="TextBox 145"/>
          <p:cNvSpPr txBox="1"/>
          <p:nvPr/>
        </p:nvSpPr>
        <p:spPr>
          <a:xfrm>
            <a:off x="4654296"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$11.5bn</a:t>
            </a:r>
          </a:p>
        </p:txBody>
      </p:sp>
      <p:sp>
        <p:nvSpPr>
          <p:cNvPr id="21" name="TextBox 146"/>
          <p:cNvSpPr txBox="1"/>
          <p:nvPr/>
        </p:nvSpPr>
        <p:spPr>
          <a:xfrm>
            <a:off x="4654296"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cash + undrawn revolver</a:t>
            </a:r>
          </a:p>
        </p:txBody>
      </p:sp>
      <p:sp>
        <p:nvSpPr>
          <p:cNvPr id="22" name="Rectangle 147"/>
          <p:cNvSpPr/>
          <p:nvPr/>
        </p:nvSpPr>
        <p:spPr>
          <a:xfrm>
            <a:off x="6711696"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148"/>
          <p:cNvSpPr txBox="1"/>
          <p:nvPr/>
        </p:nvSpPr>
        <p:spPr>
          <a:xfrm>
            <a:off x="6784848"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BUYBACK AUTHORISATION</a:t>
            </a:r>
          </a:p>
        </p:txBody>
      </p:sp>
      <p:sp>
        <p:nvSpPr>
          <p:cNvPr id="24" name="TextBox 149"/>
          <p:cNvSpPr txBox="1"/>
          <p:nvPr/>
        </p:nvSpPr>
        <p:spPr>
          <a:xfrm>
            <a:off x="6784848"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$3.2bn</a:t>
            </a:r>
          </a:p>
        </p:txBody>
      </p:sp>
      <p:sp>
        <p:nvSpPr>
          <p:cNvPr id="25" name="TextBox 150"/>
          <p:cNvSpPr txBox="1"/>
          <p:nvPr/>
        </p:nvSpPr>
        <p:spPr>
          <a:xfrm>
            <a:off x="6784848"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≥75% of FCF returned from Q4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Steelman: at peer multiples, HPE is worth $67–106</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STEELMAN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TTM fundamentals; prices 11-Sep-2026; consensus EPS Yahoo Finance;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13</a:t>
            </a:r>
          </a:p>
        </p:txBody>
      </p:sp>
      <p:graphicFrame>
        <p:nvGraphicFramePr>
          <p:cNvPr id="7" name="Table 133"/>
          <p:cNvGraphicFramePr>
            <a:graphicFrameLocks noGrp="1"/>
          </p:cNvGraphicFramePr>
          <p:nvPr/>
        </p:nvGraphicFramePr>
        <p:xfrm>
          <a:off x="320040" y="1463040"/>
          <a:ext cx="5120640" cy="2112264"/>
        </p:xfrm>
        <a:graphic>
          <a:graphicData uri="http://schemas.openxmlformats.org/drawingml/2006/table">
            <a:tbl>
              <a:tblPr firstRow="1">
                <a:tableStyleId>{5C22544A-7EE6-4342-B048-85BDC9FD1C3A}</a:tableStyleId>
              </a:tblPr>
              <a:tblGrid>
                <a:gridCol w="1097280"/>
                <a:gridCol w="658368"/>
                <a:gridCol w="566928"/>
                <a:gridCol w="731520"/>
                <a:gridCol w="658368"/>
                <a:gridCol w="731520"/>
                <a:gridCol w="676656"/>
              </a:tblGrid>
              <a:tr h="301752">
                <a:tc>
                  <a:txBody>
                    <a:bodyPr/>
                    <a:lstStyle/>
                    <a:p>
                      <a:pPr algn="l"/>
                      <a:r>
                        <a:rPr sz="850" b="1">
                          <a:solidFill>
                            <a:srgbClr val="FCC80D"/>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Rev $bn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GM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Op.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FCF mgn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P/E NFY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EV/Rev</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01752">
                <a:tc>
                  <a:txBody>
                    <a:bodyPr/>
                    <a:lstStyle/>
                    <a:p>
                      <a:pPr algn="l"/>
                      <a:r>
                        <a:rPr sz="850" b="1">
                          <a:solidFill>
                            <a:srgbClr val="1F2421"/>
                          </a:solidFill>
                          <a:latin typeface="Helvetica Neue"/>
                        </a:rPr>
                        <a:t>HPE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41.9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37%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11%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13.5x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850" b="0">
                          <a:solidFill>
                            <a:srgbClr val="1F2421"/>
                          </a:solidFill>
                          <a:latin typeface="Helvetica Neue"/>
                        </a:rPr>
                        <a:t>2.3x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301752">
                <a:tc>
                  <a:txBody>
                    <a:bodyPr/>
                    <a:lstStyle/>
                    <a:p>
                      <a:pPr algn="l"/>
                      <a:r>
                        <a:rPr sz="850" b="1">
                          <a:solidFill>
                            <a:srgbClr val="1F2421"/>
                          </a:solidFill>
                          <a:latin typeface="Helvetica Neue"/>
                        </a:rPr>
                        <a:t>Dell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151.2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23.0x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01752">
                <a:tc>
                  <a:txBody>
                    <a:bodyPr/>
                    <a:lstStyle/>
                    <a:p>
                      <a:pPr algn="l"/>
                      <a:r>
                        <a:rPr sz="850" b="1">
                          <a:solidFill>
                            <a:srgbClr val="1F2421"/>
                          </a:solidFill>
                          <a:latin typeface="Helvetica Neue"/>
                        </a:rPr>
                        <a:t>Supermicro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39.1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7.5x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0.5x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01752">
                <a:tc>
                  <a:txBody>
                    <a:bodyPr/>
                    <a:lstStyle/>
                    <a:p>
                      <a:pPr algn="l"/>
                      <a:r>
                        <a:rPr sz="850" b="1">
                          <a:solidFill>
                            <a:srgbClr val="1F2421"/>
                          </a:solidFill>
                          <a:latin typeface="Helvetica Neue"/>
                        </a:rPr>
                        <a:t>Cisco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63.3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65%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20.0x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7.1x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01752">
                <a:tc>
                  <a:txBody>
                    <a:bodyPr/>
                    <a:lstStyle/>
                    <a:p>
                      <a:pPr algn="l"/>
                      <a:r>
                        <a:rPr sz="850" b="1">
                          <a:solidFill>
                            <a:srgbClr val="1F2421"/>
                          </a:solidFill>
                          <a:latin typeface="Helvetica Neue"/>
                        </a:rPr>
                        <a:t>Arista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10.5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63%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43%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n/a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38.7x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22.6x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01752">
                <a:tc>
                  <a:txBody>
                    <a:bodyPr/>
                    <a:lstStyle/>
                    <a:p>
                      <a:pPr algn="l"/>
                      <a:r>
                        <a:rPr sz="850" b="1">
                          <a:solidFill>
                            <a:srgbClr val="1F2421"/>
                          </a:solidFill>
                          <a:latin typeface="Helvetica Neue"/>
                        </a:rPr>
                        <a:t>NetApp</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71%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22%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18.0x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5.1x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666744"/>
            <a:ext cx="5120640" cy="1042416"/>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900" b="1">
                <a:solidFill>
                  <a:srgbClr val="1F2421"/>
                </a:solidFill>
                <a:latin typeface="Helvetica Neue"/>
              </a:rPr>
              <a:t>Bull logic: </a:t>
            </a:r>
            <a:r>
              <a:rPr sz="900" b="0">
                <a:solidFill>
                  <a:srgbClr val="1F2421"/>
                </a:solidFill>
                <a:latin typeface="Helvetica Neue"/>
              </a:rPr>
              <a:t>twice Dell's gross margin and a Cisco-like networking arm, yet 13.5x vs Dell 23.0x and Cisco 20.0x; sum of the parts $67–94.</a:t>
            </a:r>
          </a:p>
          <a:p>
            <a:pPr algn="l" marL="155448" indent="-155448">
              <a:spcAft>
                <a:spcPts val="250"/>
              </a:spcAft>
              <a:buClr>
                <a:srgbClr val="135927"/>
              </a:buClr>
              <a:buSzPct val="100000"/>
              <a:buFont typeface="Helvetica Neue"/>
              <a:buChar char="•"/>
            </a:pPr>
            <a:r>
              <a:rPr sz="900" b="1">
                <a:solidFill>
                  <a:srgbClr val="1F2421"/>
                </a:solidFill>
                <a:latin typeface="Helvetica Neue"/>
              </a:rPr>
              <a:t>Our test: </a:t>
            </a:r>
            <a:r>
              <a:rPr sz="900" b="0">
                <a:solidFill>
                  <a:srgbClr val="1F2421"/>
                </a:solidFill>
                <a:latin typeface="Helvetica Neue"/>
              </a:rPr>
              <a:t>peer multiples embed the same AI-cycle assumptions; relative value cannot show the sector is right.</a:t>
            </a:r>
          </a:p>
          <a:p>
            <a:pPr algn="l" marL="155448" indent="-155448">
              <a:spcAft>
                <a:spcPts val="250"/>
              </a:spcAft>
              <a:buClr>
                <a:srgbClr val="135927"/>
              </a:buClr>
              <a:buSzPct val="100000"/>
              <a:buFont typeface="Helvetica Neue"/>
              <a:buChar char="•"/>
            </a:pPr>
            <a:r>
              <a:rPr sz="900" b="1">
                <a:solidFill>
                  <a:srgbClr val="1F2421"/>
                </a:solidFill>
                <a:latin typeface="Helvetica Neue"/>
              </a:rPr>
              <a:t>Also true: </a:t>
            </a:r>
            <a:r>
              <a:rPr sz="900" b="0">
                <a:solidFill>
                  <a:srgbClr val="1F2421"/>
                </a:solidFill>
                <a:latin typeface="Helvetica Neue"/>
              </a:rPr>
              <a:t>HPE's GAAP operating margin is 6% and it is losing server share.</a:t>
            </a:r>
          </a:p>
        </p:txBody>
      </p:sp>
      <p:pic>
        <p:nvPicPr>
          <p:cNvPr id="9" name="Picture 135" descr="peers_margin_vs_multiple_deck.png"/>
          <p:cNvPicPr>
            <a:picLocks noChangeAspect="1"/>
          </p:cNvPicPr>
          <p:nvPr/>
        </p:nvPicPr>
        <p:blipFill>
          <a:blip r:embed="rId5"/>
          <a:stretch>
            <a:fillRect/>
          </a:stretch>
        </p:blipFill>
        <p:spPr>
          <a:xfrm>
            <a:off x="5532120" y="1463040"/>
            <a:ext cx="3291840" cy="1388420"/>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Steelman: </a:t>
            </a:r>
            <a:r>
              <a:rPr sz="1050" b="1" i="0">
                <a:solidFill>
                  <a:srgbClr val="1F2421"/>
                </a:solidFill>
                <a:latin typeface="Helvetica Neue"/>
              </a:rPr>
              <a:t>Cheaper than peers is not the same as cheap</a:t>
            </a:r>
            <a:r>
              <a:rPr sz="1050" b="0" i="0">
                <a:solidFill>
                  <a:srgbClr val="404040"/>
                </a:solidFill>
                <a:latin typeface="Helvetica Neue"/>
              </a:rPr>
              <a:t> — peer multiples ($67–106) embed the same AI-cycle assumptions we are testing.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The price needs an 18% margin or 11% growth for a decade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REVERSE DCF</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FRED DGS10; Damodaran ERP and betas (Jan-2026); Bona Fide DCF (FY27E–FY36E, SBC expensed, mid-year discounting).</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14</a:t>
            </a:r>
          </a:p>
        </p:txBody>
      </p:sp>
      <p:graphicFrame>
        <p:nvGraphicFramePr>
          <p:cNvPr id="7" name="Table 133"/>
          <p:cNvGraphicFramePr>
            <a:graphicFrameLocks noGrp="1"/>
          </p:cNvGraphicFramePr>
          <p:nvPr/>
        </p:nvGraphicFramePr>
        <p:xfrm>
          <a:off x="320040" y="1463040"/>
          <a:ext cx="2651760" cy="1920240"/>
        </p:xfrm>
        <a:graphic>
          <a:graphicData uri="http://schemas.openxmlformats.org/drawingml/2006/table">
            <a:tbl>
              <a:tblPr firstRow="1">
                <a:tableStyleId>{5C22544A-7EE6-4342-B048-85BDC9FD1C3A}</a:tableStyleId>
              </a:tblPr>
              <a:tblGrid>
                <a:gridCol w="1737360"/>
                <a:gridCol w="914400"/>
              </a:tblGrid>
              <a:tr h="274320">
                <a:tc>
                  <a:txBody>
                    <a:bodyPr/>
                    <a:lstStyle/>
                    <a:p>
                      <a:pPr algn="l"/>
                      <a:r>
                        <a:rPr sz="900" b="1">
                          <a:solidFill>
                            <a:srgbClr val="FCC80D"/>
                          </a:solidFill>
                          <a:latin typeface="Helvetica Neue"/>
                        </a:rPr>
                        <a:t>Cost of capital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Value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Risk-free (10Y UST)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4.95%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Equity risk premium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3.97%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Levered beta</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1.35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Cost of equity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10.32%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After-tax cost of debt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4.79%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WACC</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9.30%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graphicFrame>
        <p:nvGraphicFramePr>
          <p:cNvPr id="8" name="Table 134"/>
          <p:cNvGraphicFramePr>
            <a:graphicFrameLocks noGrp="1"/>
          </p:cNvGraphicFramePr>
          <p:nvPr/>
        </p:nvGraphicFramePr>
        <p:xfrm>
          <a:off x="3154680" y="1463040"/>
          <a:ext cx="5669280" cy="1097280"/>
        </p:xfrm>
        <a:graphic>
          <a:graphicData uri="http://schemas.openxmlformats.org/drawingml/2006/table">
            <a:tbl>
              <a:tblPr firstRow="1">
                <a:tableStyleId>{5C22544A-7EE6-4342-B048-85BDC9FD1C3A}</a:tableStyleId>
              </a:tblPr>
              <a:tblGrid>
                <a:gridCol w="3291840"/>
                <a:gridCol w="1097280"/>
                <a:gridCol w="1280160"/>
              </a:tblGrid>
              <a:tr h="274320">
                <a:tc>
                  <a:txBody>
                    <a:bodyPr/>
                    <a:lstStyle/>
                    <a:p>
                      <a:pPr algn="l"/>
                      <a:r>
                        <a:rPr sz="900" b="1">
                          <a:solidFill>
                            <a:srgbClr val="FCC80D"/>
                          </a:solidFill>
                          <a:latin typeface="Helvetica Neue"/>
                        </a:rPr>
                        <a:t>What $62.09 implies (one variable at a time)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Implied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Our base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LT non-GAAP margin (base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18.4%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base 12.5%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Revenue CAGR FY27–36 (base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base 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WACC (base case)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7.0%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ours 9.3%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graphicFrame>
        <p:nvGraphicFramePr>
          <p:cNvPr id="9" name="Table 135"/>
          <p:cNvGraphicFramePr>
            <a:graphicFrameLocks noGrp="1"/>
          </p:cNvGraphicFramePr>
          <p:nvPr/>
        </p:nvGraphicFramePr>
        <p:xfrm>
          <a:off x="3154680" y="2697480"/>
          <a:ext cx="5669280" cy="1536192"/>
        </p:xfrm>
        <a:graphic>
          <a:graphicData uri="http://schemas.openxmlformats.org/drawingml/2006/table">
            <a:tbl>
              <a:tblPr firstRow="1">
                <a:tableStyleId>{5C22544A-7EE6-4342-B048-85BDC9FD1C3A}</a:tableStyleId>
              </a:tblPr>
              <a:tblGrid>
                <a:gridCol w="1133856"/>
                <a:gridCol w="1133856"/>
                <a:gridCol w="1133856"/>
                <a:gridCol w="1133856"/>
                <a:gridCol w="1133856"/>
              </a:tblGrid>
              <a:tr h="256032">
                <a:tc>
                  <a:txBody>
                    <a:bodyPr/>
                    <a:lstStyle/>
                    <a:p>
                      <a:pPr algn="l"/>
                      <a:r>
                        <a:rPr sz="900" b="1">
                          <a:solidFill>
                            <a:srgbClr val="FCC80D"/>
                          </a:solidFill>
                          <a:latin typeface="Helvetica Neue"/>
                        </a:rPr>
                        <a:t>WACC \ terminal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2.75%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3.00%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56032">
                <a:tc>
                  <a:txBody>
                    <a:bodyPr/>
                    <a:lstStyle/>
                    <a:p>
                      <a:pPr algn="l"/>
                      <a:r>
                        <a:rPr sz="900" b="1">
                          <a:solidFill>
                            <a:srgbClr val="1F2421"/>
                          </a:solidFill>
                          <a:latin typeface="Helvetica Neue"/>
                        </a:rPr>
                        <a:t>8.30%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$46.1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$46.7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$47.3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56032">
                <a:tc>
                  <a:txBody>
                    <a:bodyPr/>
                    <a:lstStyle/>
                    <a:p>
                      <a:pPr algn="l"/>
                      <a:r>
                        <a:rPr sz="900" b="1">
                          <a:solidFill>
                            <a:srgbClr val="1F2421"/>
                          </a:solidFill>
                          <a:latin typeface="Helvetica Neue"/>
                        </a:rPr>
                        <a:t>8.80%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$41.6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$42.9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56032">
                <a:tc>
                  <a:txBody>
                    <a:bodyPr/>
                    <a:lstStyle/>
                    <a:p>
                      <a:pPr algn="l"/>
                      <a:r>
                        <a:rPr sz="900" b="1">
                          <a:solidFill>
                            <a:srgbClr val="1F2421"/>
                          </a:solidFill>
                          <a:latin typeface="Helvetica Neue"/>
                        </a:rPr>
                        <a:t>9.30%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$38.2</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$39.1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56032">
                <a:tc>
                  <a:txBody>
                    <a:bodyPr/>
                    <a:lstStyle/>
                    <a:p>
                      <a:pPr algn="l"/>
                      <a:r>
                        <a:rPr sz="900" b="1">
                          <a:solidFill>
                            <a:srgbClr val="1F2421"/>
                          </a:solidFill>
                          <a:latin typeface="Helvetica Neue"/>
                        </a:rPr>
                        <a:t>9.80%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56032">
                <a:tc>
                  <a:txBody>
                    <a:bodyPr/>
                    <a:lstStyle/>
                    <a:p>
                      <a:pPr algn="l"/>
                      <a:r>
                        <a:rPr sz="900" b="1">
                          <a:solidFill>
                            <a:srgbClr val="1F2421"/>
                          </a:solidFill>
                          <a:latin typeface="Helvetica Neue"/>
                        </a:rPr>
                        <a:t>10.30%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$33.1</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10" name="TextBox 136"/>
          <p:cNvSpPr txBox="1"/>
          <p:nvPr/>
        </p:nvSpPr>
        <p:spPr>
          <a:xfrm>
            <a:off x="320040" y="3474720"/>
            <a:ext cx="2651760" cy="1234440"/>
          </a:xfrm>
          <a:prstGeom prst="rect">
            <a:avLst/>
          </a:prstGeom>
          <a:noFill/>
        </p:spPr>
        <p:txBody>
          <a:bodyPr wrap="square" anchor="t" lIns="36576" rIns="36576" tIns="18288" bIns="18288">
            <a:spAutoFit/>
          </a:bodyPr>
          <a:lstStyle/>
          <a:p>
            <a:pPr algn="l" marL="155448" indent="-155448">
              <a:spcAft>
                <a:spcPts val="150"/>
              </a:spcAft>
              <a:buClr>
                <a:srgbClr val="135927"/>
              </a:buClr>
              <a:buSzPct val="100000"/>
              <a:buFont typeface="Helvetica Neue"/>
              <a:buChar char="•"/>
            </a:pPr>
            <a:r>
              <a:rPr sz="850" b="0">
                <a:solidFill>
                  <a:srgbClr val="1F2421"/>
                </a:solidFill>
                <a:latin typeface="Helvetica Neue"/>
              </a:rPr>
              <a:t>FY26E revenue $46.5bn (guidance midpoint)</a:t>
            </a:r>
          </a:p>
          <a:p>
            <a:pPr algn="l" marL="155448" indent="-155448">
              <a:spcAft>
                <a:spcPts val="150"/>
              </a:spcAft>
              <a:buClr>
                <a:srgbClr val="135927"/>
              </a:buClr>
              <a:buSzPct val="100000"/>
              <a:buFont typeface="Helvetica Neue"/>
              <a:buChar char="•"/>
            </a:pPr>
            <a:r>
              <a:rPr sz="850" b="0">
                <a:solidFill>
                  <a:srgbClr val="1F2421"/>
                </a:solidFill>
                <a:latin typeface="Helvetica Neue"/>
              </a:rPr>
              <a:t>FY27E +15%, 14.5% non-GAAP margin (framework)</a:t>
            </a:r>
          </a:p>
          <a:p>
            <a:pPr algn="l" marL="155448" indent="-155448">
              <a:spcAft>
                <a:spcPts val="150"/>
              </a:spcAft>
              <a:buClr>
                <a:srgbClr val="135927"/>
              </a:buClr>
              <a:buSzPct val="100000"/>
              <a:buFont typeface="Helvetica Neue"/>
              <a:buChar char="•"/>
            </a:pPr>
            <a:r>
              <a:rPr sz="850" b="0">
                <a:solidFill>
                  <a:srgbClr val="1F2421"/>
                </a:solidFill>
                <a:latin typeface="Helvetica Neue"/>
              </a:rPr>
              <a:t>LT margin 12.5%, terminal growth 2.75%, SBC expensed</a:t>
            </a:r>
          </a:p>
          <a:p>
            <a:pPr algn="l" marL="155448" indent="-155448">
              <a:spcAft>
                <a:spcPts val="150"/>
              </a:spcAft>
              <a:buClr>
                <a:srgbClr val="135927"/>
              </a:buClr>
              <a:buSzPct val="100000"/>
              <a:buFont typeface="Helvetica Neue"/>
              <a:buChar char="•"/>
            </a:pPr>
            <a:r>
              <a:rPr sz="850" b="0">
                <a:solidFill>
                  <a:srgbClr val="1F2421"/>
                </a:solidFill>
                <a:latin typeface="Helvetica Neue"/>
              </a:rPr>
              <a:t>Equity = EV − debt $20.2bn + cash $6.2bn</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Read the price as a forecast</a:t>
            </a:r>
            <a:r>
              <a:rPr sz="1050" b="0" i="0">
                <a:solidFill>
                  <a:srgbClr val="404040"/>
                </a:solidFill>
                <a:latin typeface="Helvetica Neue"/>
              </a:rPr>
              <a:t> — $62.09 needs an 18.4% long-term margin, above the record 16.2% quarter and the 14–15% FY27 guide.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Intrinsic value sits below the price; peer multiples sit above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VALUATION RANGE</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comps and M&amp;A analysis; Yahoo Finance targets; excel/HPE_valuation_model.xlsx.</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15</a:t>
            </a:r>
          </a:p>
        </p:txBody>
      </p:sp>
      <p:pic>
        <p:nvPicPr>
          <p:cNvPr id="7" name="Picture 133" descr="val_football_field_deck.png"/>
          <p:cNvPicPr>
            <a:picLocks noChangeAspect="1"/>
          </p:cNvPicPr>
          <p:nvPr/>
        </p:nvPicPr>
        <p:blipFill>
          <a:blip r:embed="rId5"/>
          <a:stretch>
            <a:fillRect/>
          </a:stretch>
        </p:blipFill>
        <p:spPr>
          <a:xfrm>
            <a:off x="274320" y="1463040"/>
            <a:ext cx="5760720" cy="2314220"/>
          </a:xfrm>
          <a:prstGeom prst="rect">
            <a:avLst/>
          </a:prstGeom>
        </p:spPr>
      </p:pic>
      <p:sp>
        <p:nvSpPr>
          <p:cNvPr id="8" name="Rectangle 134"/>
          <p:cNvSpPr/>
          <p:nvPr/>
        </p:nvSpPr>
        <p:spPr>
          <a:xfrm>
            <a:off x="6217920" y="1463040"/>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135"/>
          <p:cNvSpPr txBox="1"/>
          <p:nvPr/>
        </p:nvSpPr>
        <p:spPr>
          <a:xfrm>
            <a:off x="6291072" y="1508760"/>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SHARE PRICE</a:t>
            </a:r>
          </a:p>
        </p:txBody>
      </p:sp>
      <p:sp>
        <p:nvSpPr>
          <p:cNvPr id="10" name="TextBox 136"/>
          <p:cNvSpPr txBox="1"/>
          <p:nvPr/>
        </p:nvSpPr>
        <p:spPr>
          <a:xfrm>
            <a:off x="6291072" y="1682496"/>
            <a:ext cx="2459736" cy="384048"/>
          </a:xfrm>
          <a:prstGeom prst="rect">
            <a:avLst/>
          </a:prstGeom>
          <a:noFill/>
        </p:spPr>
        <p:txBody>
          <a:bodyPr wrap="square" anchor="t" lIns="36576" rIns="36576" tIns="18288" bIns="18288">
            <a:spAutoFit/>
          </a:bodyPr>
          <a:lstStyle/>
          <a:p>
            <a:pPr algn="l">
              <a:spcAft>
                <a:spcPts val="300"/>
              </a:spcAft>
            </a:pPr>
            <a:r>
              <a:rPr sz="1500" b="1">
                <a:solidFill>
                  <a:srgbClr val="B8860B"/>
                </a:solidFill>
                <a:latin typeface="Twentieth Century"/>
              </a:rPr>
              <a:t>$62.09</a:t>
            </a:r>
          </a:p>
        </p:txBody>
      </p:sp>
      <p:sp>
        <p:nvSpPr>
          <p:cNvPr id="11" name="TextBox 137"/>
          <p:cNvSpPr txBox="1"/>
          <p:nvPr/>
        </p:nvSpPr>
        <p:spPr>
          <a:xfrm>
            <a:off x="7543800" y="1517904"/>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11-Sep-2026 close</a:t>
            </a:r>
          </a:p>
        </p:txBody>
      </p:sp>
      <p:sp>
        <p:nvSpPr>
          <p:cNvPr id="12" name="Rectangle 138"/>
          <p:cNvSpPr/>
          <p:nvPr/>
        </p:nvSpPr>
        <p:spPr>
          <a:xfrm>
            <a:off x="6217920" y="2112264"/>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39"/>
          <p:cNvSpPr txBox="1"/>
          <p:nvPr/>
        </p:nvSpPr>
        <p:spPr>
          <a:xfrm>
            <a:off x="6291072" y="2157984"/>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BASE-CASE DCF</a:t>
            </a:r>
          </a:p>
        </p:txBody>
      </p:sp>
      <p:sp>
        <p:nvSpPr>
          <p:cNvPr id="14" name="TextBox 140"/>
          <p:cNvSpPr txBox="1"/>
          <p:nvPr/>
        </p:nvSpPr>
        <p:spPr>
          <a:xfrm>
            <a:off x="6291072" y="2331720"/>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$38.80</a:t>
            </a:r>
          </a:p>
        </p:txBody>
      </p:sp>
      <p:sp>
        <p:nvSpPr>
          <p:cNvPr id="15" name="TextBox 141"/>
          <p:cNvSpPr txBox="1"/>
          <p:nvPr/>
        </p:nvSpPr>
        <p:spPr>
          <a:xfrm>
            <a:off x="7543800" y="2167128"/>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WACC 9.30%</a:t>
            </a:r>
          </a:p>
        </p:txBody>
      </p:sp>
      <p:sp>
        <p:nvSpPr>
          <p:cNvPr id="16" name="Rectangle 142"/>
          <p:cNvSpPr/>
          <p:nvPr/>
        </p:nvSpPr>
        <p:spPr>
          <a:xfrm>
            <a:off x="6217920" y="2761488"/>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3"/>
          <p:cNvSpPr txBox="1"/>
          <p:nvPr/>
        </p:nvSpPr>
        <p:spPr>
          <a:xfrm>
            <a:off x="6291072" y="2807208"/>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PROBABILITY-WEIGHTED</a:t>
            </a:r>
          </a:p>
        </p:txBody>
      </p:sp>
      <p:sp>
        <p:nvSpPr>
          <p:cNvPr id="18" name="TextBox 144"/>
          <p:cNvSpPr txBox="1"/>
          <p:nvPr/>
        </p:nvSpPr>
        <p:spPr>
          <a:xfrm>
            <a:off x="6291072" y="2980944"/>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$38.43</a:t>
            </a:r>
          </a:p>
        </p:txBody>
      </p:sp>
      <p:sp>
        <p:nvSpPr>
          <p:cNvPr id="19" name="TextBox 145"/>
          <p:cNvSpPr txBox="1"/>
          <p:nvPr/>
        </p:nvSpPr>
        <p:spPr>
          <a:xfrm>
            <a:off x="7543800" y="2816352"/>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25 / 50 / 25</a:t>
            </a:r>
          </a:p>
        </p:txBody>
      </p:sp>
      <p:sp>
        <p:nvSpPr>
          <p:cNvPr id="20" name="Rectangle 146"/>
          <p:cNvSpPr/>
          <p:nvPr/>
        </p:nvSpPr>
        <p:spPr>
          <a:xfrm>
            <a:off x="6217920" y="3410712"/>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47"/>
          <p:cNvSpPr txBox="1"/>
          <p:nvPr/>
        </p:nvSpPr>
        <p:spPr>
          <a:xfrm>
            <a:off x="6291072" y="3456432"/>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DAMODARAN GINZU</a:t>
            </a:r>
          </a:p>
        </p:txBody>
      </p:sp>
      <p:sp>
        <p:nvSpPr>
          <p:cNvPr id="22" name="TextBox 148"/>
          <p:cNvSpPr txBox="1"/>
          <p:nvPr/>
        </p:nvSpPr>
        <p:spPr>
          <a:xfrm>
            <a:off x="6291072" y="3630168"/>
            <a:ext cx="2459736" cy="384048"/>
          </a:xfrm>
          <a:prstGeom prst="rect">
            <a:avLst/>
          </a:prstGeom>
          <a:noFill/>
        </p:spPr>
        <p:txBody>
          <a:bodyPr wrap="square" anchor="t" lIns="36576" rIns="36576" tIns="18288" bIns="18288">
            <a:spAutoFit/>
          </a:bodyPr>
          <a:lstStyle/>
          <a:p>
            <a:pPr algn="l">
              <a:spcAft>
                <a:spcPts val="300"/>
              </a:spcAft>
            </a:pPr>
            <a:r>
              <a:rPr sz="1500" b="1">
                <a:solidFill>
                  <a:srgbClr val="135927"/>
                </a:solidFill>
                <a:latin typeface="Twentieth Century"/>
              </a:rPr>
              <a:t>$31.57</a:t>
            </a:r>
          </a:p>
        </p:txBody>
      </p:sp>
      <p:sp>
        <p:nvSpPr>
          <p:cNvPr id="23" name="TextBox 149"/>
          <p:cNvSpPr txBox="1"/>
          <p:nvPr/>
        </p:nvSpPr>
        <p:spPr>
          <a:xfrm>
            <a:off x="7543800" y="3465576"/>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independent model</a:t>
            </a:r>
          </a:p>
        </p:txBody>
      </p:sp>
      <p:sp>
        <p:nvSpPr>
          <p:cNvPr id="24" name="Rectangle 150"/>
          <p:cNvSpPr/>
          <p:nvPr/>
        </p:nvSpPr>
        <p:spPr>
          <a:xfrm>
            <a:off x="6217920" y="4059935"/>
            <a:ext cx="2606040" cy="585216"/>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151"/>
          <p:cNvSpPr txBox="1"/>
          <p:nvPr/>
        </p:nvSpPr>
        <p:spPr>
          <a:xfrm>
            <a:off x="6291072" y="4105655"/>
            <a:ext cx="2459736"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CORE-PEER P/E RANGE</a:t>
            </a:r>
          </a:p>
        </p:txBody>
      </p:sp>
      <p:sp>
        <p:nvSpPr>
          <p:cNvPr id="26" name="TextBox 152"/>
          <p:cNvSpPr txBox="1"/>
          <p:nvPr/>
        </p:nvSpPr>
        <p:spPr>
          <a:xfrm>
            <a:off x="6291072" y="4279392"/>
            <a:ext cx="2459736" cy="384048"/>
          </a:xfrm>
          <a:prstGeom prst="rect">
            <a:avLst/>
          </a:prstGeom>
          <a:noFill/>
        </p:spPr>
        <p:txBody>
          <a:bodyPr wrap="square" anchor="t" lIns="36576" rIns="36576" tIns="18288" bIns="18288">
            <a:spAutoFit/>
          </a:bodyPr>
          <a:lstStyle/>
          <a:p>
            <a:pPr algn="l">
              <a:spcAft>
                <a:spcPts val="300"/>
              </a:spcAft>
            </a:pPr>
            <a:r>
              <a:rPr sz="1500" b="1">
                <a:solidFill>
                  <a:srgbClr val="595959"/>
                </a:solidFill>
                <a:latin typeface="Twentieth Century"/>
              </a:rPr>
              <a:t>$35–$106</a:t>
            </a:r>
          </a:p>
        </p:txBody>
      </p:sp>
      <p:sp>
        <p:nvSpPr>
          <p:cNvPr id="27" name="TextBox 153"/>
          <p:cNvSpPr txBox="1"/>
          <p:nvPr/>
        </p:nvSpPr>
        <p:spPr>
          <a:xfrm>
            <a:off x="7543800" y="4114800"/>
            <a:ext cx="1234440" cy="228600"/>
          </a:xfrm>
          <a:prstGeom prst="rect">
            <a:avLst/>
          </a:prstGeom>
          <a:noFill/>
        </p:spPr>
        <p:txBody>
          <a:bodyPr wrap="square" anchor="t" lIns="36576" rIns="36576" tIns="18288" bIns="18288">
            <a:spAutoFit/>
          </a:bodyPr>
          <a:lstStyle/>
          <a:p>
            <a:pPr algn="r">
              <a:spcAft>
                <a:spcPts val="300"/>
              </a:spcAft>
            </a:pPr>
            <a:r>
              <a:rPr sz="700" b="0">
                <a:solidFill>
                  <a:srgbClr val="595959"/>
                </a:solidFill>
                <a:latin typeface="Helvetica Neue"/>
              </a:rPr>
              <a:t>if sector multiples hold</a:t>
            </a:r>
          </a:p>
        </p:txBody>
      </p:sp>
      <p:sp>
        <p:nvSpPr>
          <p:cNvPr id="28"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Cash flows say $31–43; only borrowed multiples reach $62</a:t>
            </a:r>
            <a:r>
              <a:rPr sz="1050" b="0" i="0">
                <a:solidFill>
                  <a:srgbClr val="404040"/>
                </a:solidFill>
                <a:latin typeface="Helvetica Neue"/>
              </a:rPr>
              <a:t> — DCF, scenarios and Ginzu all sit below the price.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Asymmetry: even our bull case falls short of today's price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3 · WHAT THE PRICE ASSUMES · SCENARIOS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scenarios; drivers flexed one at a time around the base case.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16</a:t>
            </a:r>
          </a:p>
        </p:txBody>
      </p:sp>
      <p:graphicFrame>
        <p:nvGraphicFramePr>
          <p:cNvPr id="7" name="Table 133"/>
          <p:cNvGraphicFramePr>
            <a:graphicFrameLocks noGrp="1"/>
          </p:cNvGraphicFramePr>
          <p:nvPr/>
        </p:nvGraphicFramePr>
        <p:xfrm>
          <a:off x="320040" y="1463040"/>
          <a:ext cx="4572000" cy="1463040"/>
        </p:xfrm>
        <a:graphic>
          <a:graphicData uri="http://schemas.openxmlformats.org/drawingml/2006/table">
            <a:tbl>
              <a:tblPr firstRow="1">
                <a:tableStyleId>{5C22544A-7EE6-4342-B048-85BDC9FD1C3A}</a:tableStyleId>
              </a:tblPr>
              <a:tblGrid>
                <a:gridCol w="1005840"/>
                <a:gridCol w="502920"/>
                <a:gridCol w="594360"/>
                <a:gridCol w="594360"/>
                <a:gridCol w="685800"/>
                <a:gridCol w="594360"/>
                <a:gridCol w="594360"/>
              </a:tblGrid>
              <a:tr h="292608">
                <a:tc>
                  <a:txBody>
                    <a:bodyPr/>
                    <a:lstStyle/>
                    <a:p>
                      <a:pPr algn="l"/>
                      <a:r>
                        <a:rPr sz="900" b="1">
                          <a:solidFill>
                            <a:srgbClr val="FCC80D"/>
                          </a:solidFill>
                          <a:latin typeface="Helvetica Neue"/>
                        </a:rPr>
                        <a:t>Case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Prob.</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FY27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FY28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LT margin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Term. 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Value/sh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92608">
                <a:tc>
                  <a:txBody>
                    <a:bodyPr/>
                    <a:lstStyle/>
                    <a:p>
                      <a:pPr algn="l"/>
                      <a:r>
                        <a:rPr sz="900" b="1">
                          <a:solidFill>
                            <a:srgbClr val="1F2421"/>
                          </a:solidFill>
                          <a:latin typeface="Helvetica Neue"/>
                        </a:rPr>
                        <a:t>Bear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10.5%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$22.19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Base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50%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2.75%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$38.80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92608">
                <a:tc>
                  <a:txBody>
                    <a:bodyPr/>
                    <a:lstStyle/>
                    <a:p>
                      <a:pPr algn="l"/>
                      <a:r>
                        <a:rPr sz="900" b="1">
                          <a:solidFill>
                            <a:srgbClr val="1F2421"/>
                          </a:solidFill>
                          <a:latin typeface="Helvetica Neue"/>
                        </a:rPr>
                        <a:t>Bull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14.5%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$53.93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92608">
                <a:tc>
                  <a:txBody>
                    <a:bodyPr/>
                    <a:lstStyle/>
                    <a:p>
                      <a:pPr algn="l"/>
                      <a:r>
                        <a:rPr sz="900" b="1">
                          <a:solidFill>
                            <a:srgbClr val="1F2421"/>
                          </a:solidFill>
                          <a:latin typeface="Helvetica Neue"/>
                        </a:rPr>
                        <a:t>Prob.-weighted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$38.43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035808"/>
            <a:ext cx="4572000" cy="1673352"/>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900" b="1">
                <a:solidFill>
                  <a:srgbClr val="1F2421"/>
                </a:solidFill>
                <a:latin typeface="Helvetica Neue"/>
              </a:rPr>
              <a:t>Bear: </a:t>
            </a:r>
            <a:r>
              <a:rPr sz="900" b="0">
                <a:solidFill>
                  <a:srgbClr val="1F2421"/>
                </a:solidFill>
                <a:latin typeface="Helvetica Neue"/>
              </a:rPr>
              <a:t>AI digestion and memory normalisation reverse FY26 price gains; margin back to ~10.5%.</a:t>
            </a:r>
          </a:p>
          <a:p>
            <a:pPr algn="l" marL="155448" indent="-155448">
              <a:spcAft>
                <a:spcPts val="250"/>
              </a:spcAft>
              <a:buClr>
                <a:srgbClr val="135927"/>
              </a:buClr>
              <a:buSzPct val="100000"/>
              <a:buFont typeface="Helvetica Neue"/>
              <a:buChar char="•"/>
            </a:pPr>
            <a:r>
              <a:rPr sz="900" b="1">
                <a:solidFill>
                  <a:srgbClr val="1F2421"/>
                </a:solidFill>
                <a:latin typeface="Helvetica Neue"/>
              </a:rPr>
              <a:t>Base: </a:t>
            </a:r>
            <a:r>
              <a:rPr sz="900" b="0">
                <a:solidFill>
                  <a:srgbClr val="1F2421"/>
                </a:solidFill>
                <a:latin typeface="Helvetica Neue"/>
              </a:rPr>
              <a:t>FY27 framework delivered; growth fades to mid-single digits; margin 12.5%.</a:t>
            </a:r>
          </a:p>
          <a:p>
            <a:pPr algn="l" marL="155448" indent="-155448">
              <a:spcAft>
                <a:spcPts val="250"/>
              </a:spcAft>
              <a:buClr>
                <a:srgbClr val="135927"/>
              </a:buClr>
              <a:buSzPct val="100000"/>
              <a:buFont typeface="Helvetica Neue"/>
              <a:buChar char="•"/>
            </a:pPr>
            <a:r>
              <a:rPr sz="900" b="1">
                <a:solidFill>
                  <a:srgbClr val="1F2421"/>
                </a:solidFill>
                <a:latin typeface="Helvetica Neue"/>
              </a:rPr>
              <a:t>Bull: </a:t>
            </a:r>
            <a:r>
              <a:rPr sz="900" b="0">
                <a:solidFill>
                  <a:srgbClr val="1F2421"/>
                </a:solidFill>
                <a:latin typeface="Helvetica Neue"/>
              </a:rPr>
              <a:t>Oracle and Helios lift networking mix; margin holds ~14.5%.</a:t>
            </a:r>
          </a:p>
          <a:p>
            <a:pPr algn="l" marL="155448" indent="-155448">
              <a:spcAft>
                <a:spcPts val="250"/>
              </a:spcAft>
              <a:buClr>
                <a:srgbClr val="135927"/>
              </a:buClr>
              <a:buSzPct val="100000"/>
              <a:buFont typeface="Helvetica Neue"/>
              <a:buChar char="•"/>
            </a:pPr>
            <a:r>
              <a:rPr sz="900" b="1">
                <a:solidFill>
                  <a:srgbClr val="1F2421"/>
                </a:solidFill>
                <a:latin typeface="Helvetica Neue"/>
              </a:rPr>
              <a:t>Largest drivers: </a:t>
            </a:r>
            <a:r>
              <a:rPr sz="900" b="0">
                <a:solidFill>
                  <a:srgbClr val="1F2421"/>
                </a:solidFill>
                <a:latin typeface="Helvetica Neue"/>
              </a:rPr>
              <a:t>WACC, growth and long-term margin; margin is the open question.</a:t>
            </a:r>
          </a:p>
        </p:txBody>
      </p:sp>
      <p:pic>
        <p:nvPicPr>
          <p:cNvPr id="9" name="Picture 135" descr="val_driver_sensitivity_deck.png"/>
          <p:cNvPicPr>
            <a:picLocks noChangeAspect="1"/>
          </p:cNvPicPr>
          <p:nvPr/>
        </p:nvPicPr>
        <p:blipFill>
          <a:blip r:embed="rId5"/>
          <a:stretch>
            <a:fillRect/>
          </a:stretch>
        </p:blipFill>
        <p:spPr>
          <a:xfrm>
            <a:off x="5029200" y="1463040"/>
            <a:ext cx="3794760" cy="1168455"/>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No margin of safety, even in the bull case</a:t>
            </a:r>
            <a:r>
              <a:rPr sz="1050" b="0" i="0">
                <a:solidFill>
                  <a:srgbClr val="404040"/>
                </a:solidFill>
                <a:latin typeface="Helvetica Neue"/>
              </a:rPr>
              <a:t> — bull $54 and probability-weighted $38 both sit below $62.09.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The market is pricing a regime change, not a cycle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STOCK</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Yahoo Finance (spin-off and dividend adjusted);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17</a:t>
            </a:r>
          </a:p>
        </p:txBody>
      </p:sp>
      <p:pic>
        <p:nvPicPr>
          <p:cNvPr id="7" name="Picture 133" descr="stock_long_term_weekly_deck.png"/>
          <p:cNvPicPr>
            <a:picLocks noChangeAspect="1"/>
          </p:cNvPicPr>
          <p:nvPr/>
        </p:nvPicPr>
        <p:blipFill>
          <a:blip r:embed="rId5"/>
          <a:stretch>
            <a:fillRect/>
          </a:stretch>
        </p:blipFill>
        <p:spPr>
          <a:xfrm>
            <a:off x="274320" y="1463040"/>
            <a:ext cx="5394960" cy="2137567"/>
          </a:xfrm>
          <a:prstGeom prst="rect">
            <a:avLst/>
          </a:prstGeom>
        </p:spPr>
      </p:pic>
      <p:graphicFrame>
        <p:nvGraphicFramePr>
          <p:cNvPr id="8" name="Table 134"/>
          <p:cNvGraphicFramePr>
            <a:graphicFrameLocks noGrp="1"/>
          </p:cNvGraphicFramePr>
          <p:nvPr/>
        </p:nvGraphicFramePr>
        <p:xfrm>
          <a:off x="5806440" y="1463040"/>
          <a:ext cx="3017520" cy="1645920"/>
        </p:xfrm>
        <a:graphic>
          <a:graphicData uri="http://schemas.openxmlformats.org/drawingml/2006/table">
            <a:tbl>
              <a:tblPr firstRow="1">
                <a:tableStyleId>{5C22544A-7EE6-4342-B048-85BDC9FD1C3A}</a:tableStyleId>
              </a:tblPr>
              <a:tblGrid>
                <a:gridCol w="1097280"/>
                <a:gridCol w="640080"/>
                <a:gridCol w="640080"/>
                <a:gridCol w="640080"/>
              </a:tblGrid>
              <a:tr h="274320">
                <a:tc>
                  <a:txBody>
                    <a:bodyPr/>
                    <a:lstStyle/>
                    <a:p>
                      <a:pPr algn="l"/>
                      <a:r>
                        <a:rPr sz="900" b="1">
                          <a:solidFill>
                            <a:srgbClr val="FCC80D"/>
                          </a:solidFill>
                          <a:latin typeface="Helvetica Neue"/>
                        </a:rPr>
                        <a:t>Total return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1Y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3Y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5Y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74320">
                <a:tc>
                  <a:txBody>
                    <a:bodyPr/>
                    <a:lstStyle/>
                    <a:p>
                      <a:pPr algn="l"/>
                      <a:r>
                        <a:rPr sz="900" b="1">
                          <a:solidFill>
                            <a:srgbClr val="1F2421"/>
                          </a:solidFill>
                          <a:latin typeface="Helvetica Neue"/>
                        </a:rPr>
                        <a:t>HPE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+155%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+289%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c>
                  <a:txBody>
                    <a:bodyPr/>
                    <a:lstStyle/>
                    <a:p>
                      <a:pPr algn="r"/>
                      <a:r>
                        <a:rPr sz="900" b="0">
                          <a:solidFill>
                            <a:srgbClr val="1F2421"/>
                          </a:solidFill>
                          <a:latin typeface="Helvetica Neue"/>
                        </a:rPr>
                        <a:t>+396%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EF4CC"/>
                    </a:solidFill>
                  </a:tcPr>
                </a:tc>
              </a:tr>
              <a:tr h="274320">
                <a:tc>
                  <a:txBody>
                    <a:bodyPr/>
                    <a:lstStyle/>
                    <a:p>
                      <a:pPr algn="l"/>
                      <a:r>
                        <a:rPr sz="900" b="1">
                          <a:solidFill>
                            <a:srgbClr val="1F2421"/>
                          </a:solidFill>
                          <a:latin typeface="Helvetica Neue"/>
                        </a:rPr>
                        <a:t>S&amp;P 500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+77%</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+84%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Tech (XLK)</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+39%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+149%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74320">
                <a:tc>
                  <a:txBody>
                    <a:bodyPr/>
                    <a:lstStyle/>
                    <a:p>
                      <a:pPr algn="l"/>
                      <a:r>
                        <a:rPr sz="900" b="1">
                          <a:solidFill>
                            <a:srgbClr val="1F2421"/>
                          </a:solidFill>
                          <a:latin typeface="Helvetica Neue"/>
                        </a:rPr>
                        <a:t>Dell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+358%</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+725%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900" b="0">
                          <a:solidFill>
                            <a:srgbClr val="1F2421"/>
                          </a:solidFill>
                          <a:latin typeface="Helvetica Neue"/>
                        </a:rPr>
                        <a:t>+1194%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74320">
                <a:tc>
                  <a:txBody>
                    <a:bodyPr/>
                    <a:lstStyle/>
                    <a:p>
                      <a:pPr algn="l"/>
                      <a:r>
                        <a:rPr sz="900" b="1">
                          <a:solidFill>
                            <a:srgbClr val="1F2421"/>
                          </a:solidFill>
                          <a:latin typeface="Helvetica Neue"/>
                        </a:rPr>
                        <a:t>Cisco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+69%</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+114%</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900" b="0">
                          <a:solidFill>
                            <a:srgbClr val="1F2421"/>
                          </a:solidFill>
                          <a:latin typeface="Helvetica Neue"/>
                        </a:rPr>
                        <a:t>+123%</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5"/>
          <p:cNvSpPr txBox="1"/>
          <p:nvPr/>
        </p:nvSpPr>
        <p:spPr>
          <a:xfrm>
            <a:off x="5806440" y="3200400"/>
            <a:ext cx="3017520" cy="1508760"/>
          </a:xfrm>
          <a:prstGeom prst="rect">
            <a:avLst/>
          </a:prstGeom>
          <a:noFill/>
        </p:spPr>
        <p:txBody>
          <a:bodyPr wrap="square" anchor="t" lIns="36576" rIns="36576" tIns="18288" bIns="18288">
            <a:spAutoFit/>
          </a:bodyPr>
          <a:lstStyle/>
          <a:p>
            <a:pPr algn="l" marL="155448" indent="-155448">
              <a:spcAft>
                <a:spcPts val="250"/>
              </a:spcAft>
              <a:buClr>
                <a:srgbClr val="135927"/>
              </a:buClr>
              <a:buSzPct val="100000"/>
              <a:buFont typeface="Helvetica Neue"/>
              <a:buChar char="•"/>
            </a:pPr>
            <a:r>
              <a:rPr sz="850" b="1">
                <a:solidFill>
                  <a:srgbClr val="1F2421"/>
                </a:solidFill>
                <a:latin typeface="Helvetica Neue"/>
              </a:rPr>
              <a:t>Trades as AI hardware: </a:t>
            </a:r>
            <a:r>
              <a:rPr sz="850" b="0">
                <a:solidFill>
                  <a:srgbClr val="1F2421"/>
                </a:solidFill>
                <a:latin typeface="Helvetica Neue"/>
              </a:rPr>
              <a:t>correlation with Dell 0.66 &gt; S&amp;P 500 0.47; beta 1.40.</a:t>
            </a:r>
          </a:p>
          <a:p>
            <a:pPr algn="l" marL="155448" indent="-155448">
              <a:spcAft>
                <a:spcPts val="250"/>
              </a:spcAft>
              <a:buClr>
                <a:srgbClr val="135927"/>
              </a:buClr>
              <a:buSzPct val="100000"/>
              <a:buFont typeface="Helvetica Neue"/>
              <a:buChar char="•"/>
            </a:pPr>
            <a:r>
              <a:rPr sz="850" b="1">
                <a:solidFill>
                  <a:srgbClr val="1F2421"/>
                </a:solidFill>
                <a:latin typeface="Helvetica Neue"/>
              </a:rPr>
              <a:t>Catalysts: </a:t>
            </a:r>
            <a:r>
              <a:rPr sz="850" b="0">
                <a:solidFill>
                  <a:srgbClr val="1F2421"/>
                </a:solidFill>
                <a:latin typeface="Helvetica Neue"/>
              </a:rPr>
              <a:t>30-Sep Networking Investor Day; early Dec Q4 FY26 and FY27 guide; ~Sep-2027 preferred conversion.</a:t>
            </a:r>
          </a:p>
        </p:txBody>
      </p:sp>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Re-rated as AI hardware: size for turbulence</a:t>
            </a:r>
            <a:r>
              <a:rPr sz="1050" b="0" i="0">
                <a:solidFill>
                  <a:srgbClr val="404040"/>
                </a:solidFill>
                <a:latin typeface="Helvetica Neue"/>
              </a:rPr>
              <a:t> — correlation with Dell (0.66) exceeds the S&amp;P 500 (0.47); 3σ days are 6.8x normal.</a:t>
            </a:r>
          </a:p>
        </p:txBody>
      </p:sp>
      <p:sp>
        <p:nvSpPr>
          <p:cNvPr id="11" name="TextBox 135"/>
          <p:cNvSpPr txBox="1"/>
          <p:nvPr/>
        </p:nvSpPr>
        <p:spPr>
          <a:xfrm>
            <a:off x="320040" y="3675887"/>
            <a:ext cx="5349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PATTERN IN THE RETURNS</a:t>
            </a:r>
          </a:p>
        </p:txBody>
      </p:sp>
      <p:sp>
        <p:nvSpPr>
          <p:cNvPr id="12" name="TextBox 136"/>
          <p:cNvSpPr txBox="1"/>
          <p:nvPr/>
        </p:nvSpPr>
        <p:spPr>
          <a:xfrm>
            <a:off x="320040" y="3904487"/>
            <a:ext cx="5349240" cy="804672"/>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Direction: </a:t>
            </a:r>
            <a:r>
              <a:rPr sz="850" b="0">
                <a:solidFill>
                  <a:srgbClr val="1F2421"/>
                </a:solidFill>
                <a:latin typeface="Helvetica Neue"/>
              </a:rPr>
              <a:t>no significant autocorrelation (Ljung-Box p = 0.06); past prices don't predict the next move.</a:t>
            </a:r>
          </a:p>
          <a:p>
            <a:pPr algn="l" marL="155448" indent="-155448">
              <a:spcAft>
                <a:spcPts val="200"/>
              </a:spcAft>
              <a:buClr>
                <a:srgbClr val="135927"/>
              </a:buClr>
              <a:buSzPct val="100000"/>
              <a:buFont typeface="Helvetica Neue"/>
              <a:buChar char="•"/>
            </a:pPr>
            <a:r>
              <a:rPr sz="850" b="1">
                <a:solidFill>
                  <a:srgbClr val="1F2421"/>
                </a:solidFill>
                <a:latin typeface="Helvetica Neue"/>
              </a:rPr>
              <a:t>Turbulence: </a:t>
            </a:r>
            <a:r>
              <a:rPr sz="850" b="0">
                <a:solidFill>
                  <a:srgbClr val="1F2421"/>
                </a:solidFill>
                <a:latin typeface="Helvetica Neue"/>
              </a:rPr>
              <a:t>volatility clusters; 3σ days occur 6.8x as often as a normal distribution implies.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The biggest risks are the forces that created the rally</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RISKS</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The rally's engines are its risks</a:t>
            </a:r>
            <a:r>
              <a:rPr sz="1050" b="0" i="0">
                <a:solidFill>
                  <a:srgbClr val="404040"/>
                </a:solidFill>
                <a:latin typeface="Helvetica Neue"/>
              </a:rPr>
              <a:t> — memory prices, AI capex and sector multiples can all run in reverse.</a:t>
            </a:r>
          </a:p>
        </p:txBody>
      </p:sp>
      <p:sp>
        <p:nvSpPr>
          <p:cNvPr id="6" name="TextBox 132"/>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IDC, TrendForce, Dell'Oro, SEC capex filings, HPE Q3 FY26 materials.</a:t>
            </a:r>
          </a:p>
        </p:txBody>
      </p:sp>
      <p:sp>
        <p:nvSpPr>
          <p:cNvPr id="7" name="TextBox 133"/>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18</a:t>
            </a:r>
          </a:p>
        </p:txBody>
      </p:sp>
      <p:graphicFrame>
        <p:nvGraphicFramePr>
          <p:cNvPr id="8" name="Table 134"/>
          <p:cNvGraphicFramePr>
            <a:graphicFrameLocks noGrp="1"/>
          </p:cNvGraphicFramePr>
          <p:nvPr/>
        </p:nvGraphicFramePr>
        <p:xfrm>
          <a:off x="320040" y="1463040"/>
          <a:ext cx="8503920" cy="3200400"/>
        </p:xfrm>
        <a:graphic>
          <a:graphicData uri="http://schemas.openxmlformats.org/drawingml/2006/table">
            <a:tbl>
              <a:tblPr firstRow="1">
                <a:tableStyleId>{5C22544A-7EE6-4342-B048-85BDC9FD1C3A}</a:tableStyleId>
              </a:tblPr>
              <a:tblGrid>
                <a:gridCol w="1691640"/>
                <a:gridCol w="731520"/>
                <a:gridCol w="3840480"/>
                <a:gridCol w="2240280"/>
              </a:tblGrid>
              <a:tr h="457200">
                <a:tc>
                  <a:txBody>
                    <a:bodyPr/>
                    <a:lstStyle/>
                    <a:p>
                      <a:pPr algn="l"/>
                      <a:r>
                        <a:rPr sz="850" b="1">
                          <a:solidFill>
                            <a:srgbClr val="FCC80D"/>
                          </a:solidFill>
                          <a:latin typeface="Helvetica Neue"/>
                        </a:rPr>
                        <a:t>Risk</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Type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Transmission: revenue → margin → cash flow → balance sheet → valuation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Monitor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457200">
                <a:tc>
                  <a:txBody>
                    <a:bodyPr/>
                    <a:lstStyle/>
                    <a:p>
                      <a:pPr algn="l"/>
                      <a:r>
                        <a:rPr sz="850" b="1">
                          <a:solidFill>
                            <a:srgbClr val="1F2421"/>
                          </a:solidFill>
                          <a:latin typeface="Helvetica Neue"/>
                        </a:rPr>
                        <a:t>Cloud &amp; AI margin reversal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Memory prices fall → ASPs and GM ↓ → FCF ↓, inventory write-downs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TrendForce prices; HPE non-GAAP GM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Networking execution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Share loss / synergy miss → highest-margin revenue ↓ → multiple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Normalised growth; Dell'Oro share; Investor Day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457200">
                <a:tc>
                  <a:txBody>
                    <a:bodyPr/>
                    <a:lstStyle/>
                    <a:p>
                      <a:pPr algn="l"/>
                      <a:r>
                        <a:rPr sz="850" b="1">
                          <a:solidFill>
                            <a:srgbClr val="1F2421"/>
                          </a:solidFill>
                          <a:latin typeface="Helvetica Neue"/>
                        </a:rPr>
                        <a:t>AI deal lumpiness &amp; credit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Company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Slips/cancellations → FCF swings of $bn → leverage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Backlog conversion; DIO/DPO; FS reserves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AI capex digestion</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Orders ↓ → revenue ↓ → sector de-rating (peers 18–23x P/E)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Hyperscaler capex guides; IDC 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457200">
                <a:tc>
                  <a:txBody>
                    <a:bodyPr/>
                    <a:lstStyle/>
                    <a:p>
                      <a:pPr algn="l"/>
                      <a:r>
                        <a:rPr sz="850" b="1">
                          <a:solidFill>
                            <a:srgbClr val="1F2421"/>
                          </a:solidFill>
                          <a:latin typeface="Helvetica Neue"/>
                        </a:rPr>
                        <a:t>Supply &amp; trade policy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Shortages/tariffs → unfilled orders, COGS ↑ → FCF ↓</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Lead times; USTR/BIS actions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457200">
                <a:tc>
                  <a:txBody>
                    <a:bodyPr/>
                    <a:lstStyle/>
                    <a:p>
                      <a:pPr algn="l"/>
                      <a:r>
                        <a:rPr sz="850" b="1">
                          <a:solidFill>
                            <a:srgbClr val="1F2421"/>
                          </a:solidFill>
                          <a:latin typeface="Helvetica Neue"/>
                        </a:rPr>
                        <a:t>Rates &amp; enterprise budgets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External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WACC ↑, refresh delayed → ±1pp WACC ≈ ±$6–8/share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10Y yield; BBB spreads; Gartner IT spend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Price vs range: what must be true, and what to watch</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PART 4 · MARKET, RISKS &amp; DECISION · CONCLUSION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DCF and comps; no rating or price target is expressed.</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19</a:t>
            </a:r>
          </a:p>
        </p:txBody>
      </p:sp>
      <p:graphicFrame>
        <p:nvGraphicFramePr>
          <p:cNvPr id="7" name="Chart 133"/>
          <p:cNvGraphicFramePr>
            <a:graphicFrameLocks noGrp="1"/>
          </p:cNvGraphicFramePr>
          <p:nvPr/>
        </p:nvGraphicFramePr>
        <p:xfrm>
          <a:off x="320040" y="1463040"/>
          <a:ext cx="4206240" cy="2606040"/>
        </p:xfrm>
        <a:graphic>
          <a:graphicData uri="http://schemas.openxmlformats.org/drawingml/2006/chart">
            <c:chart xmlns:c="http://schemas.openxmlformats.org/drawingml/2006/chart" r:id="rId3"/>
          </a:graphicData>
        </a:graphic>
      </p:graphicFrame>
      <p:sp>
        <p:nvSpPr>
          <p:cNvPr id="8" name="TextBox 134"/>
          <p:cNvSpPr txBox="1"/>
          <p:nvPr/>
        </p:nvSpPr>
        <p:spPr>
          <a:xfrm>
            <a:off x="320040" y="4114800"/>
            <a:ext cx="4206240" cy="594360"/>
          </a:xfrm>
          <a:prstGeom prst="rect">
            <a:avLst/>
          </a:prstGeom>
          <a:noFill/>
        </p:spPr>
        <p:txBody>
          <a:bodyPr wrap="square" anchor="t" lIns="36576" rIns="36576" tIns="18288" bIns="18288">
            <a:spAutoFit/>
          </a:bodyPr>
          <a:lstStyle/>
          <a:p>
            <a:pPr algn="l">
              <a:spcAft>
                <a:spcPts val="300"/>
              </a:spcAft>
            </a:pPr>
            <a:r>
              <a:rPr sz="950" b="0">
                <a:solidFill>
                  <a:srgbClr val="595959"/>
                </a:solidFill>
                <a:latin typeface="Helvetica Neue"/>
              </a:rPr>
              <a:t>Relative value if peer multiples hold: $67–$106 per share</a:t>
            </a:r>
          </a:p>
        </p:txBody>
      </p:sp>
      <p:sp>
        <p:nvSpPr>
          <p:cNvPr id="9" name="TextBox 135"/>
          <p:cNvSpPr txBox="1"/>
          <p:nvPr/>
        </p:nvSpPr>
        <p:spPr>
          <a:xfrm>
            <a:off x="4709160" y="1463040"/>
            <a:ext cx="411480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FOR $62.09 TO BE FAIR VALUE, ONE OF THESE MUST HOLD</a:t>
            </a:r>
          </a:p>
        </p:txBody>
      </p:sp>
      <p:sp>
        <p:nvSpPr>
          <p:cNvPr id="10" name="TextBox 136"/>
          <p:cNvSpPr txBox="1"/>
          <p:nvPr/>
        </p:nvSpPr>
        <p:spPr>
          <a:xfrm>
            <a:off x="4709160" y="1737360"/>
            <a:ext cx="4114800" cy="123444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1000" b="0">
                <a:solidFill>
                  <a:srgbClr val="1F2421"/>
                </a:solidFill>
                <a:latin typeface="Helvetica Neue"/>
              </a:rPr>
              <a:t>Long-term non-GAAP margin ≈ 18% (FY27 guide 14–15%)</a:t>
            </a:r>
          </a:p>
          <a:p>
            <a:pPr algn="l" marL="155448" indent="-155448">
              <a:spcAft>
                <a:spcPts val="500"/>
              </a:spcAft>
              <a:buClr>
                <a:srgbClr val="135927"/>
              </a:buClr>
              <a:buSzPct val="100000"/>
              <a:buFont typeface="Helvetica Neue"/>
              <a:buChar char="•"/>
            </a:pPr>
            <a:r>
              <a:rPr sz="1000" b="0">
                <a:solidFill>
                  <a:srgbClr val="1F2421"/>
                </a:solidFill>
                <a:latin typeface="Helvetica Neue"/>
              </a:rPr>
              <a:t>Revenue CAGR ≈ 11% for ten years (base 5%)</a:t>
            </a:r>
          </a:p>
          <a:p>
            <a:pPr algn="l" marL="155448" indent="-155448">
              <a:spcAft>
                <a:spcPts val="500"/>
              </a:spcAft>
              <a:buClr>
                <a:srgbClr val="135927"/>
              </a:buClr>
              <a:buSzPct val="100000"/>
              <a:buFont typeface="Helvetica Neue"/>
              <a:buChar char="•"/>
            </a:pPr>
            <a:r>
              <a:rPr sz="1000" b="0">
                <a:solidFill>
                  <a:srgbClr val="1F2421"/>
                </a:solidFill>
                <a:latin typeface="Helvetica Neue"/>
              </a:rPr>
              <a:t>Cost of capital ≈ 7.0%, or AI-hardware peer multiples persist</a:t>
            </a:r>
          </a:p>
        </p:txBody>
      </p:sp>
      <p:sp>
        <p:nvSpPr>
          <p:cNvPr id="11" name="TextBox 137"/>
          <p:cNvSpPr txBox="1"/>
          <p:nvPr/>
        </p:nvSpPr>
        <p:spPr>
          <a:xfrm>
            <a:off x="4709160" y="3063240"/>
            <a:ext cx="411480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WOULD CHANGE THE VIEW</a:t>
            </a:r>
          </a:p>
        </p:txBody>
      </p:sp>
      <p:sp>
        <p:nvSpPr>
          <p:cNvPr id="12" name="TextBox 138"/>
          <p:cNvSpPr txBox="1"/>
          <p:nvPr/>
        </p:nvSpPr>
        <p:spPr>
          <a:xfrm>
            <a:off x="4709160" y="3337560"/>
            <a:ext cx="4114800" cy="1371600"/>
          </a:xfrm>
          <a:prstGeom prst="rect">
            <a:avLst/>
          </a:prstGeom>
          <a:noFill/>
        </p:spPr>
        <p:txBody>
          <a:bodyPr wrap="square" anchor="t" lIns="36576" rIns="36576" tIns="18288" bIns="18288">
            <a:spAutoFit/>
          </a:bodyPr>
          <a:lstStyle/>
          <a:p>
            <a:pPr algn="l" marL="155448" indent="-155448">
              <a:spcAft>
                <a:spcPts val="500"/>
              </a:spcAft>
              <a:buClr>
                <a:srgbClr val="135927"/>
              </a:buClr>
              <a:buSzPct val="100000"/>
              <a:buFont typeface="Helvetica Neue"/>
              <a:buChar char="•"/>
            </a:pPr>
            <a:r>
              <a:rPr sz="950" b="1">
                <a:solidFill>
                  <a:srgbClr val="1F2421"/>
                </a:solidFill>
                <a:latin typeface="Helvetica Neue"/>
              </a:rPr>
              <a:t>Up:</a:t>
            </a:r>
            <a:r>
              <a:rPr sz="950" b="0">
                <a:solidFill>
                  <a:srgbClr val="1F2421"/>
                </a:solidFill>
                <a:latin typeface="Helvetica Neue"/>
              </a:rPr>
              <a:t> Cloud &amp; AI margin ≥13% through a memory-price decline; networking mid-teens organic growth; FY27 FCF well above $5bn</a:t>
            </a:r>
          </a:p>
          <a:p>
            <a:pPr algn="l" marL="155448" indent="-155448">
              <a:spcAft>
                <a:spcPts val="500"/>
              </a:spcAft>
              <a:buClr>
                <a:srgbClr val="135927"/>
              </a:buClr>
              <a:buSzPct val="100000"/>
              <a:buFont typeface="Helvetica Neue"/>
              <a:buChar char="•"/>
            </a:pPr>
            <a:r>
              <a:rPr sz="950" b="1">
                <a:solidFill>
                  <a:srgbClr val="1F2421"/>
                </a:solidFill>
                <a:latin typeface="Helvetica Neue"/>
              </a:rPr>
              <a:t>Down:</a:t>
            </a:r>
            <a:r>
              <a:rPr sz="950" b="0">
                <a:solidFill>
                  <a:srgbClr val="1F2421"/>
                </a:solidFill>
                <a:latin typeface="Helvetica Neue"/>
              </a:rPr>
              <a:t> non-GAAP GM &lt;33%, AI backlog declines, sector de-rating</a:t>
            </a:r>
          </a:p>
        </p:txBody>
      </p:sp>
      <p:sp>
        <p:nvSpPr>
          <p:cNvPr id="13"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$62 is fair only if peak economics persist</a:t>
            </a:r>
            <a:r>
              <a:rPr sz="1050" b="0" i="0">
                <a:solidFill>
                  <a:srgbClr val="404040"/>
                </a:solidFill>
                <a:latin typeface="Helvetica Neue"/>
              </a:rPr>
              <a:t> — watch Cloud &amp; AI margin through a memory downturn, networking growth and AI backlog.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Five patterns to take away</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CLOSING</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HTML report sections 1–12.</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20</a:t>
            </a:r>
          </a:p>
        </p:txBody>
      </p:sp>
      <p:sp>
        <p:nvSpPr>
          <p:cNvPr id="7"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Bottom line: </a:t>
            </a:r>
            <a:r>
              <a:rPr sz="1050" b="1" i="0">
                <a:solidFill>
                  <a:srgbClr val="1F2421"/>
                </a:solidFill>
                <a:latin typeface="Helvetica Neue"/>
              </a:rPr>
              <a:t>A better business, priced as if the cycle never turns</a:t>
            </a:r>
            <a:r>
              <a:rPr sz="1050" b="0" i="0">
                <a:solidFill>
                  <a:srgbClr val="404040"/>
                </a:solidFill>
                <a:latin typeface="Helvetica Neue"/>
              </a:rPr>
              <a:t> — five patterns that travel beyond HPE.</a:t>
            </a:r>
          </a:p>
        </p:txBody>
      </p:sp>
      <p:graphicFrame>
        <p:nvGraphicFramePr>
          <p:cNvPr id="8" name="Table 133"/>
          <p:cNvGraphicFramePr>
            <a:graphicFrameLocks noGrp="1"/>
          </p:cNvGraphicFramePr>
          <p:nvPr/>
        </p:nvGraphicFramePr>
        <p:xfrm>
          <a:off x="320040" y="1463040"/>
          <a:ext cx="8503920" cy="2304288"/>
        </p:xfrm>
        <a:graphic>
          <a:graphicData uri="http://schemas.openxmlformats.org/drawingml/2006/table">
            <a:tbl>
              <a:tblPr firstRow="1" bandRow="1">
                <a:tableStyleId>{5C22544A-7EE6-4342-B048-85BDC9FD1C3A}</a:tableStyleId>
              </a:tblPr>
              <a:tblGrid>
                <a:gridCol w="2514600"/>
                <a:gridCol w="3429000"/>
                <a:gridCol w="2560320"/>
              </a:tblGrid>
              <a:tr h="384048">
                <a:tc>
                  <a:txBody>
                    <a:bodyPr wrap="square"/>
                    <a:lstStyle/>
                    <a:p>
                      <a:r>
                        <a:rPr sz="900" b="1" i="0">
                          <a:solidFill>
                            <a:srgbClr val="FCC80D"/>
                          </a:solidFill>
                          <a:latin typeface="Helvetica Neue"/>
                        </a:rPr>
                        <a:t>Pattern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900" b="1" i="0">
                          <a:solidFill>
                            <a:srgbClr val="FCC80D"/>
                          </a:solidFill>
                          <a:latin typeface="Helvetica Neue"/>
                        </a:rPr>
                        <a:t>What we saw at HPE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wrap="square"/>
                    <a:lstStyle/>
                    <a:p>
                      <a:r>
                        <a:rPr sz="900" b="1" i="0">
                          <a:solidFill>
                            <a:srgbClr val="FCC80D"/>
                          </a:solidFill>
                          <a:latin typeface="Helvetica Neue"/>
                        </a:rPr>
                        <a:t>Where else to use it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84048">
                <a:tc>
                  <a:txBody>
                    <a:bodyPr wrap="square"/>
                    <a:lstStyle/>
                    <a:p>
                      <a:r>
                        <a:rPr sz="900" b="1" i="0">
                          <a:solidFill>
                            <a:srgbClr val="1F2421"/>
                          </a:solidFill>
                          <a:latin typeface="Helvetica Neue"/>
                        </a:rPr>
                        <a:t>1 · Follow profit, not revenue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Networking: 26% of revenue, 40% of segment profit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Any company that reports segments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4048">
                <a:tc>
                  <a:txBody>
                    <a:bodyPr wrap="square"/>
                    <a:lstStyle/>
                    <a:p>
                      <a:r>
                        <a:rPr sz="900" b="1" i="0">
                          <a:solidFill>
                            <a:srgbClr val="1F2421"/>
                          </a:solidFill>
                          <a:latin typeface="Helvetica Neue"/>
                        </a:rPr>
                        <a:t>2 · Separate the tide from the boat</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FY26 $17.4bn above trend: about a third Juniper, two-thirds AI and pricing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Acquirers in booming markets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84048">
                <a:tc>
                  <a:txBody>
                    <a:bodyPr wrap="square"/>
                    <a:lstStyle/>
                    <a:p>
                      <a:r>
                        <a:rPr sz="900" b="1" i="0">
                          <a:solidFill>
                            <a:srgbClr val="1F2421"/>
                          </a:solidFill>
                          <a:latin typeface="Helvetica Neue"/>
                        </a:rPr>
                        <a:t>3 · Your place in the value chain sets your cycle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Paid at shipment: elastic revenue, thin margins, little contracted backlog</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Semiconductor equipment, memory, contract manufacturers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84048">
                <a:tc>
                  <a:txBody>
                    <a:bodyPr wrap="square"/>
                    <a:lstStyle/>
                    <a:p>
                      <a:r>
                        <a:rPr sz="900" b="1" i="0">
                          <a:solidFill>
                            <a:srgbClr val="1F2421"/>
                          </a:solidFill>
                          <a:latin typeface="Helvetica Neue"/>
                        </a:rPr>
                        <a:t>4 · Working capital narrates the cycle</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Record free cash flow while payables fund a $5.5bn inventory build</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wrap="square"/>
                    <a:lstStyle/>
                    <a:p>
                      <a:r>
                        <a:rPr sz="900" b="0" i="0">
                          <a:solidFill>
                            <a:srgbClr val="1F2421"/>
                          </a:solidFill>
                          <a:latin typeface="Helvetica Neue"/>
                        </a:rPr>
                        <a:t>Hardware and distribution businesses near peaks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84048">
                <a:tc>
                  <a:txBody>
                    <a:bodyPr wrap="square"/>
                    <a:lstStyle/>
                    <a:p>
                      <a:r>
                        <a:rPr sz="900" b="1" i="0">
                          <a:solidFill>
                            <a:srgbClr val="1F2421"/>
                          </a:solidFill>
                          <a:latin typeface="Helvetica Neue"/>
                        </a:rPr>
                        <a:t>5 · The price is a forecast; think in ranges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$62.09 needs an 18% margin; 3σ days 6.8x a normal distribution</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wrap="square"/>
                    <a:lstStyle/>
                    <a:p>
                      <a:r>
                        <a:rPr sz="900" b="0" i="0">
                          <a:solidFill>
                            <a:srgbClr val="1F2421"/>
                          </a:solidFill>
                          <a:latin typeface="Helvetica Neue"/>
                        </a:rPr>
                        <a:t>Momentum stocks and re-ratings</a:t>
                      </a:r>
                    </a:p>
                  </a:txBody>
                  <a:tcPr marL="45720" marR="45720" marT="18288" marB="18288"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9" name="TextBox 134"/>
          <p:cNvSpPr txBox="1"/>
          <p:nvPr/>
        </p:nvSpPr>
        <p:spPr>
          <a:xfrm>
            <a:off x="320040" y="3950208"/>
            <a:ext cx="8503920" cy="457200"/>
          </a:xfrm>
          <a:prstGeom prst="rect">
            <a:avLst/>
          </a:prstGeom>
          <a:noFill/>
        </p:spPr>
        <p:txBody>
          <a:bodyPr wrap="square">
            <a:spAutoFit/>
          </a:bodyPr>
          <a:lstStyle/>
          <a:p>
            <a:r>
              <a:rPr sz="1800" b="1" i="0">
                <a:solidFill>
                  <a:srgbClr val="135927"/>
                </a:solidFill>
                <a:latin typeface="Helvetica Neue"/>
              </a:rPr>
              <a:t>Thank you. Questions?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descr="header_linkedin.png" id="2" name="Google Shape;121;p29"/>
          <p:cNvPicPr preferRelativeResize="0"/>
          <p:nvPr/>
        </p:nvPicPr>
        <p:blipFill rotWithShape="1">
          <a:blip r:embed="rId2">
            <a:alphaModFix/>
          </a:blip>
          <a:srcRect b="0" l="0" r="0" t="0"/>
          <a:stretch/>
        </p:blipFill>
        <p:spPr>
          <a:xfrm>
            <a:off x="-12073" y="-90539"/>
            <a:ext cx="9168146" cy="5324578"/>
          </a:xfrm>
          <a:prstGeom prst="rect">
            <a:avLst/>
          </a:prstGeom>
          <a:noFill/>
          <a:ln>
            <a:noFill/>
          </a:ln>
        </p:spPr>
      </p:pic>
      <p:sp>
        <p:nvSpPr>
          <p:cNvPr id="3" name="Google Shape;123;p29"/>
          <p:cNvSpPr txBox="1"/>
          <p:nvPr>
            <p:ph idx="4294967295" type="ctrTitle"/>
          </p:nvPr>
        </p:nvSpPr>
        <p:spPr>
          <a:xfrm>
            <a:off x="452437" y="2139890"/>
            <a:ext cx="3657600" cy="1743075"/>
          </a:xfrm>
          <a:prstGeom prst="rect">
            <a:avLst/>
          </a:prstGeom>
          <a:noFill/>
          <a:ln>
            <a:noFill/>
          </a:ln>
        </p:spPr>
        <p:txBody>
          <a:bodyPr anchorCtr="0" anchor="b" bIns="19050" lIns="19050" spcFirstLastPara="1" rIns="19050" wrap="square" tIns="19050">
            <a:normAutofit/>
          </a:bodyPr>
          <a:lstStyle/>
          <a:p>
            <a:pPr indent="0" lvl="0" marL="0" marR="0" rtl="0" algn="l">
              <a:lnSpc>
                <a:spcPct val="80000"/>
              </a:lnSpc>
              <a:spcBef>
                <a:spcPts val="0"/>
              </a:spcBef>
              <a:spcAft>
                <a:spcPts val="0"/>
              </a:spcAft>
              <a:buClr>
                <a:srgbClr val="FCC80D"/>
              </a:buClr>
              <a:buSzPts val="4400"/>
              <a:buFont typeface="Twentieth Century"/>
              <a:buNone/>
            </a:pPr>
            <a:endParaRPr/>
            <a:r>
              <a:rPr b="1" i="0" lang="nl" sz="2600" u="none" cap="none" strike="noStrike">
                <a:solidFill>
                  <a:srgbClr val="FCC80D"/>
                </a:solidFill>
                <a:latin typeface="Twentieth Century"/>
                <a:ea typeface="Twentieth Century"/>
                <a:cs typeface="Twentieth Century"/>
                <a:sym typeface="Twentieth Century"/>
              </a:rPr>
              <a:t>Appendix</a:t>
            </a:r>
          </a:p>
        </p:txBody>
      </p:sp>
      <p:sp>
        <p:nvSpPr>
          <p:cNvPr id="4" name="Google Shape;124;p29"/>
          <p:cNvSpPr txBox="1"/>
          <p:nvPr>
            <p:ph idx="4294967295" type="subTitle"/>
          </p:nvPr>
        </p:nvSpPr>
        <p:spPr>
          <a:xfrm>
            <a:off x="478206" y="3895344"/>
            <a:ext cx="3429000" cy="492382"/>
          </a:xfrm>
          <a:prstGeom prst="rect">
            <a:avLst/>
          </a:prstGeom>
          <a:noFill/>
          <a:ln>
            <a:noFill/>
          </a:ln>
        </p:spPr>
        <p:txBody>
          <a:bodyPr anchorCtr="0" anchor="t" bIns="19050" lIns="19050" spcFirstLastPara="1" rIns="19050" wrap="square" tIns="19050">
            <a:normAutofit/>
          </a:bodyPr>
          <a:lstStyle/>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Backup slides for questions</a:t>
            </a:r>
          </a:p>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Industry · macro · moat · capital structure</a:t>
            </a:r>
          </a:p>
          <a:p>
            <a:pPr indent="0" lvl="0" marL="0" marR="0" rtl="0" algn="l">
              <a:lnSpc>
                <a:spcPct val="100000"/>
              </a:lnSpc>
              <a:spcBef>
                <a:spcPts val="0"/>
              </a:spcBef>
              <a:spcAft>
                <a:spcPts val="0"/>
              </a:spcAft>
              <a:buClr>
                <a:srgbClr val="FCC80D"/>
              </a:buClr>
              <a:buSzPts val="1400"/>
              <a:buFont typeface="Twentieth Century"/>
              <a:buNone/>
            </a:pPr>
            <a:endParaRPr/>
            <a:r>
              <a:rPr b="1" i="1" lang="nl" sz="1100" u="none" cap="none" strike="noStrike">
                <a:solidFill>
                  <a:srgbClr val="FCC80D"/>
                </a:solidFill>
                <a:latin typeface="Twentieth Century"/>
                <a:ea typeface="Twentieth Century"/>
                <a:cs typeface="Twentieth Century"/>
                <a:sym typeface="Twentieth Century"/>
              </a:rPr>
              <a:t>Price action · catalysts · practitioner Q&amp;A</a:t>
            </a:r>
          </a:p>
        </p:txBody>
      </p:sp>
      <p:sp>
        <p:nvSpPr>
          <p:cNvPr id="5" name="Google Shape;122;p29"/>
          <p:cNvSpPr txBox="1"/>
          <p:nvPr>
            <p:ph idx="1" type="body"/>
          </p:nvPr>
        </p:nvSpPr>
        <p:spPr>
          <a:xfrm>
            <a:off x="452437" y="4750459"/>
            <a:ext cx="8239126" cy="238867"/>
          </a:xfrm>
          <a:prstGeom prst="rect">
            <a:avLst/>
          </a:prstGeom>
          <a:noFill/>
          <a:ln>
            <a:noFill/>
          </a:ln>
        </p:spPr>
        <p:txBody>
          <a:bodyPr anchorCtr="0" anchor="t" bIns="17150" lIns="17150" spcFirstLastPara="1" rIns="17150" wrap="square" tIns="17150">
            <a:normAutofit lnSpcReduction="10000"/>
          </a:bodyPr>
          <a:lstStyle/>
          <a:p>
            <a:pPr indent="0" lvl="0" marL="0" rtl="0" algn="l">
              <a:lnSpc>
                <a:spcPct val="100000"/>
              </a:lnSpc>
              <a:spcBef>
                <a:spcPts val="0"/>
              </a:spcBef>
              <a:spcAft>
                <a:spcPts val="0"/>
              </a:spcAft>
              <a:buClr>
                <a:srgbClr val="FFFFFF"/>
              </a:buClr>
              <a:buSzPts val="1400"/>
              <a:buFont typeface="Helvetica Neue"/>
              <a:buNone/>
            </a:pPr>
            <a:r>
              <a:rPr b="1" i="0" lang="nl" sz="1400" u="none" cap="none" strike="noStrike">
                <a:solidFill>
                  <a:srgbClr val="FFFFFF"/>
                </a:solidFill>
                <a:latin typeface="Helvetica Neue"/>
                <a:ea typeface="Helvetica Neue"/>
                <a:cs typeface="Helvetica Neue"/>
                <a:sym typeface="Helvetica Neue"/>
              </a:rPr>
              <a:t/>
            </a:r>
            <a:r>
              <a:rPr lang="nl">
                <a:solidFill>
                  <a:srgbClr val="FFFFFF"/>
                </a:solidFill>
              </a:rPr>
              <a:t>Bona Fide Student Investment Society · 2026-2027 · Prices as of 11-Sep-2026</a:t>
            </a:r>
            <a:endParaRPr b="1" i="0" sz="1400" u="none" cap="none" strike="noStrike">
              <a:solidFill>
                <a:srgbClr val="FFFFFF"/>
              </a:solidFill>
              <a:latin typeface="Helvetica Neue"/>
              <a:ea typeface="Helvetica Neue"/>
              <a:cs typeface="Helvetica Neue"/>
              <a:sym typeface="Helvetica Neue"/>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AI spending is exploding, but HPE's server share is shrinking</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INDUSTRY &amp; TAM</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IDC (Jul/Sep-2026), Gartner (Jul-2026, via press coverage), Dell'Oro (2026), SEC capex filings;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22</a:t>
            </a:r>
          </a:p>
        </p:txBody>
      </p:sp>
      <p:graphicFrame>
        <p:nvGraphicFramePr>
          <p:cNvPr id="7" name="Table 133"/>
          <p:cNvGraphicFramePr>
            <a:graphicFrameLocks noGrp="1"/>
          </p:cNvGraphicFramePr>
          <p:nvPr/>
        </p:nvGraphicFramePr>
        <p:xfrm>
          <a:off x="320040" y="1463040"/>
          <a:ext cx="4251959" cy="1554480"/>
        </p:xfrm>
        <a:graphic>
          <a:graphicData uri="http://schemas.openxmlformats.org/drawingml/2006/table">
            <a:tbl>
              <a:tblPr firstRow="1">
                <a:tableStyleId>{5C22544A-7EE6-4342-B048-85BDC9FD1C3A}</a:tableStyleId>
              </a:tblPr>
              <a:tblGrid>
                <a:gridCol w="1874519"/>
                <a:gridCol w="1234440"/>
                <a:gridCol w="1143000"/>
              </a:tblGrid>
              <a:tr h="310896">
                <a:tc>
                  <a:txBody>
                    <a:bodyPr/>
                    <a:lstStyle/>
                    <a:p>
                      <a:pPr algn="l"/>
                      <a:r>
                        <a:rPr sz="850" b="1">
                          <a:solidFill>
                            <a:srgbClr val="FCC80D"/>
                          </a:solidFill>
                          <a:latin typeface="Helvetica Neue"/>
                        </a:rPr>
                        <a:t>Market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Size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Growth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10896">
                <a:tc>
                  <a:txBody>
                    <a:bodyPr/>
                    <a:lstStyle/>
                    <a:p>
                      <a:pPr algn="l"/>
                      <a:r>
                        <a:rPr sz="850" b="1">
                          <a:solidFill>
                            <a:srgbClr val="1F2421"/>
                          </a:solidFill>
                          <a:latin typeface="Helvetica Neue"/>
                        </a:rPr>
                        <a:t>AI infrastructure (IDC)</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$497bn 2026F</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~30% CAGR to 2030</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a:lstStyle/>
                    <a:p>
                      <a:pPr algn="l"/>
                      <a:r>
                        <a:rPr sz="850" b="1">
                          <a:solidFill>
                            <a:srgbClr val="1F2421"/>
                          </a:solidFill>
                          <a:latin typeface="Helvetica Neue"/>
                        </a:rPr>
                        <a:t>Servers (IDC, 2Q26)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$166bn / quarter</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+52% YoY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10896">
                <a:tc>
                  <a:txBody>
                    <a:bodyPr/>
                    <a:lstStyle/>
                    <a:p>
                      <a:pPr algn="l"/>
                      <a:r>
                        <a:rPr sz="850" b="1">
                          <a:solidFill>
                            <a:srgbClr val="1F2421"/>
                          </a:solidFill>
                          <a:latin typeface="Helvetica Neue"/>
                        </a:rPr>
                        <a:t>Campus switching (Dell'Oro)</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&gt;$20bn 2025</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r"/>
                      <a:r>
                        <a:rPr sz="850" b="0">
                          <a:solidFill>
                            <a:srgbClr val="1F2421"/>
                          </a:solidFill>
                          <a:latin typeface="Helvetica Neue"/>
                        </a:rPr>
                        <a:t>ASP +19% 2Q26</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10896">
                <a:tc>
                  <a:txBody>
                    <a:bodyPr/>
                    <a:lstStyle/>
                    <a:p>
                      <a:pPr algn="l"/>
                      <a:r>
                        <a:rPr sz="850" b="1">
                          <a:solidFill>
                            <a:srgbClr val="1F2421"/>
                          </a:solidFill>
                          <a:latin typeface="Helvetica Neue"/>
                        </a:rPr>
                        <a:t>Hyperscaler + Oracle capex</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$566bn TTM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r"/>
                      <a:r>
                        <a:rPr sz="850" b="0">
                          <a:solidFill>
                            <a:srgbClr val="1F2421"/>
                          </a:solidFill>
                          <a:latin typeface="Helvetica Neue"/>
                        </a:rPr>
                        <a:t>+81% YoY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8" name="TextBox 134"/>
          <p:cNvSpPr txBox="1"/>
          <p:nvPr/>
        </p:nvSpPr>
        <p:spPr>
          <a:xfrm>
            <a:off x="320040" y="3127248"/>
            <a:ext cx="4251960" cy="1581912"/>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Definitions differ: </a:t>
            </a:r>
            <a:r>
              <a:rPr sz="900" b="0">
                <a:solidFill>
                  <a:srgbClr val="1F2421"/>
                </a:solidFill>
                <a:latin typeface="Helvetica Neue"/>
              </a:rPr>
              <a:t>IDC counts AI servers and storage, Gartner adds networking; all include ODM-direct, where HPE barely competes.</a:t>
            </a:r>
          </a:p>
          <a:p>
            <a:pPr algn="l" marL="155448" indent="-155448">
              <a:spcAft>
                <a:spcPts val="300"/>
              </a:spcAft>
              <a:buClr>
                <a:srgbClr val="135927"/>
              </a:buClr>
              <a:buSzPct val="100000"/>
              <a:buFont typeface="Helvetica Neue"/>
              <a:buChar char="•"/>
            </a:pPr>
            <a:r>
              <a:rPr sz="900" b="1">
                <a:solidFill>
                  <a:srgbClr val="1F2421"/>
                </a:solidFill>
                <a:latin typeface="Helvetica Neue"/>
              </a:rPr>
              <a:t>Share: </a:t>
            </a:r>
            <a:r>
              <a:rPr sz="900" b="0">
                <a:solidFill>
                  <a:srgbClr val="1F2421"/>
                </a:solidFill>
                <a:latin typeface="Helvetica Neue"/>
              </a:rPr>
              <a:t>HPE has 3.5% of all servers, ~7.7% of the OEM market; grew 46% vs the market's 52% and Dell's 165%.</a:t>
            </a:r>
          </a:p>
          <a:p>
            <a:pPr algn="l" marL="155448" indent="-155448">
              <a:spcAft>
                <a:spcPts val="300"/>
              </a:spcAft>
              <a:buClr>
                <a:srgbClr val="135927"/>
              </a:buClr>
              <a:buSzPct val="100000"/>
              <a:buFont typeface="Helvetica Neue"/>
              <a:buChar char="•"/>
            </a:pPr>
            <a:r>
              <a:rPr sz="900" b="1">
                <a:solidFill>
                  <a:srgbClr val="1F2421"/>
                </a:solidFill>
                <a:latin typeface="Helvetica Neue"/>
              </a:rPr>
              <a:t>Profit pool: </a:t>
            </a:r>
            <a:r>
              <a:rPr sz="900" b="0">
                <a:solidFill>
                  <a:srgbClr val="1F2421"/>
                </a:solidFill>
                <a:latin typeface="Helvetica Neue"/>
              </a:rPr>
              <a:t>suppliers (NVIDIA, memory) and giant buyers hold the bargaining power.</a:t>
            </a:r>
          </a:p>
        </p:txBody>
      </p:sp>
      <p:pic>
        <p:nvPicPr>
          <p:cNvPr id="9" name="Picture 135" descr="industry_idc_server_share_deck.png"/>
          <p:cNvPicPr>
            <a:picLocks noChangeAspect="1"/>
          </p:cNvPicPr>
          <p:nvPr/>
        </p:nvPicPr>
        <p:blipFill>
          <a:blip r:embed="rId5"/>
          <a:stretch>
            <a:fillRect/>
          </a:stretch>
        </p:blipFill>
        <p:spPr>
          <a:xfrm>
            <a:off x="4709160" y="1463040"/>
            <a:ext cx="4114800" cy="1265365"/>
          </a:xfrm>
          <a:prstGeom prst="rect">
            <a:avLst/>
          </a:prstGeom>
        </p:spPr>
      </p:pic>
      <p:sp>
        <p:nvSpPr>
          <p:cNvPr id="10"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Market growth is not market power</a:t>
            </a:r>
            <a:r>
              <a:rPr sz="1050" b="0" i="0">
                <a:solidFill>
                  <a:srgbClr val="404040"/>
                </a:solidFill>
                <a:latin typeface="Helvetica Neue"/>
              </a:rPr>
              <a:t> — HPE's servers grew 46% vs the market's 52%; suppliers and hyperscale buyers hold the profit pool.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Cloud capex and memory prices drive the cyclical upside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MACRO LEVERS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Company 10-Q/10-K XBRL via SEC EDGAR; TrendForce (9-Jul-2026); FRED;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23</a:t>
            </a:r>
          </a:p>
        </p:txBody>
      </p:sp>
      <p:pic>
        <p:nvPicPr>
          <p:cNvPr id="7" name="Picture 133" descr="macro_hyperscaler_capex_deck.png"/>
          <p:cNvPicPr>
            <a:picLocks noChangeAspect="1"/>
          </p:cNvPicPr>
          <p:nvPr/>
        </p:nvPicPr>
        <p:blipFill>
          <a:blip r:embed="rId6"/>
          <a:stretch>
            <a:fillRect/>
          </a:stretch>
        </p:blipFill>
        <p:spPr>
          <a:xfrm>
            <a:off x="274320" y="1463040"/>
            <a:ext cx="4297680" cy="1586987"/>
          </a:xfrm>
          <a:prstGeom prst="rect">
            <a:avLst/>
          </a:prstGeom>
        </p:spPr>
      </p:pic>
      <p:pic>
        <p:nvPicPr>
          <p:cNvPr id="8" name="Picture 134" descr="macro_memory_cycle_deck.png"/>
          <p:cNvPicPr>
            <a:picLocks noChangeAspect="1"/>
          </p:cNvPicPr>
          <p:nvPr/>
        </p:nvPicPr>
        <p:blipFill>
          <a:blip r:embed="rId3"/>
          <a:stretch>
            <a:fillRect/>
          </a:stretch>
        </p:blipFill>
        <p:spPr>
          <a:xfrm>
            <a:off x="4617720" y="1463040"/>
            <a:ext cx="4206240" cy="1247100"/>
          </a:xfrm>
          <a:prstGeom prst="rect">
            <a:avLst/>
          </a:prstGeom>
        </p:spPr>
      </p:pic>
      <p:sp>
        <p:nvSpPr>
          <p:cNvPr id="9" name="TextBox 135"/>
          <p:cNvSpPr txBox="1"/>
          <p:nvPr/>
        </p:nvSpPr>
        <p:spPr>
          <a:xfrm>
            <a:off x="320040" y="3611880"/>
            <a:ext cx="4160520" cy="1097280"/>
          </a:xfrm>
          <a:prstGeom prst="rect">
            <a:avLst/>
          </a:prstGeom>
          <a:noFill/>
        </p:spPr>
        <p:txBody>
          <a:bodyPr wrap="square" anchor="t" lIns="36576" rIns="36576" tIns="18288" bIns="18288">
            <a:spAutoFit/>
          </a:bodyPr>
          <a:lstStyle/>
          <a:p>
            <a:pPr algn="l">
              <a:spcAft>
                <a:spcPts val="300"/>
              </a:spcAft>
            </a:pPr>
            <a:r>
              <a:rPr sz="1000" b="1">
                <a:solidFill>
                  <a:srgbClr val="1F2421"/>
                </a:solidFill>
                <a:latin typeface="Helvetica Neue"/>
              </a:rPr>
              <a:t>Capex → orders:</a:t>
            </a:r>
            <a:r>
              <a:rPr sz="1000" b="0">
                <a:solidFill>
                  <a:srgbClr val="1F2421"/>
                </a:solidFill>
                <a:latin typeface="Helvetica Neue"/>
              </a:rPr>
              <a:t> 5 cloud spenders at a record run-rate feed AI backlog; AI systems dilute margin and swell inventory.</a:t>
            </a:r>
          </a:p>
        </p:txBody>
      </p:sp>
      <p:sp>
        <p:nvSpPr>
          <p:cNvPr id="10" name="TextBox 136"/>
          <p:cNvSpPr txBox="1"/>
          <p:nvPr/>
        </p:nvSpPr>
        <p:spPr>
          <a:xfrm>
            <a:off x="4663440" y="3611880"/>
            <a:ext cx="4160520" cy="1097280"/>
          </a:xfrm>
          <a:prstGeom prst="rect">
            <a:avLst/>
          </a:prstGeom>
          <a:noFill/>
        </p:spPr>
        <p:txBody>
          <a:bodyPr wrap="square" anchor="t" lIns="36576" rIns="36576" tIns="18288" bIns="18288">
            <a:spAutoFit/>
          </a:bodyPr>
          <a:lstStyle/>
          <a:p>
            <a:pPr algn="l">
              <a:spcAft>
                <a:spcPts val="300"/>
              </a:spcAft>
            </a:pPr>
            <a:r>
              <a:rPr sz="1000" b="1">
                <a:solidFill>
                  <a:srgbClr val="1F2421"/>
                </a:solidFill>
                <a:latin typeface="Helvetica Neue"/>
              </a:rPr>
              <a:t>Memory → pricing:</a:t>
            </a:r>
            <a:r>
              <a:rPr sz="1000" b="0">
                <a:solidFill>
                  <a:srgbClr val="1F2421"/>
                </a:solidFill>
                <a:latin typeface="Helvetica Neue"/>
              </a:rPr>
              <a:t> DRAM contract +13–18% QoQ in 3Q26; HPE passed costs on, which reverses when prices fall. Rates (10Y 4.95%) set WACC.</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Borrowed tailwinds reverse</a:t>
            </a:r>
            <a:r>
              <a:rPr sz="1050" b="0" i="0">
                <a:solidFill>
                  <a:srgbClr val="404040"/>
                </a:solidFill>
                <a:latin typeface="Helvetica Neue"/>
              </a:rPr>
              <a:t> — cloud capex +81% and DRAM +13–18% QoQ lift results, but HPE controls neither.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Moat is narrow and sits in networking, not servers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COMPETITIVE POSITION &amp; MOAT</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Bona Fide analysis using IDC, Dell'Oro, HPE filings and peer financials.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24</a:t>
            </a:r>
          </a:p>
        </p:txBody>
      </p:sp>
      <p:graphicFrame>
        <p:nvGraphicFramePr>
          <p:cNvPr id="7" name="Table 133"/>
          <p:cNvGraphicFramePr>
            <a:graphicFrameLocks noGrp="1"/>
          </p:cNvGraphicFramePr>
          <p:nvPr/>
        </p:nvGraphicFramePr>
        <p:xfrm>
          <a:off x="320040" y="1463040"/>
          <a:ext cx="4297680" cy="1975104"/>
        </p:xfrm>
        <a:graphic>
          <a:graphicData uri="http://schemas.openxmlformats.org/drawingml/2006/table">
            <a:tbl>
              <a:tblPr firstRow="1">
                <a:tableStyleId>{5C22544A-7EE6-4342-B048-85BDC9FD1C3A}</a:tableStyleId>
              </a:tblPr>
              <a:tblGrid>
                <a:gridCol w="960120"/>
                <a:gridCol w="731520"/>
                <a:gridCol w="2606040"/>
              </a:tblGrid>
              <a:tr h="329184">
                <a:tc>
                  <a:txBody>
                    <a:bodyPr/>
                    <a:lstStyle/>
                    <a:p>
                      <a:pPr algn="l"/>
                      <a:r>
                        <a:rPr sz="850" b="1">
                          <a:solidFill>
                            <a:srgbClr val="FCC80D"/>
                          </a:solidFill>
                          <a:latin typeface="Helvetica Neue"/>
                        </a:rPr>
                        <a:t>Porter force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Intensity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850" b="1">
                          <a:solidFill>
                            <a:srgbClr val="FCC80D"/>
                          </a:solidFill>
                          <a:latin typeface="Helvetica Neue"/>
                        </a:rPr>
                        <a:t>Evidence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29184">
                <a:tc>
                  <a:txBody>
                    <a:bodyPr/>
                    <a:lstStyle/>
                    <a:p>
                      <a:pPr algn="l"/>
                      <a:r>
                        <a:rPr sz="850" b="1">
                          <a:solidFill>
                            <a:srgbClr val="1F2421"/>
                          </a:solidFill>
                          <a:latin typeface="Helvetica Neue"/>
                        </a:rPr>
                        <a:t>Rivalry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Dell, Supermicro, Lenovo, Cisco, Arista, ODMs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850" b="1">
                          <a:solidFill>
                            <a:srgbClr val="1F2421"/>
                          </a:solidFill>
                          <a:latin typeface="Helvetica Neue"/>
                        </a:rPr>
                        <a:t>Suppliers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NVIDIA, memory triopoly, Broadcom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850" b="1">
                          <a:solidFill>
                            <a:srgbClr val="1F2421"/>
                          </a:solidFill>
                          <a:latin typeface="Helvetica Neue"/>
                        </a:rPr>
                        <a:t>Buyers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Med–high</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Hyperscalers and sovereigns buy in huge lots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850" b="1">
                          <a:solidFill>
                            <a:srgbClr val="1F2421"/>
                          </a:solidFill>
                          <a:latin typeface="Helvetica Neue"/>
                        </a:rPr>
                        <a:t>Substitutes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Medium</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850" b="0">
                          <a:solidFill>
                            <a:srgbClr val="1F2421"/>
                          </a:solidFill>
                          <a:latin typeface="Helvetica Neue"/>
                        </a:rPr>
                        <a:t>Public-cloud IaaS vs on-prem inference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850" b="1">
                          <a:solidFill>
                            <a:srgbClr val="1F2421"/>
                          </a:solidFill>
                          <a:latin typeface="Helvetica Neue"/>
                        </a:rPr>
                        <a:t>New entrants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Low–med</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850" b="0">
                          <a:solidFill>
                            <a:srgbClr val="1F2421"/>
                          </a:solidFill>
                          <a:latin typeface="Helvetica Neue"/>
                        </a:rPr>
                        <a:t>Scale and supply allocation barriers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graphicFrame>
        <p:nvGraphicFramePr>
          <p:cNvPr id="8" name="Table 134"/>
          <p:cNvGraphicFramePr>
            <a:graphicFrameLocks noGrp="1"/>
          </p:cNvGraphicFramePr>
          <p:nvPr/>
        </p:nvGraphicFramePr>
        <p:xfrm>
          <a:off x="4800600" y="1463040"/>
          <a:ext cx="4023360" cy="1645920"/>
        </p:xfrm>
        <a:graphic>
          <a:graphicData uri="http://schemas.openxmlformats.org/drawingml/2006/table">
            <a:tbl>
              <a:tblPr firstRow="1">
                <a:tableStyleId>{5C22544A-7EE6-4342-B048-85BDC9FD1C3A}</a:tableStyleId>
              </a:tblPr>
              <a:tblGrid>
                <a:gridCol w="1737360"/>
                <a:gridCol w="1005840"/>
                <a:gridCol w="1280160"/>
              </a:tblGrid>
              <a:tr h="329184">
                <a:tc>
                  <a:txBody>
                    <a:bodyPr/>
                    <a:lstStyle/>
                    <a:p>
                      <a:pPr algn="l"/>
                      <a:r>
                        <a:rPr sz="900" b="1">
                          <a:solidFill>
                            <a:srgbClr val="FCC80D"/>
                          </a:solidFill>
                          <a:latin typeface="Helvetica Neue"/>
                        </a:rPr>
                        <a:t>Business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Moat</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pPr algn="l"/>
                      <a:r>
                        <a:rPr sz="900" b="1">
                          <a:solidFill>
                            <a:srgbClr val="FCC80D"/>
                          </a:solidFill>
                          <a:latin typeface="Helvetica Neue"/>
                        </a:rPr>
                        <a:t>Durability</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329184">
                <a:tc>
                  <a:txBody>
                    <a:bodyPr/>
                    <a:lstStyle/>
                    <a:p>
                      <a:pPr algn="l"/>
                      <a:r>
                        <a:rPr sz="900" b="1">
                          <a:solidFill>
                            <a:srgbClr val="1F2421"/>
                          </a:solidFill>
                          <a:latin typeface="Helvetica Neue"/>
                        </a:rPr>
                        <a:t>Networking</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900" b="1">
                          <a:solidFill>
                            <a:srgbClr val="1F2421"/>
                          </a:solidFill>
                          <a:latin typeface="Helvetica Neue"/>
                        </a:rPr>
                        <a:t>Storage / GreenLake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Narrow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Moderate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329184">
                <a:tc>
                  <a:txBody>
                    <a:bodyPr/>
                    <a:lstStyle/>
                    <a:p>
                      <a:pPr algn="l"/>
                      <a:r>
                        <a:rPr sz="900" b="1">
                          <a:solidFill>
                            <a:srgbClr val="1F2421"/>
                          </a:solidFill>
                          <a:latin typeface="Helvetica Neue"/>
                        </a:rPr>
                        <a:t>Servers &amp; AI systems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pPr algn="l"/>
                      <a:r>
                        <a:rPr sz="900" b="0">
                          <a:solidFill>
                            <a:srgbClr val="1F2421"/>
                          </a:solidFill>
                          <a:latin typeface="Helvetica Neue"/>
                        </a:rPr>
                        <a:t>Low</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329184">
                <a:tc>
                  <a:txBody>
                    <a:bodyPr/>
                    <a:lstStyle/>
                    <a:p>
                      <a:pPr algn="l"/>
                      <a:r>
                        <a:rPr sz="900" b="1">
                          <a:solidFill>
                            <a:srgbClr val="1F2421"/>
                          </a:solidFill>
                          <a:latin typeface="Helvetica Neue"/>
                        </a:rPr>
                        <a:t>Financial Services</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None</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pPr algn="l"/>
                      <a:r>
                        <a:rPr sz="900" b="0">
                          <a:solidFill>
                            <a:srgbClr val="1F2421"/>
                          </a:solidFill>
                          <a:latin typeface="Helvetica Neue"/>
                        </a:rPr>
                        <a:t>Cyclical</a:t>
                      </a:r>
                    </a:p>
                  </a:txBody>
                  <a:tcPr marL="45720" marR="45720" marT="13716" marB="13716" anchor="ctr">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bl>
          </a:graphicData>
        </a:graphic>
      </p:graphicFrame>
      <p:sp>
        <p:nvSpPr>
          <p:cNvPr id="9" name="TextBox 135"/>
          <p:cNvSpPr txBox="1"/>
          <p:nvPr/>
        </p:nvSpPr>
        <p:spPr>
          <a:xfrm>
            <a:off x="4800600" y="3200400"/>
            <a:ext cx="4023360" cy="1508760"/>
          </a:xfrm>
          <a:prstGeom prst="rect">
            <a:avLst/>
          </a:prstGeom>
          <a:noFill/>
        </p:spPr>
        <p:txBody>
          <a:bodyPr wrap="square" anchor="t" lIns="36576" rIns="36576" tIns="18288" bIns="18288">
            <a:spAutoFit/>
          </a:bodyPr>
          <a:lstStyle/>
          <a:p>
            <a:pPr algn="l" marL="155448" indent="-155448">
              <a:spcAft>
                <a:spcPts val="700"/>
              </a:spcAft>
              <a:buClr>
                <a:srgbClr val="135927"/>
              </a:buClr>
              <a:buSzPct val="100000"/>
              <a:buFont typeface="Helvetica Neue"/>
              <a:buChar char="•"/>
            </a:pPr>
            <a:r>
              <a:rPr sz="1000" b="1">
                <a:solidFill>
                  <a:srgbClr val="1F2421"/>
                </a:solidFill>
                <a:latin typeface="Helvetica Neue"/>
              </a:rPr>
              <a:t>Technology edge:</a:t>
            </a:r>
            <a:r>
              <a:rPr sz="1000" b="0">
                <a:solidFill>
                  <a:srgbClr val="1F2421"/>
                </a:solidFill>
                <a:latin typeface="Helvetica Neue"/>
              </a:rPr>
              <a:t> Express 5 routing silicon, liquid cooling (Cray heritage), on-prem inference (PCAI)</a:t>
            </a:r>
          </a:p>
          <a:p>
            <a:pPr algn="l" marL="155448" indent="-155448">
              <a:spcAft>
                <a:spcPts val="700"/>
              </a:spcAft>
              <a:buClr>
                <a:srgbClr val="135927"/>
              </a:buClr>
              <a:buSzPct val="100000"/>
              <a:buFont typeface="Helvetica Neue"/>
              <a:buChar char="•"/>
            </a:pPr>
            <a:r>
              <a:rPr sz="1000" b="1">
                <a:solidFill>
                  <a:srgbClr val="1F2421"/>
                </a:solidFill>
                <a:latin typeface="Helvetica Neue"/>
              </a:rPr>
              <a:t>Returns test:</a:t>
            </a:r>
            <a:r>
              <a:rPr sz="1000" b="0">
                <a:solidFill>
                  <a:srgbClr val="1F2421"/>
                </a:solidFill>
                <a:latin typeface="Helvetica Neue"/>
              </a:rPr>
              <a:t> adj. ROIC averaged 8.1% FY20–25, below WACC; 11.2% TTM</a:t>
            </a:r>
          </a:p>
        </p:txBody>
      </p:sp>
      <p:sp>
        <p:nvSpPr>
          <p:cNvPr id="10" name="TextBox 136"/>
          <p:cNvSpPr txBox="1"/>
          <p:nvPr/>
        </p:nvSpPr>
        <p:spPr>
          <a:xfrm>
            <a:off x="320040" y="3566160"/>
            <a:ext cx="4297680" cy="114300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1000" b="0">
                <a:solidFill>
                  <a:srgbClr val="1F2421"/>
                </a:solidFill>
                <a:latin typeface="Helvetica Neue"/>
              </a:rPr>
              <a:t>Juniper is a deliberate move toward the part of the stack with pricing power; servers remain a scale business losing share</a:t>
            </a:r>
          </a:p>
        </p:txBody>
      </p:sp>
      <p:sp>
        <p:nvSpPr>
          <p:cNvPr id="11"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Narrow moat, and only in networking</a:t>
            </a:r>
            <a:r>
              <a:rPr sz="1050" b="0" i="0">
                <a:solidFill>
                  <a:srgbClr val="404040"/>
                </a:solidFill>
                <a:latin typeface="Helvetica Neue"/>
              </a:rPr>
              <a:t> — rivalry and supplier power are high; servers and financing compete on scale and price.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Leverage is back near 1.8x; the preferred drives most dilution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BALANCE SHEET, CAPITAL STRUCTURE &amp; DILUTION</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HPE 10-K FY2025, 10-Q Q3 FY26, Q3 FY26 call;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25</a:t>
            </a:r>
          </a:p>
        </p:txBody>
      </p:sp>
      <p:pic>
        <p:nvPicPr>
          <p:cNvPr id="7" name="Picture 133" descr="cap_dilution_bridge_deck.png"/>
          <p:cNvPicPr>
            <a:picLocks noChangeAspect="1"/>
          </p:cNvPicPr>
          <p:nvPr/>
        </p:nvPicPr>
        <p:blipFill>
          <a:blip r:embed="rId6"/>
          <a:stretch>
            <a:fillRect/>
          </a:stretch>
        </p:blipFill>
        <p:spPr>
          <a:xfrm>
            <a:off x="274320" y="1463040"/>
            <a:ext cx="4297680" cy="1382453"/>
          </a:xfrm>
          <a:prstGeom prst="rect">
            <a:avLst/>
          </a:prstGeom>
        </p:spPr>
      </p:pic>
      <p:pic>
        <p:nvPicPr>
          <p:cNvPr id="8" name="Picture 134" descr="cap_debt_maturities_deck.png"/>
          <p:cNvPicPr>
            <a:picLocks noChangeAspect="1"/>
          </p:cNvPicPr>
          <p:nvPr/>
        </p:nvPicPr>
        <p:blipFill>
          <a:blip r:embed="rId3"/>
          <a:stretch>
            <a:fillRect/>
          </a:stretch>
        </p:blipFill>
        <p:spPr>
          <a:xfrm>
            <a:off x="4617720" y="1463040"/>
            <a:ext cx="4206240" cy="1348215"/>
          </a:xfrm>
          <a:prstGeom prst="rect">
            <a:avLst/>
          </a:prstGeom>
        </p:spPr>
      </p:pic>
      <p:sp>
        <p:nvSpPr>
          <p:cNvPr id="9" name="Rectangle 135"/>
          <p:cNvSpPr/>
          <p:nvPr/>
        </p:nvSpPr>
        <p:spPr>
          <a:xfrm>
            <a:off x="320040"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136"/>
          <p:cNvSpPr txBox="1"/>
          <p:nvPr/>
        </p:nvSpPr>
        <p:spPr>
          <a:xfrm>
            <a:off x="393192"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GROSS DEBT / CASH</a:t>
            </a:r>
          </a:p>
        </p:txBody>
      </p:sp>
      <p:sp>
        <p:nvSpPr>
          <p:cNvPr id="11" name="TextBox 137"/>
          <p:cNvSpPr txBox="1"/>
          <p:nvPr/>
        </p:nvSpPr>
        <p:spPr>
          <a:xfrm>
            <a:off x="393192"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$20.2bn / $6.2bn</a:t>
            </a:r>
          </a:p>
        </p:txBody>
      </p:sp>
      <p:sp>
        <p:nvSpPr>
          <p:cNvPr id="12" name="TextBox 138"/>
          <p:cNvSpPr txBox="1"/>
          <p:nvPr/>
        </p:nvSpPr>
        <p:spPr>
          <a:xfrm>
            <a:off x="393192"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~$11.5bn funds FS receivables (est.)</a:t>
            </a:r>
          </a:p>
        </p:txBody>
      </p:sp>
      <p:sp>
        <p:nvSpPr>
          <p:cNvPr id="13" name="Rectangle 139"/>
          <p:cNvSpPr/>
          <p:nvPr/>
        </p:nvSpPr>
        <p:spPr>
          <a:xfrm>
            <a:off x="2450592"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40"/>
          <p:cNvSpPr txBox="1"/>
          <p:nvPr/>
        </p:nvSpPr>
        <p:spPr>
          <a:xfrm>
            <a:off x="2523744"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FULLY DILUTED SHARES</a:t>
            </a:r>
          </a:p>
        </p:txBody>
      </p:sp>
      <p:sp>
        <p:nvSpPr>
          <p:cNvPr id="15" name="TextBox 141"/>
          <p:cNvSpPr txBox="1"/>
          <p:nvPr/>
        </p:nvSpPr>
        <p:spPr>
          <a:xfrm>
            <a:off x="2523744"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1,445m</a:t>
            </a:r>
          </a:p>
        </p:txBody>
      </p:sp>
      <p:sp>
        <p:nvSpPr>
          <p:cNvPr id="16" name="TextBox 142"/>
          <p:cNvSpPr txBox="1"/>
          <p:nvPr/>
        </p:nvSpPr>
        <p:spPr>
          <a:xfrm>
            <a:off x="2523744"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+8.8% vs basic</a:t>
            </a:r>
          </a:p>
        </p:txBody>
      </p:sp>
      <p:sp>
        <p:nvSpPr>
          <p:cNvPr id="17" name="Rectangle 143"/>
          <p:cNvSpPr/>
          <p:nvPr/>
        </p:nvSpPr>
        <p:spPr>
          <a:xfrm>
            <a:off x="4581144"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44"/>
          <p:cNvSpPr txBox="1"/>
          <p:nvPr/>
        </p:nvSpPr>
        <p:spPr>
          <a:xfrm>
            <a:off x="4654296"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LIQUIDITY</a:t>
            </a:r>
          </a:p>
        </p:txBody>
      </p:sp>
      <p:sp>
        <p:nvSpPr>
          <p:cNvPr id="19" name="TextBox 145"/>
          <p:cNvSpPr txBox="1"/>
          <p:nvPr/>
        </p:nvSpPr>
        <p:spPr>
          <a:xfrm>
            <a:off x="4654296"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$11.5bn</a:t>
            </a:r>
          </a:p>
        </p:txBody>
      </p:sp>
      <p:sp>
        <p:nvSpPr>
          <p:cNvPr id="20" name="TextBox 146"/>
          <p:cNvSpPr txBox="1"/>
          <p:nvPr/>
        </p:nvSpPr>
        <p:spPr>
          <a:xfrm>
            <a:off x="4654296"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cash + undrawn revolver</a:t>
            </a:r>
          </a:p>
        </p:txBody>
      </p:sp>
      <p:sp>
        <p:nvSpPr>
          <p:cNvPr id="21" name="Rectangle 147"/>
          <p:cNvSpPr/>
          <p:nvPr/>
        </p:nvSpPr>
        <p:spPr>
          <a:xfrm>
            <a:off x="6711696" y="3611880"/>
            <a:ext cx="2039112" cy="1051560"/>
          </a:xfrm>
          <a:prstGeom prst="rect">
            <a:avLst/>
          </a:prstGeom>
          <a:solidFill>
            <a:srgbClr val="EC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148"/>
          <p:cNvSpPr txBox="1"/>
          <p:nvPr/>
        </p:nvSpPr>
        <p:spPr>
          <a:xfrm>
            <a:off x="6784848" y="3657600"/>
            <a:ext cx="1892807" cy="201168"/>
          </a:xfrm>
          <a:prstGeom prst="rect">
            <a:avLst/>
          </a:prstGeom>
          <a:noFill/>
        </p:spPr>
        <p:txBody>
          <a:bodyPr wrap="square" anchor="t" lIns="36576" rIns="36576" tIns="18288" bIns="18288">
            <a:spAutoFit/>
          </a:bodyPr>
          <a:lstStyle/>
          <a:p>
            <a:pPr algn="l">
              <a:spcAft>
                <a:spcPts val="300"/>
              </a:spcAft>
            </a:pPr>
            <a:r>
              <a:rPr sz="750" b="1">
                <a:solidFill>
                  <a:srgbClr val="595959"/>
                </a:solidFill>
                <a:latin typeface="Helvetica Neue"/>
              </a:rPr>
              <a:t>BUYBACK AUTHORISATION</a:t>
            </a:r>
          </a:p>
        </p:txBody>
      </p:sp>
      <p:sp>
        <p:nvSpPr>
          <p:cNvPr id="23" name="TextBox 149"/>
          <p:cNvSpPr txBox="1"/>
          <p:nvPr/>
        </p:nvSpPr>
        <p:spPr>
          <a:xfrm>
            <a:off x="6784848" y="3831336"/>
            <a:ext cx="1892807" cy="384048"/>
          </a:xfrm>
          <a:prstGeom prst="rect">
            <a:avLst/>
          </a:prstGeom>
          <a:noFill/>
        </p:spPr>
        <p:txBody>
          <a:bodyPr wrap="square" anchor="t" lIns="36576" rIns="36576" tIns="18288" bIns="18288">
            <a:spAutoFit/>
          </a:bodyPr>
          <a:lstStyle/>
          <a:p>
            <a:pPr algn="l">
              <a:spcAft>
                <a:spcPts val="300"/>
              </a:spcAft>
            </a:pPr>
            <a:r>
              <a:rPr sz="1600" b="1">
                <a:solidFill>
                  <a:srgbClr val="135927"/>
                </a:solidFill>
                <a:latin typeface="Twentieth Century"/>
              </a:rPr>
              <a:t>$3.2bn</a:t>
            </a:r>
          </a:p>
        </p:txBody>
      </p:sp>
      <p:sp>
        <p:nvSpPr>
          <p:cNvPr id="24" name="TextBox 150"/>
          <p:cNvSpPr txBox="1"/>
          <p:nvPr/>
        </p:nvSpPr>
        <p:spPr>
          <a:xfrm>
            <a:off x="6784848" y="4389120"/>
            <a:ext cx="1892807" cy="256032"/>
          </a:xfrm>
          <a:prstGeom prst="rect">
            <a:avLst/>
          </a:prstGeom>
          <a:noFill/>
        </p:spPr>
        <p:txBody>
          <a:bodyPr wrap="square" anchor="t" lIns="36576" rIns="36576" tIns="18288" bIns="18288">
            <a:spAutoFit/>
          </a:bodyPr>
          <a:lstStyle/>
          <a:p>
            <a:pPr algn="l">
              <a:spcAft>
                <a:spcPts val="300"/>
              </a:spcAft>
            </a:pPr>
            <a:r>
              <a:rPr sz="750" b="0">
                <a:solidFill>
                  <a:srgbClr val="595959"/>
                </a:solidFill>
                <a:latin typeface="Helvetica Neue"/>
              </a:rPr>
              <a:t>≥75% of FCF returned from Q4</a:t>
            </a:r>
          </a:p>
        </p:txBody>
      </p:sp>
      <p:sp>
        <p:nvSpPr>
          <p:cNvPr id="2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Leverage is manageable; dilution is the real cost</a:t>
            </a:r>
            <a:r>
              <a:rPr sz="1050" b="0" i="0">
                <a:solidFill>
                  <a:srgbClr val="404040"/>
                </a:solidFill>
                <a:latin typeface="Helvetica Neue"/>
              </a:rPr>
              <a:t> — 1.75x net leverage and $11.5bn liquidity, but 8.8% more shares than basic.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Consolidating below $63–64 resistance after a blow-off</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PRICE ACTION &amp; TECHNICALS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Yahoo Finance daily data; ta library indicators; Bona Fide analysis. 14-Sep intraday move is after the valuation date.</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26</a:t>
            </a:r>
          </a:p>
        </p:txBody>
      </p:sp>
      <p:pic>
        <p:nvPicPr>
          <p:cNvPr id="7" name="Picture 133" descr="stock_2y_technicals_deck.png"/>
          <p:cNvPicPr>
            <a:picLocks noChangeAspect="1"/>
          </p:cNvPicPr>
          <p:nvPr/>
        </p:nvPicPr>
        <p:blipFill>
          <a:blip r:embed="rId5"/>
          <a:stretch>
            <a:fillRect/>
          </a:stretch>
        </p:blipFill>
        <p:spPr>
          <a:xfrm>
            <a:off x="274320" y="1463040"/>
            <a:ext cx="4754880" cy="3090672"/>
          </a:xfrm>
          <a:prstGeom prst="rect">
            <a:avLst/>
          </a:prstGeom>
        </p:spPr>
      </p:pic>
      <p:sp>
        <p:nvSpPr>
          <p:cNvPr id="8" name="TextBox 134"/>
          <p:cNvSpPr txBox="1"/>
          <p:nvPr/>
        </p:nvSpPr>
        <p:spPr>
          <a:xfrm>
            <a:off x="5166360" y="1463040"/>
            <a:ext cx="3657600" cy="3246120"/>
          </a:xfrm>
          <a:prstGeom prst="rect">
            <a:avLst/>
          </a:prstGeom>
          <a:noFill/>
        </p:spPr>
        <p:txBody>
          <a:bodyPr wrap="square" anchor="t" lIns="36576" rIns="36576" tIns="18288" bIns="18288">
            <a:spAutoFit/>
          </a:bodyPr>
          <a:lstStyle/>
          <a:p>
            <a:pPr algn="l" marL="155448" indent="-155448">
              <a:spcAft>
                <a:spcPts val="400"/>
              </a:spcAft>
              <a:buClr>
                <a:srgbClr val="135927"/>
              </a:buClr>
              <a:buSzPct val="100000"/>
              <a:buFont typeface="Helvetica Neue"/>
              <a:buChar char="•"/>
            </a:pPr>
            <a:r>
              <a:rPr sz="900" b="1">
                <a:solidFill>
                  <a:srgbClr val="1F2421"/>
                </a:solidFill>
                <a:latin typeface="Helvetica Neue"/>
              </a:rPr>
              <a:t>Breakout:</a:t>
            </a:r>
            <a:r>
              <a:rPr sz="900" b="0">
                <a:solidFill>
                  <a:srgbClr val="1F2421"/>
                </a:solidFill>
                <a:latin typeface="Helvetica Neue"/>
              </a:rPr>
              <a:t> first close above the $26.25 decade high on 17-Apr-2026, after a golden cross (15-Apr)</a:t>
            </a:r>
          </a:p>
          <a:p>
            <a:pPr algn="l" marL="155448" indent="-155448">
              <a:spcAft>
                <a:spcPts val="400"/>
              </a:spcAft>
              <a:buClr>
                <a:srgbClr val="135927"/>
              </a:buClr>
              <a:buSzPct val="100000"/>
              <a:buFont typeface="Helvetica Neue"/>
              <a:buChar char="•"/>
            </a:pPr>
            <a:r>
              <a:rPr sz="900" b="1">
                <a:solidFill>
                  <a:srgbClr val="1F2421"/>
                </a:solidFill>
                <a:latin typeface="Helvetica Neue"/>
              </a:rPr>
              <a:t>Blow-off:</a:t>
            </a:r>
            <a:r>
              <a:rPr sz="900" b="0">
                <a:solidFill>
                  <a:srgbClr val="1F2421"/>
                </a:solidFill>
                <a:latin typeface="Helvetica Neue"/>
              </a:rPr>
              <a:t> 2-Jun opened +34%, closed +19.5% on 7x volume; −26% drawdown into July</a:t>
            </a:r>
          </a:p>
          <a:p>
            <a:pPr algn="l" marL="155448" indent="-155448">
              <a:spcAft>
                <a:spcPts val="400"/>
              </a:spcAft>
              <a:buClr>
                <a:srgbClr val="135927"/>
              </a:buClr>
              <a:buSzPct val="100000"/>
              <a:buFont typeface="Helvetica Neue"/>
              <a:buChar char="•"/>
            </a:pPr>
            <a:r>
              <a:rPr sz="900" b="1">
                <a:solidFill>
                  <a:srgbClr val="1F2421"/>
                </a:solidFill>
                <a:latin typeface="Helvetica Neue"/>
              </a:rPr>
              <a:t>Range:</a:t>
            </a:r>
            <a:r>
              <a:rPr sz="900" b="0">
                <a:solidFill>
                  <a:srgbClr val="1F2421"/>
                </a:solidFill>
                <a:latin typeface="Helvetica Neue"/>
              </a:rPr>
              <a:t> highs $64.25 / $63.44, lows $40.72 / $45.70 — contracting; bandwidth 85% → 18%</a:t>
            </a:r>
          </a:p>
          <a:p>
            <a:pPr algn="l" marL="155448" indent="-155448">
              <a:spcAft>
                <a:spcPts val="400"/>
              </a:spcAft>
              <a:buClr>
                <a:srgbClr val="135927"/>
              </a:buClr>
              <a:buSzPct val="100000"/>
              <a:buFont typeface="Helvetica Neue"/>
              <a:buChar char="•"/>
            </a:pPr>
            <a:r>
              <a:rPr sz="900" b="1">
                <a:solidFill>
                  <a:srgbClr val="1F2421"/>
                </a:solidFill>
                <a:latin typeface="Helvetica Neue"/>
              </a:rPr>
              <a:t>Test:</a:t>
            </a:r>
            <a:r>
              <a:rPr sz="900" b="0">
                <a:solidFill>
                  <a:srgbClr val="1F2421"/>
                </a:solidFill>
                <a:latin typeface="Helvetica Neue"/>
              </a:rPr>
              <a:t> record close $62.09 on 2x volume, still below intraday highs; ~9% lower intraday on 14-Sep after a downgrade</a:t>
            </a:r>
          </a:p>
          <a:p>
            <a:pPr algn="l" marL="155448" indent="-155448">
              <a:spcAft>
                <a:spcPts val="400"/>
              </a:spcAft>
              <a:buClr>
                <a:srgbClr val="135927"/>
              </a:buClr>
              <a:buSzPct val="100000"/>
              <a:buFont typeface="Helvetica Neue"/>
              <a:buChar char="•"/>
            </a:pPr>
            <a:r>
              <a:rPr sz="900" b="1">
                <a:solidFill>
                  <a:srgbClr val="1F2421"/>
                </a:solidFill>
                <a:latin typeface="Helvetica Neue"/>
              </a:rPr>
              <a:t>Read:</a:t>
            </a:r>
            <a:r>
              <a:rPr sz="900" b="0">
                <a:solidFill>
                  <a:srgbClr val="1F2421"/>
                </a:solidFill>
                <a:latin typeface="Helvetica Neue"/>
              </a:rPr>
              <a:t> trend up but 83% above 200-day SMA; support ~$51 (50-day) and $41–46</a:t>
            </a:r>
          </a:p>
        </p:txBody>
      </p:sp>
      <p:sp>
        <p:nvSpPr>
          <p:cNvPr id="9"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Strong trend, stretched price</a:t>
            </a:r>
            <a:r>
              <a:rPr sz="1050" b="0" i="0">
                <a:solidFill>
                  <a:srgbClr val="404040"/>
                </a:solidFill>
                <a:latin typeface="Helvetica Neue"/>
              </a:rPr>
              <a:t> — a tightening $41–64 range since the June blow-off; 83% above the 200-day average.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Earnings, not deals, move the stock; next test is 30-Sep</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MAJOR STOCK MOVES &amp; CATALYSTS</a:t>
            </a:r>
          </a:p>
        </p:txBody>
      </p:sp>
      <p:sp>
        <p:nvSpPr>
          <p:cNvPr id="5"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8-K filing dates; Yahoo Finance; news sources in report/source_log.csv; Bona Fide analysis.</a:t>
            </a:r>
          </a:p>
        </p:txBody>
      </p:sp>
      <p:sp>
        <p:nvSpPr>
          <p:cNvPr id="6"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27</a:t>
            </a:r>
          </a:p>
        </p:txBody>
      </p:sp>
      <p:pic>
        <p:nvPicPr>
          <p:cNvPr id="7" name="Picture 133" descr="events_excess_returns_deck.png"/>
          <p:cNvPicPr>
            <a:picLocks noChangeAspect="1"/>
          </p:cNvPicPr>
          <p:nvPr/>
        </p:nvPicPr>
        <p:blipFill>
          <a:blip r:embed="rId5"/>
          <a:stretch>
            <a:fillRect/>
          </a:stretch>
        </p:blipFill>
        <p:spPr>
          <a:xfrm>
            <a:off x="284618" y="1463040"/>
            <a:ext cx="4447039" cy="3218688"/>
          </a:xfrm>
          <a:prstGeom prst="rect">
            <a:avLst/>
          </a:prstGeom>
        </p:spPr>
      </p:pic>
      <p:sp>
        <p:nvSpPr>
          <p:cNvPr id="8" name="TextBox 134"/>
          <p:cNvSpPr txBox="1"/>
          <p:nvPr/>
        </p:nvSpPr>
        <p:spPr>
          <a:xfrm>
            <a:off x="5440680" y="146304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UPCOMING CATALYSTS</a:t>
            </a:r>
          </a:p>
        </p:txBody>
      </p:sp>
      <p:sp>
        <p:nvSpPr>
          <p:cNvPr id="9" name="TextBox 135"/>
          <p:cNvSpPr txBox="1"/>
          <p:nvPr/>
        </p:nvSpPr>
        <p:spPr>
          <a:xfrm>
            <a:off x="5440680" y="1719072"/>
            <a:ext cx="3383280" cy="146304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30-Sep-2026:</a:t>
            </a:r>
            <a:r>
              <a:rPr sz="900" b="0">
                <a:solidFill>
                  <a:srgbClr val="1F2421"/>
                </a:solidFill>
                <a:latin typeface="Helvetica Neue"/>
              </a:rPr>
              <a:t> Networking Investor Day</a:t>
            </a:r>
          </a:p>
          <a:p>
            <a:pPr algn="l" marL="155448" indent="-155448">
              <a:spcAft>
                <a:spcPts val="300"/>
              </a:spcAft>
              <a:buClr>
                <a:srgbClr val="135927"/>
              </a:buClr>
              <a:buSzPct val="100000"/>
              <a:buFont typeface="Helvetica Neue"/>
              <a:buChar char="•"/>
            </a:pPr>
            <a:r>
              <a:rPr sz="900" b="1">
                <a:solidFill>
                  <a:srgbClr val="1F2421"/>
                </a:solidFill>
                <a:latin typeface="Helvetica Neue"/>
              </a:rPr>
              <a:t>Early Dec-2026:</a:t>
            </a:r>
            <a:r>
              <a:rPr sz="900" b="0">
                <a:solidFill>
                  <a:srgbClr val="1F2421"/>
                </a:solidFill>
                <a:latin typeface="Helvetica Neue"/>
              </a:rPr>
              <a:t> Q4 FY26 results and full FY27 guidance</a:t>
            </a:r>
          </a:p>
          <a:p>
            <a:pPr algn="l" marL="155448" indent="-155448">
              <a:spcAft>
                <a:spcPts val="300"/>
              </a:spcAft>
              <a:buClr>
                <a:srgbClr val="135927"/>
              </a:buClr>
              <a:buSzPct val="100000"/>
              <a:buFont typeface="Helvetica Neue"/>
              <a:buChar char="•"/>
            </a:pPr>
            <a:r>
              <a:rPr sz="900" b="1">
                <a:solidFill>
                  <a:srgbClr val="1F2421"/>
                </a:solidFill>
                <a:latin typeface="Helvetica Neue"/>
              </a:rPr>
              <a:t>Ongoing:</a:t>
            </a:r>
            <a:r>
              <a:rPr sz="900" b="0">
                <a:solidFill>
                  <a:srgbClr val="1F2421"/>
                </a:solidFill>
                <a:latin typeface="Helvetica Neue"/>
              </a:rPr>
              <a:t> Oracle warrant milestones; Helios ramp</a:t>
            </a:r>
          </a:p>
          <a:p>
            <a:pPr algn="l" marL="155448" indent="-155448">
              <a:spcAft>
                <a:spcPts val="300"/>
              </a:spcAft>
              <a:buClr>
                <a:srgbClr val="135927"/>
              </a:buClr>
              <a:buSzPct val="100000"/>
              <a:buFont typeface="Helvetica Neue"/>
              <a:buChar char="•"/>
            </a:pPr>
            <a:r>
              <a:rPr sz="900" b="1">
                <a:solidFill>
                  <a:srgbClr val="1F2421"/>
                </a:solidFill>
                <a:latin typeface="Helvetica Neue"/>
              </a:rPr>
              <a:t>~1-Sep-2027:</a:t>
            </a:r>
            <a:r>
              <a:rPr sz="900" b="0">
                <a:solidFill>
                  <a:srgbClr val="1F2421"/>
                </a:solidFill>
                <a:latin typeface="Helvetica Neue"/>
              </a:rPr>
              <a:t> mandatory preferred conversion</a:t>
            </a:r>
          </a:p>
        </p:txBody>
      </p:sp>
      <p:sp>
        <p:nvSpPr>
          <p:cNvPr id="10" name="TextBox 136"/>
          <p:cNvSpPr txBox="1"/>
          <p:nvPr/>
        </p:nvSpPr>
        <p:spPr>
          <a:xfrm>
            <a:off x="5440680" y="3246120"/>
            <a:ext cx="33832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FILINGS &amp; OWNERSHIP</a:t>
            </a:r>
          </a:p>
        </p:txBody>
      </p:sp>
      <p:sp>
        <p:nvSpPr>
          <p:cNvPr id="11" name="TextBox 137"/>
          <p:cNvSpPr txBox="1"/>
          <p:nvPr/>
        </p:nvSpPr>
        <p:spPr>
          <a:xfrm>
            <a:off x="5440680" y="3502152"/>
            <a:ext cx="3383280" cy="118872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0">
                <a:solidFill>
                  <a:srgbClr val="1F2421"/>
                </a:solidFill>
                <a:latin typeface="Helvetica Neue"/>
              </a:rPr>
              <a:t>31 insider open-market sales ($49m, 12m), no purchases</a:t>
            </a:r>
          </a:p>
          <a:p>
            <a:pPr algn="l" marL="155448" indent="-155448">
              <a:spcAft>
                <a:spcPts val="300"/>
              </a:spcAft>
              <a:buClr>
                <a:srgbClr val="135927"/>
              </a:buClr>
              <a:buSzPct val="100000"/>
              <a:buFont typeface="Helvetica Neue"/>
              <a:buChar char="•"/>
            </a:pPr>
            <a:r>
              <a:rPr sz="900" b="0">
                <a:solidFill>
                  <a:srgbClr val="1F2421"/>
                </a:solidFill>
                <a:latin typeface="Helvetica Neue"/>
              </a:rPr>
              <a:t>Elliott raised stake 18% in Q2 (2.4%); board seat</a:t>
            </a:r>
          </a:p>
          <a:p>
            <a:pPr algn="l" marL="155448" indent="-155448">
              <a:spcAft>
                <a:spcPts val="300"/>
              </a:spcAft>
              <a:buClr>
                <a:srgbClr val="135927"/>
              </a:buClr>
              <a:buSzPct val="100000"/>
              <a:buFont typeface="Helvetica Neue"/>
              <a:buChar char="•"/>
            </a:pPr>
            <a:r>
              <a:rPr sz="900" b="0">
                <a:solidFill>
                  <a:srgbClr val="1F2421"/>
                </a:solidFill>
                <a:latin typeface="Helvetica Neue"/>
              </a:rPr>
              <a:t>Average earnings day-0 move 6.7% vs 1.6% on a normal day</a:t>
            </a:r>
          </a:p>
        </p:txBody>
      </p:sp>
      <p:sp>
        <p:nvSpPr>
          <p:cNvPr id="12"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Earnings days carry the risk</a:t>
            </a:r>
            <a:r>
              <a:rPr sz="1050" b="0" i="0">
                <a:solidFill>
                  <a:srgbClr val="404040"/>
                </a:solidFill>
                <a:latin typeface="Helvetica Neue"/>
              </a:rPr>
              <a:t> — average earnings-day move 6.7% vs 1.6% on a normal day; insiders sold, none bought.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Juniper sign-off: governance, not unique hardware</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1</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A named SOP step signals governance, not a flaw</a:t>
            </a:r>
            <a:r>
              <a:rPr sz="1050" b="0" i="0">
                <a:solidFill>
                  <a:srgbClr val="404040"/>
                </a:solidFill>
                <a:latin typeface="Helvetica Neue"/>
              </a:rPr>
              <a:t> — Juniper has 8 CISA known-exploited entries, 8th of 13 vendors (Cisco 97).</a:t>
            </a:r>
          </a:p>
        </p:txBody>
      </p:sp>
      <p:sp>
        <p:nvSpPr>
          <p:cNvPr id="6" name="TextBox 135"/>
          <p:cNvSpPr txBox="1"/>
          <p:nvPr/>
        </p:nvSpPr>
        <p:spPr>
          <a:xfrm>
            <a:off x="320040" y="1463040"/>
            <a:ext cx="44805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SHORT ANSWER</a:t>
            </a:r>
          </a:p>
        </p:txBody>
      </p:sp>
      <p:sp>
        <p:nvSpPr>
          <p:cNvPr id="7" name="TextBox 136"/>
          <p:cNvSpPr txBox="1"/>
          <p:nvPr/>
        </p:nvSpPr>
        <p:spPr>
          <a:xfrm>
            <a:off x="320040" y="1682496"/>
            <a:ext cx="4480560" cy="566928"/>
          </a:xfrm>
          <a:prstGeom prst="rect">
            <a:avLst/>
          </a:prstGeom>
          <a:noFill/>
        </p:spPr>
        <p:txBody>
          <a:bodyPr wrap="square" anchor="t" lIns="36576" rIns="36576" tIns="18288" bIns="18288">
            <a:spAutoFit/>
          </a:bodyPr>
          <a:lstStyle/>
          <a:p>
            <a:pPr algn="l">
              <a:spcAft>
                <a:spcPts val="500"/>
              </a:spcAft>
            </a:pPr>
            <a:r>
              <a:rPr sz="950" b="0">
                <a:solidFill>
                  <a:srgbClr val="1F2421"/>
                </a:solidFill>
                <a:latin typeface="Helvetica Neue"/>
              </a:rPr>
              <a:t>Not unique hardware. Junos OS and Juniper silicon are proprietary, but the devices do the same job as Cisco or Arista kit. A named step signals how the equipment is governed.</a:t>
            </a:r>
          </a:p>
        </p:txBody>
      </p:sp>
      <p:sp>
        <p:nvSpPr>
          <p:cNvPr id="8" name="TextBox 135"/>
          <p:cNvSpPr txBox="1"/>
          <p:nvPr/>
        </p:nvSpPr>
        <p:spPr>
          <a:xfrm>
            <a:off x="320040" y="2286000"/>
            <a:ext cx="448056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LIKELY REASONS THE SOP NAMES JUNIPER</a:t>
            </a:r>
          </a:p>
        </p:txBody>
      </p:sp>
      <p:sp>
        <p:nvSpPr>
          <p:cNvPr id="9" name="TextBox 136"/>
          <p:cNvSpPr txBox="1"/>
          <p:nvPr/>
        </p:nvSpPr>
        <p:spPr>
          <a:xfrm>
            <a:off x="320040" y="2514600"/>
            <a:ext cx="4480560" cy="219456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900" b="1">
                <a:solidFill>
                  <a:srgbClr val="1F2421"/>
                </a:solidFill>
                <a:latin typeface="Helvetica Neue"/>
              </a:rPr>
              <a:t>Role: </a:t>
            </a:r>
            <a:r>
              <a:rPr sz="900" b="0">
                <a:solidFill>
                  <a:srgbClr val="1F2421"/>
                </a:solidFill>
                <a:latin typeface="Helvetica Neue"/>
              </a:rPr>
              <a:t>core routers (MX, PTX) and perimeter firewalls (SRX) have a large blast radius; any vendor’s would need change control.</a:t>
            </a:r>
          </a:p>
          <a:p>
            <a:pPr algn="l" marL="155448" indent="-155448">
              <a:spcAft>
                <a:spcPts val="300"/>
              </a:spcAft>
              <a:buClr>
                <a:srgbClr val="135927"/>
              </a:buClr>
              <a:buSzPct val="100000"/>
              <a:buFont typeface="Helvetica Neue"/>
              <a:buChar char="•"/>
            </a:pPr>
            <a:r>
              <a:rPr sz="900" b="1">
                <a:solidFill>
                  <a:srgbClr val="1F2421"/>
                </a:solidFill>
                <a:latin typeface="Helvetica Neue"/>
              </a:rPr>
              <a:t>Security history: </a:t>
            </a:r>
            <a:r>
              <a:rPr sz="900" b="0">
                <a:solidFill>
                  <a:srgbClr val="1F2421"/>
                </a:solidFill>
                <a:latin typeface="Helvetica Neue"/>
              </a:rPr>
              <a:t>unauthorised code in ScreenOS (2015), exploited J-Web flaws (2023), China-nexus backdoors on end-of-life MX routers (2025).</a:t>
            </a:r>
          </a:p>
          <a:p>
            <a:pPr algn="l" marL="155448" indent="-155448">
              <a:spcAft>
                <a:spcPts val="300"/>
              </a:spcAft>
              <a:buClr>
                <a:srgbClr val="135927"/>
              </a:buClr>
              <a:buSzPct val="100000"/>
              <a:buFont typeface="Helvetica Neue"/>
              <a:buChar char="•"/>
            </a:pPr>
            <a:r>
              <a:rPr sz="900" b="1">
                <a:solidFill>
                  <a:srgbClr val="1F2421"/>
                </a:solidFill>
                <a:latin typeface="Helvetica Neue"/>
              </a:rPr>
              <a:t>Speed: </a:t>
            </a:r>
            <a:r>
              <a:rPr sz="900" b="0">
                <a:solidFill>
                  <a:srgbClr val="1F2421"/>
                </a:solidFill>
                <a:latin typeface="Helvetica Neue"/>
              </a:rPr>
              <a:t>a live inventory lets security teams meet CISA deadlines: 3 weeks for CVE-2025-21590, 4 days for the 2023 J-Web flaws.</a:t>
            </a:r>
          </a:p>
          <a:p>
            <a:pPr algn="l" marL="155448" indent="-155448">
              <a:spcAft>
                <a:spcPts val="300"/>
              </a:spcAft>
              <a:buClr>
                <a:srgbClr val="135927"/>
              </a:buClr>
              <a:buSzPct val="100000"/>
              <a:buFont typeface="Helvetica Neue"/>
              <a:buChar char="•"/>
            </a:pPr>
            <a:r>
              <a:rPr sz="900" b="1">
                <a:solidFill>
                  <a:srgbClr val="1F2421"/>
                </a:solidFill>
                <a:latin typeface="Helvetica Neue"/>
              </a:rPr>
              <a:t>Cloud management: </a:t>
            </a:r>
            <a:r>
              <a:rPr sz="900" b="0">
                <a:solidFill>
                  <a:srgbClr val="1F2421"/>
                </a:solidFill>
                <a:latin typeface="Helvetica Neue"/>
              </a:rPr>
              <a:t>Mist-managed devices connect out to the Mist cloud (TCP 443/2200), so firewall and data reviews apply.</a:t>
            </a:r>
          </a:p>
          <a:p>
            <a:pPr algn="l" marL="155448" indent="-155448">
              <a:spcAft>
                <a:spcPts val="300"/>
              </a:spcAft>
              <a:buClr>
                <a:srgbClr val="135927"/>
              </a:buClr>
              <a:buSzPct val="100000"/>
              <a:buFont typeface="Helvetica Neue"/>
              <a:buChar char="•"/>
            </a:pPr>
            <a:r>
              <a:rPr sz="900" b="1">
                <a:solidFill>
                  <a:srgbClr val="1F2421"/>
                </a:solidFill>
                <a:latin typeface="Helvetica Neue"/>
              </a:rPr>
              <a:t>Ownership: </a:t>
            </a:r>
            <a:r>
              <a:rPr sz="900" b="0">
                <a:solidFill>
                  <a:srgbClr val="1F2421"/>
                </a:solidFill>
                <a:latin typeface="Helvetica Neue"/>
              </a:rPr>
              <a:t>HPE has owned Juniper since 2-Jul-2025; support contracts and supplier records are changing.</a:t>
            </a:r>
          </a:p>
          <a:p>
            <a:pPr algn="l" marL="155448" indent="-155448">
              <a:spcAft>
                <a:spcPts val="300"/>
              </a:spcAft>
              <a:buClr>
                <a:srgbClr val="135927"/>
              </a:buClr>
              <a:buSzPct val="100000"/>
              <a:buFont typeface="Helvetica Neue"/>
              <a:buChar char="•"/>
            </a:pPr>
            <a:r>
              <a:rPr sz="900" b="1">
                <a:solidFill>
                  <a:srgbClr val="1F2421"/>
                </a:solidFill>
                <a:latin typeface="Helvetica Neue"/>
              </a:rPr>
              <a:t>Not a legal ban: </a:t>
            </a:r>
            <a:r>
              <a:rPr sz="900" b="0">
                <a:solidFill>
                  <a:srgbClr val="1F2421"/>
                </a:solidFill>
                <a:latin typeface="Helvetica Neue"/>
              </a:rPr>
              <a:t>Juniper is not on the U.S. Covered List (Huawei, ZTE, Hytera, Hikvision, Dahua).</a:t>
            </a:r>
          </a:p>
        </p:txBody>
      </p:sp>
      <p:sp>
        <p:nvSpPr>
          <p:cNvPr id="10" name="TextBox 135"/>
          <p:cNvSpPr txBox="1"/>
          <p:nvPr/>
        </p:nvSpPr>
        <p:spPr>
          <a:xfrm>
            <a:off x="4983480" y="1463040"/>
            <a:ext cx="38404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CISA KNOWN EXPLOITED VULNERABILITIES, ENTRIES BY VENDOR</a:t>
            </a:r>
          </a:p>
        </p:txBody>
      </p:sp>
      <p:pic>
        <p:nvPicPr>
          <p:cNvPr id="11" name="Picture 137" descr="qa_kev_vendor_exposure_deck.png"/>
          <p:cNvPicPr>
            <a:picLocks noChangeAspect="1"/>
          </p:cNvPicPr>
          <p:nvPr/>
        </p:nvPicPr>
        <p:blipFill>
          <a:blip r:embed="rId5"/>
          <a:stretch>
            <a:fillRect/>
          </a:stretch>
        </p:blipFill>
        <p:spPr>
          <a:xfrm>
            <a:off x="5029200" y="1700784"/>
            <a:ext cx="3749039" cy="2079103"/>
          </a:xfrm>
          <a:prstGeom prst="rect">
            <a:avLst/>
          </a:prstGeom>
        </p:spPr>
      </p:pic>
      <p:sp>
        <p:nvSpPr>
          <p:cNvPr id="12" name="TextBox 135"/>
          <p:cNvSpPr txBox="1"/>
          <p:nvPr/>
        </p:nvSpPr>
        <p:spPr>
          <a:xfrm>
            <a:off x="4983480" y="3923030"/>
            <a:ext cx="384048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IT MEANS FOR HPE</a:t>
            </a:r>
          </a:p>
        </p:txBody>
      </p:sp>
      <p:sp>
        <p:nvSpPr>
          <p:cNvPr id="13" name="TextBox 136"/>
          <p:cNvSpPr txBox="1"/>
          <p:nvPr/>
        </p:nvSpPr>
        <p:spPr>
          <a:xfrm>
            <a:off x="4983480" y="4151630"/>
            <a:ext cx="3840480" cy="822960"/>
          </a:xfrm>
          <a:prstGeom prst="rect">
            <a:avLst/>
          </a:prstGeom>
          <a:noFill/>
        </p:spPr>
        <p:txBody>
          <a:bodyPr wrap="square" anchor="t" lIns="36576" rIns="36576" tIns="18288" bIns="18288">
            <a:spAutoFit/>
          </a:bodyPr>
          <a:lstStyle/>
          <a:p>
            <a:pPr algn="l" marL="155448" indent="-155448">
              <a:spcAft>
                <a:spcPts val="200"/>
              </a:spcAft>
              <a:buClr>
                <a:srgbClr val="135927"/>
              </a:buClr>
              <a:buSzPct val="100000"/>
              <a:buFont typeface="Helvetica Neue"/>
              <a:buChar char="•"/>
            </a:pPr>
            <a:r>
              <a:rPr sz="850" b="1">
                <a:solidFill>
                  <a:srgbClr val="1F2421"/>
                </a:solidFill>
                <a:latin typeface="Helvetica Neue"/>
              </a:rPr>
              <a:t>Not an outlier: </a:t>
            </a:r>
            <a:r>
              <a:rPr sz="850" b="0">
                <a:solidFill>
                  <a:srgbClr val="1F2421"/>
                </a:solidFill>
                <a:latin typeface="Helvetica Neue"/>
              </a:rPr>
              <a:t>8 entries, 8th of 13 vendors (Cisco 97). The risk is a new implant-style incident while HPE cross-sells Juniper.</a:t>
            </a:r>
          </a:p>
          <a:p>
            <a:pPr algn="l" marL="155448" indent="-155448">
              <a:spcAft>
                <a:spcPts val="200"/>
              </a:spcAft>
              <a:buClr>
                <a:srgbClr val="135927"/>
              </a:buClr>
              <a:buSzPct val="100000"/>
              <a:buFont typeface="Helvetica Neue"/>
              <a:buChar char="•"/>
            </a:pPr>
            <a:r>
              <a:rPr sz="850" b="1">
                <a:solidFill>
                  <a:srgbClr val="1F2421"/>
                </a:solidFill>
                <a:latin typeface="Helvetica Neue"/>
              </a:rPr>
              <a:t>Refresh driver: </a:t>
            </a:r>
            <a:r>
              <a:rPr sz="850" b="0">
                <a:solidFill>
                  <a:srgbClr val="1F2421"/>
                </a:solidFill>
                <a:latin typeface="Helvetica Neue"/>
              </a:rPr>
              <a:t>end-of-life routers were the target; replacing them is Networking revenue. Watch KEV additions and the 30-Sep Investor Day.</a:t>
            </a:r>
          </a:p>
        </p:txBody>
      </p:sp>
      <p:sp>
        <p:nvSpPr>
          <p:cNvPr id="14"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CISA KEV catalogue 2026.09.11 (not normalised for installed base); Mandiant; Checkoway et al.; Juniper docs; DOJ; FCC. Report section 12.</a:t>
            </a:r>
          </a:p>
        </p:txBody>
      </p:sp>
      <p:sp>
        <p:nvSpPr>
          <p:cNvPr id="15"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Three business models, three financial profiles</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2 (1 OF 2)</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Pattern: </a:t>
            </a:r>
            <a:r>
              <a:rPr sz="1050" b="1" i="0">
                <a:solidFill>
                  <a:srgbClr val="1F2421"/>
                </a:solidFill>
                <a:latin typeface="Helvetica Neue"/>
              </a:rPr>
              <a:t>Same AI dollar, three risk profiles</a:t>
            </a:r>
            <a:r>
              <a:rPr sz="1050" b="0" i="0">
                <a:solidFill>
                  <a:srgbClr val="404040"/>
                </a:solidFill>
                <a:latin typeface="Helvetica Neue"/>
              </a:rPr>
              <a:t> — neoclouds carry capex and depreciation, landlords duration, server providers the order cycle.</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company 10-K, 10-Q, 20-F, 6-K and 8-K filings; Bona Fide analysis. TTM to Jun/Jul-2026. DLR operating income excludes real-estate gains; DLR backlog coverage estimated. Report section 12.</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29</a:t>
            </a:r>
          </a:p>
        </p:txBody>
      </p:sp>
      <p:pic>
        <p:nvPicPr>
          <p:cNvPr id="8" name="Picture 133" descr="qa_q2_profile_deck.png"/>
          <p:cNvPicPr>
            <a:picLocks noChangeAspect="1"/>
          </p:cNvPicPr>
          <p:nvPr/>
        </p:nvPicPr>
        <p:blipFill>
          <a:blip r:embed="rId5"/>
          <a:stretch>
            <a:fillRect/>
          </a:stretch>
        </p:blipFill>
        <p:spPr>
          <a:xfrm>
            <a:off x="320040" y="1481328"/>
            <a:ext cx="5257800" cy="2679117"/>
          </a:xfrm>
          <a:prstGeom prst="rect">
            <a:avLst/>
          </a:prstGeom>
        </p:spPr>
      </p:pic>
      <p:sp>
        <p:nvSpPr>
          <p:cNvPr id="9" name="TextBox 135"/>
          <p:cNvSpPr txBox="1"/>
          <p:nvPr/>
        </p:nvSpPr>
        <p:spPr>
          <a:xfrm>
            <a:off x="5760720" y="146304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WHAT THE NUMBERS SAY</a:t>
            </a:r>
          </a:p>
        </p:txBody>
      </p:sp>
      <p:sp>
        <p:nvSpPr>
          <p:cNvPr id="10" name="TextBox 136"/>
          <p:cNvSpPr txBox="1"/>
          <p:nvPr/>
        </p:nvSpPr>
        <p:spPr>
          <a:xfrm>
            <a:off x="5760720" y="1700784"/>
            <a:ext cx="3063240" cy="301752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Landlords: </a:t>
            </a:r>
            <a:r>
              <a:rPr sz="850" b="0">
                <a:solidFill>
                  <a:srgbClr val="1F2421"/>
                </a:solidFill>
                <a:latin typeface="Helvetica Neue"/>
              </a:rPr>
              <a:t>property and leases are 62% of Digital Realty's assets; depreciation cuts a 44% EBITDA margin to 14%; revenue has not fallen year on year since 2018.</a:t>
            </a:r>
          </a:p>
          <a:p>
            <a:pPr algn="l" marL="155448" indent="-155448">
              <a:spcAft>
                <a:spcPts val="300"/>
              </a:spcAft>
              <a:buClr>
                <a:srgbClr val="135927"/>
              </a:buClr>
              <a:buSzPct val="100000"/>
              <a:buFont typeface="Helvetica Neue"/>
              <a:buChar char="•"/>
            </a:pPr>
            <a:r>
              <a:rPr sz="850" b="1">
                <a:solidFill>
                  <a:srgbClr val="1F2421"/>
                </a:solidFill>
                <a:latin typeface="Helvetica Neue"/>
              </a:rPr>
              <a:t>Neoclouds: </a:t>
            </a:r>
            <a:r>
              <a:rPr sz="850" b="0">
                <a:solidFill>
                  <a:srgbClr val="1F2421"/>
                </a:solidFill>
                <a:latin typeface="Helvetica Neue"/>
              </a:rPr>
              <a:t>capex 2.7–8.2x revenue; depreciation plus interest 67%–74% of revenue; backlog 14–28x revenue; free cash flow −435% to −127%.</a:t>
            </a:r>
          </a:p>
          <a:p>
            <a:pPr algn="l" marL="155448" indent="-155448">
              <a:spcAft>
                <a:spcPts val="300"/>
              </a:spcAft>
              <a:buClr>
                <a:srgbClr val="135927"/>
              </a:buClr>
              <a:buSzPct val="100000"/>
              <a:buFont typeface="Helvetica Neue"/>
              <a:buChar char="•"/>
            </a:pPr>
            <a:r>
              <a:rPr sz="850" b="1">
                <a:solidFill>
                  <a:srgbClr val="1F2421"/>
                </a:solidFill>
                <a:latin typeface="Helvetica Neue"/>
              </a:rPr>
              <a:t>Server providers: </a:t>
            </a:r>
            <a:r>
              <a:rPr sz="850" b="0">
                <a:solidFill>
                  <a:srgbClr val="1F2421"/>
                </a:solidFill>
                <a:latin typeface="Helvetica Neue"/>
              </a:rPr>
              <a:t>capex ≤0.06x revenue, operating margins 6%–9%, positive free cash flow, backlog under a year of revenue.</a:t>
            </a:r>
          </a:p>
          <a:p>
            <a:pPr algn="l" marL="155448" indent="-155448">
              <a:spcAft>
                <a:spcPts val="300"/>
              </a:spcAft>
              <a:buClr>
                <a:srgbClr val="135927"/>
              </a:buClr>
              <a:buSzPct val="100000"/>
              <a:buFont typeface="Helvetica Neue"/>
              <a:buChar char="•"/>
            </a:pPr>
            <a:r>
              <a:rPr sz="850" b="1">
                <a:solidFill>
                  <a:srgbClr val="1F2421"/>
                </a:solidFill>
                <a:latin typeface="Helvetica Neue"/>
              </a:rPr>
              <a:t>Phase shift: </a:t>
            </a:r>
            <a:r>
              <a:rPr sz="850" b="0">
                <a:solidFill>
                  <a:srgbClr val="1F2421"/>
                </a:solidFill>
                <a:latin typeface="Helvetica Neue"/>
              </a:rPr>
              <a:t>in a stylised 100 MW build, cash payback takes ~11.5 years for the landlord, ~3.2 for the neocloud (if GPUs stay contracted), two quarters for the server provider.</a:t>
            </a:r>
          </a:p>
          <a:p>
            <a:pPr algn="l" marL="155448" indent="-155448">
              <a:spcAft>
                <a:spcPts val="300"/>
              </a:spcAft>
              <a:buClr>
                <a:srgbClr val="135927"/>
              </a:buClr>
              <a:buSzPct val="100000"/>
              <a:buFont typeface="Helvetica Neue"/>
              <a:buChar char="•"/>
            </a:pPr>
            <a:r>
              <a:rPr sz="850" b="1">
                <a:solidFill>
                  <a:srgbClr val="1F2421"/>
                </a:solidFill>
                <a:latin typeface="Helvetica Neue"/>
              </a:rPr>
              <a:t>Useful life: </a:t>
            </a:r>
            <a:r>
              <a:rPr sz="850" b="0">
                <a:solidFill>
                  <a:srgbClr val="1F2421"/>
                </a:solidFill>
                <a:latin typeface="Helvetica Neue"/>
              </a:rPr>
              <a:t>CoreWeave's operating margin is −3% on a 6-year GPU life, −26% on 4 years.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29;p30"/>
          <p:cNvSpPr txBox="1"/>
          <p:nvPr>
            <p:ph type="title"/>
          </p:nvPr>
        </p:nvSpPr>
        <p:spPr>
          <a:xfrm>
            <a:off x="0" y="405000"/>
            <a:ext cx="9144000" cy="378000"/>
          </a:xfrm>
          <a:prstGeom prst="rect">
            <a:avLst/>
          </a:prstGeom>
          <a:solidFill>
            <a:srgbClr val="135927"/>
          </a:solidFill>
          <a:ln>
            <a:noFill/>
          </a:ln>
        </p:spPr>
        <p:txBody>
          <a:bodyPr anchorCtr="0" anchor="ctr" bIns="19050" lIns="19050" spcFirstLastPara="1" rIns="19050" wrap="square" tIns="19050">
            <a:noAutofit/>
          </a:bodyPr>
          <a:lstStyle/>
          <a:p>
            <a:pPr indent="0" lvl="0" marL="0" rtl="0" algn="l">
              <a:lnSpc>
                <a:spcPct val="80000"/>
              </a:lnSpc>
              <a:spcBef>
                <a:spcPts val="0"/>
              </a:spcBef>
              <a:spcAft>
                <a:spcPts val="0"/>
              </a:spcAft>
              <a:buClr>
                <a:srgbClr val="FCC80D"/>
              </a:buClr>
              <a:buSzPts val="2900"/>
              <a:buFont typeface="Twentieth Century"/>
              <a:buNone/>
            </a:pPr>
            <a:r>
              <a:rPr b="0" i="0" lang="nl" sz="1900" u="none" cap="none" strike="noStrike">
                <a:solidFill>
                  <a:srgbClr val="FCC80D"/>
                </a:solidFill>
                <a:latin typeface="Twentieth Century"/>
                <a:ea typeface="Twentieth Century"/>
                <a:cs typeface="Twentieth Century"/>
                <a:sym typeface="Twentieth Century"/>
              </a:rPr>
              <a:t>  </a:t>
            </a:r>
            <a:r>
              <a:rPr b="0" lang="nl" sz="1900">
                <a:solidFill>
                  <a:srgbClr val="FCC80D"/>
                </a:solidFill>
                <a:latin typeface="Twentieth Century"/>
                <a:ea typeface="Twentieth Century"/>
                <a:cs typeface="Twentieth Century"/>
                <a:sym typeface="Twentieth Century"/>
              </a:rPr>
              <a:t>AI elasticity and the one-or-several question</a:t>
            </a:r>
            <a:endParaRPr/>
          </a:p>
        </p:txBody>
      </p:sp>
      <p:pic>
        <p:nvPicPr>
          <p:cNvPr descr="Schermafbeelding 2023-01-19 om 16.44.25.png" id="3" name="Google Shape;130;p30"/>
          <p:cNvPicPr preferRelativeResize="0"/>
          <p:nvPr/>
        </p:nvPicPr>
        <p:blipFill rotWithShape="1">
          <a:blip r:embed="rId2">
            <a:alphaModFix/>
          </a:blip>
          <a:srcRect b="0" l="0" r="0" t="0"/>
          <a:stretch/>
        </p:blipFill>
        <p:spPr>
          <a:xfrm>
            <a:off x="7981149" y="-31578"/>
            <a:ext cx="910634" cy="1410217"/>
          </a:xfrm>
          <a:prstGeom prst="rect">
            <a:avLst/>
          </a:prstGeom>
          <a:noFill/>
          <a:ln>
            <a:noFill/>
          </a:ln>
          <a:effectLst>
            <a:outerShdw blurRad="63500" rotWithShape="0" dir="5400000" dist="25400">
              <a:srgbClr val="000000">
                <a:alpha val="49804"/>
              </a:srgbClr>
            </a:outerShdw>
          </a:effectLst>
        </p:spPr>
      </p:pic>
      <p:sp>
        <p:nvSpPr>
          <p:cNvPr id="4" name="TextBox 130"/>
          <p:cNvSpPr txBox="1"/>
          <p:nvPr/>
        </p:nvSpPr>
        <p:spPr>
          <a:xfrm>
            <a:off x="320040" y="91440"/>
            <a:ext cx="5943600" cy="256032"/>
          </a:xfrm>
          <a:prstGeom prst="rect">
            <a:avLst/>
          </a:prstGeom>
          <a:noFill/>
        </p:spPr>
        <p:txBody>
          <a:bodyPr wrap="square" anchor="t" lIns="36576" rIns="36576" tIns="18288" bIns="18288">
            <a:spAutoFit/>
          </a:bodyPr>
          <a:lstStyle/>
          <a:p>
            <a:pPr algn="l">
              <a:spcAft>
                <a:spcPts val="300"/>
              </a:spcAft>
            </a:pPr>
            <a:r>
              <a:rPr sz="800" b="1">
                <a:solidFill>
                  <a:srgbClr val="595959"/>
                </a:solidFill>
                <a:latin typeface="Helvetica Neue"/>
              </a:rPr>
              <a:t>APPENDIX · PRACTITIONER Q&amp;A · QUESTION 2 (2 OF 2)</a:t>
            </a:r>
          </a:p>
        </p:txBody>
      </p:sp>
      <p:sp>
        <p:nvSpPr>
          <p:cNvPr id="5" name="TextBox 131"/>
          <p:cNvSpPr txBox="1"/>
          <p:nvPr/>
        </p:nvSpPr>
        <p:spPr>
          <a:xfrm>
            <a:off x="320040" y="850392"/>
            <a:ext cx="7543800" cy="502920"/>
          </a:xfrm>
          <a:prstGeom prst="rect">
            <a:avLst/>
          </a:prstGeom>
          <a:noFill/>
        </p:spPr>
        <p:txBody>
          <a:bodyPr wrap="square" anchor="t" lIns="36576" rIns="36576" tIns="18288" bIns="18288">
            <a:spAutoFit/>
          </a:bodyPr>
          <a:lstStyle/>
          <a:p>
            <a:pPr algn="l">
              <a:spcAft>
                <a:spcPts val="300"/>
              </a:spcAft>
            </a:pPr>
            <a:r>
              <a:rPr sz="1050" b="1">
                <a:solidFill>
                  <a:srgbClr val="135927"/>
                </a:solidFill>
                <a:latin typeface="Helvetica Neue"/>
              </a:rPr>
              <a:t>Conclusion: </a:t>
            </a:r>
            <a:r>
              <a:rPr sz="1050" b="1" i="0">
                <a:solidFill>
                  <a:srgbClr val="1F2421"/>
                </a:solidFill>
                <a:latin typeface="Helvetica Neue"/>
              </a:rPr>
              <a:t>Servers move revenue; neoclouds move share prices</a:t>
            </a:r>
            <a:r>
              <a:rPr sz="1050" b="0" i="0">
                <a:solidFill>
                  <a:srgbClr val="404040"/>
                </a:solidFill>
                <a:latin typeface="Helvetica Neue"/>
              </a:rPr>
              <a:t> — lowest risk: 45% landlords + 55% servers; best Sharpe: 72% servers + 28% neoclouds.</a:t>
            </a:r>
          </a:p>
        </p:txBody>
      </p:sp>
      <p:sp>
        <p:nvSpPr>
          <p:cNvPr id="6" name="TextBox 131"/>
          <p:cNvSpPr txBox="1"/>
          <p:nvPr/>
        </p:nvSpPr>
        <p:spPr>
          <a:xfrm>
            <a:off x="320040" y="4773168"/>
            <a:ext cx="7680960" cy="274320"/>
          </a:xfrm>
          <a:prstGeom prst="rect">
            <a:avLst/>
          </a:prstGeom>
          <a:noFill/>
        </p:spPr>
        <p:txBody>
          <a:bodyPr wrap="square" anchor="t" lIns="36576" rIns="36576" tIns="18288" bIns="18288">
            <a:spAutoFit/>
          </a:bodyPr>
          <a:lstStyle/>
          <a:p>
            <a:pPr algn="l">
              <a:spcAft>
                <a:spcPts val="300"/>
              </a:spcAft>
            </a:pPr>
            <a:r>
              <a:rPr sz="700" b="0">
                <a:solidFill>
                  <a:srgbClr val="808682"/>
                </a:solidFill>
                <a:latin typeface="Helvetica Neue"/>
              </a:rPr>
              <a:t>Source: SEC XBRL; Yahoo Finance; FRED; Bona Fide analysis (code/business_model_analysis.py). Daily returns 31-Mar-2025 to 11-Sep-2026; revenue elasticity 2018Q2–2026Q2. Report section 12.</a:t>
            </a:r>
          </a:p>
        </p:txBody>
      </p:sp>
      <p:sp>
        <p:nvSpPr>
          <p:cNvPr id="7" name="TextBox 132"/>
          <p:cNvSpPr txBox="1"/>
          <p:nvPr/>
        </p:nvSpPr>
        <p:spPr>
          <a:xfrm>
            <a:off x="8275320" y="4773168"/>
            <a:ext cx="548640" cy="274320"/>
          </a:xfrm>
          <a:prstGeom prst="rect">
            <a:avLst/>
          </a:prstGeom>
          <a:noFill/>
        </p:spPr>
        <p:txBody>
          <a:bodyPr wrap="square" anchor="t" lIns="36576" rIns="36576" tIns="18288" bIns="18288">
            <a:spAutoFit/>
          </a:bodyPr>
          <a:lstStyle/>
          <a:p>
            <a:pPr algn="r">
              <a:spcAft>
                <a:spcPts val="300"/>
              </a:spcAft>
            </a:pPr>
            <a:r>
              <a:rPr sz="800" b="0">
                <a:solidFill>
                  <a:srgbClr val="595959"/>
                </a:solidFill>
                <a:latin typeface="Helvetica Neue"/>
              </a:rPr>
              <a:t>30</a:t>
            </a:r>
          </a:p>
        </p:txBody>
      </p:sp>
      <p:pic>
        <p:nvPicPr>
          <p:cNvPr id="8" name="Picture 133" descr="qa_q2_frontier_deck.png"/>
          <p:cNvPicPr>
            <a:picLocks noChangeAspect="1"/>
          </p:cNvPicPr>
          <p:nvPr/>
        </p:nvPicPr>
        <p:blipFill>
          <a:blip r:embed="rId5"/>
          <a:stretch>
            <a:fillRect/>
          </a:stretch>
        </p:blipFill>
        <p:spPr>
          <a:xfrm>
            <a:off x="320040" y="1481328"/>
            <a:ext cx="5257800" cy="1979530"/>
          </a:xfrm>
          <a:prstGeom prst="rect">
            <a:avLst/>
          </a:prstGeom>
        </p:spPr>
      </p:pic>
      <p:graphicFrame>
        <p:nvGraphicFramePr>
          <p:cNvPr id="9" name="Table 134"/>
          <p:cNvGraphicFramePr>
            <a:graphicFrameLocks noGrp="1"/>
          </p:cNvGraphicFramePr>
          <p:nvPr/>
        </p:nvGraphicFramePr>
        <p:xfrm>
          <a:off x="320040" y="3534010"/>
          <a:ext cx="5257800" cy="804672"/>
        </p:xfrm>
        <a:graphic>
          <a:graphicData uri="http://schemas.openxmlformats.org/drawingml/2006/table">
            <a:tbl>
              <a:tblPr firstRow="1" bandRow="1">
                <a:tableStyleId>{5C22544A-7EE6-4342-B048-85BDC9FD1C3A}</a:tableStyleId>
              </a:tblPr>
              <a:tblGrid>
                <a:gridCol w="1188720"/>
                <a:gridCol w="1143000"/>
                <a:gridCol w="914400"/>
                <a:gridCol w="914400"/>
                <a:gridCol w="1097280"/>
              </a:tblGrid>
              <a:tr h="201168">
                <a:tc>
                  <a:txBody>
                    <a:bodyPr/>
                    <a:lstStyle/>
                    <a:p>
                      <a:r>
                        <a:rPr sz="800" b="1">
                          <a:solidFill>
                            <a:srgbClr val="FCC80D"/>
                          </a:solidFill>
                          <a:latin typeface="Helvetica Neue"/>
                        </a:rPr>
                        <a:t>Model</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Revenue elasticity</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AI beta</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Market beta</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c>
                  <a:txBody>
                    <a:bodyPr/>
                    <a:lstStyle/>
                    <a:p>
                      <a:r>
                        <a:rPr sz="800" b="1">
                          <a:solidFill>
                            <a:srgbClr val="FCC80D"/>
                          </a:solidFill>
                          <a:latin typeface="Helvetica Neue"/>
                        </a:rPr>
                        <a:t>Per +10bp yield</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135927"/>
                    </a:solidFill>
                  </a:tcPr>
                </a:tc>
              </a:tr>
              <a:tr h="201168">
                <a:tc>
                  <a:txBody>
                    <a:bodyPr/>
                    <a:lstStyle/>
                    <a:p>
                      <a:r>
                        <a:rPr sz="800" b="1">
                          <a:solidFill>
                            <a:srgbClr val="1F2421"/>
                          </a:solidFill>
                          <a:latin typeface="Helvetica Neue"/>
                        </a:rPr>
                        <a:t>Landlords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DLR 0.06 (n.s.)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0.03–0.31</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0.7–2.9</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DLR −0.6%</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r h="201168">
                <a:tc>
                  <a:txBody>
                    <a:bodyPr/>
                    <a:lstStyle/>
                    <a:p>
                      <a:r>
                        <a:rPr sz="800" b="1">
                          <a:solidFill>
                            <a:srgbClr val="1F2421"/>
                          </a:solidFill>
                          <a:latin typeface="Helvetica Neue"/>
                        </a:rPr>
                        <a:t>Neoclouds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too new</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0.40–0.85</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2.5–2.9</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c>
                  <a:txBody>
                    <a:bodyPr/>
                    <a:lstStyle/>
                    <a:p>
                      <a:r>
                        <a:rPr sz="800" b="0">
                          <a:solidFill>
                            <a:srgbClr val="1F2421"/>
                          </a:solidFill>
                          <a:latin typeface="Helvetica Neue"/>
                        </a:rPr>
                        <a:t>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ECF2ED"/>
                    </a:solidFill>
                  </a:tcPr>
                </a:tc>
              </a:tr>
              <a:tr h="201168">
                <a:tc>
                  <a:txBody>
                    <a:bodyPr/>
                    <a:lstStyle/>
                    <a:p>
                      <a:r>
                        <a:rPr sz="800" b="1">
                          <a:solidFill>
                            <a:srgbClr val="1F2421"/>
                          </a:solidFill>
                          <a:latin typeface="Helvetica Neue"/>
                        </a:rPr>
                        <a:t>Server providers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0.41–0.84</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0.02–0.18</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1.7–2.0</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c>
                  <a:txBody>
                    <a:bodyPr/>
                    <a:lstStyle/>
                    <a:p>
                      <a:r>
                        <a:rPr sz="800" b="0">
                          <a:solidFill>
                            <a:srgbClr val="1F2421"/>
                          </a:solidFill>
                          <a:latin typeface="Helvetica Neue"/>
                        </a:rPr>
                        <a:t>n.s.</a:t>
                      </a:r>
                    </a:p>
                  </a:txBody>
                  <a:tcPr marL="45720" marR="45720" marT="9144" marB="9144">
                    <a:lnL w="6350" cap="flat" cmpd="sng" algn="ctr">
                      <a:solidFill>
                        <a:srgbClr val="D9D9D9"/>
                      </a:solidFill>
                      <a:prstDash val="solid"/>
                    </a:lnL>
                    <a:lnR w="6350" cap="flat" cmpd="sng" algn="ctr">
                      <a:solidFill>
                        <a:srgbClr val="D9D9D9"/>
                      </a:solidFill>
                      <a:prstDash val="solid"/>
                    </a:lnR>
                    <a:lnT w="6350" cap="flat" cmpd="sng" algn="ctr">
                      <a:solidFill>
                        <a:srgbClr val="D9D9D9"/>
                      </a:solidFill>
                      <a:prstDash val="solid"/>
                    </a:lnT>
                    <a:lnB w="6350" cap="flat" cmpd="sng" algn="ctr">
                      <a:solidFill>
                        <a:srgbClr val="D9D9D9"/>
                      </a:solidFill>
                      <a:prstDash val="solid"/>
                    </a:lnB>
                    <a:solidFill>
                      <a:srgbClr val="FFFFFF"/>
                    </a:solidFill>
                  </a:tcPr>
                </a:tc>
              </a:tr>
            </a:tbl>
          </a:graphicData>
        </a:graphic>
      </p:graphicFrame>
      <p:sp>
        <p:nvSpPr>
          <p:cNvPr id="10" name="TextBox 135"/>
          <p:cNvSpPr txBox="1"/>
          <p:nvPr/>
        </p:nvSpPr>
        <p:spPr>
          <a:xfrm>
            <a:off x="5760720" y="146304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WHICH IS MORE ELASTIC?</a:t>
            </a:r>
          </a:p>
        </p:txBody>
      </p:sp>
      <p:sp>
        <p:nvSpPr>
          <p:cNvPr id="11" name="TextBox 136"/>
          <p:cNvSpPr txBox="1"/>
          <p:nvPr/>
        </p:nvSpPr>
        <p:spPr>
          <a:xfrm>
            <a:off x="5760720" y="1700784"/>
            <a:ext cx="3063240" cy="91440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Revenue: </a:t>
            </a:r>
            <a:r>
              <a:rPr sz="850" b="0">
                <a:solidFill>
                  <a:srgbClr val="1F2421"/>
                </a:solidFill>
                <a:latin typeface="Helvetica Neue"/>
              </a:rPr>
              <a:t>server providers. Dell 0.84 and HPE 0.41 per point of hyperscaler capex growth, same quarter; Digital Realty 0.06, not significant.</a:t>
            </a:r>
          </a:p>
          <a:p>
            <a:pPr algn="l" marL="155448" indent="-155448">
              <a:spcAft>
                <a:spcPts val="300"/>
              </a:spcAft>
              <a:buClr>
                <a:srgbClr val="135927"/>
              </a:buClr>
              <a:buSzPct val="100000"/>
              <a:buFont typeface="Helvetica Neue"/>
              <a:buChar char="•"/>
            </a:pPr>
            <a:r>
              <a:rPr sz="850" b="1">
                <a:solidFill>
                  <a:srgbClr val="1F2421"/>
                </a:solidFill>
                <a:latin typeface="Helvetica Neue"/>
              </a:rPr>
              <a:t>Share price: </a:t>
            </a:r>
            <a:r>
              <a:rPr sz="850" b="0">
                <a:solidFill>
                  <a:srgbClr val="1F2421"/>
                </a:solidFill>
                <a:latin typeface="Helvetica Neue"/>
              </a:rPr>
              <a:t>neoclouds. AI beta 0.81–0.85 for Nebius and CoreWeave, against 0.02–0.18 for HPE and Dell.</a:t>
            </a:r>
          </a:p>
        </p:txBody>
      </p:sp>
      <p:sp>
        <p:nvSpPr>
          <p:cNvPr id="12" name="TextBox 135"/>
          <p:cNvSpPr txBox="1"/>
          <p:nvPr/>
        </p:nvSpPr>
        <p:spPr>
          <a:xfrm>
            <a:off x="5760720" y="2743200"/>
            <a:ext cx="3063240" cy="274320"/>
          </a:xfrm>
          <a:prstGeom prst="rect">
            <a:avLst/>
          </a:prstGeom>
          <a:noFill/>
        </p:spPr>
        <p:txBody>
          <a:bodyPr wrap="square" anchor="t" lIns="36576" rIns="36576" tIns="18288" bIns="18288">
            <a:spAutoFit/>
          </a:bodyPr>
          <a:lstStyle/>
          <a:p>
            <a:pPr algn="l">
              <a:spcAft>
                <a:spcPts val="300"/>
              </a:spcAft>
            </a:pPr>
            <a:r>
              <a:rPr sz="800" b="1">
                <a:solidFill>
                  <a:srgbClr val="135927"/>
                </a:solidFill>
                <a:latin typeface="Helvetica Neue"/>
              </a:rPr>
              <a:t>ONE MODEL OR SEVERAL?</a:t>
            </a:r>
          </a:p>
        </p:txBody>
      </p:sp>
      <p:sp>
        <p:nvSpPr>
          <p:cNvPr id="13" name="TextBox 136"/>
          <p:cNvSpPr txBox="1"/>
          <p:nvPr/>
        </p:nvSpPr>
        <p:spPr>
          <a:xfrm>
            <a:off x="5760720" y="2980944"/>
            <a:ext cx="3063240" cy="1737360"/>
          </a:xfrm>
          <a:prstGeom prst="rect">
            <a:avLst/>
          </a:prstGeom>
          <a:noFill/>
        </p:spPr>
        <p:txBody>
          <a:bodyPr wrap="square" anchor="t" lIns="36576" rIns="36576" tIns="18288" bIns="18288">
            <a:spAutoFit/>
          </a:bodyPr>
          <a:lstStyle/>
          <a:p>
            <a:pPr algn="l" marL="155448" indent="-155448">
              <a:spcAft>
                <a:spcPts val="300"/>
              </a:spcAft>
              <a:buClr>
                <a:srgbClr val="135927"/>
              </a:buClr>
              <a:buSzPct val="100000"/>
              <a:buFont typeface="Helvetica Neue"/>
              <a:buChar char="•"/>
            </a:pPr>
            <a:r>
              <a:rPr sz="850" b="1">
                <a:solidFill>
                  <a:srgbClr val="1F2421"/>
                </a:solidFill>
                <a:latin typeface="Helvetica Neue"/>
              </a:rPr>
              <a:t>Pareto test: </a:t>
            </a:r>
            <a:r>
              <a:rPr sz="850" b="0">
                <a:solidFill>
                  <a:srgbClr val="1F2421"/>
                </a:solidFill>
                <a:latin typeface="Helvetica Neue"/>
              </a:rPr>
              <a:t>only the neocloud basket touches the frontier, at its riskiest end; landlord and server baskets sit below it.</a:t>
            </a:r>
          </a:p>
          <a:p>
            <a:pPr algn="l" marL="155448" indent="-155448">
              <a:spcAft>
                <a:spcPts val="300"/>
              </a:spcAft>
              <a:buClr>
                <a:srgbClr val="135927"/>
              </a:buClr>
              <a:buSzPct val="100000"/>
              <a:buFont typeface="Helvetica Neue"/>
              <a:buChar char="•"/>
            </a:pPr>
            <a:r>
              <a:rPr sz="850" b="1">
                <a:solidFill>
                  <a:srgbClr val="1F2421"/>
                </a:solidFill>
                <a:latin typeface="Helvetica Neue"/>
              </a:rPr>
              <a:t>Lowest risk: </a:t>
            </a:r>
            <a:r>
              <a:rPr sz="850" b="0">
                <a:solidFill>
                  <a:srgbClr val="1F2421"/>
                </a:solidFill>
                <a:latin typeface="Helvetica Neue"/>
              </a:rPr>
              <a:t>landlords 45% + servers 55%; neoclouds get no weight in 97% of 2,000 bootstraps.</a:t>
            </a:r>
          </a:p>
          <a:p>
            <a:pPr algn="l" marL="155448" indent="-155448">
              <a:spcAft>
                <a:spcPts val="300"/>
              </a:spcAft>
              <a:buClr>
                <a:srgbClr val="135927"/>
              </a:buClr>
              <a:buSzPct val="100000"/>
              <a:buFont typeface="Helvetica Neue"/>
              <a:buChar char="•"/>
            </a:pPr>
            <a:r>
              <a:rPr sz="850" b="1">
                <a:solidFill>
                  <a:srgbClr val="1F2421"/>
                </a:solidFill>
                <a:latin typeface="Helvetica Neue"/>
              </a:rPr>
              <a:t>Best Sharpe: </a:t>
            </a:r>
            <a:r>
              <a:rPr sz="850" b="0">
                <a:solidFill>
                  <a:srgbClr val="1F2421"/>
                </a:solidFill>
                <a:latin typeface="Helvetica Neue"/>
              </a:rPr>
              <a:t>servers 72% + neoclouds 28%; servers weighted in 98% of bootstraps.</a:t>
            </a:r>
          </a:p>
          <a:p>
            <a:pPr algn="l" marL="155448" indent="-155448">
              <a:spcAft>
                <a:spcPts val="300"/>
              </a:spcAft>
              <a:buClr>
                <a:srgbClr val="135927"/>
              </a:buClr>
              <a:buSzPct val="100000"/>
              <a:buFont typeface="Helvetica Neue"/>
              <a:buChar char="•"/>
            </a:pPr>
            <a:r>
              <a:rPr sz="850" b="1">
                <a:solidFill>
                  <a:srgbClr val="1F2421"/>
                </a:solidFill>
                <a:latin typeface="Helvetica Neue"/>
              </a:rPr>
              <a:t>Caveat: </a:t>
            </a:r>
            <a:r>
              <a:rPr sz="850" b="0">
                <a:solidFill>
                  <a:srgbClr val="1F2421"/>
                </a:solidFill>
                <a:latin typeface="Helvetica Neue"/>
              </a:rPr>
              <a:t>17 months of AI-boom returns. Trust the covariance more than the averages.</a:t>
            </a:r>
          </a:p>
        </p:txBody>
      </p:sp>
    </p:spTree>
  </p:cSld>
  <p:clrMapOvr>
    <a:masterClrMapping/>
  </p:clrMapOvr>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