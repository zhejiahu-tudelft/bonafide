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 id="2147483675" r:id="rId5"/>
  </p:sldMasterIdLst>
  <p:notesMasterIdLst>
    <p:notesMasterId r:id="rId6"/>
  </p:notesMasterIdLst>
  <p:sldIdLst>
    <p:sldId id="258" r:id="rId13"/>
    <p:sldId id="259" r:id="rId14"/>
    <p:sldId id="282" r:id="rId35"/>
    <p:sldId id="260" r:id="rId15"/>
    <p:sldId id="283" r:id="rId36"/>
    <p:sldId id="261" r:id="rId16"/>
    <p:sldId id="262" r:id="rId17"/>
    <p:sldId id="265" r:id="rId20"/>
    <p:sldId id="267" r:id="rId22"/>
    <p:sldId id="263" r:id="rId18"/>
    <p:sldId id="284" r:id="rId37"/>
    <p:sldId id="266" r:id="rId21"/>
    <p:sldId id="269" r:id="rId24"/>
    <p:sldId id="271" r:id="rId26"/>
    <p:sldId id="270" r:id="rId25"/>
    <p:sldId id="272" r:id="rId27"/>
    <p:sldId id="273" r:id="rId28"/>
    <p:sldId id="276" r:id="rId31"/>
    <p:sldId id="277" r:id="rId32"/>
    <p:sldId id="285" r:id="rId38"/>
    <p:sldId id="278" r:id="rId8"/>
    <p:sldId id="264" r:id="rId19"/>
    <p:sldId id="268" r:id="rId23"/>
    <p:sldId id="274" r:id="rId29"/>
    <p:sldId id="275" r:id="rId30"/>
    <p:sldId id="279" r:id="rId7"/>
    <p:sldId id="280" r:id="rId33"/>
    <p:sldId id="281" r:id="rId34"/>
  </p:sldIdLst>
  <p:sldSz cy="5143500" cx="9144000"/>
  <p:notesSz cx="6858000" cy="9144000"/>
  <p:embeddedFontLst>
    <p:embeddedFont>
      <p:font typeface="Helvetica Neue"/>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26.xml"/><Relationship Id="rId8" Type="http://schemas.openxmlformats.org/officeDocument/2006/relationships/slide" Target="slides/slide21.xml"/><Relationship Id="rId9" Type="http://schemas.openxmlformats.org/officeDocument/2006/relationships/font" Target="fonts/HelveticaNeue-regular.fntdata"/><Relationship Id="rId10" Type="http://schemas.openxmlformats.org/officeDocument/2006/relationships/font" Target="fonts/HelveticaNeue-bold.fntdata"/><Relationship Id="rId11" Type="http://schemas.openxmlformats.org/officeDocument/2006/relationships/font" Target="fonts/HelveticaNeue-italic.fntdata"/><Relationship Id="rId12" Type="http://schemas.openxmlformats.org/officeDocument/2006/relationships/font" Target="fonts/HelveticaNeue-boldItalic.fntdata"/><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4.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10.xml"/><Relationship Id="rId19" Type="http://schemas.openxmlformats.org/officeDocument/2006/relationships/slide" Target="slides/slide22.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9.xml"/><Relationship Id="rId23" Type="http://schemas.openxmlformats.org/officeDocument/2006/relationships/slide" Target="slides/slide23.xml"/><Relationship Id="rId24" Type="http://schemas.openxmlformats.org/officeDocument/2006/relationships/slide" Target="slides/slide13.xml"/><Relationship Id="rId25" Type="http://schemas.openxmlformats.org/officeDocument/2006/relationships/slide" Target="slides/slide15.xml"/><Relationship Id="rId26" Type="http://schemas.openxmlformats.org/officeDocument/2006/relationships/slide" Target="slides/slide14.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3.xml"/><Relationship Id="rId36" Type="http://schemas.openxmlformats.org/officeDocument/2006/relationships/slide" Target="slides/slide5.xml"/><Relationship Id="rId37" Type="http://schemas.openxmlformats.org/officeDocument/2006/relationships/slide" Target="slides/slide11.xml"/><Relationship Id="rId38"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 per share</c:v>
                </c:pt>
              </c:strCache>
            </c:strRef>
          </c:tx>
          <c:dPt>
            <c:idx val="0"/>
            <c:spPr>
              <a:solidFill>
                <a:srgbClr val="135927"/>
              </a:solidFill>
            </c:spPr>
          </c:dPt>
          <c:dPt>
            <c:idx val="1"/>
            <c:spPr>
              <a:solidFill>
                <a:srgbClr val="135927"/>
              </a:solidFill>
            </c:spPr>
          </c:dPt>
          <c:dPt>
            <c:idx val="2"/>
            <c:spPr>
              <a:solidFill>
                <a:srgbClr val="135927"/>
              </a:solidFill>
            </c:spPr>
          </c:dPt>
          <c:dPt>
            <c:idx val="3"/>
            <c:spPr>
              <a:solidFill>
                <a:srgbClr val="135927"/>
              </a:solidFill>
            </c:spPr>
          </c:dPt>
          <c:dPt>
            <c:idx val="4"/>
            <c:spPr>
              <a:solidFill>
                <a:srgbClr val="FCC80D"/>
              </a:solidFill>
            </c:spPr>
          </c:dPt>
          <c:cat>
            <c:strRef>
              <c:f>Sheet1!$A$2:$A$6</c:f>
              <c:strCache>
                <c:ptCount val="5"/>
                <c:pt idx="0">
                  <c:v>Bear DCF</c:v>
                </c:pt>
                <c:pt idx="1">
                  <c:v>Base DCF</c:v>
                </c:pt>
                <c:pt idx="2">
                  <c:v>Prob.-weighted</c:v>
                </c:pt>
                <c:pt idx="3">
                  <c:v>Bull DCF</c:v>
                </c:pt>
                <c:pt idx="4">
                  <c:v>Share price</c:v>
                </c:pt>
              </c:strCache>
            </c:strRef>
          </c:cat>
          <c:val>
            <c:numRef>
              <c:f>Sheet1!$B$2:$B$6</c:f>
              <c:numCache>
                <c:formatCode>General</c:formatCode>
                <c:ptCount val="5"/>
                <c:pt idx="0">
                  <c:v>22.19</c:v>
                </c:pt>
                <c:pt idx="1">
                  <c:v>38.8</c:v>
                </c:pt>
                <c:pt idx="2">
                  <c:v>38.43</c:v>
                </c:pt>
                <c:pt idx="3">
                  <c:v>53.93</c:v>
                </c:pt>
                <c:pt idx="4">
                  <c:v>62.09</c:v>
                </c:pt>
              </c:numCache>
            </c:numRef>
          </c:val>
        </c:ser>
        <c:dLbls>
          <c:numFmt formatCode="&quot;$&quot;0.00" sourceLinked="0"/>
          <c:txPr>
            <a:bodyPr/>
            <a:lstStyle/>
            <a:p>
              <a:pPr>
                <a:defRPr sz="9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9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Title</a:t>
            </a:r>
          </a:p>
          <a:p/>
          <a:p>
            <a:r>
              <a:t>Time: 0:20 (cumulative 0:20)</a:t>
            </a:r>
          </a:p>
          <a:p/>
          <a:p>
            <a:r>
              <a:t>Script: Good evening. This is our pitch on Hewlett Packard Enterprise, HPE, priced at the close on 11 September 2026: $62.09. Over the next 24 minutes I won't just show you data. I'll show you how we reasoned from the data to a decision, and which patterns you can reuse on the next company.</a:t>
            </a:r>
          </a:p>
          <a:p/>
          <a:p>
            <a:r>
              <a:t>Transition: Let me start with the answer.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better business is not yet a better investment</a:t>
            </a:r>
          </a:p>
          <a:p/>
          <a:p>
            <a:r>
              <a:t>Time: 1:30 (cumulative 1:50)</a:t>
            </a:r>
          </a:p>
          <a:p/>
          <a:p>
            <a:r>
              <a:t>Goal: Give the conclusion and the four-step argument up front.</a:t>
            </a:r>
          </a:p>
          <a:p/>
          <a:p>
            <a:r>
              <a:t>Script: Here is the whole pitch on one slide.</a:t>
            </a:r>
          </a:p>
          <a:p>
            <a:r>
              <a:t>• Step one: HPE is a genuinely better business than a year ago. After buying Juniper, networking is 26% of revenue but 40% of segment profit, and return on invested capital is above the cost of capital for the first time in the six years we reviewed.</a:t>
            </a:r>
          </a:p>
          <a:p>
            <a:r>
              <a:t>• Step two: most of this year's jump is cyclical. Gross margin hit a record 40.4% on memory-driven pricing, and management itself says margins will moderate. About two-thirds of the jump above trend is AI and pricing.</a:t>
            </a:r>
          </a:p>
          <a:p>
            <a:r>
              <a:t>• Step three: the cash flow looks great, a record $4.5 billion, but suppliers are funding a $5.5 billion inventory build.</a:t>
            </a:r>
          </a:p>
          <a:p>
            <a:r>
              <a:t>• Step four: the price. At $62.09 the market pays 13.5 times next year's earnings against a 4-to-10-times history. Our reverse DCF says it needs an 18% long-term margin or 11% growth for a decade.</a:t>
            </a:r>
          </a:p>
          <a:p/>
          <a:p>
            <a:r>
              <a:t>Our fundamental range is $35 to $43, and even our bull case is $54. So we are not giving you a rating or a target. We are telling you the price is a bet that peak-cycle economics and sector multiples persist, and we will show you the signposts that would prove us wrong.</a:t>
            </a:r>
          </a:p>
          <a:p/>
          <a:p>
            <a:r>
              <a:t>Numbers to say:</a:t>
            </a:r>
          </a:p>
          <a:p>
            <a:r>
              <a:t>• 26% of revenue, 40% of segment profit;</a:t>
            </a:r>
          </a:p>
          <a:p>
            <a:r>
              <a:t>• ROIC 11.2% vs WACC 9.3%;</a:t>
            </a:r>
          </a:p>
          <a:p>
            <a:r>
              <a:t>• gross margin 40.4%;</a:t>
            </a:r>
          </a:p>
          <a:p>
            <a:r>
              <a:t>• free cash flow $4.5bn;</a:t>
            </a:r>
          </a:p>
          <a:p>
            <a:r>
              <a:t>• 13.5x FY27 EPS vs 4–10x history;</a:t>
            </a:r>
          </a:p>
          <a:p>
            <a:r>
              <a:t>• reverse DCF 18% margin / 11% growth;</a:t>
            </a:r>
          </a:p>
          <a:p>
            <a:r>
              <a:t>• range $35–43, bull $54.</a:t>
            </a:r>
          </a:p>
          <a:p/>
          <a:p>
            <a:r>
              <a:t>Reasoning move: separate business quality from investment attractiveness. Give the answer first, then earn it.</a:t>
            </a:r>
          </a:p>
          <a:p/>
          <a:p>
            <a:r>
              <a:t>Transition: How did we get there? Five questions.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Five questions, one decision</a:t>
            </a:r>
          </a:p>
          <a:p/>
          <a:p>
            <a:r>
              <a:t>Time: 0:45 (cumulative 2:35)</a:t>
            </a:r>
          </a:p>
          <a:p/>
          <a:p>
            <a:r>
              <a:t>Goal: Show the reasoning map so the audience can follow the logic.</a:t>
            </a:r>
          </a:p>
          <a:p/>
          <a:p>
            <a:r>
              <a:t>Script: Our reasoning followed five questions, and each one has a tool that could have proved us wrong.</a:t>
            </a:r>
          </a:p>
          <a:p>
            <a:r>
              <a:t>1. What does HPE really sell? We follow the profit, not the revenue.</a:t>
            </a:r>
          </a:p>
          <a:p>
            <a:r>
              <a:t>2. Is the jump structure or cycle? We compare actual revenue with a no-change counterfactual.</a:t>
            </a:r>
          </a:p>
          <a:p>
            <a:r>
              <a:t>3. Is the cash real? We read working capital.</a:t>
            </a:r>
          </a:p>
          <a:p>
            <a:r>
              <a:t>4. What does the price assume? We run the DCF backwards and steelman the bulls.</a:t>
            </a:r>
          </a:p>
          <a:p>
            <a:r>
              <a:t>5. What would change our mind? Scenarios and signposts.</a:t>
            </a:r>
          </a:p>
          <a:p/>
          <a:p>
            <a:r>
              <a:t>The rest of the deck answers these in order.</a:t>
            </a:r>
          </a:p>
          <a:p/>
          <a:p>
            <a:r>
              <a:t>Reasoning move: falsifiable questions before conclusions.</a:t>
            </a:r>
          </a:p>
          <a:p/>
          <a:p>
            <a:r>
              <a:t>Transition: Question one: what does HPE sell?</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Networking is 26% of revenue but 40% of segment profit</a:t>
            </a:r>
          </a:p>
          <a:p/>
          <a:p>
            <a:r>
              <a:t>Time: 1:15 (cumulative 3:50)</a:t>
            </a:r>
          </a:p>
          <a:p/>
          <a:p>
            <a:r>
              <a:t>Goal: Establish the first pattern: profit mix, not revenue mix.</a:t>
            </a:r>
          </a:p>
          <a:p/>
          <a:p>
            <a:r>
              <a:t>Script: HPE sells servers, storage, networking and financing to enterprises, governments and cloud providers.</a:t>
            </a:r>
          </a:p>
          <a:p>
            <a:r>
              <a:t>• Scale: fully diluted market value is $89.7 billion and enterprise value $103.8 billion. Trailing revenue is $41.9 billion, up 31%.</a:t>
            </a:r>
          </a:p>
          <a:p>
            <a:r>
              <a:t>• The table: this is the first pattern, follow profit, not revenue.</a:t>
            </a:r>
          </a:p>
          <a:p>
            <a:r>
              <a:t>  - Cloud &amp; AI (servers, storage and financing) is 71% of revenue at a 12.6% segment margin.</a:t>
            </a:r>
          </a:p>
          <a:p>
            <a:r>
              <a:t>  - Networking is only 26% of revenue, but at a 22.7% margin it earns 40% of segment profit. The smaller segment now decides the valuation.</a:t>
            </a:r>
          </a:p>
          <a:p>
            <a:r>
              <a:t>• Two facts for later: about two-thirds of revenue is transactional hardware, and recurring ARR is $3.15 billion, up 63%, mostly because Juniper's software support was added.</a:t>
            </a:r>
          </a:p>
          <a:p>
            <a:r>
              <a:t>• Execution: Q3 revenue was $12.2 billion, up 34%. This company is executing. The question is never whether the quarter was good; it is what the good quarter is worth.</a:t>
            </a:r>
          </a:p>
          <a:p/>
          <a:p>
            <a:r>
              <a:t>Numbers to say: $89.7bn; $103.8bn; $41.9bn +31%; 71% at 12.6%; 26% at 22.7% = 40% of profit; ARR $3.15bn +63%.</a:t>
            </a:r>
          </a:p>
          <a:p/>
          <a:p>
            <a:r>
              <a:t>Pattern: follow profit, not revenue.</a:t>
            </a:r>
          </a:p>
          <a:p/>
          <a:p>
            <a:r>
              <a:t>Transition: What kind of revenue is the 71%? That depends on where HPE sits in the AI stack.</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HPE sits in the layer that is paid at shipment</a:t>
            </a:r>
          </a:p>
          <a:p/>
          <a:p>
            <a:r>
              <a:t>Time: 1:30 (cumulative 5:20)</a:t>
            </a:r>
          </a:p>
          <a:p/>
          <a:p>
            <a:r>
              <a:t>Goal: Place HPE in the AI value chain and explain why its revenue is cyclical.</a:t>
            </a:r>
          </a:p>
          <a:p/>
          <a:p>
            <a:r>
              <a:t>Script: This comes from our practitioner Q&amp;A work. The AI data centre has three business models:</a:t>
            </a:r>
          </a:p>
          <a:p>
            <a:r>
              <a:t>• landlords like Digital Realty build and lease the building;</a:t>
            </a:r>
          </a:p>
          <a:p>
            <a:r>
              <a:t>• neoclouds like CoreWeave own GPUs and rent compute on multi-year contracts;</a:t>
            </a:r>
          </a:p>
          <a:p>
            <a:r>
              <a:t>• server providers like HPE and Dell sell the equipment.</a:t>
            </a:r>
          </a:p>
          <a:p/>
          <a:p>
            <a:r>
              <a:t>Same capex dollar, three different financial fingerprints.</a:t>
            </a:r>
          </a:p>
          <a:p>
            <a:r>
              <a:t>• The chart is a stylised 100-megawatt build. The landlord pays first and gets its cash back over about eleven and a half years. The neocloud needs about three years, if its GPUs stay contracted. The server provider is paid at shipment, within two quarters, but earns a thin margin once and needs a new order for every future dollar.</a:t>
            </a:r>
          </a:p>
          <a:p>
            <a:r>
              <a:t>• The table shows the consequence. Server providers have almost no capex and less than a year of revenue in contracted backlog, so their revenue is the most elastic to AI spending: 0.84 at Dell and 0.41 at HPE per point of cloud-capex growth. Digital Realty is the opposite; its revenue hasn't fallen year on year since 2018.</a:t>
            </a:r>
          </a:p>
          <a:p/>
          <a:p>
            <a:r>
              <a:t>The investing implication: you can't value a shipment-paid business on its best year; you value it on through-cycle margins. HPE's elasticity is half Dell's, because networking and services dampen the swing. Once you control for Juniper, the link to cloud capex is weaker still.</a:t>
            </a:r>
          </a:p>
          <a:p/>
          <a:p>
            <a:r>
              <a:t>Numbers to say:</a:t>
            </a:r>
          </a:p>
          <a:p>
            <a:r>
              <a:t>• cash payback ~11.5 years (landlord), ~3 years (neocloud), 2 quarters (server provider);</a:t>
            </a:r>
          </a:p>
          <a:p>
            <a:r>
              <a:t>• revenue elasticity: Dell 0.84, HPE 0.41 (Digital Realty 0.06, not significant);</a:t>
            </a:r>
          </a:p>
          <a:p>
            <a:r>
              <a:t>• controlling for Juniper, HPE's capex link sums to 0.19 and is not significant.</a:t>
            </a:r>
          </a:p>
          <a:p/>
          <a:p>
            <a:r>
              <a:t>Pattern: your place in the value chain sets your cycle.</a:t>
            </a:r>
          </a:p>
          <a:p/>
          <a:p>
            <a:r>
              <a:t>Transition: So inside HPE, where are the switching costs?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Servers bring the revenue; networking brings the returns</a:t>
            </a:r>
          </a:p>
          <a:p/>
          <a:p>
            <a:r>
              <a:t>Time: 1:30 (cumulative 6:50)</a:t>
            </a:r>
          </a:p>
          <a:p/>
          <a:p>
            <a:r>
              <a:t>Goal: Moat reasoning: returns, not stories.</a:t>
            </a:r>
          </a:p>
          <a:p/>
          <a:p>
            <a:r>
              <a:t>Script: The chart shows HPE's business lines over the last twelve months. Servers are half of revenue; the fastest growth is in routing and data-centre networking, much of it Juniper being consolidated.</a:t>
            </a:r>
          </a:p>
          <a:p/>
          <a:p>
            <a:r>
              <a:t>The moat table:</a:t>
            </a:r>
          </a:p>
          <a:p>
            <a:r>
              <a:t>• Servers and AI systems: bought competitively, largely interchangeable, so we give them no moat.</a:t>
            </a:r>
          </a:p>
          <a:p>
            <a:r>
              <a:t>• Networking and storage: narrow moats. Campus networks run through Aruba Central and Juniper Mist and are embedded in security policy, and routing uses HPE's own Express 5 silicon. That is switching cost.</a:t>
            </a:r>
          </a:p>
          <a:p>
            <a:r>
              <a:t>• Financial Services: a credit business, not a moat.</a:t>
            </a:r>
          </a:p>
          <a:p/>
          <a:p>
            <a:r>
              <a:t>Now the test that matters most: returns. A moat you can't see in returns is only a story. HPE's adjusted after-tax ROIC averaged 8.1% from FY2020 to FY2025, below any reasonable cost of capital, and reached 11.2% only in this AI-cycle year.</a:t>
            </a:r>
          </a:p>
          <a:p/>
          <a:p>
            <a:r>
              <a:t>The honest reading: Juniper is a deliberate move toward the part of the stack with pricing power, and strategically right. But HPE took $1.6 billion of impairments in FY2025 on earlier deals, so we want evidence before we pay for the synergies. That is base-rate discipline: an acquirer's promises get a discount until they show up in returns.</a:t>
            </a:r>
          </a:p>
          <a:p/>
          <a:p>
            <a:r>
              <a:t>Numbers to say: ROIC 8.1% average FY20–25; 11.2% TTM; WACC 9.3%; FY2025 impairments $1.6bn.</a:t>
            </a:r>
          </a:p>
          <a:p/>
          <a:p>
            <a:r>
              <a:t>Reasoning move: moat = evidence in returns; apply base rates to acquisitions.</a:t>
            </a:r>
          </a:p>
          <a:p/>
          <a:p>
            <a:r>
              <a:t>Transition: And the industry around it is booming, which is not the same as a moat.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AI spending is exploding, but HPE's server share is shrinking</a:t>
            </a:r>
          </a:p>
          <a:p/>
          <a:p>
            <a:r>
              <a:t>Time: 1:00 (cumulative 7:50)</a:t>
            </a:r>
          </a:p>
          <a:p/>
          <a:p>
            <a:r>
              <a:t>Goal: Growth of the market is not growth of the company.</a:t>
            </a:r>
          </a:p>
          <a:p/>
          <a:p>
            <a:r>
              <a:t>Script: The market backdrop is huge:</a:t>
            </a:r>
          </a:p>
          <a:p>
            <a:r>
              <a:t>• IDC puts AI infrastructure spending at $497 billion this year;</a:t>
            </a:r>
          </a:p>
          <a:p>
            <a:r>
              <a:t>• the server market grew 52% in the second quarter;</a:t>
            </a:r>
          </a:p>
          <a:p>
            <a:r>
              <a:t>• the five big cloud spenders' capex is $566 billion over twelve months, up 81%.</a:t>
            </a:r>
          </a:p>
          <a:p/>
          <a:p>
            <a:r>
              <a:t>HPE grew 46%: slower than the market, and far slower than Dell's 165%. It has 3.5% of all servers, about 7.7% of the OEM market it actually competes in, because more than half of servers go straight from ODMs to hyperscalers.</a:t>
            </a:r>
          </a:p>
          <a:p/>
          <a:p>
            <a:r>
              <a:t>The pattern: a booming market lifts every boat, but the profit pool goes to whoever has bargaining power. Here that is NVIDIA, the memory makers and giant buyers ordering in competitive lots. A rising tide is not a moat.</a:t>
            </a:r>
          </a:p>
          <a:p/>
          <a:p>
            <a:r>
              <a:t>Numbers to say: $497bn; server market +52%; capex $566bn +81%; HPE +46% vs Dell +165%; 3.5% share, ~7.7% of OEM.</a:t>
            </a:r>
          </a:p>
          <a:p/>
          <a:p>
            <a:r>
              <a:t>Pattern: a booming market is not a moat; follow bargaining power.</a:t>
            </a:r>
          </a:p>
          <a:p/>
          <a:p>
            <a:r>
              <a:t>Transition: Now question two: structure or cycle?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flat years, then a step change in scale and margins</a:t>
            </a:r>
          </a:p>
          <a:p/>
          <a:p>
            <a:r>
              <a:t>Time: 1:00 (cumulative 8:50)</a:t>
            </a:r>
          </a:p>
          <a:p/>
          <a:p>
            <a:r>
              <a:t>Goal: Frame the structure-versus-cycle question.</a:t>
            </a:r>
          </a:p>
          <a:p/>
          <a:p>
            <a:r>
              <a:t>Script:</a:t>
            </a:r>
          </a:p>
          <a:p>
            <a:r>
              <a:t>• Left chart (revenue): from FY2020 to FY2024 revenue compounded at 2.8% a year, from about $27 billion to $30 billion. FY2025 grew 13.8% with part-year Juniper, and the last twelve months grew 30.8% to $41.9 billion.</a:t>
            </a:r>
          </a:p>
          <a:p>
            <a:r>
              <a:t>• Right chart (margins): non-GAAP operating margin moved from the 10–11% range to 13.8%. GAAP operating margin is 6.2%; the gap is mainly Juniper amortisation and stock-based compensation, which we treat as a real cost.</a:t>
            </a:r>
          </a:p>
          <a:p/>
          <a:p>
            <a:r>
              <a:t>When a company that was flat for four years suddenly steps up, the first job is not to extrapolate; it is to ask what caused the step.</a:t>
            </a:r>
          </a:p>
          <a:p/>
          <a:p>
            <a:r>
              <a:t>Numbers to say: 2.8% CAGR FY20–24; +13.8% FY25; +30.8% TTM; non-GAAP margin 13.8% vs GAAP 6.2%.</a:t>
            </a:r>
          </a:p>
          <a:p/>
          <a:p>
            <a:r>
              <a:t>Reasoning move: don't extrapolate a break; explain it.</a:t>
            </a:r>
          </a:p>
          <a:p/>
          <a:p>
            <a:r>
              <a:t>Transition: Here is how we explained it.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Only a third of FY26's jump above trend is Juniper</a:t>
            </a:r>
          </a:p>
          <a:p/>
          <a:p>
            <a:r>
              <a:t>Time: 1:30 (cumulative 10:20)</a:t>
            </a:r>
          </a:p>
          <a:p/>
          <a:p>
            <a:r>
              <a:t>Goal: Quantify structure versus cycle with a counterfactual.</a:t>
            </a:r>
          </a:p>
          <a:p/>
          <a:p>
            <a:r>
              <a:t>Script: The tool here is a counterfactual.</a:t>
            </a:r>
          </a:p>
          <a:p>
            <a:r>
              <a:t>• The model: we fitted an ARIMA model, a statistical trend model, to HPE's quarterly revenue from FY2018 to mid-FY2025, before Juniper. In a rolling backtest it missed by 4.8% on average, better than a random walk at 5.8%.</a:t>
            </a:r>
          </a:p>
          <a:p>
            <a:r>
              <a:t>• The question: what would FY26 look like with no structural change? About $29 billion, against guidance of $46.5 billion. That is $17.4 billion above trend. All five quarters since the Juniper close sit above the model's 95% band, so this is a genuine break.</a:t>
            </a:r>
          </a:p>
          <a:p>
            <a:r>
              <a:t>• The attribution: using the company's own normalised growth, Juniper explains about $5.7 billion, roughly a third. The remaining $11.8 billion is AI systems, pricing and refresh: the cyclical part.</a:t>
            </a:r>
          </a:p>
          <a:p>
            <a:r>
              <a:t>• Two regressions back this up:</a:t>
            </a:r>
          </a:p>
          <a:p>
            <a:r>
              <a:t>  - once you account for Juniper quarters, revenue growth has only a weak link to cloud capex;</a:t>
            </a:r>
          </a:p>
          <a:p>
            <a:r>
              <a:t>  - memory-price spikes, measured by Micron's margin, compress HPE's gross margin only modestly. That tells you HPE has been passing costs through in price, which works in reverse when memory prices fall.</a:t>
            </a:r>
          </a:p>
          <a:p/>
          <a:p>
            <a:r>
              <a:t>The pattern: separate the tide from the boat. The boat got bigger with Juniper, but two-thirds of the rise is tide.</a:t>
            </a:r>
          </a:p>
          <a:p/>
          <a:p>
            <a:r>
              <a:t>Numbers to say: backtest error 4.8% vs 5.8%; trend $29.1bn vs guide $46.5bn; excess $17.4bn; Juniper ≈ $5.7bn; AI and pricing ≈ $11.8bn.</a:t>
            </a:r>
          </a:p>
          <a:p/>
          <a:p>
            <a:r>
              <a:t>Pattern: separate the tide from the boat.</a:t>
            </a:r>
          </a:p>
          <a:p/>
          <a:p>
            <a:r>
              <a:t>Transition: What drives the tide?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Cloud capex and memory prices drive the cyclical upside</a:t>
            </a:r>
          </a:p>
          <a:p/>
          <a:p>
            <a:r>
              <a:t>Time: 1:00 (cumulative 11:20)</a:t>
            </a:r>
          </a:p>
          <a:p/>
          <a:p>
            <a:r>
              <a:t>Goal: Name the two external levers and their reversibility.</a:t>
            </a:r>
          </a:p>
          <a:p/>
          <a:p>
            <a:r>
              <a:t>Script: These are the two levers behind that tide.</a:t>
            </a:r>
          </a:p>
          <a:p>
            <a:r>
              <a:t>• Left: cloud capex. Quarterly capex at Microsoft, Alphabet, Amazon, Meta and Oracle is at a record run-rate. It feeds AI orders and backlog, but AI systems dilute margin and swell inventory.</a:t>
            </a:r>
          </a:p>
          <a:p>
            <a:r>
              <a:t>• Right: memory prices. Micron's gross margin, our proxy for memory prices, jumped from 38% to 85% in a year, and DRAM contract prices rose 13 to 18% quarter on quarter in Q3. HPE passed those costs on, so Q3 server revenue grew 35%, largely on price, while units were supply-constrained.</a:t>
            </a:r>
          </a:p>
          <a:p/>
          <a:p>
            <a:r>
              <a:t>The investing logic: both levers are external, both are at records, and both can run in reverse. When memory prices fall, server revenue can shrink even if unit demand is flat.</a:t>
            </a:r>
          </a:p>
          <a:p/>
          <a:p>
            <a:r>
              <a:t>Numbers to say: Micron gross margin 38% → 85%; DRAM +13–18% QoQ; Q3 server revenue +35% on price.</a:t>
            </a:r>
          </a:p>
          <a:p/>
          <a:p>
            <a:r>
              <a:t>Reasoning move: identify the external variables and ask whether they mean-revert.</a:t>
            </a:r>
          </a:p>
          <a:p/>
          <a:p>
            <a:r>
              <a:t>Transition: If the levers are cyclical, does HPE look like a company at a cycle high? We checked.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Seven late-cycle signals, three structural offsets</a:t>
            </a:r>
          </a:p>
          <a:p/>
          <a:p>
            <a:r>
              <a:t>Time: 1:30 (cumulative 12:50)</a:t>
            </a:r>
          </a:p>
          <a:p/>
          <a:p>
            <a:r>
              <a:t>Goal: Pattern recognition, with the counter-evidence shown.</a:t>
            </a:r>
          </a:p>
          <a:p/>
          <a:p>
            <a:r>
              <a:t>Script: No single indicator calls a cycle peak, but cycles leave a recognisable cluster of fingerprints. We checked HPE against seven:</a:t>
            </a:r>
          </a:p>
          <a:p>
            <a:r>
              <a:t>1. Growth led by price rather than units: present.</a:t>
            </a:r>
          </a:p>
          <a:p>
            <a:r>
              <a:t>2. Record margins that management guides lower: present, at 40.4%.</a:t>
            </a:r>
          </a:p>
          <a:p>
            <a:r>
              <a:t>3. Inventory financed by suppliers: present. Inventory is up $5.5 billion and payables up $6 billion.</a:t>
            </a:r>
          </a:p>
          <a:p>
            <a:r>
              <a:t>4. Record backlog while supply is the constraint: present, at $7.6 billion. Long lead times inflate orders, and slippage tends to follow when supply eases.</a:t>
            </a:r>
          </a:p>
          <a:p>
            <a:r>
              <a:t>5. Customers' capex at records, partly debt-funded: present, up 81%.</a:t>
            </a:r>
          </a:p>
          <a:p>
            <a:r>
              <a:t>6. A multiple above its own history: present, 13.5 times against 4 to 10.</a:t>
            </a:r>
          </a:p>
          <a:p>
            <a:r>
              <a:t>7. Momentum with insiders selling: only partly. The stock is up 155% in a year with a blow-off day on 2 June, and insiders made 31 sales and no purchases, though most of those sales came before the re-rating.</a:t>
            </a:r>
          </a:p>
          <a:p/>
          <a:p>
            <a:r>
              <a:t>The discipline is to also list what doesn't fit a pure cycle story: networking earns 40% of profit, ROIC is above WACC, and ARR grew 63%. So our conclusion isn't "HPE is at a cyclical peak". It is "HPE is a better business at a cyclical high", and the price has to tell the two apart.</a:t>
            </a:r>
          </a:p>
          <a:p/>
          <a:p>
            <a:r>
              <a:t>Numbers to say: gross margin 40.4%; inventory +$5.5bn, payables +$6.0bn; backlog $7.6bn; capex +81%; 13.5x vs 4–10x; +155% in a year; 31 insider sales, no purchases.</a:t>
            </a:r>
          </a:p>
          <a:p/>
          <a:p>
            <a:r>
              <a:t>Pattern: late-cycle signals come in clusters; always list the counter-evidence.</a:t>
            </a:r>
          </a:p>
          <a:p/>
          <a:p>
            <a:r>
              <a:t>Transition: Signal three deserves a closer look: is the cash real?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Record free cash flow, but suppliers fund the AI backlog</a:t>
            </a:r>
          </a:p>
          <a:p/>
          <a:p>
            <a:r>
              <a:t>Time: 1:15 (cumulative 14:05)</a:t>
            </a:r>
          </a:p>
          <a:p/>
          <a:p>
            <a:r>
              <a:t>Goal: Cash quality, and why the balance sheet is not the issue.</a:t>
            </a:r>
          </a:p>
          <a:p/>
          <a:p>
            <a:r>
              <a:t>Script: Question three: is the cash real?</a:t>
            </a:r>
          </a:p>
          <a:p>
            <a:r>
              <a:t>• The headline: trailing free cash flow is a record $4.5 billion, a 10.7% margin, against about $1 billion in FY2025.</a:t>
            </a:r>
          </a:p>
          <a:p>
            <a:r>
              <a:t>• Working capital (right chart): since October, inventory rose $5.5 billion and payables rose $6 billion. Suppliers are financing the AI backlog.</a:t>
            </a:r>
          </a:p>
          <a:p>
            <a:r>
              <a:t>• The pattern: at cycle peaks, when orders grow, payables can grow faster than inventory, so free cash flow looks best. When orders slow the financing unwinds, and free cash flow can swing by billions.</a:t>
            </a:r>
          </a:p>
          <a:p>
            <a:r>
              <a:t>• The balance sheet (bottom row) can absorb that:</a:t>
            </a:r>
          </a:p>
          <a:p>
            <a:r>
              <a:t>  - gross debt is $20.2 billion against $6.2 billion of cash, but about $11.5 billion of that debt funds Financial Services receivables;</a:t>
            </a:r>
          </a:p>
          <a:p>
            <a:r>
              <a:t>  - liquidity is $11.5 billion;</a:t>
            </a:r>
          </a:p>
          <a:p>
            <a:r>
              <a:t>  - dilution from the preferred and employee awards is 8.8%.</a:t>
            </a:r>
          </a:p>
          <a:p/>
          <a:p>
            <a:r>
              <a:t>So the balance sheet isn't the risk; the quality of this year's cash is.</a:t>
            </a:r>
          </a:p>
          <a:p/>
          <a:p>
            <a:r>
              <a:t>Numbers to say: free cash flow $4.5bn (10.7%) vs $986m in FY2025; inventory +$5.5bn; payables +$6.0bn; debt $20.2bn, cash $6.2bn; ~$11.5bn funds FS; dilution 8.8%.</a:t>
            </a:r>
          </a:p>
          <a:p/>
          <a:p>
            <a:r>
              <a:t>Pattern: working capital narrates the cycle.</a:t>
            </a:r>
          </a:p>
          <a:p/>
          <a:p>
            <a:r>
              <a:t>Transition: Part three: what does the price assume? First, the best case for the bulls.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Steelman: at peer multiples, HPE is worth $67–106</a:t>
            </a:r>
          </a:p>
          <a:p/>
          <a:p>
            <a:r>
              <a:t>Time: 1:00 (cumulative 15:05)</a:t>
            </a:r>
          </a:p>
          <a:p/>
          <a:p>
            <a:r>
              <a:t>Goal: Steelman the bull case before testing it.</a:t>
            </a:r>
          </a:p>
          <a:p/>
          <a:p>
            <a:r>
              <a:t>Script: Before attacking the price, steelman it. The best bull argument is relative:</a:t>
            </a:r>
          </a:p>
          <a:p>
            <a:r>
              <a:t>• HPE has about twice Dell's gross margin and a networking business that looks more like Cisco;</a:t>
            </a:r>
          </a:p>
          <a:p>
            <a:r>
              <a:t>• yet it trades at 13.5 times next year's earnings, against Dell at 23 and Cisco at 20;</a:t>
            </a:r>
          </a:p>
          <a:p>
            <a:r>
              <a:t>• apply the core peers' multiples and you get $67 to $106, and a sum of the parts using Cisco's multiple for networking gives $67 to $94.</a:t>
            </a:r>
          </a:p>
          <a:p/>
          <a:p>
            <a:r>
              <a:t>Our response: those multiples aren't independent evidence. Dell at 23 times already embeds the same AI-cycle assumptions we are testing. Relative value can tell you HPE is cheap against its sector; it can't tell you the sector is priced right.</a:t>
            </a:r>
          </a:p>
          <a:p/>
          <a:p>
            <a:r>
              <a:t>Numbers to say: gross margin 37% vs Dell 20%; P/E 13.5x vs Dell 23.0x, Cisco 20.0x; peers imply $67–106; sum of the parts $67–94.</a:t>
            </a:r>
          </a:p>
          <a:p/>
          <a:p>
            <a:r>
              <a:t>Reasoning move: steelman first; check whether "cheap vs peers" is independent evidence.</a:t>
            </a:r>
          </a:p>
          <a:p/>
          <a:p>
            <a:r>
              <a:t>Transition: So we value the cash flows directly, and then run the valuation backwards.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price needs an 18% margin or 11% growth for a decade</a:t>
            </a:r>
          </a:p>
          <a:p/>
          <a:p>
            <a:r>
              <a:t>Time: 1:30 (cumulative 16:35)</a:t>
            </a:r>
          </a:p>
          <a:p/>
          <a:p>
            <a:r>
              <a:t>Goal: Expectations investing with a reverse DCF.</a:t>
            </a:r>
          </a:p>
          <a:p/>
          <a:p>
            <a:r>
              <a:t>Script: Instead of forecasting the price, we treat the price as the forecast and solve for what it requires.</a:t>
            </a:r>
          </a:p>
          <a:p>
            <a:r>
              <a:t>• Our DCF: FY27 to FY36 at a 9.3% WACC (risk-free rate 4.95%, equity risk premium 3.97%, beta 1.35), with stock compensation expensed. It uses FY26 guidance and the FY27 framework, revenue up 15% at a 14.5% non-GAAP margin, fading to 12.5% long term.</a:t>
            </a:r>
          </a:p>
          <a:p>
            <a:r>
              <a:t>• Reversed, one variable at a time, $62.09 needs one of:</a:t>
            </a:r>
          </a:p>
          <a:p>
            <a:r>
              <a:t>  - a long-term non-GAAP margin of 18.4%, when HPE's range from FY2020 to FY2025 was 8.5 to 10.8% and the FY27 guide is 14–15%;</a:t>
            </a:r>
          </a:p>
          <a:p>
            <a:r>
              <a:t>  - revenue growth of 10.8% a year for ten years instead of 5%;</a:t>
            </a:r>
          </a:p>
          <a:p>
            <a:r>
              <a:t>  - a 7% cost of capital, which isn't plausible for a hardware company with a 1.4 beta.</a:t>
            </a:r>
          </a:p>
          <a:p>
            <a:r>
              <a:t>• Even if FY27's 14.5% margin held forever, growth would still need to be 3.5 points faster than our base.</a:t>
            </a:r>
          </a:p>
          <a:p/>
          <a:p>
            <a:r>
              <a:t>The logic: we don't have to be right about next quarter. We only have to ask whether the world the price implies is more likely than not, and here it looks like a stretch.</a:t>
            </a:r>
          </a:p>
          <a:p/>
          <a:p>
            <a:r>
              <a:t>Numbers to say: WACC 9.3%; implied margin 18.4% vs history 8.5–10.8% and guide 14–15%; implied CAGR 10.8% vs 5.0%; implied WACC 7.0%; +3.5pp growth even at 14.5% margin.</a:t>
            </a:r>
          </a:p>
          <a:p/>
          <a:p>
            <a:r>
              <a:t>Pattern: the price is a forecast; reverse it.</a:t>
            </a:r>
          </a:p>
          <a:p/>
          <a:p>
            <a:r>
              <a:t>Transition: Here is every method on one scale.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Intrinsic value sits below the price; peer multiples sit above</a:t>
            </a:r>
          </a:p>
          <a:p/>
          <a:p>
            <a:r>
              <a:t>Time: 1:15 (cumulative 17:50)</a:t>
            </a:r>
          </a:p>
          <a:p/>
          <a:p>
            <a:r>
              <a:t>Goal: Show where the methods cluster and why they disagree.</a:t>
            </a:r>
          </a:p>
          <a:p/>
          <a:p>
            <a:r>
              <a:t>Script: The football field puts every method on one scale against the $62.09 price line.</a:t>
            </a:r>
          </a:p>
          <a:p>
            <a:r>
              <a:t>• Methods that value HPE's own cash flows cluster together:</a:t>
            </a:r>
          </a:p>
          <a:p>
            <a:r>
              <a:t>  - base DCF $38.80, with a $35 to $43 range for half a point either way on WACC and a quarter point on terminal growth;</a:t>
            </a:r>
          </a:p>
          <a:p>
            <a:r>
              <a:t>  - probability-weighted scenario value $38.43;</a:t>
            </a:r>
          </a:p>
          <a:p>
            <a:r>
              <a:t>  - an independent Damodaran model at $31.57, using a regional equity risk premium.</a:t>
            </a:r>
          </a:p>
          <a:p>
            <a:r>
              <a:t>• HPE's own forward P/E history gives $20 to $46.</a:t>
            </a:r>
          </a:p>
          <a:p>
            <a:r>
              <a:t>• Only methods that borrow today's peer multiples reach the price: comparables and sum of the parts. An M&amp;A value of $69–74 needs a buyer, which is improbable at an enterprise value above $100 billion.</a:t>
            </a:r>
          </a:p>
          <a:p/>
          <a:p>
            <a:r>
              <a:t>The pattern: when intrinsic methods agree with each other and disagree with the price, relative multiples are setting the price, and relative multiples are the most fragile input in a sector cycle.</a:t>
            </a:r>
          </a:p>
          <a:p/>
          <a:p>
            <a:r>
              <a:t>Numbers to say: DCF $38.80 ($35–43); probability-weighted $38.43; Ginzu $31.57; own history $20–46; M&amp;A $69–74.</a:t>
            </a:r>
          </a:p>
          <a:p/>
          <a:p>
            <a:r>
              <a:t>Reasoning move: look for agreement between independent methods; ask which input sets the price.</a:t>
            </a:r>
          </a:p>
          <a:p/>
          <a:p>
            <a:r>
              <a:t>Transition: How lopsided is the risk-reward? Scenarios.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Asymmetry: even our bull case falls short of today's price</a:t>
            </a:r>
          </a:p>
          <a:p/>
          <a:p>
            <a:r>
              <a:t>Time: 1:15 (cumulative 19:05)</a:t>
            </a:r>
          </a:p>
          <a:p/>
          <a:p>
            <a:r>
              <a:t>Goal: Make the asymmetry explicit.</a:t>
            </a:r>
          </a:p>
          <a:p/>
          <a:p>
            <a:r>
              <a:t>Script: Scenarios make the asymmetry explicit.</a:t>
            </a:r>
          </a:p>
          <a:p>
            <a:r>
              <a:t>• Bear (25%): AI digestion and memory normalisation reverse this year's price gains, FY28 revenue falls 3%, and margin returns to 10.5%. Value: $22.</a:t>
            </a:r>
          </a:p>
          <a:p>
            <a:r>
              <a:t>• Base (50%): the FY27 framework is delivered, growth fades to mid-single digits, and margin settles at 12.5%. Value: $38.80.</a:t>
            </a:r>
          </a:p>
          <a:p>
            <a:r>
              <a:t>• Bull (25%): Oracle and Helios lift networking, and margin holds at 14.5%. Value: $54.</a:t>
            </a:r>
          </a:p>
          <a:p>
            <a:r>
              <a:t>• Probability-weighted: $38.43.</a:t>
            </a:r>
          </a:p>
          <a:p/>
          <a:p>
            <a:r>
              <a:t>The key point: even the bull case sits below today's price, so upside from here needs assumptions beyond what the evidence supports. The tornado on the right shows what matters: the discount rate, growth and long-term margin each swing value by about $12 to $14, while terminal growth and working capital matter much less. Margin is the one where the evidence is genuinely open, which is why margin durability is at the centre of our monitoring.</a:t>
            </a:r>
          </a:p>
          <a:p/>
          <a:p>
            <a:r>
              <a:t>Numbers to say: $22 / $38.80 / $54; probability-weighted $38.43; WACC ±1pp $33–47; growth ±2pp $33–46; margin ±1.5pp $33–45.</a:t>
            </a:r>
          </a:p>
          <a:p/>
          <a:p>
            <a:r>
              <a:t>Pattern: think in ranges and probabilities; find the one input where the evidence is open.</a:t>
            </a:r>
          </a:p>
          <a:p/>
          <a:p>
            <a:r>
              <a:t>Transition: Part four: what the market is doing, the risks, and the decision.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market is pricing a regime change, not a cycle</a:t>
            </a:r>
          </a:p>
          <a:p/>
          <a:p>
            <a:r>
              <a:t>Time: 1:15 (cumulative 20:20)</a:t>
            </a:r>
          </a:p>
          <a:p/>
          <a:p>
            <a:r>
              <a:t>Goal: Read the market's behaviour and draw the position-sizing lesson.</a:t>
            </a:r>
          </a:p>
          <a:p/>
          <a:p>
            <a:r>
              <a:t>Script: For a decade the stock traded between about $8 and $26, as an ex-growth hardware company at 4 to 10 times earnings. In April 2026 it broke out, and it is up 155% in a year; Dell is up 358%.</a:t>
            </a:r>
          </a:p>
          <a:p/>
          <a:p>
            <a:r>
              <a:t>Two patterns in the market data matter for how you act:</a:t>
            </a:r>
          </a:p>
          <a:p>
            <a:r>
              <a:t>• HPE now trades as an AI-hardware name. Its correlation with Dell (0.66) exceeds its correlation with the S&amp;P 500 (0.47), so sector sentiment can overwhelm company news.</a:t>
            </a:r>
          </a:p>
          <a:p>
            <a:r>
              <a:t>• The return statistics: returns show no significant autocorrelation, so past prices don't predict direction. But volatility clusters, and three-sigma days happen 6.8 times as often as a normal distribution implies. That is why we give ranges rather than point targets, and why position sizing has to assume fat tails.</a:t>
            </a:r>
          </a:p>
          <a:p/>
          <a:p>
            <a:r>
              <a:t>The catalysts to watch:</a:t>
            </a:r>
          </a:p>
          <a:p>
            <a:r>
              <a:t>• the Networking Investor Day on 30 September;</a:t>
            </a:r>
          </a:p>
          <a:p>
            <a:r>
              <a:t>• Q4 results and full FY27 guidance in early December;</a:t>
            </a:r>
          </a:p>
          <a:p>
            <a:r>
              <a:t>• the preferred conversion around September 2027.</a:t>
            </a:r>
          </a:p>
          <a:p/>
          <a:p>
            <a:r>
              <a:t>Numbers to say: range $7.83–26.25 for a decade; +155% in a year vs Dell +358%; correlation with Dell 0.66 vs S&amp;P 500 0.47; 3σ days 6.8x normal.</a:t>
            </a:r>
          </a:p>
          <a:p/>
          <a:p>
            <a:r>
              <a:t>Pattern: momentum and fat tails; the market prices the regime, fundamentals price the cycle.</a:t>
            </a:r>
          </a:p>
          <a:p/>
          <a:p>
            <a:r>
              <a:t>Transition: What could go wrong for anyone owning it at $62?</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biggest risks are the forces that created the rally</a:t>
            </a:r>
          </a:p>
          <a:p/>
          <a:p>
            <a:r>
              <a:t>Time: 1:15 (cumulative 21:35)</a:t>
            </a:r>
          </a:p>
          <a:p/>
          <a:p>
            <a:r>
              <a:t>Goal: Trace each risk through the statements to valuation.</a:t>
            </a:r>
          </a:p>
          <a:p/>
          <a:p>
            <a:r>
              <a:t>Script: The risk slide has one idea: the biggest risks are the forces that created the rally, running in reverse. For each one we trace the chain from revenue to margin to cash to balance sheet to valuation, and name the indicator to watch.</a:t>
            </a:r>
          </a:p>
          <a:p/>
          <a:p>
            <a:r>
              <a:t>Company-specific:</a:t>
            </a:r>
          </a:p>
          <a:p>
            <a:r>
              <a:t>• Cloud &amp; AI margin reversal: memory prices fall, prices and gross margin fall together, and inventory bought at peak cost gets written down. Watch TrendForce prices and HPE's gross margin.</a:t>
            </a:r>
          </a:p>
          <a:p>
            <a:r>
              <a:t>• Networking execution: share loss to Cisco and Arista, or missed synergies, hits the highest-margin revenue. Watch normalised growth and the Investor Day.</a:t>
            </a:r>
          </a:p>
          <a:p>
            <a:r>
              <a:t>• Lumpy AI deals and customer credit: slippage swings free cash flow by billions. Watch backlog conversion and inventory days.</a:t>
            </a:r>
          </a:p>
          <a:p/>
          <a:p>
            <a:r>
              <a:t>External:</a:t>
            </a:r>
          </a:p>
          <a:p>
            <a:r>
              <a:t>• AI capex digestion: the largest valuation risk, because it hits both earnings and sector multiples.</a:t>
            </a:r>
          </a:p>
          <a:p>
            <a:r>
              <a:t>• Supply and trade policy.</a:t>
            </a:r>
          </a:p>
          <a:p>
            <a:r>
              <a:t>• Rates: each percentage point of WACC is worth roughly $6 to $8 a share.</a:t>
            </a:r>
          </a:p>
          <a:p/>
          <a:p>
            <a:r>
              <a:t>Notice the asymmetry: most of these risks push value down from $38, and almost none push it toward $62.</a:t>
            </a:r>
          </a:p>
          <a:p/>
          <a:p>
            <a:r>
              <a:t>Numbers to say: peers at 18–23x P/E; ±1pp WACC ≈ ±$6–8 per share.</a:t>
            </a:r>
          </a:p>
          <a:p/>
          <a:p>
            <a:r>
              <a:t>Reasoning move: transmission chains, not risk lists.</a:t>
            </a:r>
          </a:p>
          <a:p/>
          <a:p>
            <a:r>
              <a:t>Transition: Which brings us to the decision.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Price vs range: what must be true, and what to watch</a:t>
            </a:r>
          </a:p>
          <a:p/>
          <a:p>
            <a:r>
              <a:t>Time: 1:30 (cumulative 23:05)</a:t>
            </a:r>
          </a:p>
          <a:p/>
          <a:p>
            <a:r>
              <a:t>Goal: Close on the decision logic without a rating.</a:t>
            </a:r>
          </a:p>
          <a:p/>
          <a:p>
            <a:r>
              <a:t>Script: Here is the decision framework.</a:t>
            </a:r>
          </a:p>
          <a:p>
            <a:r>
              <a:t>• Left: our ranges against the price. Intrinsic value is $35 to $43. Relative value is $67 to $106, but only if peer multiples hold.</a:t>
            </a:r>
          </a:p>
          <a:p>
            <a:r>
              <a:t>• Right: for $62.09 to be fair value, one of these must be true:</a:t>
            </a:r>
          </a:p>
          <a:p>
            <a:r>
              <a:t>  - an 18% long-term margin, when FY27 guidance is 14–15%;</a:t>
            </a:r>
          </a:p>
          <a:p>
            <a:r>
              <a:t>  - 11% revenue growth for ten years, when our base is 5%;</a:t>
            </a:r>
          </a:p>
          <a:p>
            <a:r>
              <a:t>  - a 7% cost of capital, or AI-hardware multiples that persist.</a:t>
            </a:r>
          </a:p>
          <a:p/>
          <a:p>
            <a:r>
              <a:t>We don't need to predict which way the cycle turns. We need to know what would change our mind.</a:t>
            </a:r>
          </a:p>
          <a:p>
            <a:r>
              <a:t>• Upward: Cloud &amp; AI margin holding at 13% or more through a memory-price decline, networking growing mid-teens organically at 25%-plus margins, and FY27 free cash flow well above $5 billion with inventory normalising. Together those would lift the long-term margin toward 15% and our range toward $55–60: still below today's price, but close.</a:t>
            </a:r>
          </a:p>
          <a:p>
            <a:r>
              <a:t>• Downward: non-GAAP gross margin back below 33%, a sequential decline in AI backlog, or a sector de-rating.</a:t>
            </a:r>
          </a:p>
          <a:p/>
          <a:p>
            <a:r>
              <a:t>That is the conclusion: a better business, priced as if the cycle never turns, with a clear list of signposts to update on.</a:t>
            </a:r>
          </a:p>
          <a:p/>
          <a:p>
            <a:r>
              <a:t>Numbers to say: $35–43 vs $62.09; peer multiples $67–106; 18% vs 14–15%; 11% vs 5%; 7% WACC. Upward signposts: 13%, 25%, $5bn → $55–60. Downward: gross margin below 33%.</a:t>
            </a:r>
          </a:p>
          <a:p/>
          <a:p>
            <a:r>
              <a:t>Reasoning move: decide with signposts, not predictions.</a:t>
            </a:r>
          </a:p>
          <a:p/>
          <a:p>
            <a:r>
              <a:t>Transition: Let me leave you with what carries over to the next company.</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Five patterns to take away</a:t>
            </a:r>
          </a:p>
          <a:p/>
          <a:p>
            <a:r>
              <a:t>Time: 0:45 (cumulative 23:50)</a:t>
            </a:r>
          </a:p>
          <a:p/>
          <a:p>
            <a:r>
              <a:t>Goal: Make the reasoning reusable.</a:t>
            </a:r>
          </a:p>
          <a:p/>
          <a:p>
            <a:r>
              <a:t>Script: Five patterns outlive this stock:</a:t>
            </a:r>
          </a:p>
          <a:p>
            <a:r>
              <a:t>1. Follow profit, not revenue.</a:t>
            </a:r>
          </a:p>
          <a:p>
            <a:r>
              <a:t>2. Separate the tide from the boat.</a:t>
            </a:r>
          </a:p>
          <a:p>
            <a:r>
              <a:t>3. Your place in the value chain sets your cycle.</a:t>
            </a:r>
          </a:p>
          <a:p>
            <a:r>
              <a:t>4. Working capital narrates the cycle.</a:t>
            </a:r>
          </a:p>
          <a:p>
            <a:r>
              <a:t>5. Treat the price as a forecast: reverse it, and think in ranges, because the tails are fat.</a:t>
            </a:r>
          </a:p>
          <a:p/>
          <a:p>
            <a:r>
              <a:t>Thank you. I'm happy to take questions; the appendix has backup on the moat, capital structure, price action, catalysts and our two practitioner questions.</a:t>
            </a:r>
          </a:p>
          <a:p/>
          <a:p>
            <a:r>
              <a:t>Transition: Open for questions; use the Q&amp;A preparation below.</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divider</a:t>
            </a:r>
          </a:p>
          <a:p/>
          <a:p>
            <a:r>
              <a:t>When to use: Jump here when a question needs detail. Slides 22–28 are not timed.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competitive position and moat</a:t>
            </a:r>
          </a:p>
          <a:p/>
          <a:p>
            <a:r>
              <a:t>When to use: Questions about competition or pricing power.</a:t>
            </a:r>
          </a:p>
          <a:p>
            <a:r>
              <a:t>• Porter: rivalry and supplier power are high (NVIDIA, the memory makers, Broadcom); buyers medium-to-high; substitutes medium (public cloud vs on-premises inference); new entrants low-to-medium.</a:t>
            </a:r>
          </a:p>
          <a:p>
            <a:r>
              <a:t>• Moat by business: narrow in networking and storage/GreenLake; none in servers and AI systems or in Financial Services.</a:t>
            </a:r>
          </a:p>
          <a:p>
            <a:r>
              <a:t>• Returns test: adjusted ROIC averaged 8.1% over FY20–25 and is 11.2% TTM. Technology edge: Express 5 routing silicon, liquid cooling (Cray heritage), on-premises inference.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balance sheet, capital structure and dilution</a:t>
            </a:r>
          </a:p>
          <a:p/>
          <a:p>
            <a:r>
              <a:t>When to use: Questions about leverage, the preferred, buybacks or refinancing.</a:t>
            </a:r>
          </a:p>
          <a:p>
            <a:r>
              <a:t>• Debt and cash: gross debt $20.2bn and cash $6.2bn; about $11.5bn funds Financial Services receivables (estimate); net debt 1.75x adjusted EBITDA; S&amp;P rating BBB, stable.</a:t>
            </a:r>
          </a:p>
          <a:p>
            <a:r>
              <a:t>• Share count: 1,445m fully diluted shares (+8.8%). Mostly the 7.625% mandatory convertible preferred (76.1m shares at the minimum conversion rate, around 1-Sep-2027), plus RSUs and the Oracle warrant (up to 4.2m).</a:t>
            </a:r>
          </a:p>
          <a:p>
            <a:r>
              <a:t>• Capital returns: $3.2bn buyback authorisation remaining; management intends to return at least 75% of free cash flow from Q4 FY26.</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price action and technicals</a:t>
            </a:r>
          </a:p>
          <a:p/>
          <a:p>
            <a:r>
              <a:t>When to use: Questions about timing or the chart.</a:t>
            </a:r>
          </a:p>
          <a:p>
            <a:r>
              <a:t>• Breakout: first close above the $26.25 decade high on 17-Apr-2026, after a golden cross on 15-Apr.</a:t>
            </a:r>
          </a:p>
          <a:p>
            <a:r>
              <a:t>• Blow-off: on 2-Jun the stock opened +34% and closed +19.5% on 7.4x volume, then drew down 26% into July.</a:t>
            </a:r>
          </a:p>
          <a:p>
            <a:r>
              <a:t>• Range: highs $64.25 / $63.44, lows $40.72 / $45.70, with Bollinger bandwidth compressing from 85% to 18%. Support is at the ~$51 50-day average and $41–46; resistance at $63–64.</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major stock moves and catalysts</a:t>
            </a:r>
          </a:p>
          <a:p/>
          <a:p>
            <a:r>
              <a:t>When to use: Questions about what moves the stock, or upcoming dates.</a:t>
            </a:r>
          </a:p>
          <a:p>
            <a:r>
              <a:t>• What moves it: earnings and guidance, not deals. The average earnings-day move is 6.7%, against 1.6% on a normal day; the largest was +19.5% on the Q2 FY26 results.</a:t>
            </a:r>
          </a:p>
          <a:p>
            <a:r>
              <a:t>• Catalysts: 30-Sep-2026 Networking Investor Day; early December Q4 FY26 and FY27 guidance; Oracle warrant milestones and the Helios ramp; ~1-Sep-2027 preferred conversion.</a:t>
            </a:r>
          </a:p>
          <a:p>
            <a:r>
              <a:t>• Ownership: 31 insider open-market sales ($49m) and no purchases in 12 months, mostly at $24–30. Elliott raised its stake 18% in Q2 to 2.4% and holds a board seat.</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Q&amp;A 1, Juniper equipment and security</a:t>
            </a:r>
          </a:p>
          <a:p/>
          <a:p>
            <a:r>
              <a:t>When to use: Questions about Juniper's security history or reputation.</a:t>
            </a:r>
          </a:p>
          <a:p>
            <a:r>
              <a:t>• Why SOPs single out Juniper: mainly governance, not unique hardware. Core-router role, security history (ScreenOS 2015, J-Web 2023, backdoors on end-of-life MX routers in 2025), cloud management and the ownership change.</a:t>
            </a:r>
          </a:p>
          <a:p>
            <a:r>
              <a:t>• Not an outlier: Juniper has 8 entries in CISA's Known Exploited Vulnerabilities catalogue, 8th of 13 vendors (Cisco 97).</a:t>
            </a:r>
          </a:p>
          <a:p>
            <a:r>
              <a:t>• For HPE: the risk is event-driven (a new implant-style incident during cross-selling), and replacing end-of-life routers is also Networking revenue.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Q&amp;A 2, three business models</a:t>
            </a:r>
          </a:p>
          <a:p/>
          <a:p>
            <a:r>
              <a:t>When to use: Questions about landlords, neoclouds or how HPE compares.</a:t>
            </a:r>
          </a:p>
          <a:p>
            <a:r>
              <a:t>• Landlords (Digital Realty): property and leases are 62% of assets; depreciation cuts a 44% EBITDA margin to 14%; revenue has not fallen year on year since 2018.</a:t>
            </a:r>
          </a:p>
          <a:p>
            <a:r>
              <a:t>• Neoclouds: capex 2.7–8.2x revenue; depreciation plus interest 67–74% of revenue; backlog 14–28x revenue; deeply negative free cash flow.</a:t>
            </a:r>
          </a:p>
          <a:p>
            <a:r>
              <a:t>• Server providers: capex at most 0.06x revenue; operating margins 6–9%; positive free cash flow; backlog under a year of revenue. CoreWeave's operating margin would be −26% on a 4-year GPU life instead of −3% on 6 years.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Q&amp;A 2, AI elasticity and portfolio mix</a:t>
            </a:r>
          </a:p>
          <a:p/>
          <a:p>
            <a:r>
              <a:t>When to use: Questions about which layer benefits most from AI, or whether to own several.</a:t>
            </a:r>
          </a:p>
          <a:p>
            <a:r>
              <a:t>• Revenue elasticity is highest at server providers (Dell 0.84, HPE 0.41). Share-price AI beta is highest at neoclouds (0.81–0.85 at Nebius and CoreWeave).</a:t>
            </a:r>
          </a:p>
          <a:p>
            <a:r>
              <a:t>• Only the neocloud basket touches the efficient frontier, and only at its riskiest end. The lowest-risk mix was landlords 45% plus servers 55%; neoclouds got no weight in 97% of bootstraps.</a:t>
            </a:r>
          </a:p>
          <a:p>
            <a:r>
              <a:t>• Best Sharpe: servers 72% plus neoclouds 28%. This rests on 17 months of AI-boom returns, so trust the covariance more than the averages.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type="title">
  <p:cSld name="TITLE">
    <p:spTree>
      <p:nvGrpSpPr>
        <p:cNvPr id="54" name="Shape 54"/>
        <p:cNvGrpSpPr/>
        <p:nvPr/>
      </p:nvGrpSpPr>
      <p:grpSpPr>
        <a:xfrm>
          <a:off x="0" y="0"/>
          <a:ext cx="0" cy="0"/>
          <a:chOff x="0" y="0"/>
          <a:chExt cx="0" cy="0"/>
        </a:xfrm>
      </p:grpSpPr>
      <p:sp>
        <p:nvSpPr>
          <p:cNvPr id="55" name="Google Shape;55;p14"/>
          <p:cNvSpPr txBox="1"/>
          <p:nvPr>
            <p:ph idx="1" type="body"/>
          </p:nvPr>
        </p:nvSpPr>
        <p:spPr>
          <a:xfrm>
            <a:off x="450503" y="4447448"/>
            <a:ext cx="8239126" cy="238867"/>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000000"/>
              </a:buClr>
              <a:buSzPts val="1400"/>
              <a:buFont typeface="Helvetica Neue"/>
              <a:buNone/>
              <a:defRPr b="1" sz="1400"/>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56" name="Google Shape;56;p14"/>
          <p:cNvSpPr txBox="1"/>
          <p:nvPr>
            <p:ph type="title"/>
          </p:nvPr>
        </p:nvSpPr>
        <p:spPr>
          <a:xfrm>
            <a:off x="452436" y="965622"/>
            <a:ext cx="8239127" cy="1743075"/>
          </a:xfrm>
          <a:prstGeom prst="rect">
            <a:avLst/>
          </a:prstGeom>
          <a:noFill/>
          <a:ln>
            <a:noFill/>
          </a:ln>
        </p:spPr>
        <p:txBody>
          <a:bodyPr anchorCtr="0" anchor="b" bIns="19050" lIns="19050" spcFirstLastPara="1" rIns="19050" wrap="square" tIns="19050">
            <a:normAutofit/>
          </a:bodyPr>
          <a:lstStyle>
            <a:lvl1pPr lvl="0" algn="l">
              <a:lnSpc>
                <a:spcPct val="80000"/>
              </a:lnSpc>
              <a:spcBef>
                <a:spcPts val="0"/>
              </a:spcBef>
              <a:spcAft>
                <a:spcPts val="0"/>
              </a:spcAft>
              <a:buClr>
                <a:srgbClr val="000000"/>
              </a:buClr>
              <a:buSzPts val="4400"/>
              <a:buFont typeface="Helvetica Neue"/>
              <a:buNone/>
              <a:defRPr sz="4400"/>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57" name="Google Shape;57;p14"/>
          <p:cNvSpPr txBox="1"/>
          <p:nvPr>
            <p:ph idx="2" type="body"/>
          </p:nvPr>
        </p:nvSpPr>
        <p:spPr>
          <a:xfrm>
            <a:off x="450503" y="2708696"/>
            <a:ext cx="8239125" cy="714375"/>
          </a:xfrm>
          <a:prstGeom prst="rect">
            <a:avLst/>
          </a:prstGeom>
          <a:noFill/>
          <a:ln>
            <a:noFill/>
          </a:ln>
        </p:spPr>
        <p:txBody>
          <a:bodyPr anchorCtr="0" anchor="t" bIns="19050" lIns="19050" spcFirstLastPara="1" rIns="19050" wrap="square" tIns="19050">
            <a:normAutofit/>
          </a:bodyPr>
          <a:lstStyle>
            <a:lvl1pPr indent="-228600" lvl="0" marL="457200" algn="l">
              <a:lnSpc>
                <a:spcPct val="100000"/>
              </a:lnSpc>
              <a:spcBef>
                <a:spcPts val="0"/>
              </a:spcBef>
              <a:spcAft>
                <a:spcPts val="0"/>
              </a:spcAft>
              <a:buClr>
                <a:srgbClr val="000000"/>
              </a:buClr>
              <a:buSzPts val="2100"/>
              <a:buFont typeface="Helvetica Neue"/>
              <a:buNone/>
              <a:defRPr b="1" sz="2100"/>
            </a:lvl1pPr>
            <a:lvl2pPr indent="-228600" lvl="1" marL="914400" algn="l">
              <a:lnSpc>
                <a:spcPct val="100000"/>
              </a:lnSpc>
              <a:spcBef>
                <a:spcPts val="0"/>
              </a:spcBef>
              <a:spcAft>
                <a:spcPts val="0"/>
              </a:spcAft>
              <a:buClr>
                <a:srgbClr val="000000"/>
              </a:buClr>
              <a:buSzPts val="2100"/>
              <a:buFont typeface="Helvetica Neue"/>
              <a:buNone/>
              <a:defRPr b="1" sz="2100"/>
            </a:lvl2pPr>
            <a:lvl3pPr indent="-228600" lvl="2" marL="1371600" algn="l">
              <a:lnSpc>
                <a:spcPct val="100000"/>
              </a:lnSpc>
              <a:spcBef>
                <a:spcPts val="0"/>
              </a:spcBef>
              <a:spcAft>
                <a:spcPts val="0"/>
              </a:spcAft>
              <a:buClr>
                <a:srgbClr val="000000"/>
              </a:buClr>
              <a:buSzPts val="2100"/>
              <a:buFont typeface="Helvetica Neue"/>
              <a:buNone/>
              <a:defRPr b="1" sz="2100"/>
            </a:lvl3pPr>
            <a:lvl4pPr indent="-228600" lvl="3" marL="1828800" algn="l">
              <a:lnSpc>
                <a:spcPct val="100000"/>
              </a:lnSpc>
              <a:spcBef>
                <a:spcPts val="0"/>
              </a:spcBef>
              <a:spcAft>
                <a:spcPts val="0"/>
              </a:spcAft>
              <a:buClr>
                <a:srgbClr val="000000"/>
              </a:buClr>
              <a:buSzPts val="2100"/>
              <a:buFont typeface="Helvetica Neue"/>
              <a:buNone/>
              <a:defRPr b="1" sz="2100"/>
            </a:lvl4pPr>
            <a:lvl5pPr indent="-228600" lvl="4" marL="2286000" algn="l">
              <a:lnSpc>
                <a:spcPct val="100000"/>
              </a:lnSpc>
              <a:spcBef>
                <a:spcPts val="0"/>
              </a:spcBef>
              <a:spcAft>
                <a:spcPts val="0"/>
              </a:spcAft>
              <a:buClr>
                <a:srgbClr val="000000"/>
              </a:buClr>
              <a:buSzPts val="2100"/>
              <a:buFont typeface="Helvetica Neue"/>
              <a:buNone/>
              <a:defRPr b="1" sz="2100"/>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58" name="Google Shape;58;p14"/>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opsomming" type="tx">
  <p:cSld name="TITLE_AND_BODY">
    <p:spTree>
      <p:nvGrpSpPr>
        <p:cNvPr id="59" name="Shape 59"/>
        <p:cNvGrpSpPr/>
        <p:nvPr/>
      </p:nvGrpSpPr>
      <p:grpSpPr>
        <a:xfrm>
          <a:off x="0" y="0"/>
          <a:ext cx="0" cy="0"/>
          <a:chOff x="0" y="0"/>
          <a:chExt cx="0" cy="0"/>
        </a:xfrm>
      </p:grpSpPr>
      <p:sp>
        <p:nvSpPr>
          <p:cNvPr id="60" name="Google Shape;60;p15"/>
          <p:cNvSpPr txBox="1"/>
          <p:nvPr>
            <p:ph type="title"/>
          </p:nvPr>
        </p:nvSpPr>
        <p:spPr>
          <a:xfrm>
            <a:off x="452438" y="404813"/>
            <a:ext cx="8239125" cy="537436"/>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61" name="Google Shape;61;p15"/>
          <p:cNvSpPr txBox="1"/>
          <p:nvPr>
            <p:ph idx="1" type="body"/>
          </p:nvPr>
        </p:nvSpPr>
        <p:spPr>
          <a:xfrm>
            <a:off x="452438" y="889861"/>
            <a:ext cx="8239125" cy="350542"/>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000000"/>
              </a:buClr>
              <a:buSzPts val="2100"/>
              <a:buFont typeface="Helvetica Neue"/>
              <a:buNone/>
              <a:defRPr b="1" sz="2100"/>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62" name="Google Shape;62;p15"/>
          <p:cNvSpPr txBox="1"/>
          <p:nvPr>
            <p:ph idx="2" type="body"/>
          </p:nvPr>
        </p:nvSpPr>
        <p:spPr>
          <a:xfrm>
            <a:off x="452438" y="1593189"/>
            <a:ext cx="8239125" cy="3096005"/>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63" name="Google Shape;63;p15"/>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foto">
  <p:cSld name="Titel en foto">
    <p:spTree>
      <p:nvGrpSpPr>
        <p:cNvPr id="64" name="Shape 64"/>
        <p:cNvGrpSpPr/>
        <p:nvPr/>
      </p:nvGrpSpPr>
      <p:grpSpPr>
        <a:xfrm>
          <a:off x="0" y="0"/>
          <a:ext cx="0" cy="0"/>
          <a:chOff x="0" y="0"/>
          <a:chExt cx="0" cy="0"/>
        </a:xfrm>
      </p:grpSpPr>
      <p:sp>
        <p:nvSpPr>
          <p:cNvPr id="65" name="Google Shape;65;p16"/>
          <p:cNvSpPr/>
          <p:nvPr>
            <p:ph idx="2" type="pic"/>
          </p:nvPr>
        </p:nvSpPr>
        <p:spPr>
          <a:xfrm>
            <a:off x="-433387" y="-485775"/>
            <a:ext cx="10029825" cy="6007100"/>
          </a:xfrm>
          <a:prstGeom prst="rect">
            <a:avLst/>
          </a:prstGeom>
          <a:noFill/>
          <a:ln>
            <a:noFill/>
          </a:ln>
        </p:spPr>
      </p:sp>
      <p:sp>
        <p:nvSpPr>
          <p:cNvPr id="66" name="Google Shape;66;p16"/>
          <p:cNvSpPr txBox="1"/>
          <p:nvPr>
            <p:ph type="title"/>
          </p:nvPr>
        </p:nvSpPr>
        <p:spPr>
          <a:xfrm>
            <a:off x="452438" y="2671763"/>
            <a:ext cx="8239125" cy="1743075"/>
          </a:xfrm>
          <a:prstGeom prst="rect">
            <a:avLst/>
          </a:prstGeom>
          <a:noFill/>
          <a:ln>
            <a:noFill/>
          </a:ln>
        </p:spPr>
        <p:txBody>
          <a:bodyPr anchorCtr="0" anchor="b" bIns="19050" lIns="19050" spcFirstLastPara="1" rIns="19050" wrap="square" tIns="19050">
            <a:normAutofit/>
          </a:bodyPr>
          <a:lstStyle>
            <a:lvl1pPr lvl="0" algn="l">
              <a:lnSpc>
                <a:spcPct val="80000"/>
              </a:lnSpc>
              <a:spcBef>
                <a:spcPts val="0"/>
              </a:spcBef>
              <a:spcAft>
                <a:spcPts val="0"/>
              </a:spcAft>
              <a:buClr>
                <a:srgbClr val="000000"/>
              </a:buClr>
              <a:buSzPts val="4400"/>
              <a:buFont typeface="Helvetica Neue"/>
              <a:buNone/>
              <a:defRPr sz="4400"/>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67" name="Google Shape;67;p16"/>
          <p:cNvSpPr txBox="1"/>
          <p:nvPr>
            <p:ph idx="1" type="body"/>
          </p:nvPr>
        </p:nvSpPr>
        <p:spPr>
          <a:xfrm>
            <a:off x="452884" y="414801"/>
            <a:ext cx="8238233" cy="238867"/>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000000"/>
              </a:buClr>
              <a:buSzPts val="1400"/>
              <a:buFont typeface="Helvetica Neue"/>
              <a:buNone/>
              <a:defRPr b="1" sz="1400"/>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68" name="Google Shape;68;p16"/>
          <p:cNvSpPr txBox="1"/>
          <p:nvPr>
            <p:ph idx="3" type="body"/>
          </p:nvPr>
        </p:nvSpPr>
        <p:spPr>
          <a:xfrm>
            <a:off x="452438" y="4353716"/>
            <a:ext cx="8239125" cy="418857"/>
          </a:xfrm>
          <a:prstGeom prst="rect">
            <a:avLst/>
          </a:prstGeom>
          <a:noFill/>
          <a:ln>
            <a:noFill/>
          </a:ln>
        </p:spPr>
        <p:txBody>
          <a:bodyPr anchorCtr="0" anchor="t" bIns="19050" lIns="19050" spcFirstLastPara="1" rIns="19050" wrap="square" tIns="19050">
            <a:normAutofit/>
          </a:bodyPr>
          <a:lstStyle>
            <a:lvl1pPr indent="-228600" lvl="0" marL="457200" algn="l">
              <a:lnSpc>
                <a:spcPct val="100000"/>
              </a:lnSpc>
              <a:spcBef>
                <a:spcPts val="0"/>
              </a:spcBef>
              <a:spcAft>
                <a:spcPts val="0"/>
              </a:spcAft>
              <a:buClr>
                <a:srgbClr val="000000"/>
              </a:buClr>
              <a:buSzPts val="2100"/>
              <a:buFont typeface="Helvetica Neue"/>
              <a:buNone/>
              <a:defRPr b="1" sz="2100"/>
            </a:lvl1pPr>
            <a:lvl2pPr indent="-228600" lvl="1" marL="914400" algn="l">
              <a:lnSpc>
                <a:spcPct val="100000"/>
              </a:lnSpc>
              <a:spcBef>
                <a:spcPts val="0"/>
              </a:spcBef>
              <a:spcAft>
                <a:spcPts val="0"/>
              </a:spcAft>
              <a:buClr>
                <a:srgbClr val="000000"/>
              </a:buClr>
              <a:buSzPts val="2100"/>
              <a:buFont typeface="Helvetica Neue"/>
              <a:buNone/>
              <a:defRPr b="1" sz="2100"/>
            </a:lvl2pPr>
            <a:lvl3pPr indent="-228600" lvl="2" marL="1371600" algn="l">
              <a:lnSpc>
                <a:spcPct val="100000"/>
              </a:lnSpc>
              <a:spcBef>
                <a:spcPts val="0"/>
              </a:spcBef>
              <a:spcAft>
                <a:spcPts val="0"/>
              </a:spcAft>
              <a:buClr>
                <a:srgbClr val="000000"/>
              </a:buClr>
              <a:buSzPts val="2100"/>
              <a:buFont typeface="Helvetica Neue"/>
              <a:buNone/>
              <a:defRPr b="1" sz="2100"/>
            </a:lvl3pPr>
            <a:lvl4pPr indent="-228600" lvl="3" marL="1828800" algn="l">
              <a:lnSpc>
                <a:spcPct val="100000"/>
              </a:lnSpc>
              <a:spcBef>
                <a:spcPts val="0"/>
              </a:spcBef>
              <a:spcAft>
                <a:spcPts val="0"/>
              </a:spcAft>
              <a:buClr>
                <a:srgbClr val="000000"/>
              </a:buClr>
              <a:buSzPts val="2100"/>
              <a:buFont typeface="Helvetica Neue"/>
              <a:buNone/>
              <a:defRPr b="1" sz="2100"/>
            </a:lvl4pPr>
            <a:lvl5pPr indent="-228600" lvl="4" marL="2286000" algn="l">
              <a:lnSpc>
                <a:spcPct val="100000"/>
              </a:lnSpc>
              <a:spcBef>
                <a:spcPts val="0"/>
              </a:spcBef>
              <a:spcAft>
                <a:spcPts val="0"/>
              </a:spcAft>
              <a:buClr>
                <a:srgbClr val="000000"/>
              </a:buClr>
              <a:buSzPts val="2100"/>
              <a:buFont typeface="Helvetica Neue"/>
              <a:buNone/>
              <a:defRPr b="1" sz="2100"/>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69" name="Google Shape;69;p16"/>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foto alt">
  <p:cSld name="Titel en foto alt">
    <p:spTree>
      <p:nvGrpSpPr>
        <p:cNvPr id="70" name="Shape 70"/>
        <p:cNvGrpSpPr/>
        <p:nvPr/>
      </p:nvGrpSpPr>
      <p:grpSpPr>
        <a:xfrm>
          <a:off x="0" y="0"/>
          <a:ext cx="0" cy="0"/>
          <a:chOff x="0" y="0"/>
          <a:chExt cx="0" cy="0"/>
        </a:xfrm>
      </p:grpSpPr>
      <p:sp>
        <p:nvSpPr>
          <p:cNvPr id="71" name="Google Shape;71;p17"/>
          <p:cNvSpPr/>
          <p:nvPr>
            <p:ph idx="2" type="pic"/>
          </p:nvPr>
        </p:nvSpPr>
        <p:spPr>
          <a:xfrm>
            <a:off x="4114800" y="-76200"/>
            <a:ext cx="4554314" cy="5300663"/>
          </a:xfrm>
          <a:prstGeom prst="rect">
            <a:avLst/>
          </a:prstGeom>
          <a:noFill/>
          <a:ln>
            <a:noFill/>
          </a:ln>
        </p:spPr>
      </p:sp>
      <p:sp>
        <p:nvSpPr>
          <p:cNvPr id="72" name="Google Shape;72;p17"/>
          <p:cNvSpPr txBox="1"/>
          <p:nvPr>
            <p:ph type="title"/>
          </p:nvPr>
        </p:nvSpPr>
        <p:spPr>
          <a:xfrm>
            <a:off x="452438" y="476250"/>
            <a:ext cx="3667125" cy="2205852"/>
          </a:xfrm>
          <a:prstGeom prst="rect">
            <a:avLst/>
          </a:prstGeom>
          <a:noFill/>
          <a:ln>
            <a:noFill/>
          </a:ln>
        </p:spPr>
        <p:txBody>
          <a:bodyPr anchorCtr="0" anchor="b" bIns="19050" lIns="19050" spcFirstLastPara="1" rIns="19050" wrap="square" tIns="1905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73" name="Google Shape;73;p17"/>
          <p:cNvSpPr txBox="1"/>
          <p:nvPr>
            <p:ph idx="1" type="body"/>
          </p:nvPr>
        </p:nvSpPr>
        <p:spPr>
          <a:xfrm>
            <a:off x="452438" y="2647716"/>
            <a:ext cx="3667125" cy="2019534"/>
          </a:xfrm>
          <a:prstGeom prst="rect">
            <a:avLst/>
          </a:prstGeom>
          <a:noFill/>
          <a:ln>
            <a:noFill/>
          </a:ln>
        </p:spPr>
        <p:txBody>
          <a:bodyPr anchorCtr="0" anchor="t" bIns="19050" lIns="19050" spcFirstLastPara="1" rIns="19050" wrap="square" tIns="19050">
            <a:normAutofit/>
          </a:bodyPr>
          <a:lstStyle>
            <a:lvl1pPr indent="-228600" lvl="0" marL="457200" algn="l">
              <a:lnSpc>
                <a:spcPct val="100000"/>
              </a:lnSpc>
              <a:spcBef>
                <a:spcPts val="0"/>
              </a:spcBef>
              <a:spcAft>
                <a:spcPts val="0"/>
              </a:spcAft>
              <a:buClr>
                <a:srgbClr val="000000"/>
              </a:buClr>
              <a:buSzPts val="2100"/>
              <a:buFont typeface="Helvetica Neue"/>
              <a:buNone/>
              <a:defRPr b="1" sz="2100"/>
            </a:lvl1pPr>
            <a:lvl2pPr indent="-228600" lvl="1" marL="914400" algn="l">
              <a:lnSpc>
                <a:spcPct val="100000"/>
              </a:lnSpc>
              <a:spcBef>
                <a:spcPts val="0"/>
              </a:spcBef>
              <a:spcAft>
                <a:spcPts val="0"/>
              </a:spcAft>
              <a:buClr>
                <a:srgbClr val="000000"/>
              </a:buClr>
              <a:buSzPts val="2100"/>
              <a:buFont typeface="Helvetica Neue"/>
              <a:buNone/>
              <a:defRPr b="1" sz="2100"/>
            </a:lvl2pPr>
            <a:lvl3pPr indent="-228600" lvl="2" marL="1371600" algn="l">
              <a:lnSpc>
                <a:spcPct val="100000"/>
              </a:lnSpc>
              <a:spcBef>
                <a:spcPts val="0"/>
              </a:spcBef>
              <a:spcAft>
                <a:spcPts val="0"/>
              </a:spcAft>
              <a:buClr>
                <a:srgbClr val="000000"/>
              </a:buClr>
              <a:buSzPts val="2100"/>
              <a:buFont typeface="Helvetica Neue"/>
              <a:buNone/>
              <a:defRPr b="1" sz="2100"/>
            </a:lvl3pPr>
            <a:lvl4pPr indent="-228600" lvl="3" marL="1828800" algn="l">
              <a:lnSpc>
                <a:spcPct val="100000"/>
              </a:lnSpc>
              <a:spcBef>
                <a:spcPts val="0"/>
              </a:spcBef>
              <a:spcAft>
                <a:spcPts val="0"/>
              </a:spcAft>
              <a:buClr>
                <a:srgbClr val="000000"/>
              </a:buClr>
              <a:buSzPts val="2100"/>
              <a:buFont typeface="Helvetica Neue"/>
              <a:buNone/>
              <a:defRPr b="1" sz="2100"/>
            </a:lvl4pPr>
            <a:lvl5pPr indent="-228600" lvl="4" marL="2286000" algn="l">
              <a:lnSpc>
                <a:spcPct val="100000"/>
              </a:lnSpc>
              <a:spcBef>
                <a:spcPts val="0"/>
              </a:spcBef>
              <a:spcAft>
                <a:spcPts val="0"/>
              </a:spcAft>
              <a:buClr>
                <a:srgbClr val="000000"/>
              </a:buClr>
              <a:buSzPts val="2100"/>
              <a:buFont typeface="Helvetica Neue"/>
              <a:buNone/>
              <a:defRPr b="1" sz="2100"/>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74" name="Google Shape;74;p17"/>
          <p:cNvSpPr txBox="1"/>
          <p:nvPr>
            <p:ph idx="12" type="sldNum"/>
          </p:nvPr>
        </p:nvSpPr>
        <p:spPr>
          <a:xfrm>
            <a:off x="4500562" y="4906962"/>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somming">
  <p:cSld name="Opsomming">
    <p:spTree>
      <p:nvGrpSpPr>
        <p:cNvPr id="75" name="Shape 75"/>
        <p:cNvGrpSpPr/>
        <p:nvPr/>
      </p:nvGrpSpPr>
      <p:grpSpPr>
        <a:xfrm>
          <a:off x="0" y="0"/>
          <a:ext cx="0" cy="0"/>
          <a:chOff x="0" y="0"/>
          <a:chExt cx="0" cy="0"/>
        </a:xfrm>
      </p:grpSpPr>
      <p:sp>
        <p:nvSpPr>
          <p:cNvPr id="76" name="Google Shape;76;p18"/>
          <p:cNvSpPr txBox="1"/>
          <p:nvPr>
            <p:ph idx="1" type="body"/>
          </p:nvPr>
        </p:nvSpPr>
        <p:spPr>
          <a:xfrm>
            <a:off x="452438" y="1593189"/>
            <a:ext cx="8239125" cy="3096005"/>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77" name="Google Shape;77;p18"/>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opsomm., foto">
  <p:cSld name="Titel, opsomm., foto">
    <p:spTree>
      <p:nvGrpSpPr>
        <p:cNvPr id="78" name="Shape 78"/>
        <p:cNvGrpSpPr/>
        <p:nvPr/>
      </p:nvGrpSpPr>
      <p:grpSpPr>
        <a:xfrm>
          <a:off x="0" y="0"/>
          <a:ext cx="0" cy="0"/>
          <a:chOff x="0" y="0"/>
          <a:chExt cx="0" cy="0"/>
        </a:xfrm>
      </p:grpSpPr>
      <p:sp>
        <p:nvSpPr>
          <p:cNvPr id="79" name="Google Shape;79;p19"/>
          <p:cNvSpPr txBox="1"/>
          <p:nvPr>
            <p:ph idx="1" type="body"/>
          </p:nvPr>
        </p:nvSpPr>
        <p:spPr>
          <a:xfrm>
            <a:off x="452438" y="889861"/>
            <a:ext cx="3667125" cy="350542"/>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000000"/>
              </a:buClr>
              <a:buSzPts val="2100"/>
              <a:buFont typeface="Helvetica Neue"/>
              <a:buNone/>
              <a:defRPr b="1" sz="2100"/>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80" name="Google Shape;80;p19"/>
          <p:cNvSpPr txBox="1"/>
          <p:nvPr>
            <p:ph idx="2" type="body"/>
          </p:nvPr>
        </p:nvSpPr>
        <p:spPr>
          <a:xfrm>
            <a:off x="452438" y="1593189"/>
            <a:ext cx="3667125" cy="3096236"/>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81" name="Google Shape;81;p19"/>
          <p:cNvSpPr/>
          <p:nvPr>
            <p:ph idx="3" type="pic"/>
          </p:nvPr>
        </p:nvSpPr>
        <p:spPr>
          <a:xfrm>
            <a:off x="4572000" y="-152725"/>
            <a:ext cx="4093828" cy="5458437"/>
          </a:xfrm>
          <a:prstGeom prst="rect">
            <a:avLst/>
          </a:prstGeom>
          <a:noFill/>
          <a:ln>
            <a:noFill/>
          </a:ln>
        </p:spPr>
      </p:sp>
      <p:sp>
        <p:nvSpPr>
          <p:cNvPr id="82" name="Google Shape;82;p19"/>
          <p:cNvSpPr txBox="1"/>
          <p:nvPr>
            <p:ph type="title"/>
          </p:nvPr>
        </p:nvSpPr>
        <p:spPr>
          <a:xfrm>
            <a:off x="452438" y="404813"/>
            <a:ext cx="3667125" cy="538163"/>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83" name="Google Shape;83;p19"/>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e">
  <p:cSld name="Sectie">
    <p:spTree>
      <p:nvGrpSpPr>
        <p:cNvPr id="84" name="Shape 84"/>
        <p:cNvGrpSpPr/>
        <p:nvPr/>
      </p:nvGrpSpPr>
      <p:grpSpPr>
        <a:xfrm>
          <a:off x="0" y="0"/>
          <a:ext cx="0" cy="0"/>
          <a:chOff x="0" y="0"/>
          <a:chExt cx="0" cy="0"/>
        </a:xfrm>
      </p:grpSpPr>
      <p:sp>
        <p:nvSpPr>
          <p:cNvPr id="85" name="Google Shape;85;p20"/>
          <p:cNvSpPr txBox="1"/>
          <p:nvPr>
            <p:ph type="title"/>
          </p:nvPr>
        </p:nvSpPr>
        <p:spPr>
          <a:xfrm>
            <a:off x="452436" y="1700213"/>
            <a:ext cx="8239127" cy="1743075"/>
          </a:xfrm>
          <a:prstGeom prst="rect">
            <a:avLst/>
          </a:prstGeom>
          <a:noFill/>
          <a:ln>
            <a:noFill/>
          </a:ln>
        </p:spPr>
        <p:txBody>
          <a:bodyPr anchorCtr="0" anchor="ctr" bIns="19050" lIns="19050" spcFirstLastPara="1" rIns="19050" wrap="square" tIns="19050">
            <a:normAutofit/>
          </a:bodyPr>
          <a:lstStyle>
            <a:lvl1pPr lvl="0" algn="l">
              <a:lnSpc>
                <a:spcPct val="80000"/>
              </a:lnSpc>
              <a:spcBef>
                <a:spcPts val="0"/>
              </a:spcBef>
              <a:spcAft>
                <a:spcPts val="0"/>
              </a:spcAft>
              <a:buClr>
                <a:srgbClr val="000000"/>
              </a:buClr>
              <a:buSzPts val="4400"/>
              <a:buFont typeface="Helvetica Neue"/>
              <a:buNone/>
              <a:defRPr b="0" sz="440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86" name="Google Shape;86;p20"/>
          <p:cNvSpPr txBox="1"/>
          <p:nvPr>
            <p:ph idx="12" type="sldNum"/>
          </p:nvPr>
        </p:nvSpPr>
        <p:spPr>
          <a:xfrm>
            <a:off x="4500562" y="4906962"/>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een titel">
  <p:cSld name="Alleen titel">
    <p:spTree>
      <p:nvGrpSpPr>
        <p:cNvPr id="87" name="Shape 87"/>
        <p:cNvGrpSpPr/>
        <p:nvPr/>
      </p:nvGrpSpPr>
      <p:grpSpPr>
        <a:xfrm>
          <a:off x="0" y="0"/>
          <a:ext cx="0" cy="0"/>
          <a:chOff x="0" y="0"/>
          <a:chExt cx="0" cy="0"/>
        </a:xfrm>
      </p:grpSpPr>
      <p:sp>
        <p:nvSpPr>
          <p:cNvPr id="88" name="Google Shape;88;p21"/>
          <p:cNvSpPr txBox="1"/>
          <p:nvPr>
            <p:ph type="title"/>
          </p:nvPr>
        </p:nvSpPr>
        <p:spPr>
          <a:xfrm>
            <a:off x="452438" y="404813"/>
            <a:ext cx="8239125" cy="538106"/>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89" name="Google Shape;89;p21"/>
          <p:cNvSpPr txBox="1"/>
          <p:nvPr>
            <p:ph idx="1" type="body"/>
          </p:nvPr>
        </p:nvSpPr>
        <p:spPr>
          <a:xfrm>
            <a:off x="452438" y="889861"/>
            <a:ext cx="8239125" cy="350542"/>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000000"/>
              </a:buClr>
              <a:buSzPts val="2100"/>
              <a:buFont typeface="Helvetica Neue"/>
              <a:buNone/>
              <a:defRPr b="1" sz="2100"/>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90" name="Google Shape;90;p21"/>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91" name="Shape 91"/>
        <p:cNvGrpSpPr/>
        <p:nvPr/>
      </p:nvGrpSpPr>
      <p:grpSpPr>
        <a:xfrm>
          <a:off x="0" y="0"/>
          <a:ext cx="0" cy="0"/>
          <a:chOff x="0" y="0"/>
          <a:chExt cx="0" cy="0"/>
        </a:xfrm>
      </p:grpSpPr>
      <p:sp>
        <p:nvSpPr>
          <p:cNvPr id="92" name="Google Shape;92;p22"/>
          <p:cNvSpPr txBox="1"/>
          <p:nvPr>
            <p:ph type="title"/>
          </p:nvPr>
        </p:nvSpPr>
        <p:spPr>
          <a:xfrm>
            <a:off x="452438" y="404813"/>
            <a:ext cx="8239125" cy="538163"/>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93" name="Google Shape;93;p22"/>
          <p:cNvSpPr txBox="1"/>
          <p:nvPr>
            <p:ph idx="1" type="body"/>
          </p:nvPr>
        </p:nvSpPr>
        <p:spPr>
          <a:xfrm>
            <a:off x="452438" y="889861"/>
            <a:ext cx="8239125" cy="350542"/>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000000"/>
              </a:buClr>
              <a:buSzPts val="2100"/>
              <a:buFont typeface="Helvetica Neue"/>
              <a:buNone/>
              <a:defRPr b="1" sz="2100"/>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94" name="Google Shape;94;p22"/>
          <p:cNvSpPr txBox="1"/>
          <p:nvPr>
            <p:ph idx="2" type="body"/>
          </p:nvPr>
        </p:nvSpPr>
        <p:spPr>
          <a:xfrm>
            <a:off x="452438" y="1593189"/>
            <a:ext cx="8239125" cy="3096005"/>
          </a:xfrm>
          <a:prstGeom prst="rect">
            <a:avLst/>
          </a:prstGeom>
          <a:noFill/>
          <a:ln>
            <a:noFill/>
          </a:ln>
        </p:spPr>
        <p:txBody>
          <a:bodyPr anchorCtr="0" anchor="t" bIns="19050" lIns="19050" spcFirstLastPara="1" rIns="19050" wrap="square" tIns="19050">
            <a:normAutofit/>
          </a:bodyPr>
          <a:lstStyle>
            <a:lvl1pPr indent="-228600" lvl="0" marL="457200" algn="l">
              <a:lnSpc>
                <a:spcPct val="100000"/>
              </a:lnSpc>
              <a:spcBef>
                <a:spcPts val="700"/>
              </a:spcBef>
              <a:spcAft>
                <a:spcPts val="0"/>
              </a:spcAft>
              <a:buClr>
                <a:srgbClr val="000000"/>
              </a:buClr>
              <a:buSzPts val="2100"/>
              <a:buFont typeface="Helvetica Neue"/>
              <a:buNone/>
              <a:defRPr sz="2100"/>
            </a:lvl1pPr>
            <a:lvl2pPr indent="-228600" lvl="1" marL="914400" algn="l">
              <a:lnSpc>
                <a:spcPct val="100000"/>
              </a:lnSpc>
              <a:spcBef>
                <a:spcPts val="700"/>
              </a:spcBef>
              <a:spcAft>
                <a:spcPts val="0"/>
              </a:spcAft>
              <a:buClr>
                <a:srgbClr val="000000"/>
              </a:buClr>
              <a:buSzPts val="2100"/>
              <a:buFont typeface="Helvetica Neue"/>
              <a:buNone/>
              <a:defRPr sz="2100"/>
            </a:lvl2pPr>
            <a:lvl3pPr indent="-228600" lvl="2" marL="1371600" algn="l">
              <a:lnSpc>
                <a:spcPct val="100000"/>
              </a:lnSpc>
              <a:spcBef>
                <a:spcPts val="700"/>
              </a:spcBef>
              <a:spcAft>
                <a:spcPts val="0"/>
              </a:spcAft>
              <a:buClr>
                <a:srgbClr val="000000"/>
              </a:buClr>
              <a:buSzPts val="2100"/>
              <a:buFont typeface="Helvetica Neue"/>
              <a:buNone/>
              <a:defRPr sz="2100"/>
            </a:lvl3pPr>
            <a:lvl4pPr indent="-228600" lvl="3" marL="1828800" algn="l">
              <a:lnSpc>
                <a:spcPct val="100000"/>
              </a:lnSpc>
              <a:spcBef>
                <a:spcPts val="700"/>
              </a:spcBef>
              <a:spcAft>
                <a:spcPts val="0"/>
              </a:spcAft>
              <a:buClr>
                <a:srgbClr val="000000"/>
              </a:buClr>
              <a:buSzPts val="2100"/>
              <a:buFont typeface="Helvetica Neue"/>
              <a:buNone/>
              <a:defRPr sz="2100"/>
            </a:lvl4pPr>
            <a:lvl5pPr indent="-228600" lvl="4" marL="2286000" algn="l">
              <a:lnSpc>
                <a:spcPct val="100000"/>
              </a:lnSpc>
              <a:spcBef>
                <a:spcPts val="700"/>
              </a:spcBef>
              <a:spcAft>
                <a:spcPts val="0"/>
              </a:spcAft>
              <a:buClr>
                <a:srgbClr val="000000"/>
              </a:buClr>
              <a:buSzPts val="2100"/>
              <a:buFont typeface="Helvetica Neue"/>
              <a:buNone/>
              <a:defRPr sz="2100"/>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95" name="Google Shape;95;p22"/>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iting">
  <p:cSld name="Uiting">
    <p:spTree>
      <p:nvGrpSpPr>
        <p:cNvPr id="96" name="Shape 96"/>
        <p:cNvGrpSpPr/>
        <p:nvPr/>
      </p:nvGrpSpPr>
      <p:grpSpPr>
        <a:xfrm>
          <a:off x="0" y="0"/>
          <a:ext cx="0" cy="0"/>
          <a:chOff x="0" y="0"/>
          <a:chExt cx="0" cy="0"/>
        </a:xfrm>
      </p:grpSpPr>
      <p:sp>
        <p:nvSpPr>
          <p:cNvPr id="97" name="Google Shape;97;p23"/>
          <p:cNvSpPr txBox="1"/>
          <p:nvPr>
            <p:ph idx="1" type="body"/>
          </p:nvPr>
        </p:nvSpPr>
        <p:spPr>
          <a:xfrm>
            <a:off x="452438" y="1845316"/>
            <a:ext cx="8239125" cy="1452868"/>
          </a:xfrm>
          <a:prstGeom prst="rect">
            <a:avLst/>
          </a:prstGeom>
          <a:noFill/>
          <a:ln>
            <a:noFill/>
          </a:ln>
        </p:spPr>
        <p:txBody>
          <a:bodyPr anchorCtr="0" anchor="ctr" bIns="19050" lIns="19050" spcFirstLastPara="1" rIns="19050" wrap="square" tIns="19050">
            <a:normAutofit/>
          </a:bodyPr>
          <a:lstStyle>
            <a:lvl1pPr indent="-228600" lvl="0" marL="457200" algn="ctr">
              <a:lnSpc>
                <a:spcPct val="80000"/>
              </a:lnSpc>
              <a:spcBef>
                <a:spcPts val="0"/>
              </a:spcBef>
              <a:spcAft>
                <a:spcPts val="0"/>
              </a:spcAft>
              <a:buClr>
                <a:srgbClr val="000000"/>
              </a:buClr>
              <a:buSzPts val="4400"/>
              <a:buFont typeface="Helvetica Neue"/>
              <a:buNone/>
              <a:defRPr sz="4400">
                <a:latin typeface="Helvetica Neue"/>
                <a:ea typeface="Helvetica Neue"/>
                <a:cs typeface="Helvetica Neue"/>
                <a:sym typeface="Helvetica Neue"/>
              </a:defRPr>
            </a:lvl1pPr>
            <a:lvl2pPr indent="-228600" lvl="1" marL="914400" algn="ctr">
              <a:lnSpc>
                <a:spcPct val="80000"/>
              </a:lnSpc>
              <a:spcBef>
                <a:spcPts val="0"/>
              </a:spcBef>
              <a:spcAft>
                <a:spcPts val="0"/>
              </a:spcAft>
              <a:buClr>
                <a:srgbClr val="000000"/>
              </a:buClr>
              <a:buSzPts val="4400"/>
              <a:buFont typeface="Helvetica Neue"/>
              <a:buNone/>
              <a:defRPr sz="4400">
                <a:latin typeface="Helvetica Neue"/>
                <a:ea typeface="Helvetica Neue"/>
                <a:cs typeface="Helvetica Neue"/>
                <a:sym typeface="Helvetica Neue"/>
              </a:defRPr>
            </a:lvl2pPr>
            <a:lvl3pPr indent="-228600" lvl="2" marL="1371600" algn="ctr">
              <a:lnSpc>
                <a:spcPct val="80000"/>
              </a:lnSpc>
              <a:spcBef>
                <a:spcPts val="0"/>
              </a:spcBef>
              <a:spcAft>
                <a:spcPts val="0"/>
              </a:spcAft>
              <a:buClr>
                <a:srgbClr val="000000"/>
              </a:buClr>
              <a:buSzPts val="4400"/>
              <a:buFont typeface="Helvetica Neue"/>
              <a:buNone/>
              <a:defRPr sz="4400">
                <a:latin typeface="Helvetica Neue"/>
                <a:ea typeface="Helvetica Neue"/>
                <a:cs typeface="Helvetica Neue"/>
                <a:sym typeface="Helvetica Neue"/>
              </a:defRPr>
            </a:lvl3pPr>
            <a:lvl4pPr indent="-228600" lvl="3" marL="1828800" algn="ctr">
              <a:lnSpc>
                <a:spcPct val="80000"/>
              </a:lnSpc>
              <a:spcBef>
                <a:spcPts val="0"/>
              </a:spcBef>
              <a:spcAft>
                <a:spcPts val="0"/>
              </a:spcAft>
              <a:buClr>
                <a:srgbClr val="000000"/>
              </a:buClr>
              <a:buSzPts val="4400"/>
              <a:buFont typeface="Helvetica Neue"/>
              <a:buNone/>
              <a:defRPr sz="4400">
                <a:latin typeface="Helvetica Neue"/>
                <a:ea typeface="Helvetica Neue"/>
                <a:cs typeface="Helvetica Neue"/>
                <a:sym typeface="Helvetica Neue"/>
              </a:defRPr>
            </a:lvl4pPr>
            <a:lvl5pPr indent="-228600" lvl="4" marL="2286000" algn="ctr">
              <a:lnSpc>
                <a:spcPct val="80000"/>
              </a:lnSpc>
              <a:spcBef>
                <a:spcPts val="0"/>
              </a:spcBef>
              <a:spcAft>
                <a:spcPts val="0"/>
              </a:spcAft>
              <a:buClr>
                <a:srgbClr val="000000"/>
              </a:buClr>
              <a:buSzPts val="4400"/>
              <a:buFont typeface="Helvetica Neue"/>
              <a:buNone/>
              <a:defRPr sz="4400">
                <a:latin typeface="Helvetica Neue"/>
                <a:ea typeface="Helvetica Neue"/>
                <a:cs typeface="Helvetica Neue"/>
                <a:sym typeface="Helvetica Neue"/>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98" name="Google Shape;98;p23"/>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ot feit">
  <p:cSld name="Groot feit">
    <p:spTree>
      <p:nvGrpSpPr>
        <p:cNvPr id="99" name="Shape 99"/>
        <p:cNvGrpSpPr/>
        <p:nvPr/>
      </p:nvGrpSpPr>
      <p:grpSpPr>
        <a:xfrm>
          <a:off x="0" y="0"/>
          <a:ext cx="0" cy="0"/>
          <a:chOff x="0" y="0"/>
          <a:chExt cx="0" cy="0"/>
        </a:xfrm>
      </p:grpSpPr>
      <p:sp>
        <p:nvSpPr>
          <p:cNvPr id="100" name="Google Shape;100;p24"/>
          <p:cNvSpPr txBox="1"/>
          <p:nvPr>
            <p:ph idx="1" type="body"/>
          </p:nvPr>
        </p:nvSpPr>
        <p:spPr>
          <a:xfrm>
            <a:off x="452438" y="403473"/>
            <a:ext cx="8239125" cy="2715594"/>
          </a:xfrm>
          <a:prstGeom prst="rect">
            <a:avLst/>
          </a:prstGeom>
          <a:noFill/>
          <a:ln>
            <a:noFill/>
          </a:ln>
        </p:spPr>
        <p:txBody>
          <a:bodyPr anchorCtr="0" anchor="b" bIns="19050" lIns="19050" spcFirstLastPara="1" rIns="19050" wrap="square" tIns="19050">
            <a:normAutofit/>
          </a:bodyPr>
          <a:lstStyle>
            <a:lvl1pPr indent="-228600" lvl="0" marL="457200" algn="ctr">
              <a:lnSpc>
                <a:spcPct val="80000"/>
              </a:lnSpc>
              <a:spcBef>
                <a:spcPts val="0"/>
              </a:spcBef>
              <a:spcAft>
                <a:spcPts val="0"/>
              </a:spcAft>
              <a:buClr>
                <a:srgbClr val="000000"/>
              </a:buClr>
              <a:buSzPts val="9400"/>
              <a:buFont typeface="Helvetica Neue"/>
              <a:buNone/>
              <a:defRPr b="1" sz="9400"/>
            </a:lvl1pPr>
            <a:lvl2pPr indent="-228600" lvl="1" marL="914400" algn="ctr">
              <a:lnSpc>
                <a:spcPct val="80000"/>
              </a:lnSpc>
              <a:spcBef>
                <a:spcPts val="0"/>
              </a:spcBef>
              <a:spcAft>
                <a:spcPts val="0"/>
              </a:spcAft>
              <a:buClr>
                <a:srgbClr val="000000"/>
              </a:buClr>
              <a:buSzPts val="9400"/>
              <a:buFont typeface="Helvetica Neue"/>
              <a:buNone/>
              <a:defRPr b="1" sz="9400"/>
            </a:lvl2pPr>
            <a:lvl3pPr indent="-228600" lvl="2" marL="1371600" algn="ctr">
              <a:lnSpc>
                <a:spcPct val="80000"/>
              </a:lnSpc>
              <a:spcBef>
                <a:spcPts val="0"/>
              </a:spcBef>
              <a:spcAft>
                <a:spcPts val="0"/>
              </a:spcAft>
              <a:buClr>
                <a:srgbClr val="000000"/>
              </a:buClr>
              <a:buSzPts val="9400"/>
              <a:buFont typeface="Helvetica Neue"/>
              <a:buNone/>
              <a:defRPr b="1" sz="9400"/>
            </a:lvl3pPr>
            <a:lvl4pPr indent="-228600" lvl="3" marL="1828800" algn="ctr">
              <a:lnSpc>
                <a:spcPct val="80000"/>
              </a:lnSpc>
              <a:spcBef>
                <a:spcPts val="0"/>
              </a:spcBef>
              <a:spcAft>
                <a:spcPts val="0"/>
              </a:spcAft>
              <a:buClr>
                <a:srgbClr val="000000"/>
              </a:buClr>
              <a:buSzPts val="9400"/>
              <a:buFont typeface="Helvetica Neue"/>
              <a:buNone/>
              <a:defRPr b="1" sz="9400"/>
            </a:lvl4pPr>
            <a:lvl5pPr indent="-228600" lvl="4" marL="2286000" algn="ctr">
              <a:lnSpc>
                <a:spcPct val="80000"/>
              </a:lnSpc>
              <a:spcBef>
                <a:spcPts val="0"/>
              </a:spcBef>
              <a:spcAft>
                <a:spcPts val="0"/>
              </a:spcAft>
              <a:buClr>
                <a:srgbClr val="000000"/>
              </a:buClr>
              <a:buSzPts val="9400"/>
              <a:buFont typeface="Helvetica Neue"/>
              <a:buNone/>
              <a:defRPr b="1" sz="9400"/>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101" name="Google Shape;101;p24"/>
          <p:cNvSpPr txBox="1"/>
          <p:nvPr>
            <p:ph idx="2" type="body"/>
          </p:nvPr>
        </p:nvSpPr>
        <p:spPr>
          <a:xfrm>
            <a:off x="452438" y="3098318"/>
            <a:ext cx="8239125" cy="350543"/>
          </a:xfrm>
          <a:prstGeom prst="rect">
            <a:avLst/>
          </a:prstGeom>
          <a:noFill/>
          <a:ln>
            <a:noFill/>
          </a:ln>
        </p:spPr>
        <p:txBody>
          <a:bodyPr anchorCtr="0" anchor="t" bIns="17150" lIns="17150" spcFirstLastPara="1" rIns="17150" wrap="square" tIns="17150">
            <a:normAutofit/>
          </a:bodyPr>
          <a:lstStyle>
            <a:lvl1pPr indent="-228600" lvl="0" marL="457200" algn="ctr">
              <a:lnSpc>
                <a:spcPct val="100000"/>
              </a:lnSpc>
              <a:spcBef>
                <a:spcPts val="0"/>
              </a:spcBef>
              <a:spcAft>
                <a:spcPts val="0"/>
              </a:spcAft>
              <a:buClr>
                <a:srgbClr val="000000"/>
              </a:buClr>
              <a:buSzPts val="2100"/>
              <a:buFont typeface="Helvetica Neue"/>
              <a:buNone/>
              <a:defRPr b="1" sz="2100"/>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102" name="Google Shape;102;p24"/>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at">
  <p:cSld name="Citaat">
    <p:spTree>
      <p:nvGrpSpPr>
        <p:cNvPr id="103" name="Shape 103"/>
        <p:cNvGrpSpPr/>
        <p:nvPr/>
      </p:nvGrpSpPr>
      <p:grpSpPr>
        <a:xfrm>
          <a:off x="0" y="0"/>
          <a:ext cx="0" cy="0"/>
          <a:chOff x="0" y="0"/>
          <a:chExt cx="0" cy="0"/>
        </a:xfrm>
      </p:grpSpPr>
      <p:sp>
        <p:nvSpPr>
          <p:cNvPr id="104" name="Google Shape;104;p25"/>
          <p:cNvSpPr txBox="1"/>
          <p:nvPr>
            <p:ph idx="1" type="body"/>
          </p:nvPr>
        </p:nvSpPr>
        <p:spPr>
          <a:xfrm>
            <a:off x="911259" y="4003295"/>
            <a:ext cx="7575020" cy="238867"/>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000000"/>
              </a:buClr>
              <a:buSzPts val="1400"/>
              <a:buFont typeface="Helvetica Neue"/>
              <a:buNone/>
              <a:defRPr b="1" sz="1400"/>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105" name="Google Shape;105;p25"/>
          <p:cNvSpPr txBox="1"/>
          <p:nvPr>
            <p:ph idx="2" type="body"/>
          </p:nvPr>
        </p:nvSpPr>
        <p:spPr>
          <a:xfrm>
            <a:off x="657721" y="1852447"/>
            <a:ext cx="7828558" cy="1438605"/>
          </a:xfrm>
          <a:prstGeom prst="rect">
            <a:avLst/>
          </a:prstGeom>
          <a:noFill/>
          <a:ln>
            <a:noFill/>
          </a:ln>
        </p:spPr>
        <p:txBody>
          <a:bodyPr anchorCtr="0" anchor="t" bIns="19050" lIns="19050" spcFirstLastPara="1" rIns="19050" wrap="square" tIns="19050">
            <a:normAutofit/>
          </a:bodyPr>
          <a:lstStyle>
            <a:lvl1pPr indent="-228600" lvl="0" marL="457200" algn="l">
              <a:lnSpc>
                <a:spcPct val="90000"/>
              </a:lnSpc>
              <a:spcBef>
                <a:spcPts val="0"/>
              </a:spcBef>
              <a:spcAft>
                <a:spcPts val="0"/>
              </a:spcAft>
              <a:buClr>
                <a:srgbClr val="000000"/>
              </a:buClr>
              <a:buSzPts val="3200"/>
              <a:buFont typeface="Helvetica Neue"/>
              <a:buNone/>
              <a:defRPr sz="3200">
                <a:latin typeface="Helvetica Neue"/>
                <a:ea typeface="Helvetica Neue"/>
                <a:cs typeface="Helvetica Neue"/>
                <a:sym typeface="Helvetica Neue"/>
              </a:defRPr>
            </a:lvl1pPr>
            <a:lvl2pPr indent="-228600" lvl="1" marL="914400" algn="l">
              <a:lnSpc>
                <a:spcPct val="90000"/>
              </a:lnSpc>
              <a:spcBef>
                <a:spcPts val="0"/>
              </a:spcBef>
              <a:spcAft>
                <a:spcPts val="0"/>
              </a:spcAft>
              <a:buClr>
                <a:srgbClr val="000000"/>
              </a:buClr>
              <a:buSzPts val="3200"/>
              <a:buFont typeface="Helvetica Neue"/>
              <a:buNone/>
              <a:defRPr sz="3200">
                <a:latin typeface="Helvetica Neue"/>
                <a:ea typeface="Helvetica Neue"/>
                <a:cs typeface="Helvetica Neue"/>
                <a:sym typeface="Helvetica Neue"/>
              </a:defRPr>
            </a:lvl2pPr>
            <a:lvl3pPr indent="-228600" lvl="2" marL="1371600" algn="l">
              <a:lnSpc>
                <a:spcPct val="90000"/>
              </a:lnSpc>
              <a:spcBef>
                <a:spcPts val="0"/>
              </a:spcBef>
              <a:spcAft>
                <a:spcPts val="0"/>
              </a:spcAft>
              <a:buClr>
                <a:srgbClr val="000000"/>
              </a:buClr>
              <a:buSzPts val="3200"/>
              <a:buFont typeface="Helvetica Neue"/>
              <a:buNone/>
              <a:defRPr sz="3200">
                <a:latin typeface="Helvetica Neue"/>
                <a:ea typeface="Helvetica Neue"/>
                <a:cs typeface="Helvetica Neue"/>
                <a:sym typeface="Helvetica Neue"/>
              </a:defRPr>
            </a:lvl3pPr>
            <a:lvl4pPr indent="-228600" lvl="3" marL="1828800" algn="l">
              <a:lnSpc>
                <a:spcPct val="90000"/>
              </a:lnSpc>
              <a:spcBef>
                <a:spcPts val="0"/>
              </a:spcBef>
              <a:spcAft>
                <a:spcPts val="0"/>
              </a:spcAft>
              <a:buClr>
                <a:srgbClr val="000000"/>
              </a:buClr>
              <a:buSzPts val="3200"/>
              <a:buFont typeface="Helvetica Neue"/>
              <a:buNone/>
              <a:defRPr sz="3200">
                <a:latin typeface="Helvetica Neue"/>
                <a:ea typeface="Helvetica Neue"/>
                <a:cs typeface="Helvetica Neue"/>
                <a:sym typeface="Helvetica Neue"/>
              </a:defRPr>
            </a:lvl4pPr>
            <a:lvl5pPr indent="-228600" lvl="4" marL="2286000" algn="l">
              <a:lnSpc>
                <a:spcPct val="90000"/>
              </a:lnSpc>
              <a:spcBef>
                <a:spcPts val="0"/>
              </a:spcBef>
              <a:spcAft>
                <a:spcPts val="0"/>
              </a:spcAft>
              <a:buClr>
                <a:srgbClr val="000000"/>
              </a:buClr>
              <a:buSzPts val="3200"/>
              <a:buFont typeface="Helvetica Neue"/>
              <a:buNone/>
              <a:defRPr sz="3200">
                <a:latin typeface="Helvetica Neue"/>
                <a:ea typeface="Helvetica Neue"/>
                <a:cs typeface="Helvetica Neue"/>
                <a:sym typeface="Helvetica Neue"/>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106" name="Google Shape;106;p25"/>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 driemaal">
  <p:cSld name="Foto - driemaal">
    <p:spTree>
      <p:nvGrpSpPr>
        <p:cNvPr id="107" name="Shape 107"/>
        <p:cNvGrpSpPr/>
        <p:nvPr/>
      </p:nvGrpSpPr>
      <p:grpSpPr>
        <a:xfrm>
          <a:off x="0" y="0"/>
          <a:ext cx="0" cy="0"/>
          <a:chOff x="0" y="0"/>
          <a:chExt cx="0" cy="0"/>
        </a:xfrm>
      </p:grpSpPr>
      <p:sp>
        <p:nvSpPr>
          <p:cNvPr id="108" name="Google Shape;108;p26"/>
          <p:cNvSpPr/>
          <p:nvPr>
            <p:ph idx="2" type="pic"/>
          </p:nvPr>
        </p:nvSpPr>
        <p:spPr>
          <a:xfrm>
            <a:off x="5910263" y="381000"/>
            <a:ext cx="2789662" cy="2231129"/>
          </a:xfrm>
          <a:prstGeom prst="rect">
            <a:avLst/>
          </a:prstGeom>
          <a:noFill/>
          <a:ln>
            <a:noFill/>
          </a:ln>
        </p:spPr>
      </p:sp>
      <p:sp>
        <p:nvSpPr>
          <p:cNvPr id="109" name="Google Shape;109;p26"/>
          <p:cNvSpPr/>
          <p:nvPr>
            <p:ph idx="3" type="pic"/>
          </p:nvPr>
        </p:nvSpPr>
        <p:spPr>
          <a:xfrm>
            <a:off x="5062538" y="1491853"/>
            <a:ext cx="3914775" cy="4556318"/>
          </a:xfrm>
          <a:prstGeom prst="rect">
            <a:avLst/>
          </a:prstGeom>
          <a:noFill/>
          <a:ln>
            <a:noFill/>
          </a:ln>
        </p:spPr>
      </p:sp>
      <p:sp>
        <p:nvSpPr>
          <p:cNvPr id="110" name="Google Shape;110;p26"/>
          <p:cNvSpPr/>
          <p:nvPr>
            <p:ph idx="4" type="pic"/>
          </p:nvPr>
        </p:nvSpPr>
        <p:spPr>
          <a:xfrm>
            <a:off x="-52387" y="185738"/>
            <a:ext cx="6229350" cy="4672013"/>
          </a:xfrm>
          <a:prstGeom prst="rect">
            <a:avLst/>
          </a:prstGeom>
          <a:noFill/>
          <a:ln>
            <a:noFill/>
          </a:ln>
        </p:spPr>
      </p:sp>
      <p:sp>
        <p:nvSpPr>
          <p:cNvPr id="111" name="Google Shape;111;p26"/>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p:cSld name="Foto">
    <p:spTree>
      <p:nvGrpSpPr>
        <p:cNvPr id="112" name="Shape 112"/>
        <p:cNvGrpSpPr/>
        <p:nvPr/>
      </p:nvGrpSpPr>
      <p:grpSpPr>
        <a:xfrm>
          <a:off x="0" y="0"/>
          <a:ext cx="0" cy="0"/>
          <a:chOff x="0" y="0"/>
          <a:chExt cx="0" cy="0"/>
        </a:xfrm>
      </p:grpSpPr>
      <p:sp>
        <p:nvSpPr>
          <p:cNvPr id="113" name="Google Shape;113;p27"/>
          <p:cNvSpPr/>
          <p:nvPr>
            <p:ph idx="2" type="pic"/>
          </p:nvPr>
        </p:nvSpPr>
        <p:spPr>
          <a:xfrm>
            <a:off x="-500062" y="-2071687"/>
            <a:ext cx="10144125" cy="8115300"/>
          </a:xfrm>
          <a:prstGeom prst="rect">
            <a:avLst/>
          </a:prstGeom>
          <a:noFill/>
          <a:ln>
            <a:noFill/>
          </a:ln>
        </p:spPr>
      </p:sp>
      <p:sp>
        <p:nvSpPr>
          <p:cNvPr id="114" name="Google Shape;114;p27"/>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FFFFFF"/>
              </a:buClr>
              <a:buSzPts val="700"/>
              <a:buFont typeface="Helvetica Neue"/>
              <a:buNone/>
              <a:defRPr>
                <a:solidFill>
                  <a:srgbClr val="FFFFFF"/>
                </a:solidFill>
              </a:defRPr>
            </a:lvl1pPr>
            <a:lvl2pPr indent="0" lvl="1" marL="0" algn="ctr">
              <a:lnSpc>
                <a:spcPct val="100000"/>
              </a:lnSpc>
              <a:spcBef>
                <a:spcPts val="0"/>
              </a:spcBef>
              <a:spcAft>
                <a:spcPts val="0"/>
              </a:spcAft>
              <a:buClr>
                <a:srgbClr val="FFFFFF"/>
              </a:buClr>
              <a:buSzPts val="700"/>
              <a:buFont typeface="Helvetica Neue"/>
              <a:buNone/>
              <a:defRPr>
                <a:solidFill>
                  <a:srgbClr val="FFFFFF"/>
                </a:solidFill>
              </a:defRPr>
            </a:lvl2pPr>
            <a:lvl3pPr indent="0" lvl="2" marL="0" algn="ctr">
              <a:lnSpc>
                <a:spcPct val="100000"/>
              </a:lnSpc>
              <a:spcBef>
                <a:spcPts val="0"/>
              </a:spcBef>
              <a:spcAft>
                <a:spcPts val="0"/>
              </a:spcAft>
              <a:buClr>
                <a:srgbClr val="FFFFFF"/>
              </a:buClr>
              <a:buSzPts val="700"/>
              <a:buFont typeface="Helvetica Neue"/>
              <a:buNone/>
              <a:defRPr>
                <a:solidFill>
                  <a:srgbClr val="FFFFFF"/>
                </a:solidFill>
              </a:defRPr>
            </a:lvl3pPr>
            <a:lvl4pPr indent="0" lvl="3" marL="0" algn="ctr">
              <a:lnSpc>
                <a:spcPct val="100000"/>
              </a:lnSpc>
              <a:spcBef>
                <a:spcPts val="0"/>
              </a:spcBef>
              <a:spcAft>
                <a:spcPts val="0"/>
              </a:spcAft>
              <a:buClr>
                <a:srgbClr val="FFFFFF"/>
              </a:buClr>
              <a:buSzPts val="700"/>
              <a:buFont typeface="Helvetica Neue"/>
              <a:buNone/>
              <a:defRPr>
                <a:solidFill>
                  <a:srgbClr val="FFFFFF"/>
                </a:solidFill>
              </a:defRPr>
            </a:lvl4pPr>
            <a:lvl5pPr indent="0" lvl="4" marL="0" algn="ctr">
              <a:lnSpc>
                <a:spcPct val="100000"/>
              </a:lnSpc>
              <a:spcBef>
                <a:spcPts val="0"/>
              </a:spcBef>
              <a:spcAft>
                <a:spcPts val="0"/>
              </a:spcAft>
              <a:buClr>
                <a:srgbClr val="FFFFFF"/>
              </a:buClr>
              <a:buSzPts val="700"/>
              <a:buFont typeface="Helvetica Neue"/>
              <a:buNone/>
              <a:defRPr>
                <a:solidFill>
                  <a:srgbClr val="FFFFFF"/>
                </a:solidFill>
              </a:defRPr>
            </a:lvl5pPr>
            <a:lvl6pPr indent="0" lvl="5" marL="0" algn="ctr">
              <a:lnSpc>
                <a:spcPct val="100000"/>
              </a:lnSpc>
              <a:spcBef>
                <a:spcPts val="0"/>
              </a:spcBef>
              <a:spcAft>
                <a:spcPts val="0"/>
              </a:spcAft>
              <a:buClr>
                <a:srgbClr val="FFFFFF"/>
              </a:buClr>
              <a:buSzPts val="700"/>
              <a:buFont typeface="Helvetica Neue"/>
              <a:buNone/>
              <a:defRPr>
                <a:solidFill>
                  <a:srgbClr val="FFFFFF"/>
                </a:solidFill>
              </a:defRPr>
            </a:lvl6pPr>
            <a:lvl7pPr indent="0" lvl="6" marL="0" algn="ctr">
              <a:lnSpc>
                <a:spcPct val="100000"/>
              </a:lnSpc>
              <a:spcBef>
                <a:spcPts val="0"/>
              </a:spcBef>
              <a:spcAft>
                <a:spcPts val="0"/>
              </a:spcAft>
              <a:buClr>
                <a:srgbClr val="FFFFFF"/>
              </a:buClr>
              <a:buSzPts val="700"/>
              <a:buFont typeface="Helvetica Neue"/>
              <a:buNone/>
              <a:defRPr>
                <a:solidFill>
                  <a:srgbClr val="FFFFFF"/>
                </a:solidFill>
              </a:defRPr>
            </a:lvl7pPr>
            <a:lvl8pPr indent="0" lvl="7" marL="0" algn="ctr">
              <a:lnSpc>
                <a:spcPct val="100000"/>
              </a:lnSpc>
              <a:spcBef>
                <a:spcPts val="0"/>
              </a:spcBef>
              <a:spcAft>
                <a:spcPts val="0"/>
              </a:spcAft>
              <a:buClr>
                <a:srgbClr val="FFFFFF"/>
              </a:buClr>
              <a:buSzPts val="700"/>
              <a:buFont typeface="Helvetica Neue"/>
              <a:buNone/>
              <a:defRPr>
                <a:solidFill>
                  <a:srgbClr val="FFFFFF"/>
                </a:solidFill>
              </a:defRPr>
            </a:lvl8pPr>
            <a:lvl9pPr indent="0" lvl="8" marL="0" algn="ctr">
              <a:lnSpc>
                <a:spcPct val="100000"/>
              </a:lnSpc>
              <a:spcBef>
                <a:spcPts val="0"/>
              </a:spcBef>
              <a:spcAft>
                <a:spcPts val="0"/>
              </a:spcAft>
              <a:buClr>
                <a:srgbClr val="FFFFFF"/>
              </a:buClr>
              <a:buSzPts val="700"/>
              <a:buFont typeface="Helvetica Neue"/>
              <a:buNone/>
              <a:defRPr>
                <a:solidFill>
                  <a:srgbClr val="FFFFFF"/>
                </a:solidFill>
              </a:defRPr>
            </a:lvl9pPr>
          </a:lstStyle>
          <a:p>
            <a:pPr indent="0" lvl="0" marL="0" rtl="0" algn="ctr">
              <a:spcBef>
                <a:spcPts val="0"/>
              </a:spcBef>
              <a:spcAft>
                <a:spcPts val="0"/>
              </a:spcAft>
              <a:buNone/>
            </a:pPr>
            <a:fld id="{00000000-1234-1234-1234-123412341234}" type="slidenum">
              <a:rPr lang="nl"/>
              <a:t>‹#›</a:t>
            </a:fld>
            <a:endParaRPr b="0" i="0" sz="700" u="none" cap="none" strike="noStrike">
              <a:latin typeface="Helvetica Neue"/>
              <a:ea typeface="Helvetica Neue"/>
              <a:cs typeface="Helvetica Neue"/>
              <a:sym typeface="Helvetica Neue"/>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g">
  <p:cSld name="Leeg">
    <p:spTree>
      <p:nvGrpSpPr>
        <p:cNvPr id="115" name="Shape 115"/>
        <p:cNvGrpSpPr/>
        <p:nvPr/>
      </p:nvGrpSpPr>
      <p:grpSpPr>
        <a:xfrm>
          <a:off x="0" y="0"/>
          <a:ext cx="0" cy="0"/>
          <a:chOff x="0" y="0"/>
          <a:chExt cx="0" cy="0"/>
        </a:xfrm>
      </p:grpSpPr>
      <p:sp>
        <p:nvSpPr>
          <p:cNvPr id="116" name="Google Shape;116;p28"/>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solidFill>
                  <a:srgbClr val="000000"/>
                </a:solidFill>
              </a:defRPr>
            </a:lvl1pPr>
            <a:lvl2pPr indent="0" lvl="1" marL="0" algn="ctr">
              <a:lnSpc>
                <a:spcPct val="100000"/>
              </a:lnSpc>
              <a:spcBef>
                <a:spcPts val="0"/>
              </a:spcBef>
              <a:spcAft>
                <a:spcPts val="0"/>
              </a:spcAft>
              <a:buClr>
                <a:srgbClr val="000000"/>
              </a:buClr>
              <a:buSzPts val="700"/>
              <a:buFont typeface="Helvetica Neue"/>
              <a:buNone/>
              <a:defRPr sz="700">
                <a:solidFill>
                  <a:srgbClr val="000000"/>
                </a:solidFill>
              </a:defRPr>
            </a:lvl2pPr>
            <a:lvl3pPr indent="0" lvl="2" marL="0" algn="ctr">
              <a:lnSpc>
                <a:spcPct val="100000"/>
              </a:lnSpc>
              <a:spcBef>
                <a:spcPts val="0"/>
              </a:spcBef>
              <a:spcAft>
                <a:spcPts val="0"/>
              </a:spcAft>
              <a:buClr>
                <a:srgbClr val="000000"/>
              </a:buClr>
              <a:buSzPts val="700"/>
              <a:buFont typeface="Helvetica Neue"/>
              <a:buNone/>
              <a:defRPr sz="700">
                <a:solidFill>
                  <a:srgbClr val="000000"/>
                </a:solidFill>
              </a:defRPr>
            </a:lvl3pPr>
            <a:lvl4pPr indent="0" lvl="3" marL="0" algn="ctr">
              <a:lnSpc>
                <a:spcPct val="100000"/>
              </a:lnSpc>
              <a:spcBef>
                <a:spcPts val="0"/>
              </a:spcBef>
              <a:spcAft>
                <a:spcPts val="0"/>
              </a:spcAft>
              <a:buClr>
                <a:srgbClr val="000000"/>
              </a:buClr>
              <a:buSzPts val="700"/>
              <a:buFont typeface="Helvetica Neue"/>
              <a:buNone/>
              <a:defRPr sz="700">
                <a:solidFill>
                  <a:srgbClr val="000000"/>
                </a:solidFill>
              </a:defRPr>
            </a:lvl4pPr>
            <a:lvl5pPr indent="0" lvl="4" marL="0" algn="ctr">
              <a:lnSpc>
                <a:spcPct val="100000"/>
              </a:lnSpc>
              <a:spcBef>
                <a:spcPts val="0"/>
              </a:spcBef>
              <a:spcAft>
                <a:spcPts val="0"/>
              </a:spcAft>
              <a:buClr>
                <a:srgbClr val="000000"/>
              </a:buClr>
              <a:buSzPts val="700"/>
              <a:buFont typeface="Helvetica Neue"/>
              <a:buNone/>
              <a:defRPr sz="700">
                <a:solidFill>
                  <a:srgbClr val="000000"/>
                </a:solidFill>
              </a:defRPr>
            </a:lvl5pPr>
            <a:lvl6pPr indent="0" lvl="5" marL="0" algn="ctr">
              <a:lnSpc>
                <a:spcPct val="100000"/>
              </a:lnSpc>
              <a:spcBef>
                <a:spcPts val="0"/>
              </a:spcBef>
              <a:spcAft>
                <a:spcPts val="0"/>
              </a:spcAft>
              <a:buClr>
                <a:srgbClr val="000000"/>
              </a:buClr>
              <a:buSzPts val="700"/>
              <a:buFont typeface="Helvetica Neue"/>
              <a:buNone/>
              <a:defRPr sz="700">
                <a:solidFill>
                  <a:srgbClr val="000000"/>
                </a:solidFill>
              </a:defRPr>
            </a:lvl6pPr>
            <a:lvl7pPr indent="0" lvl="6" marL="0" algn="ctr">
              <a:lnSpc>
                <a:spcPct val="100000"/>
              </a:lnSpc>
              <a:spcBef>
                <a:spcPts val="0"/>
              </a:spcBef>
              <a:spcAft>
                <a:spcPts val="0"/>
              </a:spcAft>
              <a:buClr>
                <a:srgbClr val="000000"/>
              </a:buClr>
              <a:buSzPts val="700"/>
              <a:buFont typeface="Helvetica Neue"/>
              <a:buNone/>
              <a:defRPr sz="700">
                <a:solidFill>
                  <a:srgbClr val="000000"/>
                </a:solidFill>
              </a:defRPr>
            </a:lvl7pPr>
            <a:lvl8pPr indent="0" lvl="7" marL="0" algn="ctr">
              <a:lnSpc>
                <a:spcPct val="100000"/>
              </a:lnSpc>
              <a:spcBef>
                <a:spcPts val="0"/>
              </a:spcBef>
              <a:spcAft>
                <a:spcPts val="0"/>
              </a:spcAft>
              <a:buClr>
                <a:srgbClr val="000000"/>
              </a:buClr>
              <a:buSzPts val="700"/>
              <a:buFont typeface="Helvetica Neue"/>
              <a:buNone/>
              <a:defRPr sz="700">
                <a:solidFill>
                  <a:srgbClr val="000000"/>
                </a:solidFill>
              </a:defRPr>
            </a:lvl8pPr>
            <a:lvl9pPr indent="0" lvl="8" marL="0" algn="ctr">
              <a:lnSpc>
                <a:spcPct val="100000"/>
              </a:lnSpc>
              <a:spcBef>
                <a:spcPts val="0"/>
              </a:spcBef>
              <a:spcAft>
                <a:spcPts val="0"/>
              </a:spcAft>
              <a:buClr>
                <a:srgbClr val="000000"/>
              </a:buClr>
              <a:buSzPts val="700"/>
              <a:buFont typeface="Helvetica Neue"/>
              <a:buNone/>
              <a:defRPr sz="700">
                <a:solidFill>
                  <a:srgbClr val="000000"/>
                </a:solidFill>
              </a:defRPr>
            </a:lvl9pPr>
          </a:lstStyle>
          <a:p>
            <a:pPr indent="0" lvl="0" marL="0" rtl="0" algn="ctr">
              <a:spcBef>
                <a:spcPts val="0"/>
              </a:spcBef>
              <a:spcAft>
                <a:spcPts val="0"/>
              </a:spcAft>
              <a:buNone/>
            </a:pPr>
            <a:fld id="{00000000-1234-1234-1234-123412341234}" type="slidenum">
              <a:rPr lang="n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n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2438" y="404813"/>
            <a:ext cx="8239125" cy="537436"/>
          </a:xfrm>
          <a:prstGeom prst="rect">
            <a:avLst/>
          </a:prstGeom>
          <a:noFill/>
          <a:ln>
            <a:noFill/>
          </a:ln>
        </p:spPr>
        <p:txBody>
          <a:bodyPr anchorCtr="0" anchor="t" bIns="19050" lIns="19050" spcFirstLastPara="1" rIns="19050" wrap="square" tIns="19050">
            <a:normAutofit/>
          </a:bodyPr>
          <a:lstStyle>
            <a:lvl1pPr lvl="0" marR="0" rtl="0" algn="l">
              <a:lnSpc>
                <a:spcPct val="8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l">
              <a:lnSpc>
                <a:spcPct val="8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l">
              <a:lnSpc>
                <a:spcPct val="8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l">
              <a:lnSpc>
                <a:spcPct val="8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l">
              <a:lnSpc>
                <a:spcPct val="8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l">
              <a:lnSpc>
                <a:spcPct val="8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l">
              <a:lnSpc>
                <a:spcPct val="8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l">
              <a:lnSpc>
                <a:spcPct val="8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l">
              <a:lnSpc>
                <a:spcPct val="8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52" name="Google Shape;52;p13"/>
          <p:cNvSpPr txBox="1"/>
          <p:nvPr>
            <p:ph idx="1" type="body"/>
          </p:nvPr>
        </p:nvSpPr>
        <p:spPr>
          <a:xfrm>
            <a:off x="452438" y="1593189"/>
            <a:ext cx="8239125" cy="3096005"/>
          </a:xfrm>
          <a:prstGeom prst="rect">
            <a:avLst/>
          </a:prstGeom>
          <a:noFill/>
          <a:ln>
            <a:noFill/>
          </a:ln>
        </p:spPr>
        <p:txBody>
          <a:bodyPr anchorCtr="0" anchor="t" bIns="19050" lIns="19050" spcFirstLastPara="1" rIns="19050" wrap="square" tIns="19050">
            <a:normAutofit/>
          </a:bodyPr>
          <a:lstStyle>
            <a:lvl1pPr indent="-368300" lvl="0" marL="457200" marR="0" rtl="0" algn="l">
              <a:lnSpc>
                <a:spcPct val="90000"/>
              </a:lnSpc>
              <a:spcBef>
                <a:spcPts val="1700"/>
              </a:spcBef>
              <a:spcAft>
                <a:spcPts val="0"/>
              </a:spcAft>
              <a:buClr>
                <a:srgbClr val="000000"/>
              </a:buClr>
              <a:buSzPts val="2200"/>
              <a:buFont typeface="Helvetica Neue"/>
              <a:buChar char="•"/>
              <a:defRPr b="0" i="0" sz="1800" u="none" cap="none" strike="noStrike">
                <a:solidFill>
                  <a:srgbClr val="000000"/>
                </a:solidFill>
                <a:latin typeface="Helvetica Neue"/>
                <a:ea typeface="Helvetica Neue"/>
                <a:cs typeface="Helvetica Neue"/>
                <a:sym typeface="Helvetica Neue"/>
              </a:defRPr>
            </a:lvl1pPr>
            <a:lvl2pPr indent="-368300" lvl="1" marL="914400" marR="0" rtl="0" algn="l">
              <a:lnSpc>
                <a:spcPct val="90000"/>
              </a:lnSpc>
              <a:spcBef>
                <a:spcPts val="1700"/>
              </a:spcBef>
              <a:spcAft>
                <a:spcPts val="0"/>
              </a:spcAft>
              <a:buClr>
                <a:srgbClr val="000000"/>
              </a:buClr>
              <a:buSzPts val="2200"/>
              <a:buFont typeface="Helvetica Neue"/>
              <a:buChar char="•"/>
              <a:defRPr b="0" i="0" sz="1800" u="none" cap="none" strike="noStrike">
                <a:solidFill>
                  <a:srgbClr val="000000"/>
                </a:solidFill>
                <a:latin typeface="Helvetica Neue"/>
                <a:ea typeface="Helvetica Neue"/>
                <a:cs typeface="Helvetica Neue"/>
                <a:sym typeface="Helvetica Neue"/>
              </a:defRPr>
            </a:lvl2pPr>
            <a:lvl3pPr indent="-368300" lvl="2" marL="1371600" marR="0" rtl="0" algn="l">
              <a:lnSpc>
                <a:spcPct val="90000"/>
              </a:lnSpc>
              <a:spcBef>
                <a:spcPts val="1700"/>
              </a:spcBef>
              <a:spcAft>
                <a:spcPts val="0"/>
              </a:spcAft>
              <a:buClr>
                <a:srgbClr val="000000"/>
              </a:buClr>
              <a:buSzPts val="2200"/>
              <a:buFont typeface="Helvetica Neue"/>
              <a:buChar char="•"/>
              <a:defRPr b="0" i="0" sz="1800" u="none" cap="none" strike="noStrike">
                <a:solidFill>
                  <a:srgbClr val="000000"/>
                </a:solidFill>
                <a:latin typeface="Helvetica Neue"/>
                <a:ea typeface="Helvetica Neue"/>
                <a:cs typeface="Helvetica Neue"/>
                <a:sym typeface="Helvetica Neue"/>
              </a:defRPr>
            </a:lvl3pPr>
            <a:lvl4pPr indent="-368300" lvl="3" marL="1828800" marR="0" rtl="0" algn="l">
              <a:lnSpc>
                <a:spcPct val="90000"/>
              </a:lnSpc>
              <a:spcBef>
                <a:spcPts val="1700"/>
              </a:spcBef>
              <a:spcAft>
                <a:spcPts val="0"/>
              </a:spcAft>
              <a:buClr>
                <a:srgbClr val="000000"/>
              </a:buClr>
              <a:buSzPts val="2200"/>
              <a:buFont typeface="Helvetica Neue"/>
              <a:buChar char="•"/>
              <a:defRPr b="0" i="0" sz="1800" u="none" cap="none" strike="noStrike">
                <a:solidFill>
                  <a:srgbClr val="000000"/>
                </a:solidFill>
                <a:latin typeface="Helvetica Neue"/>
                <a:ea typeface="Helvetica Neue"/>
                <a:cs typeface="Helvetica Neue"/>
                <a:sym typeface="Helvetica Neue"/>
              </a:defRPr>
            </a:lvl4pPr>
            <a:lvl5pPr indent="-368300" lvl="4" marL="2286000" marR="0" rtl="0" algn="l">
              <a:lnSpc>
                <a:spcPct val="90000"/>
              </a:lnSpc>
              <a:spcBef>
                <a:spcPts val="1700"/>
              </a:spcBef>
              <a:spcAft>
                <a:spcPts val="0"/>
              </a:spcAft>
              <a:buClr>
                <a:srgbClr val="000000"/>
              </a:buClr>
              <a:buSzPts val="2200"/>
              <a:buFont typeface="Helvetica Neue"/>
              <a:buChar char="•"/>
              <a:defRPr b="0" i="0" sz="1800" u="none" cap="none" strike="noStrike">
                <a:solidFill>
                  <a:srgbClr val="000000"/>
                </a:solidFill>
                <a:latin typeface="Helvetica Neue"/>
                <a:ea typeface="Helvetica Neue"/>
                <a:cs typeface="Helvetica Neue"/>
                <a:sym typeface="Helvetica Neue"/>
              </a:defRPr>
            </a:lvl5pPr>
            <a:lvl6pPr indent="-368300" lvl="5" marL="2743200" marR="0" rtl="0" algn="l">
              <a:lnSpc>
                <a:spcPct val="90000"/>
              </a:lnSpc>
              <a:spcBef>
                <a:spcPts val="1700"/>
              </a:spcBef>
              <a:spcAft>
                <a:spcPts val="0"/>
              </a:spcAft>
              <a:buClr>
                <a:srgbClr val="000000"/>
              </a:buClr>
              <a:buSzPts val="2200"/>
              <a:buFont typeface="Helvetica Neue"/>
              <a:buChar char="•"/>
              <a:defRPr b="0" i="0" sz="1800" u="none" cap="none" strike="noStrike">
                <a:solidFill>
                  <a:srgbClr val="000000"/>
                </a:solidFill>
                <a:latin typeface="Helvetica Neue"/>
                <a:ea typeface="Helvetica Neue"/>
                <a:cs typeface="Helvetica Neue"/>
                <a:sym typeface="Helvetica Neue"/>
              </a:defRPr>
            </a:lvl6pPr>
            <a:lvl7pPr indent="-368300" lvl="6" marL="3200400" marR="0" rtl="0" algn="l">
              <a:lnSpc>
                <a:spcPct val="90000"/>
              </a:lnSpc>
              <a:spcBef>
                <a:spcPts val="1700"/>
              </a:spcBef>
              <a:spcAft>
                <a:spcPts val="0"/>
              </a:spcAft>
              <a:buClr>
                <a:srgbClr val="000000"/>
              </a:buClr>
              <a:buSzPts val="2200"/>
              <a:buFont typeface="Helvetica Neue"/>
              <a:buChar char="•"/>
              <a:defRPr b="0" i="0" sz="1800" u="none" cap="none" strike="noStrike">
                <a:solidFill>
                  <a:srgbClr val="000000"/>
                </a:solidFill>
                <a:latin typeface="Helvetica Neue"/>
                <a:ea typeface="Helvetica Neue"/>
                <a:cs typeface="Helvetica Neue"/>
                <a:sym typeface="Helvetica Neue"/>
              </a:defRPr>
            </a:lvl7pPr>
            <a:lvl8pPr indent="-368300" lvl="7" marL="3657600" marR="0" rtl="0" algn="l">
              <a:lnSpc>
                <a:spcPct val="90000"/>
              </a:lnSpc>
              <a:spcBef>
                <a:spcPts val="1700"/>
              </a:spcBef>
              <a:spcAft>
                <a:spcPts val="0"/>
              </a:spcAft>
              <a:buClr>
                <a:srgbClr val="000000"/>
              </a:buClr>
              <a:buSzPts val="2200"/>
              <a:buFont typeface="Helvetica Neue"/>
              <a:buChar char="•"/>
              <a:defRPr b="0" i="0" sz="1800" u="none" cap="none" strike="noStrike">
                <a:solidFill>
                  <a:srgbClr val="000000"/>
                </a:solidFill>
                <a:latin typeface="Helvetica Neue"/>
                <a:ea typeface="Helvetica Neue"/>
                <a:cs typeface="Helvetica Neue"/>
                <a:sym typeface="Helvetica Neue"/>
              </a:defRPr>
            </a:lvl8pPr>
            <a:lvl9pPr indent="-368300" lvl="8" marL="4114800" marR="0" rtl="0" algn="l">
              <a:lnSpc>
                <a:spcPct val="90000"/>
              </a:lnSpc>
              <a:spcBef>
                <a:spcPts val="1700"/>
              </a:spcBef>
              <a:spcAft>
                <a:spcPts val="0"/>
              </a:spcAft>
              <a:buClr>
                <a:srgbClr val="000000"/>
              </a:buClr>
              <a:buSzPts val="2200"/>
              <a:buFont typeface="Helvetica Neue"/>
              <a:buChar char="•"/>
              <a:defRPr b="0" i="0" sz="1800" u="none" cap="none" strike="noStrike">
                <a:solidFill>
                  <a:srgbClr val="000000"/>
                </a:solidFill>
                <a:latin typeface="Helvetica Neue"/>
                <a:ea typeface="Helvetica Neue"/>
                <a:cs typeface="Helvetica Neue"/>
                <a:sym typeface="Helvetica Neue"/>
              </a:defRPr>
            </a:lvl9pPr>
          </a:lstStyle>
          <a:p/>
        </p:txBody>
      </p:sp>
      <p:sp>
        <p:nvSpPr>
          <p:cNvPr id="53" name="Google Shape;53;p13"/>
          <p:cNvSpPr txBox="1"/>
          <p:nvPr>
            <p:ph idx="12" type="sldNum"/>
          </p:nvPr>
        </p:nvSpPr>
        <p:spPr>
          <a:xfrm>
            <a:off x="4500562" y="4905375"/>
            <a:ext cx="138189" cy="140475"/>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nl"/>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2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22.png"/><Relationship Id="rId4"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descr="header_linkedin.png" id="3" name="Google Shape;121;p29"/>
          <p:cNvPicPr preferRelativeResize="0"/>
          <p:nvPr/>
        </p:nvPicPr>
        <p:blipFill rotWithShape="1">
          <a:blip r:embed="rId2">
            <a:alphaModFix/>
          </a:blip>
          <a:srcRect b="0" l="0" r="0" t="0"/>
          <a:stretch/>
        </p:blipFill>
        <p:spPr>
          <a:xfrm>
            <a:off x="-12073" y="-90539"/>
            <a:ext cx="9168146" cy="5324578"/>
          </a:xfrm>
          <a:prstGeom prst="rect">
            <a:avLst/>
          </a:prstGeom>
          <a:noFill/>
          <a:ln>
            <a:noFill/>
          </a:ln>
        </p:spPr>
      </p:pic>
      <p:sp>
        <p:nvSpPr>
          <p:cNvPr id="4" name="Google Shape;122;p29"/>
          <p:cNvSpPr txBox="1"/>
          <p:nvPr>
            <p:ph idx="1" type="body"/>
          </p:nvPr>
        </p:nvSpPr>
        <p:spPr>
          <a:xfrm>
            <a:off x="452437" y="4750459"/>
            <a:ext cx="8239126" cy="238867"/>
          </a:xfrm>
          <a:prstGeom prst="rect">
            <a:avLst/>
          </a:prstGeom>
          <a:noFill/>
          <a:ln>
            <a:noFill/>
          </a:ln>
        </p:spPr>
        <p:txBody>
          <a:bodyPr anchorCtr="0" anchor="t" bIns="17150" lIns="17150" spcFirstLastPara="1" rIns="17150" wrap="square" tIns="17150">
            <a:normAutofit lnSpcReduction="10000"/>
          </a:bodyPr>
          <a:lstStyle/>
          <a:p>
            <a:pPr indent="0" lvl="0" marL="0" rtl="0" algn="l">
              <a:lnSpc>
                <a:spcPct val="100000"/>
              </a:lnSpc>
              <a:spcBef>
                <a:spcPts val="0"/>
              </a:spcBef>
              <a:spcAft>
                <a:spcPts val="0"/>
              </a:spcAft>
              <a:buClr>
                <a:srgbClr val="FFFFFF"/>
              </a:buClr>
              <a:buSzPts val="1400"/>
              <a:buFont typeface="Helvetica Neue"/>
              <a:buNone/>
            </a:pPr>
            <a:r>
              <a:rPr b="1" i="0" lang="nl" sz="1400" u="none" cap="none" strike="noStrike">
                <a:solidFill>
                  <a:srgbClr val="FFFFFF"/>
                </a:solidFill>
                <a:latin typeface="Helvetica Neue"/>
                <a:ea typeface="Helvetica Neue"/>
                <a:cs typeface="Helvetica Neue"/>
                <a:sym typeface="Helvetica Neue"/>
              </a:rPr>
              <a:t/>
            </a:r>
            <a:r>
              <a:rPr lang="nl">
                <a:solidFill>
                  <a:srgbClr val="FFFFFF"/>
                </a:solidFill>
              </a:rPr>
              <a:t>Bona Fide Student Investment Society · 2026-2027 · Prices as of 11-Sep-2026</a:t>
            </a:r>
            <a:endParaRPr b="1" i="0" sz="1400" u="none" cap="none" strike="noStrike">
              <a:solidFill>
                <a:srgbClr val="FFFFFF"/>
              </a:solidFill>
              <a:latin typeface="Helvetica Neue"/>
              <a:ea typeface="Helvetica Neue"/>
              <a:cs typeface="Helvetica Neue"/>
              <a:sym typeface="Helvetica Neue"/>
            </a:endParaRPr>
          </a:p>
        </p:txBody>
      </p:sp>
      <p:sp>
        <p:nvSpPr>
          <p:cNvPr id="5" name="Google Shape;123;p29"/>
          <p:cNvSpPr txBox="1"/>
          <p:nvPr>
            <p:ph idx="4294967295" type="ctrTitle"/>
          </p:nvPr>
        </p:nvSpPr>
        <p:spPr>
          <a:xfrm>
            <a:off x="452437" y="2139890"/>
            <a:ext cx="8239127" cy="1743075"/>
          </a:xfrm>
          <a:prstGeom prst="rect">
            <a:avLst/>
          </a:prstGeom>
          <a:noFill/>
          <a:ln>
            <a:noFill/>
          </a:ln>
        </p:spPr>
        <p:txBody>
          <a:bodyPr anchorCtr="0" anchor="b" bIns="19050" lIns="19050" spcFirstLastPara="1" rIns="19050" wrap="square" tIns="19050">
            <a:normAutofit/>
          </a:bodyPr>
          <a:lstStyle/>
          <a:p>
            <a:pPr indent="0" lvl="0" marL="0" marR="0" rtl="0" algn="l">
              <a:lnSpc>
                <a:spcPct val="80000"/>
              </a:lnSpc>
              <a:spcBef>
                <a:spcPts val="0"/>
              </a:spcBef>
              <a:spcAft>
                <a:spcPts val="0"/>
              </a:spcAft>
              <a:buClr>
                <a:srgbClr val="FCC80D"/>
              </a:buClr>
              <a:buSzPts val="4400"/>
              <a:buFont typeface="Twentieth Century"/>
              <a:buNone/>
            </a:pPr>
            <a:r>
              <a:rPr b="1" i="0" lang="nl" sz="4400" u="none" cap="none" strike="noStrike">
                <a:solidFill>
                  <a:srgbClr val="FCC80D"/>
                </a:solidFill>
                <a:latin typeface="Twentieth Century"/>
                <a:ea typeface="Twentieth Century"/>
                <a:cs typeface="Twentieth Century"/>
                <a:sym typeface="Twentieth Century"/>
              </a:rPr>
              <a:t>HPE</a:t>
            </a:r>
            <a:endParaRPr/>
          </a:p>
        </p:txBody>
      </p:sp>
      <p:sp>
        <p:nvSpPr>
          <p:cNvPr id="6" name="Google Shape;124;p29"/>
          <p:cNvSpPr txBox="1"/>
          <p:nvPr>
            <p:ph idx="4294967295" type="subTitle"/>
          </p:nvPr>
        </p:nvSpPr>
        <p:spPr>
          <a:xfrm>
            <a:off x="478206" y="3761037"/>
            <a:ext cx="3657600" cy="492382"/>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CC80D"/>
              </a:buClr>
              <a:buSzPts val="1400"/>
              <a:buFont typeface="Twentieth Century"/>
              <a:buNone/>
            </a:pPr>
            <a:r>
              <a:rPr b="1" i="1" lang="nl" sz="1400" u="none" cap="none" strike="noStrike">
                <a:solidFill>
                  <a:srgbClr val="FCC80D"/>
                </a:solidFill>
                <a:latin typeface="Twentieth Century"/>
                <a:ea typeface="Twentieth Century"/>
                <a:cs typeface="Twentieth Century"/>
                <a:sym typeface="Twentieth Century"/>
              </a:rPr>
              <a:t>Hewlett Packard Enterprise · NYSE: HPE</a:t>
            </a:r>
            <a:endParaRPr/>
          </a:p>
          <a:p>
            <a:pPr indent="0" lvl="0" marL="0" marR="0" rtl="0" algn="l">
              <a:lnSpc>
                <a:spcPct val="100000"/>
              </a:lnSpc>
              <a:spcBef>
                <a:spcPts val="0"/>
              </a:spcBef>
              <a:spcAft>
                <a:spcPts val="0"/>
              </a:spcAft>
              <a:buClr>
                <a:srgbClr val="FCC80D"/>
              </a:buClr>
              <a:buSzPts val="1400"/>
              <a:buFont typeface="Twentieth Century"/>
              <a:buNone/>
            </a:pPr>
            <a:r>
              <a:rPr b="1" i="1" lang="nl" sz="1400" u="none" cap="none" strike="noStrike">
                <a:solidFill>
                  <a:srgbClr val="FCC80D"/>
                </a:solidFill>
                <a:latin typeface="Twentieth Century"/>
                <a:ea typeface="Twentieth Century"/>
                <a:cs typeface="Twentieth Century"/>
                <a:sym typeface="Twentieth Century"/>
              </a:rPr>
              <a:t>Investment pitch · 14 September 2026</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A better business is not yet a better investment</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INVESTMENT THESIS</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Bona Fide analysis; HPE filings; Yahoo Finance.</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2</a:t>
            </a:r>
          </a:p>
        </p:txBody>
      </p:sp>
      <p:sp>
        <p:nvSpPr>
          <p:cNvPr id="8" name="TextBox 133"/>
          <p:cNvSpPr txBox="1"/>
          <p:nvPr/>
        </p:nvSpPr>
        <p:spPr>
          <a:xfrm>
            <a:off x="320040" y="1481328"/>
            <a:ext cx="4663440" cy="3200400"/>
          </a:xfrm>
          <a:prstGeom prst="rect">
            <a:avLst/>
          </a:prstGeom>
          <a:noFill/>
        </p:spPr>
        <p:txBody>
          <a:bodyPr wrap="square" anchor="t" lIns="36576" rIns="36576" tIns="18288" bIns="18288">
            <a:spAutoFit/>
          </a:bodyPr>
          <a:lstStyle/>
          <a:p>
            <a:pPr algn="l">
              <a:spcAft>
                <a:spcPts val="700"/>
              </a:spcAft>
            </a:pPr>
            <a:r>
              <a:rPr sz="600">
                <a:solidFill>
                  <a:srgbClr val="135927"/>
                </a:solidFill>
                <a:latin typeface="Arial"/>
              </a:rPr>
              <a:t>■  </a:t>
            </a:r>
            <a:r>
              <a:rPr sz="1000" b="1">
                <a:solidFill>
                  <a:srgbClr val="1F2421"/>
                </a:solidFill>
                <a:latin typeface="Arial"/>
              </a:rPr>
              <a:t>1 · Better business: </a:t>
            </a:r>
            <a:r>
              <a:rPr sz="1000" b="0">
                <a:solidFill>
                  <a:srgbClr val="1F2421"/>
                </a:solidFill>
                <a:latin typeface="Arial"/>
              </a:rPr>
              <a:t>networking is 26% of revenue but 40% of segment profit; ROIC of 11.2% now exceeds the 9.3% WACC.</a:t>
            </a:r>
          </a:p>
          <a:p>
            <a:pPr algn="l">
              <a:spcAft>
                <a:spcPts val="700"/>
              </a:spcAft>
            </a:pPr>
            <a:r>
              <a:rPr sz="600">
                <a:solidFill>
                  <a:srgbClr val="135927"/>
                </a:solidFill>
                <a:latin typeface="Arial"/>
              </a:rPr>
              <a:t>■  </a:t>
            </a:r>
            <a:r>
              <a:rPr sz="1000" b="1">
                <a:solidFill>
                  <a:srgbClr val="1F2421"/>
                </a:solidFill>
                <a:latin typeface="Arial"/>
              </a:rPr>
              <a:t>2 · Cycle-boosted: </a:t>
            </a:r>
            <a:r>
              <a:rPr sz="1000" b="0">
                <a:solidFill>
                  <a:srgbClr val="1F2421"/>
                </a:solidFill>
                <a:latin typeface="Arial"/>
              </a:rPr>
              <a:t>record 40.4% non-GAAP gross margin on memory pricing; about two-thirds of FY26's jump above trend is AI and pricing.</a:t>
            </a:r>
          </a:p>
          <a:p>
            <a:pPr algn="l">
              <a:spcAft>
                <a:spcPts val="700"/>
              </a:spcAft>
            </a:pPr>
            <a:r>
              <a:rPr sz="600">
                <a:solidFill>
                  <a:srgbClr val="135927"/>
                </a:solidFill>
                <a:latin typeface="Arial"/>
              </a:rPr>
              <a:t>■  </a:t>
            </a:r>
            <a:r>
              <a:rPr sz="1000" b="1">
                <a:solidFill>
                  <a:srgbClr val="1F2421"/>
                </a:solidFill>
                <a:latin typeface="Arial"/>
              </a:rPr>
              <a:t>3 · Late-cycle cash: </a:t>
            </a:r>
            <a:r>
              <a:rPr sz="1000" b="0">
                <a:solidFill>
                  <a:srgbClr val="1F2421"/>
                </a:solidFill>
                <a:latin typeface="Arial"/>
              </a:rPr>
              <a:t>record $4.5bn free cash flow, but a $5.5bn inventory build is funded by $6.0bn of extra payables.</a:t>
            </a:r>
          </a:p>
          <a:p>
            <a:pPr algn="l">
              <a:spcAft>
                <a:spcPts val="700"/>
              </a:spcAft>
            </a:pPr>
            <a:r>
              <a:rPr sz="600">
                <a:solidFill>
                  <a:srgbClr val="135927"/>
                </a:solidFill>
                <a:latin typeface="Arial"/>
              </a:rPr>
              <a:t>■  </a:t>
            </a:r>
            <a:r>
              <a:rPr sz="1000" b="1">
                <a:solidFill>
                  <a:srgbClr val="1F2421"/>
                </a:solidFill>
                <a:latin typeface="Arial"/>
              </a:rPr>
              <a:t>4 · Price extrapolates the peak: </a:t>
            </a:r>
            <a:r>
              <a:rPr sz="1000" b="0">
                <a:solidFill>
                  <a:srgbClr val="1F2421"/>
                </a:solidFill>
                <a:latin typeface="Arial"/>
              </a:rPr>
              <a:t>13.5x FY27 EPS against a 4–10x history; the reverse DCF needs an 18% margin or 11% growth for a decade.</a:t>
            </a:r>
          </a:p>
          <a:p>
            <a:pPr algn="l">
              <a:spcAft>
                <a:spcPts val="700"/>
              </a:spcAft>
            </a:pPr>
            <a:r>
              <a:rPr sz="600">
                <a:solidFill>
                  <a:srgbClr val="135927"/>
                </a:solidFill>
                <a:latin typeface="Arial"/>
              </a:rPr>
              <a:t>■  </a:t>
            </a:r>
            <a:r>
              <a:rPr sz="1000" b="1">
                <a:solidFill>
                  <a:srgbClr val="1F2421"/>
                </a:solidFill>
                <a:latin typeface="Arial"/>
              </a:rPr>
              <a:t>So: </a:t>
            </a:r>
            <a:r>
              <a:rPr sz="1000" b="0">
                <a:solidFill>
                  <a:srgbClr val="1F2421"/>
                </a:solidFill>
                <a:latin typeface="Arial"/>
              </a:rPr>
              <a:t>a real quality upgrade priced as permanent; the gap to value is a bet that multiples persist.</a:t>
            </a:r>
          </a:p>
        </p:txBody>
      </p:sp>
      <p:sp>
        <p:nvSpPr>
          <p:cNvPr id="9" name="Rectangle 134"/>
          <p:cNvSpPr/>
          <p:nvPr/>
        </p:nvSpPr>
        <p:spPr>
          <a:xfrm>
            <a:off x="5212080" y="1481328"/>
            <a:ext cx="3611880" cy="1536192"/>
          </a:xfrm>
          <a:prstGeom prst="rect">
            <a:avLst/>
          </a:prstGeom>
          <a:solidFill>
            <a:srgbClr val="135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135"/>
          <p:cNvSpPr txBox="1"/>
          <p:nvPr/>
        </p:nvSpPr>
        <p:spPr>
          <a:xfrm>
            <a:off x="5349240" y="1554480"/>
            <a:ext cx="3383280" cy="228600"/>
          </a:xfrm>
          <a:prstGeom prst="rect">
            <a:avLst/>
          </a:prstGeom>
          <a:noFill/>
        </p:spPr>
        <p:txBody>
          <a:bodyPr wrap="square" anchor="t" lIns="36576" rIns="36576" tIns="18288" bIns="18288">
            <a:spAutoFit/>
          </a:bodyPr>
          <a:lstStyle/>
          <a:p>
            <a:pPr algn="l">
              <a:spcAft>
                <a:spcPts val="300"/>
              </a:spcAft>
            </a:pPr>
            <a:r>
              <a:rPr sz="800" b="1">
                <a:solidFill>
                  <a:srgbClr val="FCC80D"/>
                </a:solidFill>
                <a:latin typeface="Arial"/>
              </a:rPr>
              <a:t>WHAT THE MARKET PRICES IN</a:t>
            </a:r>
          </a:p>
        </p:txBody>
      </p:sp>
      <p:sp>
        <p:nvSpPr>
          <p:cNvPr id="11" name="TextBox 136"/>
          <p:cNvSpPr txBox="1"/>
          <p:nvPr/>
        </p:nvSpPr>
        <p:spPr>
          <a:xfrm>
            <a:off x="5349240" y="1764792"/>
            <a:ext cx="3383280" cy="457200"/>
          </a:xfrm>
          <a:prstGeom prst="rect">
            <a:avLst/>
          </a:prstGeom>
          <a:noFill/>
        </p:spPr>
        <p:txBody>
          <a:bodyPr wrap="square" anchor="t" lIns="36576" rIns="36576" tIns="18288" bIns="18288">
            <a:spAutoFit/>
          </a:bodyPr>
          <a:lstStyle/>
          <a:p>
            <a:pPr algn="l">
              <a:spcAft>
                <a:spcPts val="300"/>
              </a:spcAft>
            </a:pPr>
            <a:r>
              <a:rPr sz="2600" b="1">
                <a:solidFill>
                  <a:srgbClr val="FFFFFF"/>
                </a:solidFill>
                <a:latin typeface="Twentieth Century"/>
              </a:rPr>
              <a:t>$62.09</a:t>
            </a:r>
          </a:p>
        </p:txBody>
      </p:sp>
      <p:sp>
        <p:nvSpPr>
          <p:cNvPr id="12" name="TextBox 137"/>
          <p:cNvSpPr txBox="1"/>
          <p:nvPr/>
        </p:nvSpPr>
        <p:spPr>
          <a:xfrm>
            <a:off x="5349240" y="2267712"/>
            <a:ext cx="3383280" cy="731520"/>
          </a:xfrm>
          <a:prstGeom prst="rect">
            <a:avLst/>
          </a:prstGeom>
          <a:noFill/>
        </p:spPr>
        <p:txBody>
          <a:bodyPr wrap="square" anchor="t" lIns="36576" rIns="36576" tIns="18288" bIns="18288">
            <a:spAutoFit/>
          </a:bodyPr>
          <a:lstStyle/>
          <a:p>
            <a:pPr algn="l">
              <a:spcAft>
                <a:spcPts val="200"/>
              </a:spcAft>
            </a:pPr>
            <a:r>
              <a:rPr sz="950" b="0">
                <a:solidFill>
                  <a:srgbClr val="FFFFFF"/>
                </a:solidFill>
                <a:latin typeface="Arial"/>
              </a:rPr>
              <a:t>13.5x FY27 EPS (history 4–10x)</a:t>
            </a:r>
          </a:p>
          <a:p>
            <a:pPr algn="l">
              <a:spcAft>
                <a:spcPts val="200"/>
              </a:spcAft>
            </a:pPr>
            <a:r>
              <a:rPr sz="950" b="0">
                <a:solidFill>
                  <a:srgbClr val="FFFFFF"/>
                </a:solidFill>
                <a:latin typeface="Arial"/>
              </a:rPr>
              <a:t>Reverse DCF: 18% LT margin or 11% growth to FY36</a:t>
            </a:r>
          </a:p>
        </p:txBody>
      </p:sp>
      <p:sp>
        <p:nvSpPr>
          <p:cNvPr id="13" name="Rectangle 138"/>
          <p:cNvSpPr/>
          <p:nvPr/>
        </p:nvSpPr>
        <p:spPr>
          <a:xfrm>
            <a:off x="5212080" y="3127248"/>
            <a:ext cx="3611880" cy="1536192"/>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9"/>
          <p:cNvSpPr txBox="1"/>
          <p:nvPr/>
        </p:nvSpPr>
        <p:spPr>
          <a:xfrm>
            <a:off x="5349240" y="3200400"/>
            <a:ext cx="3383280" cy="22860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WHAT FUNDAMENTALS SUGGEST</a:t>
            </a:r>
          </a:p>
        </p:txBody>
      </p:sp>
      <p:sp>
        <p:nvSpPr>
          <p:cNvPr id="15" name="TextBox 140"/>
          <p:cNvSpPr txBox="1"/>
          <p:nvPr/>
        </p:nvSpPr>
        <p:spPr>
          <a:xfrm>
            <a:off x="5349240" y="3410712"/>
            <a:ext cx="3383280" cy="457200"/>
          </a:xfrm>
          <a:prstGeom prst="rect">
            <a:avLst/>
          </a:prstGeom>
          <a:noFill/>
        </p:spPr>
        <p:txBody>
          <a:bodyPr wrap="square" anchor="t" lIns="36576" rIns="36576" tIns="18288" bIns="18288">
            <a:spAutoFit/>
          </a:bodyPr>
          <a:lstStyle/>
          <a:p>
            <a:pPr algn="l">
              <a:spcAft>
                <a:spcPts val="300"/>
              </a:spcAft>
            </a:pPr>
            <a:r>
              <a:rPr sz="2600" b="1">
                <a:solidFill>
                  <a:srgbClr val="135927"/>
                </a:solidFill>
                <a:latin typeface="Twentieth Century"/>
              </a:rPr>
              <a:t>$35–$43</a:t>
            </a:r>
          </a:p>
        </p:txBody>
      </p:sp>
      <p:sp>
        <p:nvSpPr>
          <p:cNvPr id="16" name="TextBox 141"/>
          <p:cNvSpPr txBox="1"/>
          <p:nvPr/>
        </p:nvSpPr>
        <p:spPr>
          <a:xfrm>
            <a:off x="5349240" y="3913632"/>
            <a:ext cx="3383280" cy="731520"/>
          </a:xfrm>
          <a:prstGeom prst="rect">
            <a:avLst/>
          </a:prstGeom>
          <a:noFill/>
        </p:spPr>
        <p:txBody>
          <a:bodyPr wrap="square" anchor="t" lIns="36576" rIns="36576" tIns="18288" bIns="18288">
            <a:spAutoFit/>
          </a:bodyPr>
          <a:lstStyle/>
          <a:p>
            <a:pPr algn="l">
              <a:spcAft>
                <a:spcPts val="200"/>
              </a:spcAft>
            </a:pPr>
            <a:r>
              <a:rPr sz="950" b="0">
                <a:solidFill>
                  <a:srgbClr val="1F2421"/>
                </a:solidFill>
                <a:latin typeface="Arial"/>
              </a:rPr>
              <a:t>Base DCF $38.80; bear $22 – bull $54</a:t>
            </a:r>
          </a:p>
          <a:p>
            <a:pPr algn="l">
              <a:spcAft>
                <a:spcPts val="200"/>
              </a:spcAft>
            </a:pPr>
            <a:r>
              <a:rPr sz="950" b="0">
                <a:solidFill>
                  <a:srgbClr val="1F2421"/>
                </a:solidFill>
                <a:latin typeface="Arial"/>
              </a:rPr>
              <a:t>Damodaran Ginzu $31.57; no rating or target</a:t>
            </a:r>
          </a:p>
        </p:txBody>
      </p:sp>
      <p:sp>
        <p:nvSpPr>
          <p:cNvPr id="17"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Investor logic: </a:t>
            </a:r>
            <a:r>
              <a:rPr sz="1050" b="0" i="1">
                <a:solidFill>
                  <a:srgbClr val="1F2421"/>
                </a:solidFill>
                <a:latin typeface="Arial"/>
              </a:rPr>
              <a:t>the business improved, but the price assumes both the improvement and the cycle last, so the question is expectations, not quality.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Five questions, one decision</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HOW WE REASONED</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Bona Fide analysis. Each question maps to one part of this pitch and to sections 1–11 of the HTML report.</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3</a:t>
            </a:r>
          </a:p>
        </p:txBody>
      </p:sp>
      <p:sp>
        <p:nvSpPr>
          <p:cNvPr id="8"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Investor logic: </a:t>
            </a:r>
            <a:r>
              <a:rPr sz="1050" b="0" i="1">
                <a:solidFill>
                  <a:srgbClr val="1F2421"/>
                </a:solidFill>
                <a:latin typeface="Arial"/>
              </a:rPr>
              <a:t>every question has a tool, and every tool could have proved us wrong.</a:t>
            </a:r>
          </a:p>
        </p:txBody>
      </p:sp>
      <p:sp>
        <p:nvSpPr>
          <p:cNvPr id="9" name="Rectangle 133"/>
          <p:cNvSpPr/>
          <p:nvPr/>
        </p:nvSpPr>
        <p:spPr>
          <a:xfrm>
            <a:off x="320040" y="1481328"/>
            <a:ext cx="1517904" cy="2542032"/>
          </a:xfrm>
          <a:prstGeom prst="rect">
            <a:avLst/>
          </a:prstGeom>
          <a:solidFill>
            <a:srgbClr val="F3F5F3"/>
          </a:solidFill>
          <a:ln w="9525">
            <a:solidFill>
              <a:srgbClr val="135927"/>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spcAft>
                <a:spcPts val="0"/>
              </a:spcAft>
            </a:pPr>
            <a:r>
              <a:rPr sz="2000" b="1" i="0">
                <a:solidFill>
                  <a:srgbClr val="135927"/>
                </a:solidFill>
                <a:latin typeface="Arial"/>
              </a:rPr>
              <a:t>1</a:t>
            </a:r>
          </a:p>
          <a:p>
            <a:pPr>
              <a:spcAft>
                <a:spcPts val="800"/>
              </a:spcAft>
            </a:pPr>
            <a:r>
              <a:rPr sz="1050" b="1" i="0">
                <a:solidFill>
                  <a:srgbClr val="135927"/>
                </a:solidFill>
                <a:latin typeface="Arial"/>
              </a:rPr>
              <a:t>What does HPE really sell?</a:t>
            </a:r>
          </a:p>
          <a:p>
            <a:pPr>
              <a:spcAft>
                <a:spcPts val="100"/>
              </a:spcAft>
            </a:pPr>
            <a:r>
              <a:rPr sz="700" b="1" i="0">
                <a:solidFill>
                  <a:srgbClr val="595959"/>
                </a:solidFill>
                <a:latin typeface="Arial"/>
              </a:rPr>
              <a:t>TOOL</a:t>
            </a:r>
          </a:p>
          <a:p>
            <a:pPr>
              <a:spcAft>
                <a:spcPts val="800"/>
              </a:spcAft>
            </a:pPr>
            <a:r>
              <a:rPr sz="900" b="0" i="0">
                <a:solidFill>
                  <a:srgbClr val="1F2421"/>
                </a:solidFill>
                <a:latin typeface="Arial"/>
              </a:rPr>
              <a:t>Segment profit mix; position in the AI value chain</a:t>
            </a:r>
          </a:p>
          <a:p>
            <a:pPr>
              <a:spcAft>
                <a:spcPts val="100"/>
              </a:spcAft>
            </a:pPr>
            <a:r>
              <a:rPr sz="700" b="1" i="0">
                <a:solidFill>
                  <a:srgbClr val="595959"/>
                </a:solidFill>
                <a:latin typeface="Arial"/>
              </a:rPr>
              <a:t>ANSWER</a:t>
            </a:r>
          </a:p>
          <a:p>
            <a:pPr>
              <a:spcAft>
                <a:spcPts val="0"/>
              </a:spcAft>
            </a:pPr>
            <a:r>
              <a:rPr sz="900" b="0" i="1">
                <a:solidFill>
                  <a:srgbClr val="1F2421"/>
                </a:solidFill>
                <a:latin typeface="Arial"/>
              </a:rPr>
              <a:t>A server volume business with a networking profit engine</a:t>
            </a:r>
          </a:p>
        </p:txBody>
      </p:sp>
      <p:sp>
        <p:nvSpPr>
          <p:cNvPr id="10" name="Chevron 134"/>
          <p:cNvSpPr/>
          <p:nvPr/>
        </p:nvSpPr>
        <p:spPr>
          <a:xfrm>
            <a:off x="1901951" y="2615184"/>
            <a:ext cx="109728" cy="274320"/>
          </a:xfrm>
          <a:prstGeom prst="chevron">
            <a:avLst/>
          </a:prstGeom>
          <a:solidFill>
            <a:srgbClr val="FCC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35"/>
          <p:cNvSpPr/>
          <p:nvPr/>
        </p:nvSpPr>
        <p:spPr>
          <a:xfrm>
            <a:off x="2066543" y="1481328"/>
            <a:ext cx="1517904" cy="2542032"/>
          </a:xfrm>
          <a:prstGeom prst="rect">
            <a:avLst/>
          </a:prstGeom>
          <a:solidFill>
            <a:srgbClr val="F3F5F3"/>
          </a:solidFill>
          <a:ln w="9525">
            <a:solidFill>
              <a:srgbClr val="135927"/>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spcAft>
                <a:spcPts val="0"/>
              </a:spcAft>
            </a:pPr>
            <a:r>
              <a:rPr sz="2000" b="1" i="0">
                <a:solidFill>
                  <a:srgbClr val="135927"/>
                </a:solidFill>
                <a:latin typeface="Arial"/>
              </a:rPr>
              <a:t>2</a:t>
            </a:r>
          </a:p>
          <a:p>
            <a:pPr>
              <a:spcAft>
                <a:spcPts val="800"/>
              </a:spcAft>
            </a:pPr>
            <a:r>
              <a:rPr sz="1050" b="1" i="0">
                <a:solidFill>
                  <a:srgbClr val="135927"/>
                </a:solidFill>
                <a:latin typeface="Arial"/>
              </a:rPr>
              <a:t>Structure or cycle?</a:t>
            </a:r>
          </a:p>
          <a:p>
            <a:pPr>
              <a:spcAft>
                <a:spcPts val="100"/>
              </a:spcAft>
            </a:pPr>
            <a:r>
              <a:rPr sz="700" b="1" i="0">
                <a:solidFill>
                  <a:srgbClr val="595959"/>
                </a:solidFill>
                <a:latin typeface="Arial"/>
              </a:rPr>
              <a:t>TOOL</a:t>
            </a:r>
          </a:p>
          <a:p>
            <a:pPr>
              <a:spcAft>
                <a:spcPts val="800"/>
              </a:spcAft>
            </a:pPr>
            <a:r>
              <a:rPr sz="900" b="0" i="0">
                <a:solidFill>
                  <a:srgbClr val="1F2421"/>
                </a:solidFill>
                <a:latin typeface="Arial"/>
              </a:rPr>
              <a:t>ARIMA counterfactual; driver regressions; peak-cycle checklist</a:t>
            </a:r>
          </a:p>
          <a:p>
            <a:pPr>
              <a:spcAft>
                <a:spcPts val="100"/>
              </a:spcAft>
            </a:pPr>
            <a:r>
              <a:rPr sz="700" b="1" i="0">
                <a:solidFill>
                  <a:srgbClr val="595959"/>
                </a:solidFill>
                <a:latin typeface="Arial"/>
              </a:rPr>
              <a:t>ANSWER</a:t>
            </a:r>
          </a:p>
          <a:p>
            <a:pPr>
              <a:spcAft>
                <a:spcPts val="0"/>
              </a:spcAft>
            </a:pPr>
            <a:r>
              <a:rPr sz="900" b="0" i="1">
                <a:solidFill>
                  <a:srgbClr val="1F2421"/>
                </a:solidFill>
                <a:latin typeface="Arial"/>
              </a:rPr>
              <a:t>About a third of the break is Juniper; the rest is AI and pricing</a:t>
            </a:r>
          </a:p>
        </p:txBody>
      </p:sp>
      <p:sp>
        <p:nvSpPr>
          <p:cNvPr id="12" name="Chevron 136"/>
          <p:cNvSpPr/>
          <p:nvPr/>
        </p:nvSpPr>
        <p:spPr>
          <a:xfrm>
            <a:off x="3648456" y="2615184"/>
            <a:ext cx="109728" cy="274320"/>
          </a:xfrm>
          <a:prstGeom prst="chevron">
            <a:avLst/>
          </a:prstGeom>
          <a:solidFill>
            <a:srgbClr val="FCC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37"/>
          <p:cNvSpPr/>
          <p:nvPr/>
        </p:nvSpPr>
        <p:spPr>
          <a:xfrm>
            <a:off x="3813048" y="1481328"/>
            <a:ext cx="1517904" cy="2542032"/>
          </a:xfrm>
          <a:prstGeom prst="rect">
            <a:avLst/>
          </a:prstGeom>
          <a:solidFill>
            <a:srgbClr val="F3F5F3"/>
          </a:solidFill>
          <a:ln w="9525">
            <a:solidFill>
              <a:srgbClr val="135927"/>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spcAft>
                <a:spcPts val="0"/>
              </a:spcAft>
            </a:pPr>
            <a:r>
              <a:rPr sz="2000" b="1" i="0">
                <a:solidFill>
                  <a:srgbClr val="135927"/>
                </a:solidFill>
                <a:latin typeface="Arial"/>
              </a:rPr>
              <a:t>3</a:t>
            </a:r>
          </a:p>
          <a:p>
            <a:pPr>
              <a:spcAft>
                <a:spcPts val="800"/>
              </a:spcAft>
            </a:pPr>
            <a:r>
              <a:rPr sz="1050" b="1" i="0">
                <a:solidFill>
                  <a:srgbClr val="135927"/>
                </a:solidFill>
                <a:latin typeface="Arial"/>
              </a:rPr>
              <a:t>Is the cash real?</a:t>
            </a:r>
          </a:p>
          <a:p>
            <a:pPr>
              <a:spcAft>
                <a:spcPts val="100"/>
              </a:spcAft>
            </a:pPr>
            <a:r>
              <a:rPr sz="700" b="1" i="0">
                <a:solidFill>
                  <a:srgbClr val="595959"/>
                </a:solidFill>
                <a:latin typeface="Arial"/>
              </a:rPr>
              <a:t>TOOL</a:t>
            </a:r>
          </a:p>
          <a:p>
            <a:pPr>
              <a:spcAft>
                <a:spcPts val="800"/>
              </a:spcAft>
            </a:pPr>
            <a:r>
              <a:rPr sz="900" b="0" i="0">
                <a:solidFill>
                  <a:srgbClr val="1F2421"/>
                </a:solidFill>
                <a:latin typeface="Arial"/>
              </a:rPr>
              <a:t>Working-capital pattern; balance sheet</a:t>
            </a:r>
          </a:p>
          <a:p>
            <a:pPr>
              <a:spcAft>
                <a:spcPts val="100"/>
              </a:spcAft>
            </a:pPr>
            <a:r>
              <a:rPr sz="700" b="1" i="0">
                <a:solidFill>
                  <a:srgbClr val="595959"/>
                </a:solidFill>
                <a:latin typeface="Arial"/>
              </a:rPr>
              <a:t>ANSWER</a:t>
            </a:r>
          </a:p>
          <a:p>
            <a:pPr>
              <a:spcAft>
                <a:spcPts val="0"/>
              </a:spcAft>
            </a:pPr>
            <a:r>
              <a:rPr sz="900" b="0" i="1">
                <a:solidFill>
                  <a:srgbClr val="1F2421"/>
                </a:solidFill>
                <a:latin typeface="Arial"/>
              </a:rPr>
              <a:t>Record free cash flow, but suppliers fund the inventory</a:t>
            </a:r>
          </a:p>
        </p:txBody>
      </p:sp>
      <p:sp>
        <p:nvSpPr>
          <p:cNvPr id="14" name="Chevron 138"/>
          <p:cNvSpPr/>
          <p:nvPr/>
        </p:nvSpPr>
        <p:spPr>
          <a:xfrm>
            <a:off x="5394960" y="2615184"/>
            <a:ext cx="109728" cy="274320"/>
          </a:xfrm>
          <a:prstGeom prst="chevron">
            <a:avLst/>
          </a:prstGeom>
          <a:solidFill>
            <a:srgbClr val="FCC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39"/>
          <p:cNvSpPr/>
          <p:nvPr/>
        </p:nvSpPr>
        <p:spPr>
          <a:xfrm>
            <a:off x="5559551" y="1481328"/>
            <a:ext cx="1517904" cy="2542032"/>
          </a:xfrm>
          <a:prstGeom prst="rect">
            <a:avLst/>
          </a:prstGeom>
          <a:solidFill>
            <a:srgbClr val="F3F5F3"/>
          </a:solidFill>
          <a:ln w="9525">
            <a:solidFill>
              <a:srgbClr val="135927"/>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spcAft>
                <a:spcPts val="0"/>
              </a:spcAft>
            </a:pPr>
            <a:r>
              <a:rPr sz="2000" b="1" i="0">
                <a:solidFill>
                  <a:srgbClr val="135927"/>
                </a:solidFill>
                <a:latin typeface="Arial"/>
              </a:rPr>
              <a:t>4</a:t>
            </a:r>
          </a:p>
          <a:p>
            <a:pPr>
              <a:spcAft>
                <a:spcPts val="800"/>
              </a:spcAft>
            </a:pPr>
            <a:r>
              <a:rPr sz="1050" b="1" i="0">
                <a:solidFill>
                  <a:srgbClr val="135927"/>
                </a:solidFill>
                <a:latin typeface="Arial"/>
              </a:rPr>
              <a:t>What does the price assume?</a:t>
            </a:r>
          </a:p>
          <a:p>
            <a:pPr>
              <a:spcAft>
                <a:spcPts val="100"/>
              </a:spcAft>
            </a:pPr>
            <a:r>
              <a:rPr sz="700" b="1" i="0">
                <a:solidFill>
                  <a:srgbClr val="595959"/>
                </a:solidFill>
                <a:latin typeface="Arial"/>
              </a:rPr>
              <a:t>TOOL</a:t>
            </a:r>
          </a:p>
          <a:p>
            <a:pPr>
              <a:spcAft>
                <a:spcPts val="800"/>
              </a:spcAft>
            </a:pPr>
            <a:r>
              <a:rPr sz="900" b="0" i="0">
                <a:solidFill>
                  <a:srgbClr val="1F2421"/>
                </a:solidFill>
                <a:latin typeface="Arial"/>
              </a:rPr>
              <a:t>Reverse DCF; peer steelman; football field</a:t>
            </a:r>
          </a:p>
          <a:p>
            <a:pPr>
              <a:spcAft>
                <a:spcPts val="100"/>
              </a:spcAft>
            </a:pPr>
            <a:r>
              <a:rPr sz="700" b="1" i="0">
                <a:solidFill>
                  <a:srgbClr val="595959"/>
                </a:solidFill>
                <a:latin typeface="Arial"/>
              </a:rPr>
              <a:t>ANSWER</a:t>
            </a:r>
          </a:p>
          <a:p>
            <a:pPr>
              <a:spcAft>
                <a:spcPts val="0"/>
              </a:spcAft>
            </a:pPr>
            <a:r>
              <a:rPr sz="900" b="0" i="1">
                <a:solidFill>
                  <a:srgbClr val="1F2421"/>
                </a:solidFill>
                <a:latin typeface="Arial"/>
              </a:rPr>
              <a:t>An 18% margin or 11% growth for a decade</a:t>
            </a:r>
          </a:p>
        </p:txBody>
      </p:sp>
      <p:sp>
        <p:nvSpPr>
          <p:cNvPr id="16" name="Chevron 140"/>
          <p:cNvSpPr/>
          <p:nvPr/>
        </p:nvSpPr>
        <p:spPr>
          <a:xfrm>
            <a:off x="7141464" y="2615184"/>
            <a:ext cx="109728" cy="274320"/>
          </a:xfrm>
          <a:prstGeom prst="chevron">
            <a:avLst/>
          </a:prstGeom>
          <a:solidFill>
            <a:srgbClr val="FCC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41"/>
          <p:cNvSpPr/>
          <p:nvPr/>
        </p:nvSpPr>
        <p:spPr>
          <a:xfrm>
            <a:off x="7306055" y="1481328"/>
            <a:ext cx="1517904" cy="2542032"/>
          </a:xfrm>
          <a:prstGeom prst="rect">
            <a:avLst/>
          </a:prstGeom>
          <a:solidFill>
            <a:srgbClr val="F3F5F3"/>
          </a:solidFill>
          <a:ln w="9525">
            <a:solidFill>
              <a:srgbClr val="135927"/>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spcAft>
                <a:spcPts val="0"/>
              </a:spcAft>
            </a:pPr>
            <a:r>
              <a:rPr sz="2000" b="1" i="0">
                <a:solidFill>
                  <a:srgbClr val="135927"/>
                </a:solidFill>
                <a:latin typeface="Arial"/>
              </a:rPr>
              <a:t>5</a:t>
            </a:r>
          </a:p>
          <a:p>
            <a:pPr>
              <a:spcAft>
                <a:spcPts val="800"/>
              </a:spcAft>
            </a:pPr>
            <a:r>
              <a:rPr sz="1050" b="1" i="0">
                <a:solidFill>
                  <a:srgbClr val="135927"/>
                </a:solidFill>
                <a:latin typeface="Arial"/>
              </a:rPr>
              <a:t>What would change our mind?</a:t>
            </a:r>
          </a:p>
          <a:p>
            <a:pPr>
              <a:spcAft>
                <a:spcPts val="100"/>
              </a:spcAft>
            </a:pPr>
            <a:r>
              <a:rPr sz="700" b="1" i="0">
                <a:solidFill>
                  <a:srgbClr val="595959"/>
                </a:solidFill>
                <a:latin typeface="Arial"/>
              </a:rPr>
              <a:t>TOOL</a:t>
            </a:r>
          </a:p>
          <a:p>
            <a:pPr>
              <a:spcAft>
                <a:spcPts val="800"/>
              </a:spcAft>
            </a:pPr>
            <a:r>
              <a:rPr sz="900" b="0" i="0">
                <a:solidFill>
                  <a:srgbClr val="1F2421"/>
                </a:solidFill>
                <a:latin typeface="Arial"/>
              </a:rPr>
              <a:t>Scenarios; risk transmission; signposts</a:t>
            </a:r>
          </a:p>
          <a:p>
            <a:pPr>
              <a:spcAft>
                <a:spcPts val="100"/>
              </a:spcAft>
            </a:pPr>
            <a:r>
              <a:rPr sz="700" b="1" i="0">
                <a:solidFill>
                  <a:srgbClr val="595959"/>
                </a:solidFill>
                <a:latin typeface="Arial"/>
              </a:rPr>
              <a:t>ANSWER</a:t>
            </a:r>
          </a:p>
          <a:p>
            <a:pPr>
              <a:spcAft>
                <a:spcPts val="0"/>
              </a:spcAft>
            </a:pPr>
            <a:r>
              <a:rPr sz="900" b="0" i="1">
                <a:solidFill>
                  <a:srgbClr val="1F2421"/>
                </a:solidFill>
                <a:latin typeface="Arial"/>
              </a:rPr>
              <a:t>Margins through a memory downturn; networking growth</a:t>
            </a:r>
          </a:p>
        </p:txBody>
      </p:sp>
      <p:sp>
        <p:nvSpPr>
          <p:cNvPr id="18" name="Rectangle 142"/>
          <p:cNvSpPr/>
          <p:nvPr/>
        </p:nvSpPr>
        <p:spPr>
          <a:xfrm>
            <a:off x="320040" y="4160520"/>
            <a:ext cx="8503920" cy="502920"/>
          </a:xfrm>
          <a:prstGeom prst="rect">
            <a:avLst/>
          </a:prstGeom>
          <a:solidFill>
            <a:srgbClr val="1359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050" b="1" i="0">
                <a:solidFill>
                  <a:srgbClr val="FFFFFF"/>
                </a:solidFill>
                <a:latin typeface="Arial"/>
              </a:rPr>
              <a:t>Our answer: value of $35–43 per share (bull case $54) against a $62.09 price. The gap is a bet that peak-cycle margins and sector multiples persist.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Networking is 26% of revenue but 40% of segment profit</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1 · BUSINESS MODEL · SNAPSHOT</a:t>
            </a:r>
          </a:p>
        </p:txBody>
      </p:sp>
      <p:sp>
        <p:nvSpPr>
          <p:cNvPr id="6"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Pattern: </a:t>
            </a:r>
            <a:r>
              <a:rPr sz="1050" b="0" i="1">
                <a:solidFill>
                  <a:srgbClr val="1F2421"/>
                </a:solidFill>
                <a:latin typeface="Arial"/>
              </a:rPr>
              <a:t>follow profit, not revenue. The smaller segment now decides the valuation.</a:t>
            </a:r>
          </a:p>
        </p:txBody>
      </p:sp>
      <p:sp>
        <p:nvSpPr>
          <p:cNvPr id="7" name="TextBox 132"/>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HPE 10-Q Q3 FY26 and earnings releases; Yahoo Finance prices; Bona Fide calculations.</a:t>
            </a:r>
          </a:p>
        </p:txBody>
      </p:sp>
      <p:sp>
        <p:nvSpPr>
          <p:cNvPr id="8" name="TextBox 133"/>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4</a:t>
            </a:r>
          </a:p>
        </p:txBody>
      </p:sp>
      <p:sp>
        <p:nvSpPr>
          <p:cNvPr id="9" name="Rectangle 134"/>
          <p:cNvSpPr/>
          <p:nvPr/>
        </p:nvSpPr>
        <p:spPr>
          <a:xfrm>
            <a:off x="320040" y="1481328"/>
            <a:ext cx="1783080" cy="978408"/>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135"/>
          <p:cNvSpPr txBox="1"/>
          <p:nvPr/>
        </p:nvSpPr>
        <p:spPr>
          <a:xfrm>
            <a:off x="393192" y="1527048"/>
            <a:ext cx="163677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SHARE PRICE 11-SEP-26</a:t>
            </a:r>
          </a:p>
        </p:txBody>
      </p:sp>
      <p:sp>
        <p:nvSpPr>
          <p:cNvPr id="11" name="TextBox 136"/>
          <p:cNvSpPr txBox="1"/>
          <p:nvPr/>
        </p:nvSpPr>
        <p:spPr>
          <a:xfrm>
            <a:off x="393192" y="1700784"/>
            <a:ext cx="1636776" cy="384048"/>
          </a:xfrm>
          <a:prstGeom prst="rect">
            <a:avLst/>
          </a:prstGeom>
          <a:noFill/>
        </p:spPr>
        <p:txBody>
          <a:bodyPr wrap="square" anchor="t" lIns="36576" rIns="36576" tIns="18288" bIns="18288">
            <a:spAutoFit/>
          </a:bodyPr>
          <a:lstStyle/>
          <a:p>
            <a:pPr algn="l">
              <a:spcAft>
                <a:spcPts val="300"/>
              </a:spcAft>
            </a:pPr>
            <a:r>
              <a:rPr sz="2000" b="1">
                <a:solidFill>
                  <a:srgbClr val="135927"/>
                </a:solidFill>
                <a:latin typeface="Twentieth Century"/>
              </a:rPr>
              <a:t>$62.09</a:t>
            </a:r>
          </a:p>
        </p:txBody>
      </p:sp>
      <p:sp>
        <p:nvSpPr>
          <p:cNvPr id="12" name="Rectangle 137"/>
          <p:cNvSpPr/>
          <p:nvPr/>
        </p:nvSpPr>
        <p:spPr>
          <a:xfrm>
            <a:off x="2194560" y="1481328"/>
            <a:ext cx="1783080" cy="978408"/>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38"/>
          <p:cNvSpPr txBox="1"/>
          <p:nvPr/>
        </p:nvSpPr>
        <p:spPr>
          <a:xfrm>
            <a:off x="2267712" y="1527048"/>
            <a:ext cx="163677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FULLY DILUTED MKT CAP</a:t>
            </a:r>
          </a:p>
        </p:txBody>
      </p:sp>
      <p:sp>
        <p:nvSpPr>
          <p:cNvPr id="14" name="TextBox 139"/>
          <p:cNvSpPr txBox="1"/>
          <p:nvPr/>
        </p:nvSpPr>
        <p:spPr>
          <a:xfrm>
            <a:off x="2267712" y="1700784"/>
            <a:ext cx="1636776" cy="384048"/>
          </a:xfrm>
          <a:prstGeom prst="rect">
            <a:avLst/>
          </a:prstGeom>
          <a:noFill/>
        </p:spPr>
        <p:txBody>
          <a:bodyPr wrap="square" anchor="t" lIns="36576" rIns="36576" tIns="18288" bIns="18288">
            <a:spAutoFit/>
          </a:bodyPr>
          <a:lstStyle/>
          <a:p>
            <a:pPr algn="l">
              <a:spcAft>
                <a:spcPts val="300"/>
              </a:spcAft>
            </a:pPr>
            <a:r>
              <a:rPr sz="2000" b="1">
                <a:solidFill>
                  <a:srgbClr val="135927"/>
                </a:solidFill>
                <a:latin typeface="Twentieth Century"/>
              </a:rPr>
              <a:t>$89.7bn</a:t>
            </a:r>
          </a:p>
        </p:txBody>
      </p:sp>
      <p:sp>
        <p:nvSpPr>
          <p:cNvPr id="15" name="Rectangle 140"/>
          <p:cNvSpPr/>
          <p:nvPr/>
        </p:nvSpPr>
        <p:spPr>
          <a:xfrm>
            <a:off x="320040" y="2551176"/>
            <a:ext cx="1783080" cy="978408"/>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41"/>
          <p:cNvSpPr txBox="1"/>
          <p:nvPr/>
        </p:nvSpPr>
        <p:spPr>
          <a:xfrm>
            <a:off x="393192" y="2596896"/>
            <a:ext cx="163677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ENTERPRISE VALUE</a:t>
            </a:r>
          </a:p>
        </p:txBody>
      </p:sp>
      <p:sp>
        <p:nvSpPr>
          <p:cNvPr id="17" name="TextBox 142"/>
          <p:cNvSpPr txBox="1"/>
          <p:nvPr/>
        </p:nvSpPr>
        <p:spPr>
          <a:xfrm>
            <a:off x="393192" y="2770632"/>
            <a:ext cx="1636776" cy="384048"/>
          </a:xfrm>
          <a:prstGeom prst="rect">
            <a:avLst/>
          </a:prstGeom>
          <a:noFill/>
        </p:spPr>
        <p:txBody>
          <a:bodyPr wrap="square" anchor="t" lIns="36576" rIns="36576" tIns="18288" bIns="18288">
            <a:spAutoFit/>
          </a:bodyPr>
          <a:lstStyle/>
          <a:p>
            <a:pPr algn="l">
              <a:spcAft>
                <a:spcPts val="300"/>
              </a:spcAft>
            </a:pPr>
            <a:r>
              <a:rPr sz="2000" b="1">
                <a:solidFill>
                  <a:srgbClr val="135927"/>
                </a:solidFill>
                <a:latin typeface="Twentieth Century"/>
              </a:rPr>
              <a:t>$103.8bn</a:t>
            </a:r>
          </a:p>
        </p:txBody>
      </p:sp>
      <p:sp>
        <p:nvSpPr>
          <p:cNvPr id="18" name="Rectangle 143"/>
          <p:cNvSpPr/>
          <p:nvPr/>
        </p:nvSpPr>
        <p:spPr>
          <a:xfrm>
            <a:off x="2194560" y="2551176"/>
            <a:ext cx="1783080" cy="978408"/>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44"/>
          <p:cNvSpPr txBox="1"/>
          <p:nvPr/>
        </p:nvSpPr>
        <p:spPr>
          <a:xfrm>
            <a:off x="2267712" y="2596896"/>
            <a:ext cx="163677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TTM REVENUE</a:t>
            </a:r>
          </a:p>
        </p:txBody>
      </p:sp>
      <p:sp>
        <p:nvSpPr>
          <p:cNvPr id="20" name="TextBox 145"/>
          <p:cNvSpPr txBox="1"/>
          <p:nvPr/>
        </p:nvSpPr>
        <p:spPr>
          <a:xfrm>
            <a:off x="2267712" y="2770632"/>
            <a:ext cx="1636776" cy="384048"/>
          </a:xfrm>
          <a:prstGeom prst="rect">
            <a:avLst/>
          </a:prstGeom>
          <a:noFill/>
        </p:spPr>
        <p:txBody>
          <a:bodyPr wrap="square" anchor="t" lIns="36576" rIns="36576" tIns="18288" bIns="18288">
            <a:spAutoFit/>
          </a:bodyPr>
          <a:lstStyle/>
          <a:p>
            <a:pPr algn="l">
              <a:spcAft>
                <a:spcPts val="300"/>
              </a:spcAft>
            </a:pPr>
            <a:r>
              <a:rPr sz="2000" b="1">
                <a:solidFill>
                  <a:srgbClr val="135927"/>
                </a:solidFill>
                <a:latin typeface="Twentieth Century"/>
              </a:rPr>
              <a:t>$41.9bn</a:t>
            </a:r>
          </a:p>
        </p:txBody>
      </p:sp>
      <p:sp>
        <p:nvSpPr>
          <p:cNvPr id="21" name="TextBox 146"/>
          <p:cNvSpPr txBox="1"/>
          <p:nvPr/>
        </p:nvSpPr>
        <p:spPr>
          <a:xfrm>
            <a:off x="2267712" y="3255264"/>
            <a:ext cx="1636776"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+31% vs prior TTM</a:t>
            </a:r>
          </a:p>
        </p:txBody>
      </p:sp>
      <p:sp>
        <p:nvSpPr>
          <p:cNvPr id="22" name="Rectangle 147"/>
          <p:cNvSpPr/>
          <p:nvPr/>
        </p:nvSpPr>
        <p:spPr>
          <a:xfrm>
            <a:off x="320040" y="3621024"/>
            <a:ext cx="1783080" cy="978408"/>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148"/>
          <p:cNvSpPr txBox="1"/>
          <p:nvPr/>
        </p:nvSpPr>
        <p:spPr>
          <a:xfrm>
            <a:off x="393192" y="3666744"/>
            <a:ext cx="163677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TTM FREE CASH FLOW</a:t>
            </a:r>
          </a:p>
        </p:txBody>
      </p:sp>
      <p:sp>
        <p:nvSpPr>
          <p:cNvPr id="24" name="TextBox 149"/>
          <p:cNvSpPr txBox="1"/>
          <p:nvPr/>
        </p:nvSpPr>
        <p:spPr>
          <a:xfrm>
            <a:off x="393192" y="3840480"/>
            <a:ext cx="1636776" cy="384048"/>
          </a:xfrm>
          <a:prstGeom prst="rect">
            <a:avLst/>
          </a:prstGeom>
          <a:noFill/>
        </p:spPr>
        <p:txBody>
          <a:bodyPr wrap="square" anchor="t" lIns="36576" rIns="36576" tIns="18288" bIns="18288">
            <a:spAutoFit/>
          </a:bodyPr>
          <a:lstStyle/>
          <a:p>
            <a:pPr algn="l">
              <a:spcAft>
                <a:spcPts val="300"/>
              </a:spcAft>
            </a:pPr>
            <a:r>
              <a:rPr sz="2000" b="1">
                <a:solidFill>
                  <a:srgbClr val="135927"/>
                </a:solidFill>
                <a:latin typeface="Twentieth Century"/>
              </a:rPr>
              <a:t>$4.5bn</a:t>
            </a:r>
          </a:p>
        </p:txBody>
      </p:sp>
      <p:sp>
        <p:nvSpPr>
          <p:cNvPr id="25" name="TextBox 150"/>
          <p:cNvSpPr txBox="1"/>
          <p:nvPr/>
        </p:nvSpPr>
        <p:spPr>
          <a:xfrm>
            <a:off x="393192" y="4325112"/>
            <a:ext cx="1636776"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HPE definition</a:t>
            </a:r>
          </a:p>
        </p:txBody>
      </p:sp>
      <p:sp>
        <p:nvSpPr>
          <p:cNvPr id="26" name="Rectangle 151"/>
          <p:cNvSpPr/>
          <p:nvPr/>
        </p:nvSpPr>
        <p:spPr>
          <a:xfrm>
            <a:off x="2194560" y="3621024"/>
            <a:ext cx="1783080" cy="978408"/>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152"/>
          <p:cNvSpPr txBox="1"/>
          <p:nvPr/>
        </p:nvSpPr>
        <p:spPr>
          <a:xfrm>
            <a:off x="2267712" y="3666744"/>
            <a:ext cx="163677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NET DEBT / ADJ. EBITDA</a:t>
            </a:r>
          </a:p>
        </p:txBody>
      </p:sp>
      <p:sp>
        <p:nvSpPr>
          <p:cNvPr id="28" name="TextBox 153"/>
          <p:cNvSpPr txBox="1"/>
          <p:nvPr/>
        </p:nvSpPr>
        <p:spPr>
          <a:xfrm>
            <a:off x="2267712" y="3840480"/>
            <a:ext cx="1636776" cy="384048"/>
          </a:xfrm>
          <a:prstGeom prst="rect">
            <a:avLst/>
          </a:prstGeom>
          <a:noFill/>
        </p:spPr>
        <p:txBody>
          <a:bodyPr wrap="square" anchor="t" lIns="36576" rIns="36576" tIns="18288" bIns="18288">
            <a:spAutoFit/>
          </a:bodyPr>
          <a:lstStyle/>
          <a:p>
            <a:pPr algn="l">
              <a:spcAft>
                <a:spcPts val="300"/>
              </a:spcAft>
            </a:pPr>
            <a:r>
              <a:rPr sz="2000" b="1">
                <a:solidFill>
                  <a:srgbClr val="135927"/>
                </a:solidFill>
                <a:latin typeface="Twentieth Century"/>
              </a:rPr>
              <a:t>1.75x</a:t>
            </a:r>
          </a:p>
        </p:txBody>
      </p:sp>
      <p:sp>
        <p:nvSpPr>
          <p:cNvPr id="29" name="TextBox 154"/>
          <p:cNvSpPr txBox="1"/>
          <p:nvPr/>
        </p:nvSpPr>
        <p:spPr>
          <a:xfrm>
            <a:off x="2267712" y="4325112"/>
            <a:ext cx="1636776"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company: 1.8x</a:t>
            </a:r>
          </a:p>
        </p:txBody>
      </p:sp>
      <p:graphicFrame>
        <p:nvGraphicFramePr>
          <p:cNvPr id="30" name="Table 155"/>
          <p:cNvGraphicFramePr>
            <a:graphicFrameLocks noGrp="1"/>
          </p:cNvGraphicFramePr>
          <p:nvPr/>
        </p:nvGraphicFramePr>
        <p:xfrm>
          <a:off x="4251960" y="1481328"/>
          <a:ext cx="4572000" cy="1170432"/>
        </p:xfrm>
        <a:graphic>
          <a:graphicData uri="http://schemas.openxmlformats.org/drawingml/2006/table">
            <a:tbl>
              <a:tblPr firstRow="1">
                <a:tableStyleId>{5C22544A-7EE6-4342-B048-85BDC9FD1C3A}</a:tableStyleId>
              </a:tblPr>
              <a:tblGrid>
                <a:gridCol w="1463040"/>
                <a:gridCol w="822960"/>
                <a:gridCol w="640080"/>
                <a:gridCol w="822960"/>
                <a:gridCol w="822960"/>
              </a:tblGrid>
              <a:tr h="292608">
                <a:tc>
                  <a:txBody>
                    <a:bodyPr/>
                    <a:lstStyle/>
                    <a:p>
                      <a:pPr algn="l"/>
                      <a:r>
                        <a:rPr sz="900" b="1">
                          <a:solidFill>
                            <a:srgbClr val="FCC80D"/>
                          </a:solidFill>
                          <a:latin typeface="Arial"/>
                        </a:rPr>
                        <a:t>Segment (TTM)</a:t>
                      </a:r>
                    </a:p>
                  </a:txBody>
                  <a:tcPr marL="45720" marR="45720" marT="13716" marB="13716" anchor="ctr">
                    <a:solidFill>
                      <a:srgbClr val="135927"/>
                    </a:solidFill>
                  </a:tcPr>
                </a:tc>
                <a:tc>
                  <a:txBody>
                    <a:bodyPr/>
                    <a:lstStyle/>
                    <a:p>
                      <a:pPr algn="l"/>
                      <a:r>
                        <a:rPr sz="900" b="1">
                          <a:solidFill>
                            <a:srgbClr val="FCC80D"/>
                          </a:solidFill>
                          <a:latin typeface="Arial"/>
                        </a:rPr>
                        <a:t>Revenue</a:t>
                      </a:r>
                    </a:p>
                  </a:txBody>
                  <a:tcPr marL="45720" marR="45720" marT="13716" marB="13716" anchor="ctr">
                    <a:solidFill>
                      <a:srgbClr val="135927"/>
                    </a:solidFill>
                  </a:tcPr>
                </a:tc>
                <a:tc>
                  <a:txBody>
                    <a:bodyPr/>
                    <a:lstStyle/>
                    <a:p>
                      <a:pPr algn="l"/>
                      <a:r>
                        <a:rPr sz="900" b="1">
                          <a:solidFill>
                            <a:srgbClr val="FCC80D"/>
                          </a:solidFill>
                          <a:latin typeface="Arial"/>
                        </a:rPr>
                        <a:t>Share</a:t>
                      </a:r>
                    </a:p>
                  </a:txBody>
                  <a:tcPr marL="45720" marR="45720" marT="13716" marB="13716" anchor="ctr">
                    <a:solidFill>
                      <a:srgbClr val="135927"/>
                    </a:solidFill>
                  </a:tcPr>
                </a:tc>
                <a:tc>
                  <a:txBody>
                    <a:bodyPr/>
                    <a:lstStyle/>
                    <a:p>
                      <a:pPr algn="l"/>
                      <a:r>
                        <a:rPr sz="900" b="1">
                          <a:solidFill>
                            <a:srgbClr val="FCC80D"/>
                          </a:solidFill>
                          <a:latin typeface="Arial"/>
                        </a:rPr>
                        <a:t>Op. margin</a:t>
                      </a:r>
                    </a:p>
                  </a:txBody>
                  <a:tcPr marL="45720" marR="45720" marT="13716" marB="13716" anchor="ctr">
                    <a:solidFill>
                      <a:srgbClr val="135927"/>
                    </a:solidFill>
                  </a:tcPr>
                </a:tc>
                <a:tc>
                  <a:txBody>
                    <a:bodyPr/>
                    <a:lstStyle/>
                    <a:p>
                      <a:pPr algn="l"/>
                      <a:r>
                        <a:rPr sz="900" b="1">
                          <a:solidFill>
                            <a:srgbClr val="FCC80D"/>
                          </a:solidFill>
                          <a:latin typeface="Arial"/>
                        </a:rPr>
                        <a:t>Profit share</a:t>
                      </a:r>
                    </a:p>
                  </a:txBody>
                  <a:tcPr marL="45720" marR="45720" marT="13716" marB="13716" anchor="ctr">
                    <a:solidFill>
                      <a:srgbClr val="135927"/>
                    </a:solidFill>
                  </a:tcPr>
                </a:tc>
              </a:tr>
              <a:tr h="292608">
                <a:tc>
                  <a:txBody>
                    <a:bodyPr/>
                    <a:lstStyle/>
                    <a:p>
                      <a:pPr algn="l"/>
                      <a:r>
                        <a:rPr sz="900" b="1">
                          <a:solidFill>
                            <a:srgbClr val="1F2421"/>
                          </a:solidFill>
                          <a:latin typeface="Arial"/>
                        </a:rPr>
                        <a:t>Cloud &amp; AI</a:t>
                      </a:r>
                    </a:p>
                  </a:txBody>
                  <a:tcPr marL="45720" marR="45720" marT="13716" marB="13716" anchor="ctr">
                    <a:solidFill>
                      <a:srgbClr val="FFFFFF"/>
                    </a:solidFill>
                  </a:tcPr>
                </a:tc>
                <a:tc>
                  <a:txBody>
                    <a:bodyPr/>
                    <a:lstStyle/>
                    <a:p>
                      <a:pPr algn="r"/>
                      <a:r>
                        <a:rPr sz="900" b="0">
                          <a:solidFill>
                            <a:srgbClr val="1F2421"/>
                          </a:solidFill>
                          <a:latin typeface="Arial"/>
                        </a:rPr>
                        <a:t>$29.8bn</a:t>
                      </a:r>
                    </a:p>
                  </a:txBody>
                  <a:tcPr marL="45720" marR="45720" marT="13716" marB="13716" anchor="ctr">
                    <a:solidFill>
                      <a:srgbClr val="FFFFFF"/>
                    </a:solidFill>
                  </a:tcPr>
                </a:tc>
                <a:tc>
                  <a:txBody>
                    <a:bodyPr/>
                    <a:lstStyle/>
                    <a:p>
                      <a:pPr algn="r"/>
                      <a:r>
                        <a:rPr sz="900" b="0">
                          <a:solidFill>
                            <a:srgbClr val="1F2421"/>
                          </a:solidFill>
                          <a:latin typeface="Arial"/>
                        </a:rPr>
                        <a:t>71%</a:t>
                      </a:r>
                    </a:p>
                  </a:txBody>
                  <a:tcPr marL="45720" marR="45720" marT="13716" marB="13716" anchor="ctr">
                    <a:solidFill>
                      <a:srgbClr val="FFFFFF"/>
                    </a:solidFill>
                  </a:tcPr>
                </a:tc>
                <a:tc>
                  <a:txBody>
                    <a:bodyPr/>
                    <a:lstStyle/>
                    <a:p>
                      <a:pPr algn="r"/>
                      <a:r>
                        <a:rPr sz="900" b="0">
                          <a:solidFill>
                            <a:srgbClr val="1F2421"/>
                          </a:solidFill>
                          <a:latin typeface="Arial"/>
                        </a:rPr>
                        <a:t>12.6%</a:t>
                      </a:r>
                    </a:p>
                  </a:txBody>
                  <a:tcPr marL="45720" marR="45720" marT="13716" marB="13716" anchor="ctr">
                    <a:solidFill>
                      <a:srgbClr val="FFFFFF"/>
                    </a:solidFill>
                  </a:tcPr>
                </a:tc>
                <a:tc>
                  <a:txBody>
                    <a:bodyPr/>
                    <a:lstStyle/>
                    <a:p>
                      <a:pPr algn="r"/>
                      <a:r>
                        <a:rPr sz="900" b="0">
                          <a:solidFill>
                            <a:srgbClr val="1F2421"/>
                          </a:solidFill>
                          <a:latin typeface="Arial"/>
                        </a:rPr>
                        <a:t>61%</a:t>
                      </a:r>
                    </a:p>
                  </a:txBody>
                  <a:tcPr marL="45720" marR="45720" marT="13716" marB="13716" anchor="ctr">
                    <a:solidFill>
                      <a:srgbClr val="FFFFFF"/>
                    </a:solidFill>
                  </a:tcPr>
                </a:tc>
              </a:tr>
              <a:tr h="292608">
                <a:tc>
                  <a:txBody>
                    <a:bodyPr/>
                    <a:lstStyle/>
                    <a:p>
                      <a:pPr algn="l"/>
                      <a:r>
                        <a:rPr sz="900" b="1">
                          <a:solidFill>
                            <a:srgbClr val="1F2421"/>
                          </a:solidFill>
                          <a:latin typeface="Arial"/>
                        </a:rPr>
                        <a:t>Networking</a:t>
                      </a:r>
                    </a:p>
                  </a:txBody>
                  <a:tcPr marL="45720" marR="45720" marT="13716" marB="13716" anchor="ctr">
                    <a:solidFill>
                      <a:srgbClr val="ECF2ED"/>
                    </a:solidFill>
                  </a:tcPr>
                </a:tc>
                <a:tc>
                  <a:txBody>
                    <a:bodyPr/>
                    <a:lstStyle/>
                    <a:p>
                      <a:pPr algn="r"/>
                      <a:r>
                        <a:rPr sz="900" b="0">
                          <a:solidFill>
                            <a:srgbClr val="1F2421"/>
                          </a:solidFill>
                          <a:latin typeface="Arial"/>
                        </a:rPr>
                        <a:t>$11.0bn</a:t>
                      </a:r>
                    </a:p>
                  </a:txBody>
                  <a:tcPr marL="45720" marR="45720" marT="13716" marB="13716" anchor="ctr">
                    <a:solidFill>
                      <a:srgbClr val="ECF2ED"/>
                    </a:solidFill>
                  </a:tcPr>
                </a:tc>
                <a:tc>
                  <a:txBody>
                    <a:bodyPr/>
                    <a:lstStyle/>
                    <a:p>
                      <a:pPr algn="r"/>
                      <a:r>
                        <a:rPr sz="900" b="0">
                          <a:solidFill>
                            <a:srgbClr val="1F2421"/>
                          </a:solidFill>
                          <a:latin typeface="Arial"/>
                        </a:rPr>
                        <a:t>26%</a:t>
                      </a:r>
                    </a:p>
                  </a:txBody>
                  <a:tcPr marL="45720" marR="45720" marT="13716" marB="13716" anchor="ctr">
                    <a:solidFill>
                      <a:srgbClr val="ECF2ED"/>
                    </a:solidFill>
                  </a:tcPr>
                </a:tc>
                <a:tc>
                  <a:txBody>
                    <a:bodyPr/>
                    <a:lstStyle/>
                    <a:p>
                      <a:pPr algn="r"/>
                      <a:r>
                        <a:rPr sz="900" b="0">
                          <a:solidFill>
                            <a:srgbClr val="1F2421"/>
                          </a:solidFill>
                          <a:latin typeface="Arial"/>
                        </a:rPr>
                        <a:t>22.7%</a:t>
                      </a:r>
                    </a:p>
                  </a:txBody>
                  <a:tcPr marL="45720" marR="45720" marT="13716" marB="13716" anchor="ctr">
                    <a:solidFill>
                      <a:srgbClr val="ECF2ED"/>
                    </a:solidFill>
                  </a:tcPr>
                </a:tc>
                <a:tc>
                  <a:txBody>
                    <a:bodyPr/>
                    <a:lstStyle/>
                    <a:p>
                      <a:pPr algn="r"/>
                      <a:r>
                        <a:rPr sz="900" b="0">
                          <a:solidFill>
                            <a:srgbClr val="1F2421"/>
                          </a:solidFill>
                          <a:latin typeface="Arial"/>
                        </a:rPr>
                        <a:t>40%</a:t>
                      </a:r>
                    </a:p>
                  </a:txBody>
                  <a:tcPr marL="45720" marR="45720" marT="13716" marB="13716" anchor="ctr">
                    <a:solidFill>
                      <a:srgbClr val="ECF2ED"/>
                    </a:solidFill>
                  </a:tcPr>
                </a:tc>
              </a:tr>
              <a:tr h="292608">
                <a:tc>
                  <a:txBody>
                    <a:bodyPr/>
                    <a:lstStyle/>
                    <a:p>
                      <a:pPr algn="l"/>
                      <a:r>
                        <a:rPr sz="900" b="1">
                          <a:solidFill>
                            <a:srgbClr val="1F2421"/>
                          </a:solidFill>
                          <a:latin typeface="Arial"/>
                        </a:rPr>
                        <a:t>Corp. Inv. &amp; Other</a:t>
                      </a:r>
                    </a:p>
                  </a:txBody>
                  <a:tcPr marL="45720" marR="45720" marT="13716" marB="13716" anchor="ctr">
                    <a:solidFill>
                      <a:srgbClr val="FFFFFF"/>
                    </a:solidFill>
                  </a:tcPr>
                </a:tc>
                <a:tc>
                  <a:txBody>
                    <a:bodyPr/>
                    <a:lstStyle/>
                    <a:p>
                      <a:pPr algn="r"/>
                      <a:r>
                        <a:rPr sz="900" b="0">
                          <a:solidFill>
                            <a:srgbClr val="1F2421"/>
                          </a:solidFill>
                          <a:latin typeface="Arial"/>
                        </a:rPr>
                        <a:t>$1.1bn</a:t>
                      </a:r>
                    </a:p>
                  </a:txBody>
                  <a:tcPr marL="45720" marR="45720" marT="13716" marB="13716" anchor="ctr">
                    <a:solidFill>
                      <a:srgbClr val="FFFFFF"/>
                    </a:solidFill>
                  </a:tcPr>
                </a:tc>
                <a:tc>
                  <a:txBody>
                    <a:bodyPr/>
                    <a:lstStyle/>
                    <a:p>
                      <a:pPr algn="r"/>
                      <a:r>
                        <a:rPr sz="900" b="0">
                          <a:solidFill>
                            <a:srgbClr val="1F2421"/>
                          </a:solidFill>
                          <a:latin typeface="Arial"/>
                        </a:rPr>
                        <a:t>3%</a:t>
                      </a:r>
                    </a:p>
                  </a:txBody>
                  <a:tcPr marL="45720" marR="45720" marT="13716" marB="13716" anchor="ctr">
                    <a:solidFill>
                      <a:srgbClr val="FFFFFF"/>
                    </a:solidFill>
                  </a:tcPr>
                </a:tc>
                <a:tc>
                  <a:txBody>
                    <a:bodyPr/>
                    <a:lstStyle/>
                    <a:p>
                      <a:pPr algn="r"/>
                      <a:r>
                        <a:rPr sz="900" b="0">
                          <a:solidFill>
                            <a:srgbClr val="1F2421"/>
                          </a:solidFill>
                          <a:latin typeface="Arial"/>
                        </a:rPr>
                        <a:t>-7.5%</a:t>
                      </a:r>
                    </a:p>
                  </a:txBody>
                  <a:tcPr marL="45720" marR="45720" marT="13716" marB="13716" anchor="ctr">
                    <a:solidFill>
                      <a:srgbClr val="FFFFFF"/>
                    </a:solidFill>
                  </a:tcPr>
                </a:tc>
                <a:tc>
                  <a:txBody>
                    <a:bodyPr/>
                    <a:lstStyle/>
                    <a:p>
                      <a:pPr algn="r"/>
                      <a:r>
                        <a:rPr sz="900" b="0">
                          <a:solidFill>
                            <a:srgbClr val="1F2421"/>
                          </a:solidFill>
                          <a:latin typeface="Arial"/>
                        </a:rPr>
                        <a:t>-1%</a:t>
                      </a:r>
                    </a:p>
                  </a:txBody>
                  <a:tcPr marL="45720" marR="45720" marT="13716" marB="13716" anchor="ctr">
                    <a:solidFill>
                      <a:srgbClr val="FFFFFF"/>
                    </a:solidFill>
                  </a:tcPr>
                </a:tc>
              </a:tr>
            </a:tbl>
          </a:graphicData>
        </a:graphic>
      </p:graphicFrame>
      <p:sp>
        <p:nvSpPr>
          <p:cNvPr id="31" name="TextBox 156"/>
          <p:cNvSpPr txBox="1"/>
          <p:nvPr/>
        </p:nvSpPr>
        <p:spPr>
          <a:xfrm>
            <a:off x="4251960" y="2788920"/>
            <a:ext cx="4572000" cy="1828800"/>
          </a:xfrm>
          <a:prstGeom prst="rect">
            <a:avLst/>
          </a:prstGeom>
          <a:noFill/>
        </p:spPr>
        <p:txBody>
          <a:bodyPr wrap="square" anchor="t" lIns="36576" rIns="36576" tIns="18288" bIns="18288">
            <a:spAutoFit/>
          </a:bodyPr>
          <a:lstStyle/>
          <a:p>
            <a:pPr algn="l">
              <a:spcAft>
                <a:spcPts val="600"/>
              </a:spcAft>
            </a:pPr>
            <a:r>
              <a:rPr sz="600">
                <a:solidFill>
                  <a:srgbClr val="135927"/>
                </a:solidFill>
                <a:latin typeface="Arial"/>
              </a:rPr>
              <a:t>■  </a:t>
            </a:r>
            <a:r>
              <a:rPr sz="1000" b="0">
                <a:solidFill>
                  <a:srgbClr val="1F2421"/>
                </a:solidFill>
                <a:latin typeface="Arial"/>
              </a:rPr>
              <a:t>Products 64% · services 34% · financing 2% of FY25 revenue</a:t>
            </a:r>
          </a:p>
          <a:p>
            <a:pPr algn="l">
              <a:spcAft>
                <a:spcPts val="600"/>
              </a:spcAft>
            </a:pPr>
            <a:r>
              <a:rPr sz="600">
                <a:solidFill>
                  <a:srgbClr val="135927"/>
                </a:solidFill>
                <a:latin typeface="Arial"/>
              </a:rPr>
              <a:t>■  </a:t>
            </a:r>
            <a:r>
              <a:rPr sz="1000" b="0">
                <a:solidFill>
                  <a:srgbClr val="1F2421"/>
                </a:solidFill>
                <a:latin typeface="Arial"/>
              </a:rPr>
              <a:t>61% of revenue outside the US; no customer disclosed above 10%</a:t>
            </a:r>
          </a:p>
          <a:p>
            <a:pPr algn="l">
              <a:spcAft>
                <a:spcPts val="600"/>
              </a:spcAft>
            </a:pPr>
            <a:r>
              <a:rPr sz="600">
                <a:solidFill>
                  <a:srgbClr val="135927"/>
                </a:solidFill>
                <a:latin typeface="Arial"/>
              </a:rPr>
              <a:t>■  </a:t>
            </a:r>
            <a:r>
              <a:rPr sz="1000" b="0">
                <a:solidFill>
                  <a:srgbClr val="1F2421"/>
                </a:solidFill>
                <a:latin typeface="Arial"/>
              </a:rPr>
              <a:t>ARR $3.15bn at FY25 (+63%); 52,000 GreenLake customers (+18%)</a:t>
            </a:r>
          </a:p>
          <a:p>
            <a:pPr algn="l">
              <a:spcAft>
                <a:spcPts val="600"/>
              </a:spcAft>
            </a:pPr>
            <a:r>
              <a:rPr sz="600">
                <a:solidFill>
                  <a:srgbClr val="135927"/>
                </a:solidFill>
                <a:latin typeface="Arial"/>
              </a:rPr>
              <a:t>■  </a:t>
            </a:r>
            <a:r>
              <a:rPr sz="1000" b="0">
                <a:solidFill>
                  <a:srgbClr val="1F2421"/>
                </a:solidFill>
                <a:latin typeface="Arial"/>
              </a:rPr>
              <a:t>Q3 FY26: revenue $12.2bn (+34%), non-GAAP EPS $1.11, FCF $958m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HPE sits in the layer that is paid at shipment</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1 · BUSINESS MODEL · VALUE CHAIN</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SEC XBRL; company filings; Yahoo Finance; Bona Fide analysis (code/business_model_analysis.py). † Digital Realty. Revenue elasticity: revenue growth per point of hyperscaler capex growth, 2018Q2–2026Q2. Report section 12.</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5</a:t>
            </a:r>
          </a:p>
        </p:txBody>
      </p:sp>
      <p:sp>
        <p:nvSpPr>
          <p:cNvPr id="8"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Pattern: </a:t>
            </a:r>
            <a:r>
              <a:rPr sz="1050" b="0" i="1">
                <a:solidFill>
                  <a:srgbClr val="1F2421"/>
                </a:solidFill>
                <a:latin typeface="Arial"/>
              </a:rPr>
              <a:t>your place in the value chain sets your cycle. Shipment-paid vendors get elastic revenue, thin margins and no contract behind the next order.</a:t>
            </a:r>
          </a:p>
        </p:txBody>
      </p:sp>
      <p:sp>
        <p:nvSpPr>
          <p:cNvPr id="9" name="TextBox 135"/>
          <p:cNvSpPr txBox="1"/>
          <p:nvPr/>
        </p:nvSpPr>
        <p:spPr>
          <a:xfrm>
            <a:off x="320040" y="1463040"/>
            <a:ext cx="457200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STYLISED 100 MW BUILD: CUMULATIVE CASH AND PROFIT ÷ CAPITAL</a:t>
            </a:r>
          </a:p>
        </p:txBody>
      </p:sp>
      <p:pic>
        <p:nvPicPr>
          <p:cNvPr id="10" name="Picture 136" descr="qa_q2_phase_shift_deck.png"/>
          <p:cNvPicPr>
            <a:picLocks noChangeAspect="1"/>
          </p:cNvPicPr>
          <p:nvPr/>
        </p:nvPicPr>
        <p:blipFill>
          <a:blip r:embed="rId3"/>
          <a:stretch>
            <a:fillRect/>
          </a:stretch>
        </p:blipFill>
        <p:spPr>
          <a:xfrm>
            <a:off x="320040" y="1700784"/>
            <a:ext cx="4572000" cy="2663504"/>
          </a:xfrm>
          <a:prstGeom prst="rect">
            <a:avLst/>
          </a:prstGeom>
        </p:spPr>
      </p:pic>
      <p:graphicFrame>
        <p:nvGraphicFramePr>
          <p:cNvPr id="11" name="Table 137"/>
          <p:cNvGraphicFramePr>
            <a:graphicFrameLocks noGrp="1"/>
          </p:cNvGraphicFramePr>
          <p:nvPr/>
        </p:nvGraphicFramePr>
        <p:xfrm>
          <a:off x="5074920" y="1481328"/>
          <a:ext cx="3749040" cy="1728216"/>
        </p:xfrm>
        <a:graphic>
          <a:graphicData uri="http://schemas.openxmlformats.org/drawingml/2006/table">
            <a:tbl>
              <a:tblPr firstRow="1" bandRow="1">
                <a:tableStyleId>{5C22544A-7EE6-4342-B048-85BDC9FD1C3A}</a:tableStyleId>
              </a:tblPr>
              <a:tblGrid>
                <a:gridCol w="1280160"/>
                <a:gridCol w="822960"/>
                <a:gridCol w="822960"/>
                <a:gridCol w="822960"/>
              </a:tblGrid>
              <a:tr h="246888">
                <a:tc>
                  <a:txBody>
                    <a:bodyPr wrap="square"/>
                    <a:lstStyle/>
                    <a:p>
                      <a:r>
                        <a:rPr sz="800" b="1" i="0">
                          <a:solidFill>
                            <a:srgbClr val="FCC80D"/>
                          </a:solidFill>
                          <a:latin typeface="Arial"/>
                        </a:rPr>
                        <a:t/>
                      </a:r>
                    </a:p>
                  </a:txBody>
                  <a:tcPr marL="45720" marR="45720" marT="18288" marB="18288" anchor="ctr">
                    <a:solidFill>
                      <a:srgbClr val="135927"/>
                    </a:solidFill>
                  </a:tcPr>
                </a:tc>
                <a:tc>
                  <a:txBody>
                    <a:bodyPr wrap="square"/>
                    <a:lstStyle/>
                    <a:p>
                      <a:r>
                        <a:rPr sz="800" b="1" i="0">
                          <a:solidFill>
                            <a:srgbClr val="FCC80D"/>
                          </a:solidFill>
                          <a:latin typeface="Arial"/>
                        </a:rPr>
                        <a:t>Landlords†</a:t>
                      </a:r>
                    </a:p>
                  </a:txBody>
                  <a:tcPr marL="45720" marR="45720" marT="18288" marB="18288" anchor="ctr">
                    <a:solidFill>
                      <a:srgbClr val="135927"/>
                    </a:solidFill>
                  </a:tcPr>
                </a:tc>
                <a:tc>
                  <a:txBody>
                    <a:bodyPr wrap="square"/>
                    <a:lstStyle/>
                    <a:p>
                      <a:r>
                        <a:rPr sz="800" b="1" i="0">
                          <a:solidFill>
                            <a:srgbClr val="FCC80D"/>
                          </a:solidFill>
                          <a:latin typeface="Arial"/>
                        </a:rPr>
                        <a:t>Neoclouds</a:t>
                      </a:r>
                    </a:p>
                  </a:txBody>
                  <a:tcPr marL="45720" marR="45720" marT="18288" marB="18288" anchor="ctr">
                    <a:solidFill>
                      <a:srgbClr val="135927"/>
                    </a:solidFill>
                  </a:tcPr>
                </a:tc>
                <a:tc>
                  <a:txBody>
                    <a:bodyPr wrap="square"/>
                    <a:lstStyle/>
                    <a:p>
                      <a:r>
                        <a:rPr sz="800" b="1" i="0">
                          <a:solidFill>
                            <a:srgbClr val="FCC80D"/>
                          </a:solidFill>
                          <a:latin typeface="Arial"/>
                        </a:rPr>
                        <a:t>Servers</a:t>
                      </a:r>
                    </a:p>
                  </a:txBody>
                  <a:tcPr marL="45720" marR="45720" marT="18288" marB="18288" anchor="ctr">
                    <a:solidFill>
                      <a:srgbClr val="135927"/>
                    </a:solidFill>
                  </a:tcPr>
                </a:tc>
              </a:tr>
              <a:tr h="246888">
                <a:tc>
                  <a:txBody>
                    <a:bodyPr wrap="square"/>
                    <a:lstStyle/>
                    <a:p>
                      <a:r>
                        <a:rPr sz="800" b="1" i="0">
                          <a:solidFill>
                            <a:srgbClr val="1F2421"/>
                          </a:solidFill>
                          <a:latin typeface="Arial"/>
                        </a:rPr>
                        <a:t>Capex / revenue</a:t>
                      </a:r>
                    </a:p>
                  </a:txBody>
                  <a:tcPr marL="45720" marR="45720" marT="18288" marB="18288" anchor="ctr">
                    <a:solidFill>
                      <a:srgbClr val="FFFFFF"/>
                    </a:solidFill>
                  </a:tcPr>
                </a:tc>
                <a:tc>
                  <a:txBody>
                    <a:bodyPr wrap="square"/>
                    <a:lstStyle/>
                    <a:p>
                      <a:r>
                        <a:rPr sz="800" b="0" i="0">
                          <a:solidFill>
                            <a:srgbClr val="1F2421"/>
                          </a:solidFill>
                          <a:latin typeface="Arial"/>
                        </a:rPr>
                        <a:t>0.5x</a:t>
                      </a:r>
                    </a:p>
                  </a:txBody>
                  <a:tcPr marL="45720" marR="45720" marT="18288" marB="18288" anchor="ctr">
                    <a:solidFill>
                      <a:srgbClr val="FFFFFF"/>
                    </a:solidFill>
                  </a:tcPr>
                </a:tc>
                <a:tc>
                  <a:txBody>
                    <a:bodyPr wrap="square"/>
                    <a:lstStyle/>
                    <a:p>
                      <a:r>
                        <a:rPr sz="800" b="0" i="0">
                          <a:solidFill>
                            <a:srgbClr val="1F2421"/>
                          </a:solidFill>
                          <a:latin typeface="Arial"/>
                        </a:rPr>
                        <a:t>2.7x–8.2x</a:t>
                      </a:r>
                    </a:p>
                  </a:txBody>
                  <a:tcPr marL="45720" marR="45720" marT="18288" marB="18288" anchor="ctr">
                    <a:solidFill>
                      <a:srgbClr val="FFFFFF"/>
                    </a:solidFill>
                  </a:tcPr>
                </a:tc>
                <a:tc>
                  <a:txBody>
                    <a:bodyPr wrap="square"/>
                    <a:lstStyle/>
                    <a:p>
                      <a:r>
                        <a:rPr sz="800" b="0" i="0">
                          <a:solidFill>
                            <a:srgbClr val="1F2421"/>
                          </a:solidFill>
                          <a:latin typeface="Arial"/>
                        </a:rPr>
                        <a:t>≤0.06x</a:t>
                      </a:r>
                    </a:p>
                  </a:txBody>
                  <a:tcPr marL="45720" marR="45720" marT="18288" marB="18288" anchor="ctr">
                    <a:solidFill>
                      <a:srgbClr val="FFFFFF"/>
                    </a:solidFill>
                  </a:tcPr>
                </a:tc>
              </a:tr>
              <a:tr h="246888">
                <a:tc>
                  <a:txBody>
                    <a:bodyPr wrap="square"/>
                    <a:lstStyle/>
                    <a:p>
                      <a:r>
                        <a:rPr sz="800" b="1" i="0">
                          <a:solidFill>
                            <a:srgbClr val="1F2421"/>
                          </a:solidFill>
                          <a:latin typeface="Arial"/>
                        </a:rPr>
                        <a:t>D&amp;A + interest / rev.</a:t>
                      </a:r>
                    </a:p>
                  </a:txBody>
                  <a:tcPr marL="45720" marR="45720" marT="18288" marB="18288" anchor="ctr">
                    <a:solidFill>
                      <a:srgbClr val="FFFFFF"/>
                    </a:solidFill>
                  </a:tcPr>
                </a:tc>
                <a:tc>
                  <a:txBody>
                    <a:bodyPr wrap="square"/>
                    <a:lstStyle/>
                    <a:p>
                      <a:r>
                        <a:rPr sz="800" b="0" i="0">
                          <a:solidFill>
                            <a:srgbClr val="1F2421"/>
                          </a:solidFill>
                          <a:latin typeface="Arial"/>
                        </a:rPr>
                        <a:t>36%</a:t>
                      </a:r>
                    </a:p>
                  </a:txBody>
                  <a:tcPr marL="45720" marR="45720" marT="18288" marB="18288" anchor="ctr">
                    <a:solidFill>
                      <a:srgbClr val="FFFFFF"/>
                    </a:solidFill>
                  </a:tcPr>
                </a:tc>
                <a:tc>
                  <a:txBody>
                    <a:bodyPr wrap="square"/>
                    <a:lstStyle/>
                    <a:p>
                      <a:r>
                        <a:rPr sz="800" b="0" i="0">
                          <a:solidFill>
                            <a:srgbClr val="1F2421"/>
                          </a:solidFill>
                          <a:latin typeface="Arial"/>
                        </a:rPr>
                        <a:t>67%–74%</a:t>
                      </a:r>
                    </a:p>
                  </a:txBody>
                  <a:tcPr marL="45720" marR="45720" marT="18288" marB="18288" anchor="ctr">
                    <a:solidFill>
                      <a:srgbClr val="FFFFFF"/>
                    </a:solidFill>
                  </a:tcPr>
                </a:tc>
                <a:tc>
                  <a:txBody>
                    <a:bodyPr wrap="square"/>
                    <a:lstStyle/>
                    <a:p>
                      <a:r>
                        <a:rPr sz="800" b="0" i="0">
                          <a:solidFill>
                            <a:srgbClr val="1F2421"/>
                          </a:solidFill>
                          <a:latin typeface="Arial"/>
                        </a:rPr>
                        <a:t>3%–10%</a:t>
                      </a:r>
                    </a:p>
                  </a:txBody>
                  <a:tcPr marL="45720" marR="45720" marT="18288" marB="18288" anchor="ctr">
                    <a:solidFill>
                      <a:srgbClr val="FFFFFF"/>
                    </a:solidFill>
                  </a:tcPr>
                </a:tc>
              </a:tr>
              <a:tr h="246888">
                <a:tc>
                  <a:txBody>
                    <a:bodyPr wrap="square"/>
                    <a:lstStyle/>
                    <a:p>
                      <a:r>
                        <a:rPr sz="800" b="1" i="0">
                          <a:solidFill>
                            <a:srgbClr val="1F2421"/>
                          </a:solidFill>
                          <a:latin typeface="Arial"/>
                        </a:rPr>
                        <a:t>Backlog / revenue</a:t>
                      </a:r>
                    </a:p>
                  </a:txBody>
                  <a:tcPr marL="45720" marR="45720" marT="18288" marB="18288" anchor="ctr">
                    <a:solidFill>
                      <a:srgbClr val="FFFFFF"/>
                    </a:solidFill>
                  </a:tcPr>
                </a:tc>
                <a:tc>
                  <a:txBody>
                    <a:bodyPr wrap="square"/>
                    <a:lstStyle/>
                    <a:p>
                      <a:r>
                        <a:rPr sz="800" b="0" i="0">
                          <a:solidFill>
                            <a:srgbClr val="1F2421"/>
                          </a:solidFill>
                          <a:latin typeface="Arial"/>
                        </a:rPr>
                        <a:t>5.3x est.</a:t>
                      </a:r>
                    </a:p>
                  </a:txBody>
                  <a:tcPr marL="45720" marR="45720" marT="18288" marB="18288" anchor="ctr">
                    <a:solidFill>
                      <a:srgbClr val="FFFFFF"/>
                    </a:solidFill>
                  </a:tcPr>
                </a:tc>
                <a:tc>
                  <a:txBody>
                    <a:bodyPr wrap="square"/>
                    <a:lstStyle/>
                    <a:p>
                      <a:r>
                        <a:rPr sz="800" b="0" i="0">
                          <a:solidFill>
                            <a:srgbClr val="1F2421"/>
                          </a:solidFill>
                          <a:latin typeface="Arial"/>
                        </a:rPr>
                        <a:t>14x–28x</a:t>
                      </a:r>
                    </a:p>
                  </a:txBody>
                  <a:tcPr marL="45720" marR="45720" marT="18288" marB="18288" anchor="ctr">
                    <a:solidFill>
                      <a:srgbClr val="FFFFFF"/>
                    </a:solidFill>
                  </a:tcPr>
                </a:tc>
                <a:tc>
                  <a:txBody>
                    <a:bodyPr wrap="square"/>
                    <a:lstStyle/>
                    <a:p>
                      <a:r>
                        <a:rPr sz="800" b="0" i="0">
                          <a:solidFill>
                            <a:srgbClr val="1F2421"/>
                          </a:solidFill>
                          <a:latin typeface="Arial"/>
                        </a:rPr>
                        <a:t>0.3x–0.9x</a:t>
                      </a:r>
                    </a:p>
                  </a:txBody>
                  <a:tcPr marL="45720" marR="45720" marT="18288" marB="18288" anchor="ctr">
                    <a:solidFill>
                      <a:srgbClr val="FFFFFF"/>
                    </a:solidFill>
                  </a:tcPr>
                </a:tc>
              </a:tr>
              <a:tr h="246888">
                <a:tc>
                  <a:txBody>
                    <a:bodyPr wrap="square"/>
                    <a:lstStyle/>
                    <a:p>
                      <a:r>
                        <a:rPr sz="800" b="1" i="0">
                          <a:solidFill>
                            <a:srgbClr val="1F2421"/>
                          </a:solidFill>
                          <a:latin typeface="Arial"/>
                        </a:rPr>
                        <a:t>Revenue elasticity</a:t>
                      </a:r>
                    </a:p>
                  </a:txBody>
                  <a:tcPr marL="45720" marR="45720" marT="18288" marB="18288" anchor="ctr">
                    <a:solidFill>
                      <a:srgbClr val="FFFFFF"/>
                    </a:solidFill>
                  </a:tcPr>
                </a:tc>
                <a:tc>
                  <a:txBody>
                    <a:bodyPr wrap="square"/>
                    <a:lstStyle/>
                    <a:p>
                      <a:r>
                        <a:rPr sz="800" b="0" i="0">
                          <a:solidFill>
                            <a:srgbClr val="1F2421"/>
                          </a:solidFill>
                          <a:latin typeface="Arial"/>
                        </a:rPr>
                        <a:t>0.06 n.s.</a:t>
                      </a:r>
                    </a:p>
                  </a:txBody>
                  <a:tcPr marL="45720" marR="45720" marT="18288" marB="18288" anchor="ctr">
                    <a:solidFill>
                      <a:srgbClr val="FFFFFF"/>
                    </a:solidFill>
                  </a:tcPr>
                </a:tc>
                <a:tc>
                  <a:txBody>
                    <a:bodyPr wrap="square"/>
                    <a:lstStyle/>
                    <a:p>
                      <a:r>
                        <a:rPr sz="800" b="0" i="0">
                          <a:solidFill>
                            <a:srgbClr val="1F2421"/>
                          </a:solidFill>
                          <a:latin typeface="Arial"/>
                        </a:rPr>
                        <a:t>too new</a:t>
                      </a:r>
                    </a:p>
                  </a:txBody>
                  <a:tcPr marL="45720" marR="45720" marT="18288" marB="18288" anchor="ctr">
                    <a:solidFill>
                      <a:srgbClr val="FFFFFF"/>
                    </a:solidFill>
                  </a:tcPr>
                </a:tc>
                <a:tc>
                  <a:txBody>
                    <a:bodyPr wrap="square"/>
                    <a:lstStyle/>
                    <a:p>
                      <a:r>
                        <a:rPr sz="800" b="0" i="0">
                          <a:solidFill>
                            <a:srgbClr val="1F2421"/>
                          </a:solidFill>
                          <a:latin typeface="Arial"/>
                        </a:rPr>
                        <a:t>0.41–0.84</a:t>
                      </a:r>
                    </a:p>
                  </a:txBody>
                  <a:tcPr marL="45720" marR="45720" marT="18288" marB="18288" anchor="ctr">
                    <a:solidFill>
                      <a:srgbClr val="FFFFFF"/>
                    </a:solidFill>
                  </a:tcPr>
                </a:tc>
              </a:tr>
              <a:tr h="246888">
                <a:tc>
                  <a:txBody>
                    <a:bodyPr wrap="square"/>
                    <a:lstStyle/>
                    <a:p>
                      <a:r>
                        <a:rPr sz="800" b="1" i="0">
                          <a:solidFill>
                            <a:srgbClr val="1F2421"/>
                          </a:solidFill>
                          <a:latin typeface="Arial"/>
                        </a:rPr>
                        <a:t>AI beta (share price)</a:t>
                      </a:r>
                    </a:p>
                  </a:txBody>
                  <a:tcPr marL="45720" marR="45720" marT="18288" marB="18288" anchor="ctr">
                    <a:solidFill>
                      <a:srgbClr val="FFFFFF"/>
                    </a:solidFill>
                  </a:tcPr>
                </a:tc>
                <a:tc>
                  <a:txBody>
                    <a:bodyPr wrap="square"/>
                    <a:lstStyle/>
                    <a:p>
                      <a:r>
                        <a:rPr sz="800" b="0" i="0">
                          <a:solidFill>
                            <a:srgbClr val="1F2421"/>
                          </a:solidFill>
                          <a:latin typeface="Arial"/>
                        </a:rPr>
                        <a:t>0.03</a:t>
                      </a:r>
                    </a:p>
                  </a:txBody>
                  <a:tcPr marL="45720" marR="45720" marT="18288" marB="18288" anchor="ctr">
                    <a:solidFill>
                      <a:srgbClr val="FFFFFF"/>
                    </a:solidFill>
                  </a:tcPr>
                </a:tc>
                <a:tc>
                  <a:txBody>
                    <a:bodyPr wrap="square"/>
                    <a:lstStyle/>
                    <a:p>
                      <a:r>
                        <a:rPr sz="800" b="0" i="0">
                          <a:solidFill>
                            <a:srgbClr val="1F2421"/>
                          </a:solidFill>
                          <a:latin typeface="Arial"/>
                        </a:rPr>
                        <a:t>0.40–0.85</a:t>
                      </a:r>
                    </a:p>
                  </a:txBody>
                  <a:tcPr marL="45720" marR="45720" marT="18288" marB="18288" anchor="ctr">
                    <a:solidFill>
                      <a:srgbClr val="FFFFFF"/>
                    </a:solidFill>
                  </a:tcPr>
                </a:tc>
                <a:tc>
                  <a:txBody>
                    <a:bodyPr wrap="square"/>
                    <a:lstStyle/>
                    <a:p>
                      <a:r>
                        <a:rPr sz="800" b="0" i="0">
                          <a:solidFill>
                            <a:srgbClr val="1F2421"/>
                          </a:solidFill>
                          <a:latin typeface="Arial"/>
                        </a:rPr>
                        <a:t>0.02–0.18</a:t>
                      </a:r>
                    </a:p>
                  </a:txBody>
                  <a:tcPr marL="45720" marR="45720" marT="18288" marB="18288" anchor="ctr">
                    <a:solidFill>
                      <a:srgbClr val="FFFFFF"/>
                    </a:solidFill>
                  </a:tcPr>
                </a:tc>
              </a:tr>
              <a:tr h="246888">
                <a:tc>
                  <a:txBody>
                    <a:bodyPr wrap="square"/>
                    <a:lstStyle/>
                    <a:p>
                      <a:r>
                        <a:rPr sz="800" b="1" i="0">
                          <a:solidFill>
                            <a:srgbClr val="1F2421"/>
                          </a:solidFill>
                          <a:latin typeface="Arial"/>
                        </a:rPr>
                        <a:t>Cash payback (model)</a:t>
                      </a:r>
                    </a:p>
                  </a:txBody>
                  <a:tcPr marL="45720" marR="45720" marT="18288" marB="18288" anchor="ctr">
                    <a:solidFill>
                      <a:srgbClr val="FFFFFF"/>
                    </a:solidFill>
                  </a:tcPr>
                </a:tc>
                <a:tc>
                  <a:txBody>
                    <a:bodyPr wrap="square"/>
                    <a:lstStyle/>
                    <a:p>
                      <a:r>
                        <a:rPr sz="800" b="0" i="0">
                          <a:solidFill>
                            <a:srgbClr val="1F2421"/>
                          </a:solidFill>
                          <a:latin typeface="Arial"/>
                        </a:rPr>
                        <a:t>~11.5 yrs</a:t>
                      </a:r>
                    </a:p>
                  </a:txBody>
                  <a:tcPr marL="45720" marR="45720" marT="18288" marB="18288" anchor="ctr">
                    <a:solidFill>
                      <a:srgbClr val="FFFFFF"/>
                    </a:solidFill>
                  </a:tcPr>
                </a:tc>
                <a:tc>
                  <a:txBody>
                    <a:bodyPr wrap="square"/>
                    <a:lstStyle/>
                    <a:p>
                      <a:r>
                        <a:rPr sz="800" b="0" i="0">
                          <a:solidFill>
                            <a:srgbClr val="1F2421"/>
                          </a:solidFill>
                          <a:latin typeface="Arial"/>
                        </a:rPr>
                        <a:t>~3.2 yrs</a:t>
                      </a:r>
                    </a:p>
                  </a:txBody>
                  <a:tcPr marL="45720" marR="45720" marT="18288" marB="18288" anchor="ctr">
                    <a:solidFill>
                      <a:srgbClr val="FFFFFF"/>
                    </a:solidFill>
                  </a:tcPr>
                </a:tc>
                <a:tc>
                  <a:txBody>
                    <a:bodyPr wrap="square"/>
                    <a:lstStyle/>
                    <a:p>
                      <a:r>
                        <a:rPr sz="800" b="0" i="0">
                          <a:solidFill>
                            <a:srgbClr val="1F2421"/>
                          </a:solidFill>
                          <a:latin typeface="Arial"/>
                        </a:rPr>
                        <a:t>2 qtrs</a:t>
                      </a:r>
                    </a:p>
                  </a:txBody>
                  <a:tcPr marL="45720" marR="45720" marT="18288" marB="18288" anchor="ctr">
                    <a:solidFill>
                      <a:srgbClr val="FFFFFF"/>
                    </a:solidFill>
                  </a:tcPr>
                </a:tc>
              </a:tr>
            </a:tbl>
          </a:graphicData>
        </a:graphic>
      </p:graphicFrame>
      <p:sp>
        <p:nvSpPr>
          <p:cNvPr id="12" name="TextBox 135"/>
          <p:cNvSpPr txBox="1"/>
          <p:nvPr/>
        </p:nvSpPr>
        <p:spPr>
          <a:xfrm>
            <a:off x="5074920" y="3465576"/>
            <a:ext cx="3749039"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SO WHAT FOR HPE</a:t>
            </a:r>
          </a:p>
        </p:txBody>
      </p:sp>
      <p:sp>
        <p:nvSpPr>
          <p:cNvPr id="13" name="TextBox 136"/>
          <p:cNvSpPr txBox="1"/>
          <p:nvPr/>
        </p:nvSpPr>
        <p:spPr>
          <a:xfrm>
            <a:off x="5074920" y="3694176"/>
            <a:ext cx="3749039" cy="1014984"/>
          </a:xfrm>
          <a:prstGeom prst="rect">
            <a:avLst/>
          </a:prstGeom>
          <a:noFill/>
        </p:spPr>
        <p:txBody>
          <a:bodyPr wrap="square" anchor="t" lIns="36576" rIns="36576" tIns="18288" bIns="18288">
            <a:spAutoFit/>
          </a:bodyPr>
          <a:lstStyle/>
          <a:p>
            <a:pPr algn="l">
              <a:spcAft>
                <a:spcPts val="200"/>
              </a:spcAft>
            </a:pPr>
            <a:r>
              <a:rPr sz="600">
                <a:solidFill>
                  <a:srgbClr val="135927"/>
                </a:solidFill>
                <a:latin typeface="Arial"/>
              </a:rPr>
              <a:t>■  </a:t>
            </a:r>
            <a:r>
              <a:rPr sz="850" b="1">
                <a:solidFill>
                  <a:srgbClr val="1F2421"/>
                </a:solidFill>
                <a:latin typeface="Arial"/>
              </a:rPr>
              <a:t>Value on through-cycle margins, </a:t>
            </a:r>
            <a:r>
              <a:rPr sz="850" b="0">
                <a:solidFill>
                  <a:srgbClr val="1F2421"/>
                </a:solidFill>
                <a:latin typeface="Arial"/>
              </a:rPr>
              <a:t>not the FY26 peak.</a:t>
            </a:r>
          </a:p>
          <a:p>
            <a:pPr algn="l">
              <a:spcAft>
                <a:spcPts val="200"/>
              </a:spcAft>
            </a:pPr>
            <a:r>
              <a:rPr sz="600">
                <a:solidFill>
                  <a:srgbClr val="135927"/>
                </a:solidFill>
                <a:latin typeface="Arial"/>
              </a:rPr>
              <a:t>■  </a:t>
            </a:r>
            <a:r>
              <a:rPr sz="850" b="1">
                <a:solidFill>
                  <a:srgbClr val="1F2421"/>
                </a:solidFill>
                <a:latin typeface="Arial"/>
              </a:rPr>
              <a:t>Less levered than Dell: </a:t>
            </a:r>
            <a:r>
              <a:rPr sz="850" b="0">
                <a:solidFill>
                  <a:srgbClr val="1F2421"/>
                </a:solidFill>
                <a:latin typeface="Arial"/>
              </a:rPr>
              <a:t>elasticity 0.41 vs 0.84; controlling for Juniper the capex link is weaker still (0.19, n.s.).</a:t>
            </a:r>
          </a:p>
          <a:p>
            <a:pPr algn="l">
              <a:spcAft>
                <a:spcPts val="200"/>
              </a:spcAft>
            </a:pPr>
            <a:r>
              <a:rPr sz="600">
                <a:solidFill>
                  <a:srgbClr val="135927"/>
                </a:solidFill>
                <a:latin typeface="Arial"/>
              </a:rPr>
              <a:t>■  </a:t>
            </a:r>
            <a:r>
              <a:rPr sz="850" b="1">
                <a:solidFill>
                  <a:srgbClr val="1F2421"/>
                </a:solidFill>
                <a:latin typeface="Arial"/>
              </a:rPr>
              <a:t>Second-order risk: </a:t>
            </a:r>
            <a:r>
              <a:rPr sz="850" b="0">
                <a:solidFill>
                  <a:srgbClr val="1F2421"/>
                </a:solidFill>
                <a:latin typeface="Arial"/>
              </a:rPr>
              <a:t>neoclouds burn cash; vendors that finance them share the credit risk.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Servers bring the revenue; networking brings the returns</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1 · BUSINESS MODEL · MOAT</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HPE earnings releases Q1–Q3 FY26; Bona Fide analysis. Routing/DCN growth largely reflects Juniper consolidation.</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6</a:t>
            </a:r>
          </a:p>
        </p:txBody>
      </p:sp>
      <p:pic>
        <p:nvPicPr>
          <p:cNvPr id="8" name="Picture 133" descr="seg_lines_ttm_deck.png"/>
          <p:cNvPicPr>
            <a:picLocks noChangeAspect="1"/>
          </p:cNvPicPr>
          <p:nvPr/>
        </p:nvPicPr>
        <p:blipFill>
          <a:blip r:embed="rId3"/>
          <a:stretch>
            <a:fillRect/>
          </a:stretch>
        </p:blipFill>
        <p:spPr>
          <a:xfrm>
            <a:off x="274320" y="1463040"/>
            <a:ext cx="5394960" cy="1999508"/>
          </a:xfrm>
          <a:prstGeom prst="rect">
            <a:avLst/>
          </a:prstGeom>
        </p:spPr>
      </p:pic>
      <p:sp>
        <p:nvSpPr>
          <p:cNvPr id="9" name="TextBox 134"/>
          <p:cNvSpPr txBox="1"/>
          <p:nvPr/>
        </p:nvSpPr>
        <p:spPr>
          <a:xfrm>
            <a:off x="5806440" y="1481328"/>
            <a:ext cx="3017520" cy="3200400"/>
          </a:xfrm>
          <a:prstGeom prst="rect">
            <a:avLst/>
          </a:prstGeom>
          <a:noFill/>
        </p:spPr>
        <p:txBody>
          <a:bodyPr wrap="square" anchor="t" lIns="36576" rIns="36576" tIns="18288" bIns="18288">
            <a:spAutoFit/>
          </a:bodyPr>
          <a:lstStyle/>
          <a:p>
            <a:pPr algn="l">
              <a:spcAft>
                <a:spcPts val="500"/>
              </a:spcAft>
            </a:pPr>
            <a:r>
              <a:rPr sz="600">
                <a:solidFill>
                  <a:srgbClr val="135927"/>
                </a:solidFill>
                <a:latin typeface="Arial"/>
              </a:rPr>
              <a:t>■  </a:t>
            </a:r>
            <a:r>
              <a:rPr sz="950" b="1">
                <a:solidFill>
                  <a:srgbClr val="1F2421"/>
                </a:solidFill>
                <a:latin typeface="Arial"/>
              </a:rPr>
              <a:t>Transactional core: </a:t>
            </a:r>
            <a:r>
              <a:rPr sz="950" b="0">
                <a:solidFill>
                  <a:srgbClr val="1F2421"/>
                </a:solidFill>
                <a:latin typeface="Arial"/>
              </a:rPr>
              <a:t>servers and AI systems bought competitively; lowest switching costs.</a:t>
            </a:r>
          </a:p>
          <a:p>
            <a:pPr algn="l">
              <a:spcAft>
                <a:spcPts val="500"/>
              </a:spcAft>
            </a:pPr>
            <a:r>
              <a:rPr sz="600">
                <a:solidFill>
                  <a:srgbClr val="135927"/>
                </a:solidFill>
                <a:latin typeface="Arial"/>
              </a:rPr>
              <a:t>■  </a:t>
            </a:r>
            <a:r>
              <a:rPr sz="950" b="1">
                <a:solidFill>
                  <a:srgbClr val="1F2421"/>
                </a:solidFill>
                <a:latin typeface="Arial"/>
              </a:rPr>
              <a:t>Sticky networking: </a:t>
            </a:r>
            <a:r>
              <a:rPr sz="950" b="0">
                <a:solidFill>
                  <a:srgbClr val="1F2421"/>
                </a:solidFill>
                <a:latin typeface="Arial"/>
              </a:rPr>
              <a:t>Aruba Central and Juniper Mist management, security policy, own Express 5 routing silicon.</a:t>
            </a:r>
          </a:p>
          <a:p>
            <a:pPr algn="l">
              <a:spcAft>
                <a:spcPts val="500"/>
              </a:spcAft>
            </a:pPr>
            <a:r>
              <a:rPr sz="600">
                <a:solidFill>
                  <a:srgbClr val="135927"/>
                </a:solidFill>
                <a:latin typeface="Arial"/>
              </a:rPr>
              <a:t>■  </a:t>
            </a:r>
            <a:r>
              <a:rPr sz="950" b="1">
                <a:solidFill>
                  <a:srgbClr val="1F2421"/>
                </a:solidFill>
                <a:latin typeface="Arial"/>
              </a:rPr>
              <a:t>Recurring layer: </a:t>
            </a:r>
            <a:r>
              <a:rPr sz="950" b="0">
                <a:solidFill>
                  <a:srgbClr val="1F2421"/>
                </a:solidFill>
                <a:latin typeface="Arial"/>
              </a:rPr>
              <a:t>services, Financial Services leases and GreenLake contracts; ARR $3.15bn.</a:t>
            </a:r>
          </a:p>
          <a:p>
            <a:pPr algn="l">
              <a:spcAft>
                <a:spcPts val="500"/>
              </a:spcAft>
            </a:pPr>
            <a:r>
              <a:rPr sz="600">
                <a:solidFill>
                  <a:srgbClr val="135927"/>
                </a:solidFill>
                <a:latin typeface="Arial"/>
              </a:rPr>
              <a:t>■  </a:t>
            </a:r>
            <a:r>
              <a:rPr sz="950" b="1">
                <a:solidFill>
                  <a:srgbClr val="1F2421"/>
                </a:solidFill>
                <a:latin typeface="Arial"/>
              </a:rPr>
              <a:t>Returns test: </a:t>
            </a:r>
            <a:r>
              <a:rPr sz="950" b="0">
                <a:solidFill>
                  <a:srgbClr val="1F2421"/>
                </a:solidFill>
                <a:latin typeface="Arial"/>
              </a:rPr>
              <a:t>adjusted ROIC averaged 8.1% over FY20–25, below WACC; 11.2% TTM.</a:t>
            </a:r>
          </a:p>
          <a:p>
            <a:pPr algn="l">
              <a:spcAft>
                <a:spcPts val="500"/>
              </a:spcAft>
            </a:pPr>
            <a:r>
              <a:rPr sz="600">
                <a:solidFill>
                  <a:srgbClr val="135927"/>
                </a:solidFill>
                <a:latin typeface="Arial"/>
              </a:rPr>
              <a:t>■  </a:t>
            </a:r>
            <a:r>
              <a:rPr sz="950" b="1">
                <a:solidFill>
                  <a:srgbClr val="1F2421"/>
                </a:solidFill>
                <a:latin typeface="Arial"/>
              </a:rPr>
              <a:t>Read: </a:t>
            </a:r>
            <a:r>
              <a:rPr sz="950" b="0">
                <a:solidFill>
                  <a:srgbClr val="1F2421"/>
                </a:solidFill>
                <a:latin typeface="Arial"/>
              </a:rPr>
              <a:t>Juniper moves HPE toward pricing power; credit it when returns show it.</a:t>
            </a:r>
          </a:p>
        </p:txBody>
      </p:sp>
      <p:sp>
        <p:nvSpPr>
          <p:cNvPr id="10"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Investor logic: </a:t>
            </a:r>
            <a:r>
              <a:rPr sz="1050" b="0" i="1">
                <a:solidFill>
                  <a:srgbClr val="1F2421"/>
                </a:solidFill>
                <a:latin typeface="Arial"/>
              </a:rPr>
              <a:t>only networking and storage carry switching costs; servers are a scale game, so returns, not revenue, reveal the moat.</a:t>
            </a:r>
          </a:p>
        </p:txBody>
      </p:sp>
      <p:graphicFrame>
        <p:nvGraphicFramePr>
          <p:cNvPr id="11" name="Table 134"/>
          <p:cNvGraphicFramePr>
            <a:graphicFrameLocks noGrp="1"/>
          </p:cNvGraphicFramePr>
          <p:nvPr/>
        </p:nvGraphicFramePr>
        <p:xfrm>
          <a:off x="274320" y="3566160"/>
          <a:ext cx="5394960" cy="1645920"/>
        </p:xfrm>
        <a:graphic>
          <a:graphicData uri="http://schemas.openxmlformats.org/drawingml/2006/table">
            <a:tbl>
              <a:tblPr firstRow="1">
                <a:tableStyleId>{5C22544A-7EE6-4342-B048-85BDC9FD1C3A}</a:tableStyleId>
              </a:tblPr>
              <a:tblGrid>
                <a:gridCol w="2329641"/>
                <a:gridCol w="1348740"/>
                <a:gridCol w="1716578"/>
              </a:tblGrid>
              <a:tr h="214884">
                <a:tc>
                  <a:txBody>
                    <a:bodyPr/>
                    <a:lstStyle/>
                    <a:p>
                      <a:pPr algn="l"/>
                      <a:r>
                        <a:rPr sz="900" b="1">
                          <a:solidFill>
                            <a:srgbClr val="FCC80D"/>
                          </a:solidFill>
                          <a:latin typeface="Arial"/>
                        </a:rPr>
                        <a:t>Business</a:t>
                      </a:r>
                    </a:p>
                  </a:txBody>
                  <a:tcPr marL="45720" marR="45720" marT="13716" marB="13716" anchor="ctr">
                    <a:solidFill>
                      <a:srgbClr val="135927"/>
                    </a:solidFill>
                  </a:tcPr>
                </a:tc>
                <a:tc>
                  <a:txBody>
                    <a:bodyPr/>
                    <a:lstStyle/>
                    <a:p>
                      <a:pPr algn="l"/>
                      <a:r>
                        <a:rPr sz="900" b="1">
                          <a:solidFill>
                            <a:srgbClr val="FCC80D"/>
                          </a:solidFill>
                          <a:latin typeface="Arial"/>
                        </a:rPr>
                        <a:t>Moat</a:t>
                      </a:r>
                    </a:p>
                  </a:txBody>
                  <a:tcPr marL="45720" marR="45720" marT="13716" marB="13716" anchor="ctr">
                    <a:solidFill>
                      <a:srgbClr val="135927"/>
                    </a:solidFill>
                  </a:tcPr>
                </a:tc>
                <a:tc>
                  <a:txBody>
                    <a:bodyPr/>
                    <a:lstStyle/>
                    <a:p>
                      <a:pPr algn="l"/>
                      <a:r>
                        <a:rPr sz="900" b="1">
                          <a:solidFill>
                            <a:srgbClr val="FCC80D"/>
                          </a:solidFill>
                          <a:latin typeface="Arial"/>
                        </a:rPr>
                        <a:t>Durability</a:t>
                      </a:r>
                    </a:p>
                  </a:txBody>
                  <a:tcPr marL="45720" marR="45720" marT="13716" marB="13716" anchor="ctr">
                    <a:solidFill>
                      <a:srgbClr val="135927"/>
                    </a:solidFill>
                  </a:tcPr>
                </a:tc>
              </a:tr>
              <a:tr h="214884">
                <a:tc>
                  <a:txBody>
                    <a:bodyPr/>
                    <a:lstStyle/>
                    <a:p>
                      <a:pPr algn="l"/>
                      <a:r>
                        <a:rPr sz="900" b="1">
                          <a:solidFill>
                            <a:srgbClr val="1F2421"/>
                          </a:solidFill>
                          <a:latin typeface="Arial"/>
                        </a:rPr>
                        <a:t>Networking</a:t>
                      </a:r>
                    </a:p>
                  </a:txBody>
                  <a:tcPr marL="45720" marR="45720" marT="13716" marB="13716" anchor="ctr">
                    <a:solidFill>
                      <a:srgbClr val="FFFFFF"/>
                    </a:solidFill>
                  </a:tcPr>
                </a:tc>
                <a:tc>
                  <a:txBody>
                    <a:bodyPr/>
                    <a:lstStyle/>
                    <a:p>
                      <a:pPr algn="l"/>
                      <a:r>
                        <a:rPr sz="900" b="0">
                          <a:solidFill>
                            <a:srgbClr val="1F2421"/>
                          </a:solidFill>
                          <a:latin typeface="Arial"/>
                        </a:rPr>
                        <a:t>Narrow</a:t>
                      </a:r>
                    </a:p>
                  </a:txBody>
                  <a:tcPr marL="45720" marR="45720" marT="13716" marB="13716" anchor="ctr">
                    <a:solidFill>
                      <a:srgbClr val="FFFFFF"/>
                    </a:solidFill>
                  </a:tcPr>
                </a:tc>
                <a:tc>
                  <a:txBody>
                    <a:bodyPr/>
                    <a:lstStyle/>
                    <a:p>
                      <a:pPr algn="l"/>
                      <a:r>
                        <a:rPr sz="900" b="0">
                          <a:solidFill>
                            <a:srgbClr val="1F2421"/>
                          </a:solidFill>
                          <a:latin typeface="Arial"/>
                        </a:rPr>
                        <a:t>Moderate</a:t>
                      </a:r>
                    </a:p>
                  </a:txBody>
                  <a:tcPr marL="45720" marR="45720" marT="13716" marB="13716" anchor="ctr">
                    <a:solidFill>
                      <a:srgbClr val="FFFFFF"/>
                    </a:solidFill>
                  </a:tcPr>
                </a:tc>
              </a:tr>
              <a:tr h="214884">
                <a:tc>
                  <a:txBody>
                    <a:bodyPr/>
                    <a:lstStyle/>
                    <a:p>
                      <a:pPr algn="l"/>
                      <a:r>
                        <a:rPr sz="900" b="1">
                          <a:solidFill>
                            <a:srgbClr val="1F2421"/>
                          </a:solidFill>
                          <a:latin typeface="Arial"/>
                        </a:rPr>
                        <a:t>Storage / GreenLake</a:t>
                      </a:r>
                    </a:p>
                  </a:txBody>
                  <a:tcPr marL="45720" marR="45720" marT="13716" marB="13716" anchor="ctr">
                    <a:solidFill>
                      <a:srgbClr val="ECF2ED"/>
                    </a:solidFill>
                  </a:tcPr>
                </a:tc>
                <a:tc>
                  <a:txBody>
                    <a:bodyPr/>
                    <a:lstStyle/>
                    <a:p>
                      <a:pPr algn="l"/>
                      <a:r>
                        <a:rPr sz="900" b="0">
                          <a:solidFill>
                            <a:srgbClr val="1F2421"/>
                          </a:solidFill>
                          <a:latin typeface="Arial"/>
                        </a:rPr>
                        <a:t>Narrow</a:t>
                      </a:r>
                    </a:p>
                  </a:txBody>
                  <a:tcPr marL="45720" marR="45720" marT="13716" marB="13716" anchor="ctr">
                    <a:solidFill>
                      <a:srgbClr val="ECF2ED"/>
                    </a:solidFill>
                  </a:tcPr>
                </a:tc>
                <a:tc>
                  <a:txBody>
                    <a:bodyPr/>
                    <a:lstStyle/>
                    <a:p>
                      <a:pPr algn="l"/>
                      <a:r>
                        <a:rPr sz="900" b="0">
                          <a:solidFill>
                            <a:srgbClr val="1F2421"/>
                          </a:solidFill>
                          <a:latin typeface="Arial"/>
                        </a:rPr>
                        <a:t>Moderate</a:t>
                      </a:r>
                    </a:p>
                  </a:txBody>
                  <a:tcPr marL="45720" marR="45720" marT="13716" marB="13716" anchor="ctr">
                    <a:solidFill>
                      <a:srgbClr val="ECF2ED"/>
                    </a:solidFill>
                  </a:tcPr>
                </a:tc>
              </a:tr>
              <a:tr h="214884">
                <a:tc>
                  <a:txBody>
                    <a:bodyPr/>
                    <a:lstStyle/>
                    <a:p>
                      <a:pPr algn="l"/>
                      <a:r>
                        <a:rPr sz="900" b="1">
                          <a:solidFill>
                            <a:srgbClr val="1F2421"/>
                          </a:solidFill>
                          <a:latin typeface="Arial"/>
                        </a:rPr>
                        <a:t>Servers &amp; AI systems</a:t>
                      </a:r>
                    </a:p>
                  </a:txBody>
                  <a:tcPr marL="45720" marR="45720" marT="13716" marB="13716" anchor="ctr">
                    <a:solidFill>
                      <a:srgbClr val="FFFFFF"/>
                    </a:solidFill>
                  </a:tcPr>
                </a:tc>
                <a:tc>
                  <a:txBody>
                    <a:bodyPr/>
                    <a:lstStyle/>
                    <a:p>
                      <a:pPr algn="l"/>
                      <a:r>
                        <a:rPr sz="900" b="0">
                          <a:solidFill>
                            <a:srgbClr val="1F2421"/>
                          </a:solidFill>
                          <a:latin typeface="Arial"/>
                        </a:rPr>
                        <a:t>None</a:t>
                      </a:r>
                    </a:p>
                  </a:txBody>
                  <a:tcPr marL="45720" marR="45720" marT="13716" marB="13716" anchor="ctr">
                    <a:solidFill>
                      <a:srgbClr val="FFFFFF"/>
                    </a:solidFill>
                  </a:tcPr>
                </a:tc>
                <a:tc>
                  <a:txBody>
                    <a:bodyPr/>
                    <a:lstStyle/>
                    <a:p>
                      <a:pPr algn="l"/>
                      <a:r>
                        <a:rPr sz="900" b="0">
                          <a:solidFill>
                            <a:srgbClr val="1F2421"/>
                          </a:solidFill>
                          <a:latin typeface="Arial"/>
                        </a:rPr>
                        <a:t>Low</a:t>
                      </a:r>
                    </a:p>
                  </a:txBody>
                  <a:tcPr marL="45720" marR="45720" marT="13716" marB="13716" anchor="ctr">
                    <a:solidFill>
                      <a:srgbClr val="FFFFFF"/>
                    </a:solidFill>
                  </a:tcPr>
                </a:tc>
              </a:tr>
              <a:tr h="214884">
                <a:tc>
                  <a:txBody>
                    <a:bodyPr/>
                    <a:lstStyle/>
                    <a:p>
                      <a:pPr algn="l"/>
                      <a:r>
                        <a:rPr sz="900" b="1">
                          <a:solidFill>
                            <a:srgbClr val="1F2421"/>
                          </a:solidFill>
                          <a:latin typeface="Arial"/>
                        </a:rPr>
                        <a:t>Financial Services</a:t>
                      </a:r>
                    </a:p>
                  </a:txBody>
                  <a:tcPr marL="45720" marR="45720" marT="13716" marB="13716" anchor="ctr">
                    <a:solidFill>
                      <a:srgbClr val="ECF2ED"/>
                    </a:solidFill>
                  </a:tcPr>
                </a:tc>
                <a:tc>
                  <a:txBody>
                    <a:bodyPr/>
                    <a:lstStyle/>
                    <a:p>
                      <a:pPr algn="l"/>
                      <a:r>
                        <a:rPr sz="900" b="0">
                          <a:solidFill>
                            <a:srgbClr val="1F2421"/>
                          </a:solidFill>
                          <a:latin typeface="Arial"/>
                        </a:rPr>
                        <a:t>None</a:t>
                      </a:r>
                    </a:p>
                  </a:txBody>
                  <a:tcPr marL="45720" marR="45720" marT="13716" marB="13716" anchor="ctr">
                    <a:solidFill>
                      <a:srgbClr val="ECF2ED"/>
                    </a:solidFill>
                  </a:tcPr>
                </a:tc>
                <a:tc>
                  <a:txBody>
                    <a:bodyPr/>
                    <a:lstStyle/>
                    <a:p>
                      <a:pPr algn="l"/>
                      <a:r>
                        <a:rPr sz="900" b="0">
                          <a:solidFill>
                            <a:srgbClr val="1F2421"/>
                          </a:solidFill>
                          <a:latin typeface="Arial"/>
                        </a:rPr>
                        <a:t>Cyclical</a:t>
                      </a:r>
                    </a:p>
                  </a:txBody>
                  <a:tcPr marL="45720" marR="45720" marT="13716" marB="13716" anchor="ctr">
                    <a:solidFill>
                      <a:srgbClr val="ECF2ED"/>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AI spending is exploding, but HPE's server share is shrinking</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1 · BUSINESS MODEL · INDUSTRY</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IDC (Jul/Sep-2026), Gartner (Jul-2026, via press coverage), Dell'Oro (2026), SEC capex filings; Bona Fide analysis.</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7</a:t>
            </a:r>
          </a:p>
        </p:txBody>
      </p:sp>
      <p:graphicFrame>
        <p:nvGraphicFramePr>
          <p:cNvPr id="8" name="Table 133"/>
          <p:cNvGraphicFramePr>
            <a:graphicFrameLocks noGrp="1"/>
          </p:cNvGraphicFramePr>
          <p:nvPr/>
        </p:nvGraphicFramePr>
        <p:xfrm>
          <a:off x="320040" y="1463040"/>
          <a:ext cx="4251959" cy="1554480"/>
        </p:xfrm>
        <a:graphic>
          <a:graphicData uri="http://schemas.openxmlformats.org/drawingml/2006/table">
            <a:tbl>
              <a:tblPr firstRow="1">
                <a:tableStyleId>{5C22544A-7EE6-4342-B048-85BDC9FD1C3A}</a:tableStyleId>
              </a:tblPr>
              <a:tblGrid>
                <a:gridCol w="1874519"/>
                <a:gridCol w="1234440"/>
                <a:gridCol w="1143000"/>
              </a:tblGrid>
              <a:tr h="310896">
                <a:tc>
                  <a:txBody>
                    <a:bodyPr/>
                    <a:lstStyle/>
                    <a:p>
                      <a:pPr algn="l"/>
                      <a:r>
                        <a:rPr sz="850" b="1">
                          <a:solidFill>
                            <a:srgbClr val="FCC80D"/>
                          </a:solidFill>
                          <a:latin typeface="Arial"/>
                        </a:rPr>
                        <a:t>Market</a:t>
                      </a:r>
                    </a:p>
                  </a:txBody>
                  <a:tcPr marL="45720" marR="45720" marT="13716" marB="13716" anchor="ctr">
                    <a:solidFill>
                      <a:srgbClr val="135927"/>
                    </a:solidFill>
                  </a:tcPr>
                </a:tc>
                <a:tc>
                  <a:txBody>
                    <a:bodyPr/>
                    <a:lstStyle/>
                    <a:p>
                      <a:pPr algn="l"/>
                      <a:r>
                        <a:rPr sz="850" b="1">
                          <a:solidFill>
                            <a:srgbClr val="FCC80D"/>
                          </a:solidFill>
                          <a:latin typeface="Arial"/>
                        </a:rPr>
                        <a:t>Size</a:t>
                      </a:r>
                    </a:p>
                  </a:txBody>
                  <a:tcPr marL="45720" marR="45720" marT="13716" marB="13716" anchor="ctr">
                    <a:solidFill>
                      <a:srgbClr val="135927"/>
                    </a:solidFill>
                  </a:tcPr>
                </a:tc>
                <a:tc>
                  <a:txBody>
                    <a:bodyPr/>
                    <a:lstStyle/>
                    <a:p>
                      <a:pPr algn="l"/>
                      <a:r>
                        <a:rPr sz="850" b="1">
                          <a:solidFill>
                            <a:srgbClr val="FCC80D"/>
                          </a:solidFill>
                          <a:latin typeface="Arial"/>
                        </a:rPr>
                        <a:t>Growth</a:t>
                      </a:r>
                    </a:p>
                  </a:txBody>
                  <a:tcPr marL="45720" marR="45720" marT="13716" marB="13716" anchor="ctr">
                    <a:solidFill>
                      <a:srgbClr val="135927"/>
                    </a:solidFill>
                  </a:tcPr>
                </a:tc>
              </a:tr>
              <a:tr h="310896">
                <a:tc>
                  <a:txBody>
                    <a:bodyPr/>
                    <a:lstStyle/>
                    <a:p>
                      <a:pPr algn="l"/>
                      <a:r>
                        <a:rPr sz="850" b="1">
                          <a:solidFill>
                            <a:srgbClr val="1F2421"/>
                          </a:solidFill>
                          <a:latin typeface="Arial"/>
                        </a:rPr>
                        <a:t>AI infrastructure (IDC)</a:t>
                      </a:r>
                    </a:p>
                  </a:txBody>
                  <a:tcPr marL="45720" marR="45720" marT="13716" marB="13716" anchor="ctr">
                    <a:solidFill>
                      <a:srgbClr val="FFFFFF"/>
                    </a:solidFill>
                  </a:tcPr>
                </a:tc>
                <a:tc>
                  <a:txBody>
                    <a:bodyPr/>
                    <a:lstStyle/>
                    <a:p>
                      <a:pPr algn="r"/>
                      <a:r>
                        <a:rPr sz="850" b="0">
                          <a:solidFill>
                            <a:srgbClr val="1F2421"/>
                          </a:solidFill>
                          <a:latin typeface="Arial"/>
                        </a:rPr>
                        <a:t>$497bn 2026F</a:t>
                      </a:r>
                    </a:p>
                  </a:txBody>
                  <a:tcPr marL="45720" marR="45720" marT="13716" marB="13716" anchor="ctr">
                    <a:solidFill>
                      <a:srgbClr val="FFFFFF"/>
                    </a:solidFill>
                  </a:tcPr>
                </a:tc>
                <a:tc>
                  <a:txBody>
                    <a:bodyPr/>
                    <a:lstStyle/>
                    <a:p>
                      <a:pPr algn="r"/>
                      <a:r>
                        <a:rPr sz="850" b="0">
                          <a:solidFill>
                            <a:srgbClr val="1F2421"/>
                          </a:solidFill>
                          <a:latin typeface="Arial"/>
                        </a:rPr>
                        <a:t>~30% CAGR to 2030</a:t>
                      </a:r>
                    </a:p>
                  </a:txBody>
                  <a:tcPr marL="45720" marR="45720" marT="13716" marB="13716" anchor="ctr">
                    <a:solidFill>
                      <a:srgbClr val="FFFFFF"/>
                    </a:solidFill>
                  </a:tcPr>
                </a:tc>
              </a:tr>
              <a:tr h="310896">
                <a:tc>
                  <a:txBody>
                    <a:bodyPr/>
                    <a:lstStyle/>
                    <a:p>
                      <a:pPr algn="l"/>
                      <a:r>
                        <a:rPr sz="850" b="1">
                          <a:solidFill>
                            <a:srgbClr val="1F2421"/>
                          </a:solidFill>
                          <a:latin typeface="Arial"/>
                        </a:rPr>
                        <a:t>Servers (IDC, 2Q26)</a:t>
                      </a:r>
                    </a:p>
                  </a:txBody>
                  <a:tcPr marL="45720" marR="45720" marT="13716" marB="13716" anchor="ctr">
                    <a:solidFill>
                      <a:srgbClr val="ECF2ED"/>
                    </a:solidFill>
                  </a:tcPr>
                </a:tc>
                <a:tc>
                  <a:txBody>
                    <a:bodyPr/>
                    <a:lstStyle/>
                    <a:p>
                      <a:pPr algn="r"/>
                      <a:r>
                        <a:rPr sz="850" b="0">
                          <a:solidFill>
                            <a:srgbClr val="1F2421"/>
                          </a:solidFill>
                          <a:latin typeface="Arial"/>
                        </a:rPr>
                        <a:t>$166bn / quarter</a:t>
                      </a:r>
                    </a:p>
                  </a:txBody>
                  <a:tcPr marL="45720" marR="45720" marT="13716" marB="13716" anchor="ctr">
                    <a:solidFill>
                      <a:srgbClr val="ECF2ED"/>
                    </a:solidFill>
                  </a:tcPr>
                </a:tc>
                <a:tc>
                  <a:txBody>
                    <a:bodyPr/>
                    <a:lstStyle/>
                    <a:p>
                      <a:pPr algn="r"/>
                      <a:r>
                        <a:rPr sz="850" b="0">
                          <a:solidFill>
                            <a:srgbClr val="1F2421"/>
                          </a:solidFill>
                          <a:latin typeface="Arial"/>
                        </a:rPr>
                        <a:t>+52% YoY</a:t>
                      </a:r>
                    </a:p>
                  </a:txBody>
                  <a:tcPr marL="45720" marR="45720" marT="13716" marB="13716" anchor="ctr">
                    <a:solidFill>
                      <a:srgbClr val="ECF2ED"/>
                    </a:solidFill>
                  </a:tcPr>
                </a:tc>
              </a:tr>
              <a:tr h="310896">
                <a:tc>
                  <a:txBody>
                    <a:bodyPr/>
                    <a:lstStyle/>
                    <a:p>
                      <a:pPr algn="l"/>
                      <a:r>
                        <a:rPr sz="850" b="1">
                          <a:solidFill>
                            <a:srgbClr val="1F2421"/>
                          </a:solidFill>
                          <a:latin typeface="Arial"/>
                        </a:rPr>
                        <a:t>Campus switching (Dell'Oro)</a:t>
                      </a:r>
                    </a:p>
                  </a:txBody>
                  <a:tcPr marL="45720" marR="45720" marT="13716" marB="13716" anchor="ctr">
                    <a:solidFill>
                      <a:srgbClr val="ECF2ED"/>
                    </a:solidFill>
                  </a:tcPr>
                </a:tc>
                <a:tc>
                  <a:txBody>
                    <a:bodyPr/>
                    <a:lstStyle/>
                    <a:p>
                      <a:pPr algn="r"/>
                      <a:r>
                        <a:rPr sz="850" b="0">
                          <a:solidFill>
                            <a:srgbClr val="1F2421"/>
                          </a:solidFill>
                          <a:latin typeface="Arial"/>
                        </a:rPr>
                        <a:t>&gt;$20bn 2025</a:t>
                      </a:r>
                    </a:p>
                  </a:txBody>
                  <a:tcPr marL="45720" marR="45720" marT="13716" marB="13716" anchor="ctr">
                    <a:solidFill>
                      <a:srgbClr val="ECF2ED"/>
                    </a:solidFill>
                  </a:tcPr>
                </a:tc>
                <a:tc>
                  <a:txBody>
                    <a:bodyPr/>
                    <a:lstStyle/>
                    <a:p>
                      <a:pPr algn="r"/>
                      <a:r>
                        <a:rPr sz="850" b="0">
                          <a:solidFill>
                            <a:srgbClr val="1F2421"/>
                          </a:solidFill>
                          <a:latin typeface="Arial"/>
                        </a:rPr>
                        <a:t>ASP +19% 2Q26</a:t>
                      </a:r>
                    </a:p>
                  </a:txBody>
                  <a:tcPr marL="45720" marR="45720" marT="13716" marB="13716" anchor="ctr">
                    <a:solidFill>
                      <a:srgbClr val="ECF2ED"/>
                    </a:solidFill>
                  </a:tcPr>
                </a:tc>
              </a:tr>
              <a:tr h="310896">
                <a:tc>
                  <a:txBody>
                    <a:bodyPr/>
                    <a:lstStyle/>
                    <a:p>
                      <a:pPr algn="l"/>
                      <a:r>
                        <a:rPr sz="850" b="1">
                          <a:solidFill>
                            <a:srgbClr val="1F2421"/>
                          </a:solidFill>
                          <a:latin typeface="Arial"/>
                        </a:rPr>
                        <a:t>Hyperscaler + Oracle capex</a:t>
                      </a:r>
                    </a:p>
                  </a:txBody>
                  <a:tcPr marL="45720" marR="45720" marT="13716" marB="13716" anchor="ctr">
                    <a:solidFill>
                      <a:srgbClr val="ECF2ED"/>
                    </a:solidFill>
                  </a:tcPr>
                </a:tc>
                <a:tc>
                  <a:txBody>
                    <a:bodyPr/>
                    <a:lstStyle/>
                    <a:p>
                      <a:pPr algn="r"/>
                      <a:r>
                        <a:rPr sz="850" b="0">
                          <a:solidFill>
                            <a:srgbClr val="1F2421"/>
                          </a:solidFill>
                          <a:latin typeface="Arial"/>
                        </a:rPr>
                        <a:t>$566bn TTM</a:t>
                      </a:r>
                    </a:p>
                  </a:txBody>
                  <a:tcPr marL="45720" marR="45720" marT="13716" marB="13716" anchor="ctr">
                    <a:solidFill>
                      <a:srgbClr val="ECF2ED"/>
                    </a:solidFill>
                  </a:tcPr>
                </a:tc>
                <a:tc>
                  <a:txBody>
                    <a:bodyPr/>
                    <a:lstStyle/>
                    <a:p>
                      <a:pPr algn="r"/>
                      <a:r>
                        <a:rPr sz="850" b="0">
                          <a:solidFill>
                            <a:srgbClr val="1F2421"/>
                          </a:solidFill>
                          <a:latin typeface="Arial"/>
                        </a:rPr>
                        <a:t>+81% YoY</a:t>
                      </a:r>
                    </a:p>
                  </a:txBody>
                  <a:tcPr marL="45720" marR="45720" marT="13716" marB="13716" anchor="ctr">
                    <a:solidFill>
                      <a:srgbClr val="ECF2ED"/>
                    </a:solidFill>
                  </a:tcPr>
                </a:tc>
              </a:tr>
            </a:tbl>
          </a:graphicData>
        </a:graphic>
      </p:graphicFrame>
      <p:sp>
        <p:nvSpPr>
          <p:cNvPr id="9" name="TextBox 134"/>
          <p:cNvSpPr txBox="1"/>
          <p:nvPr/>
        </p:nvSpPr>
        <p:spPr>
          <a:xfrm>
            <a:off x="320040" y="3127248"/>
            <a:ext cx="4251960" cy="1581912"/>
          </a:xfrm>
          <a:prstGeom prst="rect">
            <a:avLst/>
          </a:prstGeom>
          <a:noFill/>
        </p:spPr>
        <p:txBody>
          <a:bodyPr wrap="square" anchor="t" lIns="36576" rIns="36576" tIns="18288" bIns="18288">
            <a:spAutoFit/>
          </a:bodyPr>
          <a:lstStyle/>
          <a:p>
            <a:pPr algn="l">
              <a:spcAft>
                <a:spcPts val="300"/>
              </a:spcAft>
            </a:pPr>
            <a:r>
              <a:rPr sz="600">
                <a:solidFill>
                  <a:srgbClr val="135927"/>
                </a:solidFill>
                <a:latin typeface="Arial"/>
              </a:rPr>
              <a:t>■  </a:t>
            </a:r>
            <a:r>
              <a:rPr sz="900" b="1">
                <a:solidFill>
                  <a:srgbClr val="1F2421"/>
                </a:solidFill>
                <a:latin typeface="Arial"/>
              </a:rPr>
              <a:t>Definitions differ: </a:t>
            </a:r>
            <a:r>
              <a:rPr sz="900" b="0">
                <a:solidFill>
                  <a:srgbClr val="1F2421"/>
                </a:solidFill>
                <a:latin typeface="Arial"/>
              </a:rPr>
              <a:t>IDC counts AI servers and storage, Gartner adds networking; all include ODM-direct, where HPE barely competes.</a:t>
            </a:r>
          </a:p>
          <a:p>
            <a:pPr algn="l">
              <a:spcAft>
                <a:spcPts val="300"/>
              </a:spcAft>
            </a:pPr>
            <a:r>
              <a:rPr sz="600">
                <a:solidFill>
                  <a:srgbClr val="135927"/>
                </a:solidFill>
                <a:latin typeface="Arial"/>
              </a:rPr>
              <a:t>■  </a:t>
            </a:r>
            <a:r>
              <a:rPr sz="900" b="1">
                <a:solidFill>
                  <a:srgbClr val="1F2421"/>
                </a:solidFill>
                <a:latin typeface="Arial"/>
              </a:rPr>
              <a:t>Share: </a:t>
            </a:r>
            <a:r>
              <a:rPr sz="900" b="0">
                <a:solidFill>
                  <a:srgbClr val="1F2421"/>
                </a:solidFill>
                <a:latin typeface="Arial"/>
              </a:rPr>
              <a:t>HPE has 3.5% of all servers, ~7.7% of the OEM market; grew 46% vs the market's 52% and Dell's 165%.</a:t>
            </a:r>
          </a:p>
          <a:p>
            <a:pPr algn="l">
              <a:spcAft>
                <a:spcPts val="300"/>
              </a:spcAft>
            </a:pPr>
            <a:r>
              <a:rPr sz="600">
                <a:solidFill>
                  <a:srgbClr val="135927"/>
                </a:solidFill>
                <a:latin typeface="Arial"/>
              </a:rPr>
              <a:t>■  </a:t>
            </a:r>
            <a:r>
              <a:rPr sz="900" b="1">
                <a:solidFill>
                  <a:srgbClr val="1F2421"/>
                </a:solidFill>
                <a:latin typeface="Arial"/>
              </a:rPr>
              <a:t>Profit pool: </a:t>
            </a:r>
            <a:r>
              <a:rPr sz="900" b="0">
                <a:solidFill>
                  <a:srgbClr val="1F2421"/>
                </a:solidFill>
                <a:latin typeface="Arial"/>
              </a:rPr>
              <a:t>suppliers (NVIDIA, memory) and giant buyers hold the bargaining power.</a:t>
            </a:r>
          </a:p>
        </p:txBody>
      </p:sp>
      <p:pic>
        <p:nvPicPr>
          <p:cNvPr id="10" name="Picture 135" descr="industry_idc_server_share_deck.png"/>
          <p:cNvPicPr>
            <a:picLocks noChangeAspect="1"/>
          </p:cNvPicPr>
          <p:nvPr/>
        </p:nvPicPr>
        <p:blipFill>
          <a:blip r:embed="rId3"/>
          <a:stretch>
            <a:fillRect/>
          </a:stretch>
        </p:blipFill>
        <p:spPr>
          <a:xfrm>
            <a:off x="4709160" y="1463040"/>
            <a:ext cx="4114800" cy="1264640"/>
          </a:xfrm>
          <a:prstGeom prst="rect">
            <a:avLst/>
          </a:prstGeom>
        </p:spPr>
      </p:pic>
      <p:sp>
        <p:nvSpPr>
          <p:cNvPr id="11"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Pattern: </a:t>
            </a:r>
            <a:r>
              <a:rPr sz="1050" b="0" i="1">
                <a:solidFill>
                  <a:srgbClr val="1F2421"/>
                </a:solidFill>
                <a:latin typeface="Arial"/>
              </a:rPr>
              <a:t>a booming market is not a moat. Suppliers and hyperscale buyers hold the profit pool, and HPE grew slower than the market.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Four flat years, then a step change in scale and margins</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2 · STRUCTURE VS CYCLE · FINANCIALS</a:t>
            </a:r>
          </a:p>
        </p:txBody>
      </p:sp>
      <p:sp>
        <p:nvSpPr>
          <p:cNvPr id="6"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Investor logic: </a:t>
            </a:r>
            <a:r>
              <a:rPr sz="1050" b="0" i="1">
                <a:solidFill>
                  <a:srgbClr val="1F2421"/>
                </a:solidFill>
                <a:latin typeface="Arial"/>
              </a:rPr>
              <a:t>a step change after four flat years demands one question before any valuation: is it structure or cycle?</a:t>
            </a:r>
          </a:p>
        </p:txBody>
      </p:sp>
      <p:sp>
        <p:nvSpPr>
          <p:cNvPr id="7" name="TextBox 132"/>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HPE 10-K FY2020–FY2025, 10-Q Q3 FY26, earnings releases; Bona Fide analysis.</a:t>
            </a:r>
          </a:p>
        </p:txBody>
      </p:sp>
      <p:sp>
        <p:nvSpPr>
          <p:cNvPr id="8" name="TextBox 133"/>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8</a:t>
            </a:r>
          </a:p>
        </p:txBody>
      </p:sp>
      <p:pic>
        <p:nvPicPr>
          <p:cNvPr id="9" name="Picture 134" descr="fin_revenue_deck.png"/>
          <p:cNvPicPr>
            <a:picLocks noChangeAspect="1"/>
          </p:cNvPicPr>
          <p:nvPr/>
        </p:nvPicPr>
        <p:blipFill>
          <a:blip r:embed="rId3"/>
          <a:stretch>
            <a:fillRect/>
          </a:stretch>
        </p:blipFill>
        <p:spPr>
          <a:xfrm>
            <a:off x="274320" y="1417320"/>
            <a:ext cx="4251960" cy="1582294"/>
          </a:xfrm>
          <a:prstGeom prst="rect">
            <a:avLst/>
          </a:prstGeom>
        </p:spPr>
      </p:pic>
      <p:pic>
        <p:nvPicPr>
          <p:cNvPr id="10" name="Picture 135" descr="fin_margins_deck.png"/>
          <p:cNvPicPr>
            <a:picLocks noChangeAspect="1"/>
          </p:cNvPicPr>
          <p:nvPr/>
        </p:nvPicPr>
        <p:blipFill>
          <a:blip r:embed="rId4"/>
          <a:stretch>
            <a:fillRect/>
          </a:stretch>
        </p:blipFill>
        <p:spPr>
          <a:xfrm>
            <a:off x="4617720" y="1417320"/>
            <a:ext cx="4206240" cy="163170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Only a third of FY26's jump above trend is Juniper</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2 · STRUCTURE VS CYCLE · COUNTERFACTUAL</a:t>
            </a:r>
          </a:p>
        </p:txBody>
      </p:sp>
      <p:sp>
        <p:nvSpPr>
          <p:cNvPr id="6"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Pattern: </a:t>
            </a:r>
            <a:r>
              <a:rPr sz="1050" b="0" i="1">
                <a:solidFill>
                  <a:srgbClr val="1F2421"/>
                </a:solidFill>
                <a:latin typeface="Arial"/>
              </a:rPr>
              <a:t>separate the tide from the boat. Compare revenue with a no-change counterfactual, then attribute the gap.</a:t>
            </a:r>
          </a:p>
        </p:txBody>
      </p:sp>
      <p:sp>
        <p:nvSpPr>
          <p:cNvPr id="7" name="TextBox 132"/>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HPE XBRL and 10-Q/10-K statements; hyperscaler and Micron XBRL; Yahoo Finance prices; Bona Fide analysis (statsmodels, HAC OLS).</a:t>
            </a:r>
          </a:p>
        </p:txBody>
      </p:sp>
      <p:sp>
        <p:nvSpPr>
          <p:cNvPr id="8" name="TextBox 133"/>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9</a:t>
            </a:r>
          </a:p>
        </p:txBody>
      </p:sp>
      <p:pic>
        <p:nvPicPr>
          <p:cNvPr id="9" name="Picture 134" descr="stat_arima_counterfactual_deck.png"/>
          <p:cNvPicPr>
            <a:picLocks noChangeAspect="1"/>
          </p:cNvPicPr>
          <p:nvPr/>
        </p:nvPicPr>
        <p:blipFill>
          <a:blip r:embed="rId3"/>
          <a:stretch>
            <a:fillRect/>
          </a:stretch>
        </p:blipFill>
        <p:spPr>
          <a:xfrm>
            <a:off x="274320" y="1463040"/>
            <a:ext cx="4846320" cy="1922392"/>
          </a:xfrm>
          <a:prstGeom prst="rect">
            <a:avLst/>
          </a:prstGeom>
        </p:spPr>
      </p:pic>
      <p:graphicFrame>
        <p:nvGraphicFramePr>
          <p:cNvPr id="10" name="Table 135"/>
          <p:cNvGraphicFramePr>
            <a:graphicFrameLocks noGrp="1"/>
          </p:cNvGraphicFramePr>
          <p:nvPr/>
        </p:nvGraphicFramePr>
        <p:xfrm>
          <a:off x="5257800" y="1463040"/>
          <a:ext cx="3566160" cy="2121408"/>
        </p:xfrm>
        <a:graphic>
          <a:graphicData uri="http://schemas.openxmlformats.org/drawingml/2006/table">
            <a:tbl>
              <a:tblPr firstRow="1">
                <a:tableStyleId>{5C22544A-7EE6-4342-B048-85BDC9FD1C3A}</a:tableStyleId>
              </a:tblPr>
              <a:tblGrid>
                <a:gridCol w="2331720"/>
                <a:gridCol w="685800"/>
                <a:gridCol w="548640"/>
              </a:tblGrid>
              <a:tr h="265176">
                <a:tc>
                  <a:txBody>
                    <a:bodyPr/>
                    <a:lstStyle/>
                    <a:p>
                      <a:pPr algn="l"/>
                      <a:r>
                        <a:rPr sz="800" b="1">
                          <a:solidFill>
                            <a:srgbClr val="FCC80D"/>
                          </a:solidFill>
                          <a:latin typeface="Arial"/>
                        </a:rPr>
                        <a:t>Test</a:t>
                      </a:r>
                    </a:p>
                  </a:txBody>
                  <a:tcPr marL="45720" marR="45720" marT="13716" marB="13716" anchor="ctr">
                    <a:solidFill>
                      <a:srgbClr val="135927"/>
                    </a:solidFill>
                  </a:tcPr>
                </a:tc>
                <a:tc>
                  <a:txBody>
                    <a:bodyPr/>
                    <a:lstStyle/>
                    <a:p>
                      <a:pPr algn="l"/>
                      <a:r>
                        <a:rPr sz="800" b="1">
                          <a:solidFill>
                            <a:srgbClr val="FCC80D"/>
                          </a:solidFill>
                          <a:latin typeface="Arial"/>
                        </a:rPr>
                        <a:t>Coef.</a:t>
                      </a:r>
                    </a:p>
                  </a:txBody>
                  <a:tcPr marL="45720" marR="45720" marT="13716" marB="13716" anchor="ctr">
                    <a:solidFill>
                      <a:srgbClr val="135927"/>
                    </a:solidFill>
                  </a:tcPr>
                </a:tc>
                <a:tc>
                  <a:txBody>
                    <a:bodyPr/>
                    <a:lstStyle/>
                    <a:p>
                      <a:pPr algn="l"/>
                      <a:r>
                        <a:rPr sz="800" b="1">
                          <a:solidFill>
                            <a:srgbClr val="FCC80D"/>
                          </a:solidFill>
                          <a:latin typeface="Arial"/>
                        </a:rPr>
                        <a:t>p</a:t>
                      </a:r>
                    </a:p>
                  </a:txBody>
                  <a:tcPr marL="45720" marR="45720" marT="13716" marB="13716" anchor="ctr">
                    <a:solidFill>
                      <a:srgbClr val="135927"/>
                    </a:solidFill>
                  </a:tcPr>
                </a:tc>
              </a:tr>
              <a:tr h="265176">
                <a:tc>
                  <a:txBody>
                    <a:bodyPr/>
                    <a:lstStyle/>
                    <a:p>
                      <a:pPr algn="l"/>
                      <a:r>
                        <a:rPr sz="800" b="1">
                          <a:solidFill>
                            <a:srgbClr val="1F2421"/>
                          </a:solidFill>
                          <a:latin typeface="Arial"/>
                        </a:rPr>
                        <a:t>Revenue growth ~ capex growth (sum of lags 0–2; best-lag p)</a:t>
                      </a:r>
                    </a:p>
                  </a:txBody>
                  <a:tcPr marL="45720" marR="45720" marT="13716" marB="13716" anchor="ctr">
                    <a:solidFill>
                      <a:srgbClr val="FFFFFF"/>
                    </a:solidFill>
                  </a:tcPr>
                </a:tc>
                <a:tc>
                  <a:txBody>
                    <a:bodyPr/>
                    <a:lstStyle/>
                    <a:p>
                      <a:pPr algn="r"/>
                      <a:r>
                        <a:rPr sz="800" b="0">
                          <a:solidFill>
                            <a:srgbClr val="1F2421"/>
                          </a:solidFill>
                          <a:latin typeface="Arial"/>
                        </a:rPr>
                        <a:t>0.19</a:t>
                      </a:r>
                    </a:p>
                  </a:txBody>
                  <a:tcPr marL="45720" marR="45720" marT="13716" marB="13716" anchor="ctr">
                    <a:solidFill>
                      <a:srgbClr val="FFFFFF"/>
                    </a:solidFill>
                  </a:tcPr>
                </a:tc>
                <a:tc>
                  <a:txBody>
                    <a:bodyPr/>
                    <a:lstStyle/>
                    <a:p>
                      <a:pPr algn="r"/>
                      <a:r>
                        <a:rPr sz="800" b="0">
                          <a:solidFill>
                            <a:srgbClr val="1F2421"/>
                          </a:solidFill>
                          <a:latin typeface="Arial"/>
                        </a:rPr>
                        <a:t>0.08</a:t>
                      </a:r>
                    </a:p>
                  </a:txBody>
                  <a:tcPr marL="45720" marR="45720" marT="13716" marB="13716" anchor="ctr">
                    <a:solidFill>
                      <a:srgbClr val="FFFFFF"/>
                    </a:solidFill>
                  </a:tcPr>
                </a:tc>
              </a:tr>
              <a:tr h="265176">
                <a:tc>
                  <a:txBody>
                    <a:bodyPr/>
                    <a:lstStyle/>
                    <a:p>
                      <a:pPr algn="l"/>
                      <a:r>
                        <a:rPr sz="800" b="1">
                          <a:solidFill>
                            <a:srgbClr val="1F2421"/>
                          </a:solidFill>
                          <a:latin typeface="Arial"/>
                        </a:rPr>
                        <a:t>Juniper quarters, revenue growth</a:t>
                      </a:r>
                    </a:p>
                  </a:txBody>
                  <a:tcPr marL="45720" marR="45720" marT="13716" marB="13716" anchor="ctr">
                    <a:solidFill>
                      <a:srgbClr val="ECF2ED"/>
                    </a:solidFill>
                  </a:tcPr>
                </a:tc>
                <a:tc>
                  <a:txBody>
                    <a:bodyPr/>
                    <a:lstStyle/>
                    <a:p>
                      <a:pPr algn="r"/>
                      <a:r>
                        <a:rPr sz="800" b="0">
                          <a:solidFill>
                            <a:srgbClr val="1F2421"/>
                          </a:solidFill>
                          <a:latin typeface="Arial"/>
                        </a:rPr>
                        <a:t>+15pp</a:t>
                      </a:r>
                    </a:p>
                  </a:txBody>
                  <a:tcPr marL="45720" marR="45720" marT="13716" marB="13716" anchor="ctr">
                    <a:solidFill>
                      <a:srgbClr val="ECF2ED"/>
                    </a:solidFill>
                  </a:tcPr>
                </a:tc>
                <a:tc>
                  <a:txBody>
                    <a:bodyPr/>
                    <a:lstStyle/>
                    <a:p>
                      <a:pPr algn="r"/>
                      <a:r>
                        <a:rPr sz="800" b="0">
                          <a:solidFill>
                            <a:srgbClr val="1F2421"/>
                          </a:solidFill>
                          <a:latin typeface="Arial"/>
                        </a:rPr>
                        <a:t>0.001</a:t>
                      </a:r>
                    </a:p>
                  </a:txBody>
                  <a:tcPr marL="45720" marR="45720" marT="13716" marB="13716" anchor="ctr">
                    <a:solidFill>
                      <a:srgbClr val="ECF2ED"/>
                    </a:solidFill>
                  </a:tcPr>
                </a:tc>
              </a:tr>
              <a:tr h="265176">
                <a:tc>
                  <a:txBody>
                    <a:bodyPr/>
                    <a:lstStyle/>
                    <a:p>
                      <a:pPr algn="l"/>
                      <a:r>
                        <a:rPr sz="800" b="1">
                          <a:solidFill>
                            <a:srgbClr val="1F2421"/>
                          </a:solidFill>
                          <a:latin typeface="Arial"/>
                        </a:rPr>
                        <a:t>Gross margin ~ Micron margin (pp)</a:t>
                      </a:r>
                    </a:p>
                  </a:txBody>
                  <a:tcPr marL="45720" marR="45720" marT="13716" marB="13716" anchor="ctr">
                    <a:solidFill>
                      <a:srgbClr val="FFFFFF"/>
                    </a:solidFill>
                  </a:tcPr>
                </a:tc>
                <a:tc>
                  <a:txBody>
                    <a:bodyPr/>
                    <a:lstStyle/>
                    <a:p>
                      <a:pPr algn="r"/>
                      <a:r>
                        <a:rPr sz="800" b="0">
                          <a:solidFill>
                            <a:srgbClr val="1F2421"/>
                          </a:solidFill>
                          <a:latin typeface="Arial"/>
                        </a:rPr>
                        <a:t>-0.046</a:t>
                      </a:r>
                    </a:p>
                  </a:txBody>
                  <a:tcPr marL="45720" marR="45720" marT="13716" marB="13716" anchor="ctr">
                    <a:solidFill>
                      <a:srgbClr val="FFFFFF"/>
                    </a:solidFill>
                  </a:tcPr>
                </a:tc>
                <a:tc>
                  <a:txBody>
                    <a:bodyPr/>
                    <a:lstStyle/>
                    <a:p>
                      <a:pPr algn="r"/>
                      <a:r>
                        <a:rPr sz="800" b="0">
                          <a:solidFill>
                            <a:srgbClr val="1F2421"/>
                          </a:solidFill>
                          <a:latin typeface="Arial"/>
                        </a:rPr>
                        <a:t>0.002</a:t>
                      </a:r>
                    </a:p>
                  </a:txBody>
                  <a:tcPr marL="45720" marR="45720" marT="13716" marB="13716" anchor="ctr">
                    <a:solidFill>
                      <a:srgbClr val="FFFFFF"/>
                    </a:solidFill>
                  </a:tcPr>
                </a:tc>
              </a:tr>
              <a:tr h="265176">
                <a:tc>
                  <a:txBody>
                    <a:bodyPr/>
                    <a:lstStyle/>
                    <a:p>
                      <a:pPr algn="l"/>
                      <a:r>
                        <a:rPr sz="800" b="1">
                          <a:solidFill>
                            <a:srgbClr val="1F2421"/>
                          </a:solidFill>
                          <a:latin typeface="Arial"/>
                        </a:rPr>
                        <a:t>Juniper quarters, gross margin</a:t>
                      </a:r>
                    </a:p>
                  </a:txBody>
                  <a:tcPr marL="45720" marR="45720" marT="13716" marB="13716" anchor="ctr">
                    <a:solidFill>
                      <a:srgbClr val="ECF2ED"/>
                    </a:solidFill>
                  </a:tcPr>
                </a:tc>
                <a:tc>
                  <a:txBody>
                    <a:bodyPr/>
                    <a:lstStyle/>
                    <a:p>
                      <a:pPr algn="r"/>
                      <a:r>
                        <a:rPr sz="800" b="0">
                          <a:solidFill>
                            <a:srgbClr val="1F2421"/>
                          </a:solidFill>
                          <a:latin typeface="Arial"/>
                        </a:rPr>
                        <a:t>+6.8pp</a:t>
                      </a:r>
                    </a:p>
                  </a:txBody>
                  <a:tcPr marL="45720" marR="45720" marT="13716" marB="13716" anchor="ctr">
                    <a:solidFill>
                      <a:srgbClr val="ECF2ED"/>
                    </a:solidFill>
                  </a:tcPr>
                </a:tc>
                <a:tc>
                  <a:txBody>
                    <a:bodyPr/>
                    <a:lstStyle/>
                    <a:p>
                      <a:pPr algn="r"/>
                      <a:r>
                        <a:rPr sz="800" b="0">
                          <a:solidFill>
                            <a:srgbClr val="1F2421"/>
                          </a:solidFill>
                          <a:latin typeface="Arial"/>
                        </a:rPr>
                        <a:t>0.001</a:t>
                      </a:r>
                    </a:p>
                  </a:txBody>
                  <a:tcPr marL="45720" marR="45720" marT="13716" marB="13716" anchor="ctr">
                    <a:solidFill>
                      <a:srgbClr val="ECF2ED"/>
                    </a:solidFill>
                  </a:tcPr>
                </a:tc>
              </a:tr>
              <a:tr h="265176">
                <a:tc>
                  <a:txBody>
                    <a:bodyPr/>
                    <a:lstStyle/>
                    <a:p>
                      <a:pPr algn="l"/>
                      <a:r>
                        <a:rPr sz="800" b="1">
                          <a:solidFill>
                            <a:srgbClr val="1F2421"/>
                          </a:solidFill>
                          <a:latin typeface="Arial"/>
                        </a:rPr>
                        <a:t>Ljung-Box, daily returns (10 lags)</a:t>
                      </a:r>
                    </a:p>
                  </a:txBody>
                  <a:tcPr marL="45720" marR="45720" marT="13716" marB="13716" anchor="ctr">
                    <a:solidFill>
                      <a:srgbClr val="FFFFFF"/>
                    </a:solidFill>
                  </a:tcPr>
                </a:tc>
                <a:tc>
                  <a:txBody>
                    <a:bodyPr/>
                    <a:lstStyle/>
                    <a:p>
                      <a:pPr algn="r"/>
                    </a:p>
                  </a:txBody>
                  <a:tcPr marL="45720" marR="45720" marT="13716" marB="13716" anchor="ctr">
                    <a:solidFill>
                      <a:srgbClr val="FFFFFF"/>
                    </a:solidFill>
                  </a:tcPr>
                </a:tc>
                <a:tc>
                  <a:txBody>
                    <a:bodyPr/>
                    <a:lstStyle/>
                    <a:p>
                      <a:pPr algn="r"/>
                      <a:r>
                        <a:rPr sz="800" b="0">
                          <a:solidFill>
                            <a:srgbClr val="1F2421"/>
                          </a:solidFill>
                          <a:latin typeface="Arial"/>
                        </a:rPr>
                        <a:t>0.06</a:t>
                      </a:r>
                    </a:p>
                  </a:txBody>
                  <a:tcPr marL="45720" marR="45720" marT="13716" marB="13716" anchor="ctr">
                    <a:solidFill>
                      <a:srgbClr val="FFFFFF"/>
                    </a:solidFill>
                  </a:tcPr>
                </a:tc>
              </a:tr>
              <a:tr h="265176">
                <a:tc>
                  <a:txBody>
                    <a:bodyPr/>
                    <a:lstStyle/>
                    <a:p>
                      <a:pPr algn="l"/>
                      <a:r>
                        <a:rPr sz="800" b="1">
                          <a:solidFill>
                            <a:srgbClr val="1F2421"/>
                          </a:solidFill>
                          <a:latin typeface="Arial"/>
                        </a:rPr>
                        <a:t>ARCH-LM, volatility clustering</a:t>
                      </a:r>
                    </a:p>
                  </a:txBody>
                  <a:tcPr marL="45720" marR="45720" marT="13716" marB="13716" anchor="ctr">
                    <a:solidFill>
                      <a:srgbClr val="ECF2ED"/>
                    </a:solidFill>
                  </a:tcPr>
                </a:tc>
                <a:tc>
                  <a:txBody>
                    <a:bodyPr/>
                    <a:lstStyle/>
                    <a:p>
                      <a:pPr algn="r"/>
                    </a:p>
                  </a:txBody>
                  <a:tcPr marL="45720" marR="45720" marT="13716" marB="13716" anchor="ctr">
                    <a:solidFill>
                      <a:srgbClr val="ECF2ED"/>
                    </a:solidFill>
                  </a:tcPr>
                </a:tc>
                <a:tc>
                  <a:txBody>
                    <a:bodyPr/>
                    <a:lstStyle/>
                    <a:p>
                      <a:pPr algn="r"/>
                      <a:r>
                        <a:rPr sz="800" b="0">
                          <a:solidFill>
                            <a:srgbClr val="1F2421"/>
                          </a:solidFill>
                          <a:latin typeface="Arial"/>
                        </a:rPr>
                        <a:t>&lt;0.001</a:t>
                      </a:r>
                    </a:p>
                  </a:txBody>
                  <a:tcPr marL="45720" marR="45720" marT="13716" marB="13716" anchor="ctr">
                    <a:solidFill>
                      <a:srgbClr val="ECF2ED"/>
                    </a:solidFill>
                  </a:tcPr>
                </a:tc>
              </a:tr>
              <a:tr h="265176">
                <a:tc>
                  <a:txBody>
                    <a:bodyPr/>
                    <a:lstStyle/>
                    <a:p>
                      <a:pPr algn="l"/>
                      <a:r>
                        <a:rPr sz="800" b="1">
                          <a:solidFill>
                            <a:srgbClr val="1F2421"/>
                          </a:solidFill>
                          <a:latin typeface="Arial"/>
                        </a:rPr>
                        <a:t>3σ days vs normal distribution</a:t>
                      </a:r>
                    </a:p>
                  </a:txBody>
                  <a:tcPr marL="45720" marR="45720" marT="13716" marB="13716" anchor="ctr">
                    <a:solidFill>
                      <a:srgbClr val="FFFFFF"/>
                    </a:solidFill>
                  </a:tcPr>
                </a:tc>
                <a:tc>
                  <a:txBody>
                    <a:bodyPr/>
                    <a:lstStyle/>
                    <a:p>
                      <a:pPr algn="r"/>
                      <a:r>
                        <a:rPr sz="800" b="0">
                          <a:solidFill>
                            <a:srgbClr val="1F2421"/>
                          </a:solidFill>
                          <a:latin typeface="Arial"/>
                        </a:rPr>
                        <a:t>6.8x</a:t>
                      </a:r>
                    </a:p>
                  </a:txBody>
                  <a:tcPr marL="45720" marR="45720" marT="13716" marB="13716" anchor="ctr">
                    <a:solidFill>
                      <a:srgbClr val="FFFFFF"/>
                    </a:solidFill>
                  </a:tcPr>
                </a:tc>
                <a:tc>
                  <a:txBody>
                    <a:bodyPr/>
                    <a:lstStyle/>
                    <a:p>
                      <a:pPr algn="r"/>
                    </a:p>
                  </a:txBody>
                  <a:tcPr marL="45720" marR="45720" marT="13716" marB="13716" anchor="ctr">
                    <a:solidFill>
                      <a:srgbClr val="FFFFFF"/>
                    </a:solidFill>
                  </a:tcPr>
                </a:tc>
              </a:tr>
            </a:tbl>
          </a:graphicData>
        </a:graphic>
      </p:graphicFrame>
      <p:sp>
        <p:nvSpPr>
          <p:cNvPr id="11" name="TextBox 136"/>
          <p:cNvSpPr txBox="1"/>
          <p:nvPr/>
        </p:nvSpPr>
        <p:spPr>
          <a:xfrm>
            <a:off x="5257800" y="3611880"/>
            <a:ext cx="3566160" cy="1097280"/>
          </a:xfrm>
          <a:prstGeom prst="rect">
            <a:avLst/>
          </a:prstGeom>
          <a:noFill/>
        </p:spPr>
        <p:txBody>
          <a:bodyPr wrap="square" anchor="t" lIns="36576" rIns="36576" tIns="18288" bIns="18288">
            <a:spAutoFit/>
          </a:bodyPr>
          <a:lstStyle/>
          <a:p>
            <a:pPr algn="l">
              <a:spcAft>
                <a:spcPts val="300"/>
              </a:spcAft>
            </a:pPr>
            <a:r>
              <a:rPr sz="600">
                <a:solidFill>
                  <a:srgbClr val="135927"/>
                </a:solidFill>
                <a:latin typeface="Arial"/>
              </a:rPr>
              <a:t>■  </a:t>
            </a:r>
            <a:r>
              <a:rPr sz="900" b="1">
                <a:solidFill>
                  <a:srgbClr val="1F2421"/>
                </a:solidFill>
                <a:latin typeface="Arial"/>
              </a:rPr>
              <a:t>Attribution: </a:t>
            </a:r>
            <a:r>
              <a:rPr sz="900" b="0">
                <a:solidFill>
                  <a:srgbClr val="1F2421"/>
                </a:solidFill>
                <a:latin typeface="Arial"/>
              </a:rPr>
              <a:t>FY26 guide $46.5bn vs $29.1bn trend = $17.4bn excess; Juniper ≈ $5.7bn, AI and pricing ≈ $11.8bn (est.).</a:t>
            </a:r>
          </a:p>
          <a:p>
            <a:pPr algn="l">
              <a:spcAft>
                <a:spcPts val="300"/>
              </a:spcAft>
            </a:pPr>
            <a:r>
              <a:rPr sz="600">
                <a:solidFill>
                  <a:srgbClr val="135927"/>
                </a:solidFill>
                <a:latin typeface="Arial"/>
              </a:rPr>
              <a:t>■  </a:t>
            </a:r>
            <a:r>
              <a:rPr sz="900" b="1">
                <a:solidFill>
                  <a:srgbClr val="1F2421"/>
                </a:solidFill>
                <a:latin typeface="Arial"/>
              </a:rPr>
              <a:t>Market data: </a:t>
            </a:r>
            <a:r>
              <a:rPr sz="900" b="0">
                <a:solidFill>
                  <a:srgbClr val="1F2421"/>
                </a:solidFill>
                <a:latin typeface="Arial"/>
              </a:rPr>
              <a:t>returns unpredictable, volatility clusters, fat tails → ranges, not price targets.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Cloud capex and memory prices drive the cyclical upside</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2 · STRUCTURE VS CYCLE · MACRO LEVERS</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Company 10-Q/10-K XBRL via SEC EDGAR; TrendForce (9-Jul-2026); FRED; Bona Fide analysis.</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10</a:t>
            </a:r>
          </a:p>
        </p:txBody>
      </p:sp>
      <p:pic>
        <p:nvPicPr>
          <p:cNvPr id="8" name="Picture 133" descr="macro_hyperscaler_capex_deck.png"/>
          <p:cNvPicPr>
            <a:picLocks noChangeAspect="1"/>
          </p:cNvPicPr>
          <p:nvPr/>
        </p:nvPicPr>
        <p:blipFill>
          <a:blip r:embed="rId3"/>
          <a:stretch>
            <a:fillRect/>
          </a:stretch>
        </p:blipFill>
        <p:spPr>
          <a:xfrm>
            <a:off x="274320" y="1463040"/>
            <a:ext cx="4297680" cy="1615083"/>
          </a:xfrm>
          <a:prstGeom prst="rect">
            <a:avLst/>
          </a:prstGeom>
        </p:spPr>
      </p:pic>
      <p:pic>
        <p:nvPicPr>
          <p:cNvPr id="9" name="Picture 134" descr="macro_memory_cycle_deck.png"/>
          <p:cNvPicPr>
            <a:picLocks noChangeAspect="1"/>
          </p:cNvPicPr>
          <p:nvPr/>
        </p:nvPicPr>
        <p:blipFill>
          <a:blip r:embed="rId4"/>
          <a:stretch>
            <a:fillRect/>
          </a:stretch>
        </p:blipFill>
        <p:spPr>
          <a:xfrm>
            <a:off x="4617720" y="1463040"/>
            <a:ext cx="4206240" cy="1246382"/>
          </a:xfrm>
          <a:prstGeom prst="rect">
            <a:avLst/>
          </a:prstGeom>
        </p:spPr>
      </p:pic>
      <p:sp>
        <p:nvSpPr>
          <p:cNvPr id="10" name="TextBox 135"/>
          <p:cNvSpPr txBox="1"/>
          <p:nvPr/>
        </p:nvSpPr>
        <p:spPr>
          <a:xfrm>
            <a:off x="320040" y="3611880"/>
            <a:ext cx="4160520" cy="1097280"/>
          </a:xfrm>
          <a:prstGeom prst="rect">
            <a:avLst/>
          </a:prstGeom>
          <a:noFill/>
        </p:spPr>
        <p:txBody>
          <a:bodyPr wrap="square" anchor="t" lIns="36576" rIns="36576" tIns="18288" bIns="18288">
            <a:spAutoFit/>
          </a:bodyPr>
          <a:lstStyle/>
          <a:p>
            <a:pPr algn="l">
              <a:spcAft>
                <a:spcPts val="300"/>
              </a:spcAft>
            </a:pPr>
            <a:r>
              <a:rPr sz="1000" b="1">
                <a:solidFill>
                  <a:srgbClr val="1F2421"/>
                </a:solidFill>
                <a:latin typeface="Arial"/>
              </a:rPr>
              <a:t>Capex → orders:</a:t>
            </a:r>
            <a:r>
              <a:rPr sz="1000" b="0">
                <a:solidFill>
                  <a:srgbClr val="1F2421"/>
                </a:solidFill>
                <a:latin typeface="Arial"/>
              </a:rPr>
              <a:t> 5 cloud spenders at a record run-rate feed AI backlog; AI systems dilute margin and swell inventory.</a:t>
            </a:r>
          </a:p>
        </p:txBody>
      </p:sp>
      <p:sp>
        <p:nvSpPr>
          <p:cNvPr id="11" name="TextBox 136"/>
          <p:cNvSpPr txBox="1"/>
          <p:nvPr/>
        </p:nvSpPr>
        <p:spPr>
          <a:xfrm>
            <a:off x="4663440" y="3611880"/>
            <a:ext cx="4160520" cy="1097280"/>
          </a:xfrm>
          <a:prstGeom prst="rect">
            <a:avLst/>
          </a:prstGeom>
          <a:noFill/>
        </p:spPr>
        <p:txBody>
          <a:bodyPr wrap="square" anchor="t" lIns="36576" rIns="36576" tIns="18288" bIns="18288">
            <a:spAutoFit/>
          </a:bodyPr>
          <a:lstStyle/>
          <a:p>
            <a:pPr algn="l">
              <a:spcAft>
                <a:spcPts val="300"/>
              </a:spcAft>
            </a:pPr>
            <a:r>
              <a:rPr sz="1000" b="1">
                <a:solidFill>
                  <a:srgbClr val="1F2421"/>
                </a:solidFill>
                <a:latin typeface="Arial"/>
              </a:rPr>
              <a:t>Memory → pricing:</a:t>
            </a:r>
            <a:r>
              <a:rPr sz="1000" b="0">
                <a:solidFill>
                  <a:srgbClr val="1F2421"/>
                </a:solidFill>
                <a:latin typeface="Arial"/>
              </a:rPr>
              <a:t> DRAM contract +13–18% QoQ in 3Q26; HPE passed costs on, which reverses when prices fall. Rates (10Y 4.95%) set WACC.</a:t>
            </a:r>
          </a:p>
        </p:txBody>
      </p:sp>
      <p:sp>
        <p:nvSpPr>
          <p:cNvPr id="12"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Investor logic: </a:t>
            </a:r>
            <a:r>
              <a:rPr sz="1050" b="0" i="1">
                <a:solidFill>
                  <a:srgbClr val="1F2421"/>
                </a:solidFill>
                <a:latin typeface="Arial"/>
              </a:rPr>
              <a:t>two external levers explain most of the cyclical upside, and both can run in reverse.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Seven late-cycle signals, three structural offsets</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2 · STRUCTURE VS CYCLE · PATTERN CHECK</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HPE Q3 FY26 materials and 10-Q; TrendForce; SEC capex filings; Form 4 filings; Yahoo Finance; Bona Fide analysis.</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11</a:t>
            </a:r>
          </a:p>
        </p:txBody>
      </p:sp>
      <p:sp>
        <p:nvSpPr>
          <p:cNvPr id="8"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Pattern recognition: </a:t>
            </a:r>
            <a:r>
              <a:rPr sz="1050" b="0" i="1">
                <a:solidFill>
                  <a:srgbClr val="1F2421"/>
                </a:solidFill>
                <a:latin typeface="Arial"/>
              </a:rPr>
              <a:t>no single signal calls a peak; a cluster of them says the price is paying for the good times to last.</a:t>
            </a:r>
          </a:p>
        </p:txBody>
      </p:sp>
      <p:graphicFrame>
        <p:nvGraphicFramePr>
          <p:cNvPr id="9" name="Table 133"/>
          <p:cNvGraphicFramePr>
            <a:graphicFrameLocks noGrp="1"/>
          </p:cNvGraphicFramePr>
          <p:nvPr/>
        </p:nvGraphicFramePr>
        <p:xfrm>
          <a:off x="320040" y="1463040"/>
          <a:ext cx="8503919" cy="2487168"/>
        </p:xfrm>
        <a:graphic>
          <a:graphicData uri="http://schemas.openxmlformats.org/drawingml/2006/table">
            <a:tbl>
              <a:tblPr firstRow="1" bandRow="1">
                <a:tableStyleId>{5C22544A-7EE6-4342-B048-85BDC9FD1C3A}</a:tableStyleId>
              </a:tblPr>
              <a:tblGrid>
                <a:gridCol w="1874519"/>
                <a:gridCol w="2743200"/>
                <a:gridCol w="3154680"/>
                <a:gridCol w="731520"/>
              </a:tblGrid>
              <a:tr h="310896">
                <a:tc>
                  <a:txBody>
                    <a:bodyPr wrap="square"/>
                    <a:lstStyle/>
                    <a:p>
                      <a:r>
                        <a:rPr sz="800" b="1" i="0">
                          <a:solidFill>
                            <a:srgbClr val="FCC80D"/>
                          </a:solidFill>
                          <a:latin typeface="Arial"/>
                        </a:rPr>
                        <a:t>Late-cycle signal</a:t>
                      </a:r>
                    </a:p>
                  </a:txBody>
                  <a:tcPr marL="45720" marR="45720" marT="18288" marB="18288" anchor="ctr">
                    <a:solidFill>
                      <a:srgbClr val="135927"/>
                    </a:solidFill>
                  </a:tcPr>
                </a:tc>
                <a:tc>
                  <a:txBody>
                    <a:bodyPr wrap="square"/>
                    <a:lstStyle/>
                    <a:p>
                      <a:r>
                        <a:rPr sz="800" b="1" i="0">
                          <a:solidFill>
                            <a:srgbClr val="FCC80D"/>
                          </a:solidFill>
                          <a:latin typeface="Arial"/>
                        </a:rPr>
                        <a:t>The pattern</a:t>
                      </a:r>
                    </a:p>
                  </a:txBody>
                  <a:tcPr marL="45720" marR="45720" marT="18288" marB="18288" anchor="ctr">
                    <a:solidFill>
                      <a:srgbClr val="135927"/>
                    </a:solidFill>
                  </a:tcPr>
                </a:tc>
                <a:tc>
                  <a:txBody>
                    <a:bodyPr wrap="square"/>
                    <a:lstStyle/>
                    <a:p>
                      <a:r>
                        <a:rPr sz="800" b="1" i="0">
                          <a:solidFill>
                            <a:srgbClr val="FCC80D"/>
                          </a:solidFill>
                          <a:latin typeface="Arial"/>
                        </a:rPr>
                        <a:t>HPE today</a:t>
                      </a:r>
                    </a:p>
                  </a:txBody>
                  <a:tcPr marL="45720" marR="45720" marT="18288" marB="18288" anchor="ctr">
                    <a:solidFill>
                      <a:srgbClr val="135927"/>
                    </a:solidFill>
                  </a:tcPr>
                </a:tc>
                <a:tc>
                  <a:txBody>
                    <a:bodyPr wrap="square"/>
                    <a:lstStyle/>
                    <a:p>
                      <a:r>
                        <a:rPr sz="800" b="1" i="0">
                          <a:solidFill>
                            <a:srgbClr val="FCC80D"/>
                          </a:solidFill>
                          <a:latin typeface="Arial"/>
                        </a:rPr>
                        <a:t>Read</a:t>
                      </a:r>
                    </a:p>
                  </a:txBody>
                  <a:tcPr marL="45720" marR="45720" marT="18288" marB="18288" anchor="ctr">
                    <a:solidFill>
                      <a:srgbClr val="135927"/>
                    </a:solidFill>
                  </a:tcPr>
                </a:tc>
              </a:tr>
              <a:tr h="310896">
                <a:tc>
                  <a:txBody>
                    <a:bodyPr wrap="square"/>
                    <a:lstStyle/>
                    <a:p>
                      <a:r>
                        <a:rPr sz="800" b="1" i="0">
                          <a:solidFill>
                            <a:srgbClr val="1F2421"/>
                          </a:solidFill>
                          <a:latin typeface="Arial"/>
                        </a:rPr>
                        <a:t>Growth led by price, not units</a:t>
                      </a:r>
                    </a:p>
                  </a:txBody>
                  <a:tcPr marL="45720" marR="45720" marT="18288" marB="18288" anchor="ctr">
                    <a:solidFill>
                      <a:srgbClr val="FFFFFF"/>
                    </a:solidFill>
                  </a:tcPr>
                </a:tc>
                <a:tc>
                  <a:txBody>
                    <a:bodyPr wrap="square"/>
                    <a:lstStyle/>
                    <a:p>
                      <a:r>
                        <a:rPr sz="800" b="0" i="0">
                          <a:solidFill>
                            <a:srgbClr val="1F2421"/>
                          </a:solidFill>
                          <a:latin typeface="Arial"/>
                        </a:rPr>
                        <a:t>Pass-through pricing reverses when component costs fall</a:t>
                      </a:r>
                    </a:p>
                  </a:txBody>
                  <a:tcPr marL="45720" marR="45720" marT="18288" marB="18288" anchor="ctr">
                    <a:solidFill>
                      <a:srgbClr val="FFFFFF"/>
                    </a:solidFill>
                  </a:tcPr>
                </a:tc>
                <a:tc>
                  <a:txBody>
                    <a:bodyPr wrap="square"/>
                    <a:lstStyle/>
                    <a:p>
                      <a:r>
                        <a:rPr sz="800" b="0" i="0">
                          <a:solidFill>
                            <a:srgbClr val="1F2421"/>
                          </a:solidFill>
                          <a:latin typeface="Arial"/>
                        </a:rPr>
                        <a:t>Q3 server growth ASP-led; DRAM contract prices +13–18% QoQ</a:t>
                      </a:r>
                    </a:p>
                  </a:txBody>
                  <a:tcPr marL="45720" marR="45720" marT="18288" marB="18288" anchor="ctr">
                    <a:solidFill>
                      <a:srgbClr val="FFFFFF"/>
                    </a:solidFill>
                  </a:tcPr>
                </a:tc>
                <a:tc>
                  <a:txBody>
                    <a:bodyPr wrap="square"/>
                    <a:lstStyle/>
                    <a:p>
                      <a:r>
                        <a:rPr sz="800" b="0" i="0">
                          <a:solidFill>
                            <a:srgbClr val="1F2421"/>
                          </a:solidFill>
                          <a:latin typeface="Arial"/>
                        </a:rPr>
                        <a:t>Present</a:t>
                      </a:r>
                    </a:p>
                  </a:txBody>
                  <a:tcPr marL="45720" marR="45720" marT="18288" marB="18288" anchor="ctr">
                    <a:solidFill>
                      <a:srgbClr val="FFFFFF"/>
                    </a:solidFill>
                  </a:tcPr>
                </a:tc>
              </a:tr>
              <a:tr h="310896">
                <a:tc>
                  <a:txBody>
                    <a:bodyPr wrap="square"/>
                    <a:lstStyle/>
                    <a:p>
                      <a:r>
                        <a:rPr sz="800" b="1" i="0">
                          <a:solidFill>
                            <a:srgbClr val="1F2421"/>
                          </a:solidFill>
                          <a:latin typeface="Arial"/>
                        </a:rPr>
                        <a:t>Record margin, guided lower</a:t>
                      </a:r>
                    </a:p>
                  </a:txBody>
                  <a:tcPr marL="45720" marR="45720" marT="18288" marB="18288" anchor="ctr">
                    <a:solidFill>
                      <a:srgbClr val="FFFFFF"/>
                    </a:solidFill>
                  </a:tcPr>
                </a:tc>
                <a:tc>
                  <a:txBody>
                    <a:bodyPr wrap="square"/>
                    <a:lstStyle/>
                    <a:p>
                      <a:r>
                        <a:rPr sz="800" b="0" i="0">
                          <a:solidFill>
                            <a:srgbClr val="1F2421"/>
                          </a:solidFill>
                          <a:latin typeface="Arial"/>
                        </a:rPr>
                        <a:t>Management sees its own cycle first</a:t>
                      </a:r>
                    </a:p>
                  </a:txBody>
                  <a:tcPr marL="45720" marR="45720" marT="18288" marB="18288" anchor="ctr">
                    <a:solidFill>
                      <a:srgbClr val="FFFFFF"/>
                    </a:solidFill>
                  </a:tcPr>
                </a:tc>
                <a:tc>
                  <a:txBody>
                    <a:bodyPr wrap="square"/>
                    <a:lstStyle/>
                    <a:p>
                      <a:r>
                        <a:rPr sz="800" b="0" i="0">
                          <a:solidFill>
                            <a:srgbClr val="1F2421"/>
                          </a:solidFill>
                          <a:latin typeface="Arial"/>
                        </a:rPr>
                        <a:t>Record 40.4% non-GAAP gross margin; guided to “moderate”</a:t>
                      </a:r>
                    </a:p>
                  </a:txBody>
                  <a:tcPr marL="45720" marR="45720" marT="18288" marB="18288" anchor="ctr">
                    <a:solidFill>
                      <a:srgbClr val="FFFFFF"/>
                    </a:solidFill>
                  </a:tcPr>
                </a:tc>
                <a:tc>
                  <a:txBody>
                    <a:bodyPr wrap="square"/>
                    <a:lstStyle/>
                    <a:p>
                      <a:r>
                        <a:rPr sz="800" b="0" i="0">
                          <a:solidFill>
                            <a:srgbClr val="1F2421"/>
                          </a:solidFill>
                          <a:latin typeface="Arial"/>
                        </a:rPr>
                        <a:t>Present</a:t>
                      </a:r>
                    </a:p>
                  </a:txBody>
                  <a:tcPr marL="45720" marR="45720" marT="18288" marB="18288" anchor="ctr">
                    <a:solidFill>
                      <a:srgbClr val="FFFFFF"/>
                    </a:solidFill>
                  </a:tcPr>
                </a:tc>
              </a:tr>
              <a:tr h="310896">
                <a:tc>
                  <a:txBody>
                    <a:bodyPr wrap="square"/>
                    <a:lstStyle/>
                    <a:p>
                      <a:r>
                        <a:rPr sz="800" b="1" i="0">
                          <a:solidFill>
                            <a:srgbClr val="1F2421"/>
                          </a:solidFill>
                          <a:latin typeface="Arial"/>
                        </a:rPr>
                        <a:t>Inventory funded by suppliers</a:t>
                      </a:r>
                    </a:p>
                  </a:txBody>
                  <a:tcPr marL="45720" marR="45720" marT="18288" marB="18288" anchor="ctr">
                    <a:solidFill>
                      <a:srgbClr val="FFFFFF"/>
                    </a:solidFill>
                  </a:tcPr>
                </a:tc>
                <a:tc>
                  <a:txBody>
                    <a:bodyPr wrap="square"/>
                    <a:lstStyle/>
                    <a:p>
                      <a:r>
                        <a:rPr sz="800" b="0" i="0">
                          <a:solidFill>
                            <a:srgbClr val="1F2421"/>
                          </a:solidFill>
                          <a:latin typeface="Arial"/>
                        </a:rPr>
                        <a:t>Working capital flatters FCF at peaks, then unwinds</a:t>
                      </a:r>
                    </a:p>
                  </a:txBody>
                  <a:tcPr marL="45720" marR="45720" marT="18288" marB="18288" anchor="ctr">
                    <a:solidFill>
                      <a:srgbClr val="FFFFFF"/>
                    </a:solidFill>
                  </a:tcPr>
                </a:tc>
                <a:tc>
                  <a:txBody>
                    <a:bodyPr wrap="square"/>
                    <a:lstStyle/>
                    <a:p>
                      <a:r>
                        <a:rPr sz="800" b="0" i="0">
                          <a:solidFill>
                            <a:srgbClr val="1F2421"/>
                          </a:solidFill>
                          <a:latin typeface="Arial"/>
                        </a:rPr>
                        <a:t>Inventory +$5.5bn, payables +$6.0bn since Oct-2025</a:t>
                      </a:r>
                    </a:p>
                  </a:txBody>
                  <a:tcPr marL="45720" marR="45720" marT="18288" marB="18288" anchor="ctr">
                    <a:solidFill>
                      <a:srgbClr val="FFFFFF"/>
                    </a:solidFill>
                  </a:tcPr>
                </a:tc>
                <a:tc>
                  <a:txBody>
                    <a:bodyPr wrap="square"/>
                    <a:lstStyle/>
                    <a:p>
                      <a:r>
                        <a:rPr sz="800" b="0" i="0">
                          <a:solidFill>
                            <a:srgbClr val="1F2421"/>
                          </a:solidFill>
                          <a:latin typeface="Arial"/>
                        </a:rPr>
                        <a:t>Present</a:t>
                      </a:r>
                    </a:p>
                  </a:txBody>
                  <a:tcPr marL="45720" marR="45720" marT="18288" marB="18288" anchor="ctr">
                    <a:solidFill>
                      <a:srgbClr val="FFFFFF"/>
                    </a:solidFill>
                  </a:tcPr>
                </a:tc>
              </a:tr>
              <a:tr h="310896">
                <a:tc>
                  <a:txBody>
                    <a:bodyPr wrap="square"/>
                    <a:lstStyle/>
                    <a:p>
                      <a:r>
                        <a:rPr sz="800" b="1" i="0">
                          <a:solidFill>
                            <a:srgbClr val="1F2421"/>
                          </a:solidFill>
                          <a:latin typeface="Arial"/>
                        </a:rPr>
                        <a:t>Record backlog, supply-constrained</a:t>
                      </a:r>
                    </a:p>
                  </a:txBody>
                  <a:tcPr marL="45720" marR="45720" marT="18288" marB="18288" anchor="ctr">
                    <a:solidFill>
                      <a:srgbClr val="FFFFFF"/>
                    </a:solidFill>
                  </a:tcPr>
                </a:tc>
                <a:tc>
                  <a:txBody>
                    <a:bodyPr wrap="square"/>
                    <a:lstStyle/>
                    <a:p>
                      <a:r>
                        <a:rPr sz="800" b="0" i="0">
                          <a:solidFill>
                            <a:srgbClr val="1F2421"/>
                          </a:solidFill>
                          <a:latin typeface="Arial"/>
                        </a:rPr>
                        <a:t>Long lead times inflate orders; slippage follows when supply eases</a:t>
                      </a:r>
                    </a:p>
                  </a:txBody>
                  <a:tcPr marL="45720" marR="45720" marT="18288" marB="18288" anchor="ctr">
                    <a:solidFill>
                      <a:srgbClr val="FFFFFF"/>
                    </a:solidFill>
                  </a:tcPr>
                </a:tc>
                <a:tc>
                  <a:txBody>
                    <a:bodyPr wrap="square"/>
                    <a:lstStyle/>
                    <a:p>
                      <a:r>
                        <a:rPr sz="800" b="0" i="0">
                          <a:solidFill>
                            <a:srgbClr val="1F2421"/>
                          </a:solidFill>
                          <a:latin typeface="Arial"/>
                        </a:rPr>
                        <a:t>AI backlog $7.6bn; supply is the binding constraint</a:t>
                      </a:r>
                    </a:p>
                  </a:txBody>
                  <a:tcPr marL="45720" marR="45720" marT="18288" marB="18288" anchor="ctr">
                    <a:solidFill>
                      <a:srgbClr val="FFFFFF"/>
                    </a:solidFill>
                  </a:tcPr>
                </a:tc>
                <a:tc>
                  <a:txBody>
                    <a:bodyPr wrap="square"/>
                    <a:lstStyle/>
                    <a:p>
                      <a:r>
                        <a:rPr sz="800" b="0" i="0">
                          <a:solidFill>
                            <a:srgbClr val="1F2421"/>
                          </a:solidFill>
                          <a:latin typeface="Arial"/>
                        </a:rPr>
                        <a:t>Present</a:t>
                      </a:r>
                    </a:p>
                  </a:txBody>
                  <a:tcPr marL="45720" marR="45720" marT="18288" marB="18288" anchor="ctr">
                    <a:solidFill>
                      <a:srgbClr val="FFFFFF"/>
                    </a:solidFill>
                  </a:tcPr>
                </a:tc>
              </a:tr>
              <a:tr h="310896">
                <a:tc>
                  <a:txBody>
                    <a:bodyPr wrap="square"/>
                    <a:lstStyle/>
                    <a:p>
                      <a:r>
                        <a:rPr sz="800" b="1" i="0">
                          <a:solidFill>
                            <a:srgbClr val="1F2421"/>
                          </a:solidFill>
                          <a:latin typeface="Arial"/>
                        </a:rPr>
                        <a:t>Customers' capex at records</a:t>
                      </a:r>
                    </a:p>
                  </a:txBody>
                  <a:tcPr marL="45720" marR="45720" marT="18288" marB="18288" anchor="ctr">
                    <a:solidFill>
                      <a:srgbClr val="FFFFFF"/>
                    </a:solidFill>
                  </a:tcPr>
                </a:tc>
                <a:tc>
                  <a:txBody>
                    <a:bodyPr wrap="square"/>
                    <a:lstStyle/>
                    <a:p>
                      <a:r>
                        <a:rPr sz="800" b="0" i="0">
                          <a:solidFill>
                            <a:srgbClr val="1F2421"/>
                          </a:solidFill>
                          <a:latin typeface="Arial"/>
                        </a:rPr>
                        <a:t>Capex cycles overshoot, then digest</a:t>
                      </a:r>
                    </a:p>
                  </a:txBody>
                  <a:tcPr marL="45720" marR="45720" marT="18288" marB="18288" anchor="ctr">
                    <a:solidFill>
                      <a:srgbClr val="FFFFFF"/>
                    </a:solidFill>
                  </a:tcPr>
                </a:tc>
                <a:tc>
                  <a:txBody>
                    <a:bodyPr wrap="square"/>
                    <a:lstStyle/>
                    <a:p>
                      <a:r>
                        <a:rPr sz="800" b="0" i="0">
                          <a:solidFill>
                            <a:srgbClr val="1F2421"/>
                          </a:solidFill>
                          <a:latin typeface="Arial"/>
                        </a:rPr>
                        <a:t>Hyperscaler + Oracle capex $566bn TTM, +81%, partly debt-funded</a:t>
                      </a:r>
                    </a:p>
                  </a:txBody>
                  <a:tcPr marL="45720" marR="45720" marT="18288" marB="18288" anchor="ctr">
                    <a:solidFill>
                      <a:srgbClr val="FFFFFF"/>
                    </a:solidFill>
                  </a:tcPr>
                </a:tc>
                <a:tc>
                  <a:txBody>
                    <a:bodyPr wrap="square"/>
                    <a:lstStyle/>
                    <a:p>
                      <a:r>
                        <a:rPr sz="800" b="0" i="0">
                          <a:solidFill>
                            <a:srgbClr val="1F2421"/>
                          </a:solidFill>
                          <a:latin typeface="Arial"/>
                        </a:rPr>
                        <a:t>Present</a:t>
                      </a:r>
                    </a:p>
                  </a:txBody>
                  <a:tcPr marL="45720" marR="45720" marT="18288" marB="18288" anchor="ctr">
                    <a:solidFill>
                      <a:srgbClr val="FFFFFF"/>
                    </a:solidFill>
                  </a:tcPr>
                </a:tc>
              </a:tr>
              <a:tr h="310896">
                <a:tc>
                  <a:txBody>
                    <a:bodyPr wrap="square"/>
                    <a:lstStyle/>
                    <a:p>
                      <a:r>
                        <a:rPr sz="800" b="1" i="0">
                          <a:solidFill>
                            <a:srgbClr val="1F2421"/>
                          </a:solidFill>
                          <a:latin typeface="Arial"/>
                        </a:rPr>
                        <a:t>Multiple above its own history</a:t>
                      </a:r>
                    </a:p>
                  </a:txBody>
                  <a:tcPr marL="45720" marR="45720" marT="18288" marB="18288" anchor="ctr">
                    <a:solidFill>
                      <a:srgbClr val="FFFFFF"/>
                    </a:solidFill>
                  </a:tcPr>
                </a:tc>
                <a:tc>
                  <a:txBody>
                    <a:bodyPr wrap="square"/>
                    <a:lstStyle/>
                    <a:p>
                      <a:r>
                        <a:rPr sz="800" b="0" i="0">
                          <a:solidFill>
                            <a:srgbClr val="1F2421"/>
                          </a:solidFill>
                          <a:latin typeface="Arial"/>
                        </a:rPr>
                        <a:t>Peak earnings × peak multiple = double exposure</a:t>
                      </a:r>
                    </a:p>
                  </a:txBody>
                  <a:tcPr marL="45720" marR="45720" marT="18288" marB="18288" anchor="ctr">
                    <a:solidFill>
                      <a:srgbClr val="FFFFFF"/>
                    </a:solidFill>
                  </a:tcPr>
                </a:tc>
                <a:tc>
                  <a:txBody>
                    <a:bodyPr wrap="square"/>
                    <a:lstStyle/>
                    <a:p>
                      <a:r>
                        <a:rPr sz="800" b="0" i="0">
                          <a:solidFill>
                            <a:srgbClr val="1F2421"/>
                          </a:solidFill>
                          <a:latin typeface="Arial"/>
                        </a:rPr>
                        <a:t>13.5x FY27 EPS vs 4–10x FY20–24; peers 18–23x</a:t>
                      </a:r>
                    </a:p>
                  </a:txBody>
                  <a:tcPr marL="45720" marR="45720" marT="18288" marB="18288" anchor="ctr">
                    <a:solidFill>
                      <a:srgbClr val="FFFFFF"/>
                    </a:solidFill>
                  </a:tcPr>
                </a:tc>
                <a:tc>
                  <a:txBody>
                    <a:bodyPr wrap="square"/>
                    <a:lstStyle/>
                    <a:p>
                      <a:r>
                        <a:rPr sz="800" b="0" i="0">
                          <a:solidFill>
                            <a:srgbClr val="1F2421"/>
                          </a:solidFill>
                          <a:latin typeface="Arial"/>
                        </a:rPr>
                        <a:t>Present</a:t>
                      </a:r>
                    </a:p>
                  </a:txBody>
                  <a:tcPr marL="45720" marR="45720" marT="18288" marB="18288" anchor="ctr">
                    <a:solidFill>
                      <a:srgbClr val="FFFFFF"/>
                    </a:solidFill>
                  </a:tcPr>
                </a:tc>
              </a:tr>
              <a:tr h="310896">
                <a:tc>
                  <a:txBody>
                    <a:bodyPr wrap="square"/>
                    <a:lstStyle/>
                    <a:p>
                      <a:r>
                        <a:rPr sz="800" b="1" i="0">
                          <a:solidFill>
                            <a:srgbClr val="1F2421"/>
                          </a:solidFill>
                          <a:latin typeface="Arial"/>
                        </a:rPr>
                        <a:t>Momentum and insider selling</a:t>
                      </a:r>
                    </a:p>
                  </a:txBody>
                  <a:tcPr marL="45720" marR="45720" marT="18288" marB="18288" anchor="ctr">
                    <a:solidFill>
                      <a:srgbClr val="FFFFFF"/>
                    </a:solidFill>
                  </a:tcPr>
                </a:tc>
                <a:tc>
                  <a:txBody>
                    <a:bodyPr wrap="square"/>
                    <a:lstStyle/>
                    <a:p>
                      <a:r>
                        <a:rPr sz="800" b="0" i="0">
                          <a:solidFill>
                            <a:srgbClr val="1F2421"/>
                          </a:solidFill>
                          <a:latin typeface="Arial"/>
                        </a:rPr>
                        <a:t>Informed sellers, no informed buyers</a:t>
                      </a:r>
                    </a:p>
                  </a:txBody>
                  <a:tcPr marL="45720" marR="45720" marT="18288" marB="18288" anchor="ctr">
                    <a:solidFill>
                      <a:srgbClr val="FFFFFF"/>
                    </a:solidFill>
                  </a:tcPr>
                </a:tc>
                <a:tc>
                  <a:txBody>
                    <a:bodyPr wrap="square"/>
                    <a:lstStyle/>
                    <a:p>
                      <a:r>
                        <a:rPr sz="800" b="0" i="0">
                          <a:solidFill>
                            <a:srgbClr val="1F2421"/>
                          </a:solidFill>
                          <a:latin typeface="Arial"/>
                        </a:rPr>
                        <a:t>+155% in a year; 2-Jun +19.5% on 7.4x volume; 31 insider sales, no buys (mostly pre-rally)</a:t>
                      </a:r>
                    </a:p>
                  </a:txBody>
                  <a:tcPr marL="45720" marR="45720" marT="18288" marB="18288" anchor="ctr">
                    <a:solidFill>
                      <a:srgbClr val="FFFFFF"/>
                    </a:solidFill>
                  </a:tcPr>
                </a:tc>
                <a:tc>
                  <a:txBody>
                    <a:bodyPr wrap="square"/>
                    <a:lstStyle/>
                    <a:p>
                      <a:r>
                        <a:rPr sz="800" b="0" i="0">
                          <a:solidFill>
                            <a:srgbClr val="1F2421"/>
                          </a:solidFill>
                          <a:latin typeface="Arial"/>
                        </a:rPr>
                        <a:t>Partly</a:t>
                      </a:r>
                    </a:p>
                  </a:txBody>
                  <a:tcPr marL="45720" marR="45720" marT="18288" marB="18288" anchor="ctr">
                    <a:solidFill>
                      <a:srgbClr val="FFFFFF"/>
                    </a:solidFill>
                  </a:tcPr>
                </a:tc>
              </a:tr>
            </a:tbl>
          </a:graphicData>
        </a:graphic>
      </p:graphicFrame>
      <p:sp>
        <p:nvSpPr>
          <p:cNvPr id="10" name="TextBox 135"/>
          <p:cNvSpPr txBox="1"/>
          <p:nvPr/>
        </p:nvSpPr>
        <p:spPr>
          <a:xfrm>
            <a:off x="320040" y="4023360"/>
            <a:ext cx="850392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STRUCTURAL OFFSETS: WHY THIS IS NOT ONLY A CYCLE</a:t>
            </a:r>
          </a:p>
        </p:txBody>
      </p:sp>
      <p:sp>
        <p:nvSpPr>
          <p:cNvPr id="11" name="TextBox 136"/>
          <p:cNvSpPr txBox="1"/>
          <p:nvPr/>
        </p:nvSpPr>
        <p:spPr>
          <a:xfrm>
            <a:off x="320040" y="4242816"/>
            <a:ext cx="8503920" cy="320040"/>
          </a:xfrm>
          <a:prstGeom prst="rect">
            <a:avLst/>
          </a:prstGeom>
          <a:noFill/>
        </p:spPr>
        <p:txBody>
          <a:bodyPr wrap="square" anchor="t" lIns="36576" rIns="36576" tIns="18288" bIns="18288">
            <a:spAutoFit/>
          </a:bodyPr>
          <a:lstStyle/>
          <a:p>
            <a:pPr algn="l">
              <a:spcAft>
                <a:spcPts val="500"/>
              </a:spcAft>
            </a:pPr>
            <a:r>
              <a:rPr sz="950" b="0">
                <a:solidFill>
                  <a:srgbClr val="1F2421"/>
                </a:solidFill>
                <a:latin typeface="Arial"/>
              </a:rPr>
              <a:t>Networking earns 40% of segment profit  ·  ROIC 11.2% above the 9.3% WACC  ·  ARR $3.15bn, +63%  ·  FY27 framework raised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Record free cash flow, but suppliers fund the AI backlog</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2 · STRUCTURE VS CYCLE · CASH QUALITY</a:t>
            </a:r>
          </a:p>
        </p:txBody>
      </p:sp>
      <p:sp>
        <p:nvSpPr>
          <p:cNvPr id="6"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Pattern: </a:t>
            </a:r>
            <a:r>
              <a:rPr sz="1050" b="0" i="1">
                <a:solidFill>
                  <a:srgbClr val="1F2421"/>
                </a:solidFill>
                <a:latin typeface="Arial"/>
              </a:rPr>
              <a:t>at cycle peaks suppliers finance inventory, so free cash flow looks best just before it reverses.</a:t>
            </a:r>
          </a:p>
        </p:txBody>
      </p:sp>
      <p:sp>
        <p:nvSpPr>
          <p:cNvPr id="7" name="TextBox 132"/>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HPE 10-K/10-Q; Q3 FY26 press release; Bona Fide analysis.</a:t>
            </a:r>
          </a:p>
        </p:txBody>
      </p:sp>
      <p:sp>
        <p:nvSpPr>
          <p:cNvPr id="8" name="TextBox 133"/>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12</a:t>
            </a:r>
          </a:p>
        </p:txBody>
      </p:sp>
      <p:pic>
        <p:nvPicPr>
          <p:cNvPr id="9" name="Picture 134" descr="fin_fcf_deck.png"/>
          <p:cNvPicPr>
            <a:picLocks noChangeAspect="1"/>
          </p:cNvPicPr>
          <p:nvPr/>
        </p:nvPicPr>
        <p:blipFill>
          <a:blip r:embed="rId3"/>
          <a:stretch>
            <a:fillRect/>
          </a:stretch>
        </p:blipFill>
        <p:spPr>
          <a:xfrm>
            <a:off x="274320" y="1417320"/>
            <a:ext cx="4251960" cy="1485624"/>
          </a:xfrm>
          <a:prstGeom prst="rect">
            <a:avLst/>
          </a:prstGeom>
        </p:spPr>
      </p:pic>
      <p:pic>
        <p:nvPicPr>
          <p:cNvPr id="10" name="Picture 135" descr="fin_working_capital_deck.png"/>
          <p:cNvPicPr>
            <a:picLocks noChangeAspect="1"/>
          </p:cNvPicPr>
          <p:nvPr/>
        </p:nvPicPr>
        <p:blipFill>
          <a:blip r:embed="rId4"/>
          <a:stretch>
            <a:fillRect/>
          </a:stretch>
        </p:blipFill>
        <p:spPr>
          <a:xfrm>
            <a:off x="4617720" y="1417320"/>
            <a:ext cx="4206240" cy="1353039"/>
          </a:xfrm>
          <a:prstGeom prst="rect">
            <a:avLst/>
          </a:prstGeom>
        </p:spPr>
      </p:pic>
      <p:sp>
        <p:nvSpPr>
          <p:cNvPr id="11" name="Rectangle 135"/>
          <p:cNvSpPr/>
          <p:nvPr/>
        </p:nvSpPr>
        <p:spPr>
          <a:xfrm>
            <a:off x="320040" y="3611880"/>
            <a:ext cx="2039112" cy="1051560"/>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36"/>
          <p:cNvSpPr txBox="1"/>
          <p:nvPr/>
        </p:nvSpPr>
        <p:spPr>
          <a:xfrm>
            <a:off x="393192" y="3657600"/>
            <a:ext cx="1892807"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GROSS DEBT / CASH</a:t>
            </a:r>
          </a:p>
        </p:txBody>
      </p:sp>
      <p:sp>
        <p:nvSpPr>
          <p:cNvPr id="13" name="TextBox 137"/>
          <p:cNvSpPr txBox="1"/>
          <p:nvPr/>
        </p:nvSpPr>
        <p:spPr>
          <a:xfrm>
            <a:off x="393192" y="3831336"/>
            <a:ext cx="1892807" cy="384048"/>
          </a:xfrm>
          <a:prstGeom prst="rect">
            <a:avLst/>
          </a:prstGeom>
          <a:noFill/>
        </p:spPr>
        <p:txBody>
          <a:bodyPr wrap="square" anchor="t" lIns="36576" rIns="36576" tIns="18288" bIns="18288">
            <a:spAutoFit/>
          </a:bodyPr>
          <a:lstStyle/>
          <a:p>
            <a:pPr algn="l">
              <a:spcAft>
                <a:spcPts val="300"/>
              </a:spcAft>
            </a:pPr>
            <a:r>
              <a:rPr sz="1600" b="1">
                <a:solidFill>
                  <a:srgbClr val="135927"/>
                </a:solidFill>
                <a:latin typeface="Twentieth Century"/>
              </a:rPr>
              <a:t>$20.2bn / $6.2bn</a:t>
            </a:r>
          </a:p>
        </p:txBody>
      </p:sp>
      <p:sp>
        <p:nvSpPr>
          <p:cNvPr id="14" name="TextBox 138"/>
          <p:cNvSpPr txBox="1"/>
          <p:nvPr/>
        </p:nvSpPr>
        <p:spPr>
          <a:xfrm>
            <a:off x="393192" y="4389120"/>
            <a:ext cx="1892807"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~$11.5bn funds FS receivables (est.)</a:t>
            </a:r>
          </a:p>
        </p:txBody>
      </p:sp>
      <p:sp>
        <p:nvSpPr>
          <p:cNvPr id="15" name="Rectangle 139"/>
          <p:cNvSpPr/>
          <p:nvPr/>
        </p:nvSpPr>
        <p:spPr>
          <a:xfrm>
            <a:off x="2450592" y="3611880"/>
            <a:ext cx="2039112" cy="1051560"/>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40"/>
          <p:cNvSpPr txBox="1"/>
          <p:nvPr/>
        </p:nvSpPr>
        <p:spPr>
          <a:xfrm>
            <a:off x="2523744" y="3657600"/>
            <a:ext cx="1892807"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FULLY DILUTED SHARES</a:t>
            </a:r>
          </a:p>
        </p:txBody>
      </p:sp>
      <p:sp>
        <p:nvSpPr>
          <p:cNvPr id="17" name="TextBox 141"/>
          <p:cNvSpPr txBox="1"/>
          <p:nvPr/>
        </p:nvSpPr>
        <p:spPr>
          <a:xfrm>
            <a:off x="2523744" y="3831336"/>
            <a:ext cx="1892807" cy="384048"/>
          </a:xfrm>
          <a:prstGeom prst="rect">
            <a:avLst/>
          </a:prstGeom>
          <a:noFill/>
        </p:spPr>
        <p:txBody>
          <a:bodyPr wrap="square" anchor="t" lIns="36576" rIns="36576" tIns="18288" bIns="18288">
            <a:spAutoFit/>
          </a:bodyPr>
          <a:lstStyle/>
          <a:p>
            <a:pPr algn="l">
              <a:spcAft>
                <a:spcPts val="300"/>
              </a:spcAft>
            </a:pPr>
            <a:r>
              <a:rPr sz="1600" b="1">
                <a:solidFill>
                  <a:srgbClr val="135927"/>
                </a:solidFill>
                <a:latin typeface="Twentieth Century"/>
              </a:rPr>
              <a:t>1,445m</a:t>
            </a:r>
          </a:p>
        </p:txBody>
      </p:sp>
      <p:sp>
        <p:nvSpPr>
          <p:cNvPr id="18" name="TextBox 142"/>
          <p:cNvSpPr txBox="1"/>
          <p:nvPr/>
        </p:nvSpPr>
        <p:spPr>
          <a:xfrm>
            <a:off x="2523744" y="4389120"/>
            <a:ext cx="1892807"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+8.8% vs basic</a:t>
            </a:r>
          </a:p>
        </p:txBody>
      </p:sp>
      <p:sp>
        <p:nvSpPr>
          <p:cNvPr id="19" name="Rectangle 143"/>
          <p:cNvSpPr/>
          <p:nvPr/>
        </p:nvSpPr>
        <p:spPr>
          <a:xfrm>
            <a:off x="4581144" y="3611880"/>
            <a:ext cx="2039112" cy="1051560"/>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44"/>
          <p:cNvSpPr txBox="1"/>
          <p:nvPr/>
        </p:nvSpPr>
        <p:spPr>
          <a:xfrm>
            <a:off x="4654296" y="3657600"/>
            <a:ext cx="1892807"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LIQUIDITY</a:t>
            </a:r>
          </a:p>
        </p:txBody>
      </p:sp>
      <p:sp>
        <p:nvSpPr>
          <p:cNvPr id="21" name="TextBox 145"/>
          <p:cNvSpPr txBox="1"/>
          <p:nvPr/>
        </p:nvSpPr>
        <p:spPr>
          <a:xfrm>
            <a:off x="4654296" y="3831336"/>
            <a:ext cx="1892807" cy="384048"/>
          </a:xfrm>
          <a:prstGeom prst="rect">
            <a:avLst/>
          </a:prstGeom>
          <a:noFill/>
        </p:spPr>
        <p:txBody>
          <a:bodyPr wrap="square" anchor="t" lIns="36576" rIns="36576" tIns="18288" bIns="18288">
            <a:spAutoFit/>
          </a:bodyPr>
          <a:lstStyle/>
          <a:p>
            <a:pPr algn="l">
              <a:spcAft>
                <a:spcPts val="300"/>
              </a:spcAft>
            </a:pPr>
            <a:r>
              <a:rPr sz="1600" b="1">
                <a:solidFill>
                  <a:srgbClr val="135927"/>
                </a:solidFill>
                <a:latin typeface="Twentieth Century"/>
              </a:rPr>
              <a:t>$11.5bn</a:t>
            </a:r>
          </a:p>
        </p:txBody>
      </p:sp>
      <p:sp>
        <p:nvSpPr>
          <p:cNvPr id="22" name="TextBox 146"/>
          <p:cNvSpPr txBox="1"/>
          <p:nvPr/>
        </p:nvSpPr>
        <p:spPr>
          <a:xfrm>
            <a:off x="4654296" y="4389120"/>
            <a:ext cx="1892807"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cash + undrawn revolver</a:t>
            </a:r>
          </a:p>
        </p:txBody>
      </p:sp>
      <p:sp>
        <p:nvSpPr>
          <p:cNvPr id="23" name="Rectangle 147"/>
          <p:cNvSpPr/>
          <p:nvPr/>
        </p:nvSpPr>
        <p:spPr>
          <a:xfrm>
            <a:off x="6711696" y="3611880"/>
            <a:ext cx="2039112" cy="1051560"/>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148"/>
          <p:cNvSpPr txBox="1"/>
          <p:nvPr/>
        </p:nvSpPr>
        <p:spPr>
          <a:xfrm>
            <a:off x="6784848" y="3657600"/>
            <a:ext cx="1892807"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BUYBACK AUTHORISATION</a:t>
            </a:r>
          </a:p>
        </p:txBody>
      </p:sp>
      <p:sp>
        <p:nvSpPr>
          <p:cNvPr id="25" name="TextBox 149"/>
          <p:cNvSpPr txBox="1"/>
          <p:nvPr/>
        </p:nvSpPr>
        <p:spPr>
          <a:xfrm>
            <a:off x="6784848" y="3831336"/>
            <a:ext cx="1892807" cy="384048"/>
          </a:xfrm>
          <a:prstGeom prst="rect">
            <a:avLst/>
          </a:prstGeom>
          <a:noFill/>
        </p:spPr>
        <p:txBody>
          <a:bodyPr wrap="square" anchor="t" lIns="36576" rIns="36576" tIns="18288" bIns="18288">
            <a:spAutoFit/>
          </a:bodyPr>
          <a:lstStyle/>
          <a:p>
            <a:pPr algn="l">
              <a:spcAft>
                <a:spcPts val="300"/>
              </a:spcAft>
            </a:pPr>
            <a:r>
              <a:rPr sz="1600" b="1">
                <a:solidFill>
                  <a:srgbClr val="135927"/>
                </a:solidFill>
                <a:latin typeface="Twentieth Century"/>
              </a:rPr>
              <a:t>$3.2bn</a:t>
            </a:r>
          </a:p>
        </p:txBody>
      </p:sp>
      <p:sp>
        <p:nvSpPr>
          <p:cNvPr id="26" name="TextBox 150"/>
          <p:cNvSpPr txBox="1"/>
          <p:nvPr/>
        </p:nvSpPr>
        <p:spPr>
          <a:xfrm>
            <a:off x="6784848" y="4389120"/>
            <a:ext cx="1892807"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≥75% of FCF returned from Q4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Steelman: at peer multiples, HPE is worth $67–106</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3 · WHAT THE PRICE ASSUMES · STEELMAN</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SEC XBRL TTM fundamentals; prices 11-Sep-2026; consensus EPS Yahoo Finance; Bona Fide analysis.</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13</a:t>
            </a:r>
          </a:p>
        </p:txBody>
      </p:sp>
      <p:graphicFrame>
        <p:nvGraphicFramePr>
          <p:cNvPr id="8" name="Table 133"/>
          <p:cNvGraphicFramePr>
            <a:graphicFrameLocks noGrp="1"/>
          </p:cNvGraphicFramePr>
          <p:nvPr/>
        </p:nvGraphicFramePr>
        <p:xfrm>
          <a:off x="320040" y="1463040"/>
          <a:ext cx="5120640" cy="2112264"/>
        </p:xfrm>
        <a:graphic>
          <a:graphicData uri="http://schemas.openxmlformats.org/drawingml/2006/table">
            <a:tbl>
              <a:tblPr firstRow="1">
                <a:tableStyleId>{5C22544A-7EE6-4342-B048-85BDC9FD1C3A}</a:tableStyleId>
              </a:tblPr>
              <a:tblGrid>
                <a:gridCol w="1097280"/>
                <a:gridCol w="658368"/>
                <a:gridCol w="566928"/>
                <a:gridCol w="731520"/>
                <a:gridCol w="658368"/>
                <a:gridCol w="731520"/>
                <a:gridCol w="676656"/>
              </a:tblGrid>
              <a:tr h="301752">
                <a:tc>
                  <a:txBody>
                    <a:bodyPr/>
                    <a:lstStyle/>
                    <a:p>
                      <a:pPr algn="l"/>
                      <a:r>
                        <a:rPr sz="850" b="1">
                          <a:solidFill>
                            <a:srgbClr val="FCC80D"/>
                          </a:solidFill>
                          <a:latin typeface="Arial"/>
                        </a:rPr>
                        <a:t>Company</a:t>
                      </a:r>
                    </a:p>
                  </a:txBody>
                  <a:tcPr marL="45720" marR="45720" marT="13716" marB="13716" anchor="ctr">
                    <a:solidFill>
                      <a:srgbClr val="135927"/>
                    </a:solidFill>
                  </a:tcPr>
                </a:tc>
                <a:tc>
                  <a:txBody>
                    <a:bodyPr/>
                    <a:lstStyle/>
                    <a:p>
                      <a:pPr algn="l"/>
                      <a:r>
                        <a:rPr sz="850" b="1">
                          <a:solidFill>
                            <a:srgbClr val="FCC80D"/>
                          </a:solidFill>
                          <a:latin typeface="Arial"/>
                        </a:rPr>
                        <a:t>Rev $bn</a:t>
                      </a:r>
                    </a:p>
                  </a:txBody>
                  <a:tcPr marL="45720" marR="45720" marT="13716" marB="13716" anchor="ctr">
                    <a:solidFill>
                      <a:srgbClr val="135927"/>
                    </a:solidFill>
                  </a:tcPr>
                </a:tc>
                <a:tc>
                  <a:txBody>
                    <a:bodyPr/>
                    <a:lstStyle/>
                    <a:p>
                      <a:pPr algn="l"/>
                      <a:r>
                        <a:rPr sz="850" b="1">
                          <a:solidFill>
                            <a:srgbClr val="FCC80D"/>
                          </a:solidFill>
                          <a:latin typeface="Arial"/>
                        </a:rPr>
                        <a:t>GM</a:t>
                      </a:r>
                    </a:p>
                  </a:txBody>
                  <a:tcPr marL="45720" marR="45720" marT="13716" marB="13716" anchor="ctr">
                    <a:solidFill>
                      <a:srgbClr val="135927"/>
                    </a:solidFill>
                  </a:tcPr>
                </a:tc>
                <a:tc>
                  <a:txBody>
                    <a:bodyPr/>
                    <a:lstStyle/>
                    <a:p>
                      <a:pPr algn="l"/>
                      <a:r>
                        <a:rPr sz="850" b="1">
                          <a:solidFill>
                            <a:srgbClr val="FCC80D"/>
                          </a:solidFill>
                          <a:latin typeface="Arial"/>
                        </a:rPr>
                        <a:t>Op. margin</a:t>
                      </a:r>
                    </a:p>
                  </a:txBody>
                  <a:tcPr marL="45720" marR="45720" marT="13716" marB="13716" anchor="ctr">
                    <a:solidFill>
                      <a:srgbClr val="135927"/>
                    </a:solidFill>
                  </a:tcPr>
                </a:tc>
                <a:tc>
                  <a:txBody>
                    <a:bodyPr/>
                    <a:lstStyle/>
                    <a:p>
                      <a:pPr algn="l"/>
                      <a:r>
                        <a:rPr sz="850" b="1">
                          <a:solidFill>
                            <a:srgbClr val="FCC80D"/>
                          </a:solidFill>
                          <a:latin typeface="Arial"/>
                        </a:rPr>
                        <a:t>FCF mgn</a:t>
                      </a:r>
                    </a:p>
                  </a:txBody>
                  <a:tcPr marL="45720" marR="45720" marT="13716" marB="13716" anchor="ctr">
                    <a:solidFill>
                      <a:srgbClr val="135927"/>
                    </a:solidFill>
                  </a:tcPr>
                </a:tc>
                <a:tc>
                  <a:txBody>
                    <a:bodyPr/>
                    <a:lstStyle/>
                    <a:p>
                      <a:pPr algn="l"/>
                      <a:r>
                        <a:rPr sz="850" b="1">
                          <a:solidFill>
                            <a:srgbClr val="FCC80D"/>
                          </a:solidFill>
                          <a:latin typeface="Arial"/>
                        </a:rPr>
                        <a:t>P/E NFY</a:t>
                      </a:r>
                    </a:p>
                  </a:txBody>
                  <a:tcPr marL="45720" marR="45720" marT="13716" marB="13716" anchor="ctr">
                    <a:solidFill>
                      <a:srgbClr val="135927"/>
                    </a:solidFill>
                  </a:tcPr>
                </a:tc>
                <a:tc>
                  <a:txBody>
                    <a:bodyPr/>
                    <a:lstStyle/>
                    <a:p>
                      <a:pPr algn="l"/>
                      <a:r>
                        <a:rPr sz="850" b="1">
                          <a:solidFill>
                            <a:srgbClr val="FCC80D"/>
                          </a:solidFill>
                          <a:latin typeface="Arial"/>
                        </a:rPr>
                        <a:t>EV/Rev</a:t>
                      </a:r>
                    </a:p>
                  </a:txBody>
                  <a:tcPr marL="45720" marR="45720" marT="13716" marB="13716" anchor="ctr">
                    <a:solidFill>
                      <a:srgbClr val="135927"/>
                    </a:solidFill>
                  </a:tcPr>
                </a:tc>
              </a:tr>
              <a:tr h="301752">
                <a:tc>
                  <a:txBody>
                    <a:bodyPr/>
                    <a:lstStyle/>
                    <a:p>
                      <a:pPr algn="l"/>
                      <a:r>
                        <a:rPr sz="850" b="1">
                          <a:solidFill>
                            <a:srgbClr val="1F2421"/>
                          </a:solidFill>
                          <a:latin typeface="Arial"/>
                        </a:rPr>
                        <a:t>HPE</a:t>
                      </a:r>
                    </a:p>
                  </a:txBody>
                  <a:tcPr marL="45720" marR="45720" marT="13716" marB="13716" anchor="ctr">
                    <a:solidFill>
                      <a:srgbClr val="FEF4CC"/>
                    </a:solidFill>
                  </a:tcPr>
                </a:tc>
                <a:tc>
                  <a:txBody>
                    <a:bodyPr/>
                    <a:lstStyle/>
                    <a:p>
                      <a:pPr algn="r"/>
                      <a:r>
                        <a:rPr sz="850" b="0">
                          <a:solidFill>
                            <a:srgbClr val="1F2421"/>
                          </a:solidFill>
                          <a:latin typeface="Arial"/>
                        </a:rPr>
                        <a:t>41.9</a:t>
                      </a:r>
                    </a:p>
                  </a:txBody>
                  <a:tcPr marL="45720" marR="45720" marT="13716" marB="13716" anchor="ctr">
                    <a:solidFill>
                      <a:srgbClr val="FEF4CC"/>
                    </a:solidFill>
                  </a:tcPr>
                </a:tc>
                <a:tc>
                  <a:txBody>
                    <a:bodyPr/>
                    <a:lstStyle/>
                    <a:p>
                      <a:pPr algn="r"/>
                      <a:r>
                        <a:rPr sz="850" b="0">
                          <a:solidFill>
                            <a:srgbClr val="1F2421"/>
                          </a:solidFill>
                          <a:latin typeface="Arial"/>
                        </a:rPr>
                        <a:t>37%</a:t>
                      </a:r>
                    </a:p>
                  </a:txBody>
                  <a:tcPr marL="45720" marR="45720" marT="13716" marB="13716" anchor="ctr">
                    <a:solidFill>
                      <a:srgbClr val="FEF4CC"/>
                    </a:solidFill>
                  </a:tcPr>
                </a:tc>
                <a:tc>
                  <a:txBody>
                    <a:bodyPr/>
                    <a:lstStyle/>
                    <a:p>
                      <a:pPr algn="r"/>
                      <a:r>
                        <a:rPr sz="850" b="0">
                          <a:solidFill>
                            <a:srgbClr val="1F2421"/>
                          </a:solidFill>
                          <a:latin typeface="Arial"/>
                        </a:rPr>
                        <a:t>6%</a:t>
                      </a:r>
                    </a:p>
                  </a:txBody>
                  <a:tcPr marL="45720" marR="45720" marT="13716" marB="13716" anchor="ctr">
                    <a:solidFill>
                      <a:srgbClr val="FEF4CC"/>
                    </a:solidFill>
                  </a:tcPr>
                </a:tc>
                <a:tc>
                  <a:txBody>
                    <a:bodyPr/>
                    <a:lstStyle/>
                    <a:p>
                      <a:pPr algn="r"/>
                      <a:r>
                        <a:rPr sz="850" b="0">
                          <a:solidFill>
                            <a:srgbClr val="1F2421"/>
                          </a:solidFill>
                          <a:latin typeface="Arial"/>
                        </a:rPr>
                        <a:t>11%</a:t>
                      </a:r>
                    </a:p>
                  </a:txBody>
                  <a:tcPr marL="45720" marR="45720" marT="13716" marB="13716" anchor="ctr">
                    <a:solidFill>
                      <a:srgbClr val="FEF4CC"/>
                    </a:solidFill>
                  </a:tcPr>
                </a:tc>
                <a:tc>
                  <a:txBody>
                    <a:bodyPr/>
                    <a:lstStyle/>
                    <a:p>
                      <a:pPr algn="r"/>
                      <a:r>
                        <a:rPr sz="850" b="0">
                          <a:solidFill>
                            <a:srgbClr val="1F2421"/>
                          </a:solidFill>
                          <a:latin typeface="Arial"/>
                        </a:rPr>
                        <a:t>13.5x</a:t>
                      </a:r>
                    </a:p>
                  </a:txBody>
                  <a:tcPr marL="45720" marR="45720" marT="13716" marB="13716" anchor="ctr">
                    <a:solidFill>
                      <a:srgbClr val="FEF4CC"/>
                    </a:solidFill>
                  </a:tcPr>
                </a:tc>
                <a:tc>
                  <a:txBody>
                    <a:bodyPr/>
                    <a:lstStyle/>
                    <a:p>
                      <a:pPr algn="r"/>
                      <a:r>
                        <a:rPr sz="850" b="0">
                          <a:solidFill>
                            <a:srgbClr val="1F2421"/>
                          </a:solidFill>
                          <a:latin typeface="Arial"/>
                        </a:rPr>
                        <a:t>2.3x</a:t>
                      </a:r>
                    </a:p>
                  </a:txBody>
                  <a:tcPr marL="45720" marR="45720" marT="13716" marB="13716" anchor="ctr">
                    <a:solidFill>
                      <a:srgbClr val="FEF4CC"/>
                    </a:solidFill>
                  </a:tcPr>
                </a:tc>
              </a:tr>
              <a:tr h="301752">
                <a:tc>
                  <a:txBody>
                    <a:bodyPr/>
                    <a:lstStyle/>
                    <a:p>
                      <a:pPr algn="l"/>
                      <a:r>
                        <a:rPr sz="850" b="1">
                          <a:solidFill>
                            <a:srgbClr val="1F2421"/>
                          </a:solidFill>
                          <a:latin typeface="Arial"/>
                        </a:rPr>
                        <a:t>Dell</a:t>
                      </a:r>
                    </a:p>
                  </a:txBody>
                  <a:tcPr marL="45720" marR="45720" marT="13716" marB="13716" anchor="ctr">
                    <a:solidFill>
                      <a:srgbClr val="ECF2ED"/>
                    </a:solidFill>
                  </a:tcPr>
                </a:tc>
                <a:tc>
                  <a:txBody>
                    <a:bodyPr/>
                    <a:lstStyle/>
                    <a:p>
                      <a:pPr algn="r"/>
                      <a:r>
                        <a:rPr sz="850" b="0">
                          <a:solidFill>
                            <a:srgbClr val="1F2421"/>
                          </a:solidFill>
                          <a:latin typeface="Arial"/>
                        </a:rPr>
                        <a:t>151.2</a:t>
                      </a:r>
                    </a:p>
                  </a:txBody>
                  <a:tcPr marL="45720" marR="45720" marT="13716" marB="13716" anchor="ctr">
                    <a:solidFill>
                      <a:srgbClr val="ECF2ED"/>
                    </a:solidFill>
                  </a:tcPr>
                </a:tc>
                <a:tc>
                  <a:txBody>
                    <a:bodyPr/>
                    <a:lstStyle/>
                    <a:p>
                      <a:pPr algn="r"/>
                      <a:r>
                        <a:rPr sz="850" b="0">
                          <a:solidFill>
                            <a:srgbClr val="1F2421"/>
                          </a:solidFill>
                          <a:latin typeface="Arial"/>
                        </a:rPr>
                        <a:t>20%</a:t>
                      </a:r>
                    </a:p>
                  </a:txBody>
                  <a:tcPr marL="45720" marR="45720" marT="13716" marB="13716" anchor="ctr">
                    <a:solidFill>
                      <a:srgbClr val="ECF2ED"/>
                    </a:solidFill>
                  </a:tcPr>
                </a:tc>
                <a:tc>
                  <a:txBody>
                    <a:bodyPr/>
                    <a:lstStyle/>
                    <a:p>
                      <a:pPr algn="r"/>
                      <a:r>
                        <a:rPr sz="850" b="0">
                          <a:solidFill>
                            <a:srgbClr val="1F2421"/>
                          </a:solidFill>
                          <a:latin typeface="Arial"/>
                        </a:rPr>
                        <a:t>9%</a:t>
                      </a:r>
                    </a:p>
                  </a:txBody>
                  <a:tcPr marL="45720" marR="45720" marT="13716" marB="13716" anchor="ctr">
                    <a:solidFill>
                      <a:srgbClr val="ECF2ED"/>
                    </a:solidFill>
                  </a:tcPr>
                </a:tc>
                <a:tc>
                  <a:txBody>
                    <a:bodyPr/>
                    <a:lstStyle/>
                    <a:p>
                      <a:pPr algn="r"/>
                      <a:r>
                        <a:rPr sz="850" b="0">
                          <a:solidFill>
                            <a:srgbClr val="1F2421"/>
                          </a:solidFill>
                          <a:latin typeface="Arial"/>
                        </a:rPr>
                        <a:t>6%</a:t>
                      </a:r>
                    </a:p>
                  </a:txBody>
                  <a:tcPr marL="45720" marR="45720" marT="13716" marB="13716" anchor="ctr">
                    <a:solidFill>
                      <a:srgbClr val="ECF2ED"/>
                    </a:solidFill>
                  </a:tcPr>
                </a:tc>
                <a:tc>
                  <a:txBody>
                    <a:bodyPr/>
                    <a:lstStyle/>
                    <a:p>
                      <a:pPr algn="r"/>
                      <a:r>
                        <a:rPr sz="850" b="0">
                          <a:solidFill>
                            <a:srgbClr val="1F2421"/>
                          </a:solidFill>
                          <a:latin typeface="Arial"/>
                        </a:rPr>
                        <a:t>23.0x</a:t>
                      </a:r>
                    </a:p>
                  </a:txBody>
                  <a:tcPr marL="45720" marR="45720" marT="13716" marB="13716" anchor="ctr">
                    <a:solidFill>
                      <a:srgbClr val="ECF2ED"/>
                    </a:solidFill>
                  </a:tcPr>
                </a:tc>
                <a:tc>
                  <a:txBody>
                    <a:bodyPr/>
                    <a:lstStyle/>
                    <a:p>
                      <a:pPr algn="r"/>
                      <a:r>
                        <a:rPr sz="850" b="0">
                          <a:solidFill>
                            <a:srgbClr val="1F2421"/>
                          </a:solidFill>
                          <a:latin typeface="Arial"/>
                        </a:rPr>
                        <a:t>2.5x</a:t>
                      </a:r>
                    </a:p>
                  </a:txBody>
                  <a:tcPr marL="45720" marR="45720" marT="13716" marB="13716" anchor="ctr">
                    <a:solidFill>
                      <a:srgbClr val="ECF2ED"/>
                    </a:solidFill>
                  </a:tcPr>
                </a:tc>
              </a:tr>
              <a:tr h="301752">
                <a:tc>
                  <a:txBody>
                    <a:bodyPr/>
                    <a:lstStyle/>
                    <a:p>
                      <a:pPr algn="l"/>
                      <a:r>
                        <a:rPr sz="850" b="1">
                          <a:solidFill>
                            <a:srgbClr val="1F2421"/>
                          </a:solidFill>
                          <a:latin typeface="Arial"/>
                        </a:rPr>
                        <a:t>Supermicro</a:t>
                      </a:r>
                    </a:p>
                  </a:txBody>
                  <a:tcPr marL="45720" marR="45720" marT="13716" marB="13716" anchor="ctr">
                    <a:solidFill>
                      <a:srgbClr val="FFFFFF"/>
                    </a:solidFill>
                  </a:tcPr>
                </a:tc>
                <a:tc>
                  <a:txBody>
                    <a:bodyPr/>
                    <a:lstStyle/>
                    <a:p>
                      <a:pPr algn="r"/>
                      <a:r>
                        <a:rPr sz="850" b="0">
                          <a:solidFill>
                            <a:srgbClr val="1F2421"/>
                          </a:solidFill>
                          <a:latin typeface="Arial"/>
                        </a:rPr>
                        <a:t>39.1</a:t>
                      </a:r>
                    </a:p>
                  </a:txBody>
                  <a:tcPr marL="45720" marR="45720" marT="13716" marB="13716" anchor="ctr">
                    <a:solidFill>
                      <a:srgbClr val="FFFFFF"/>
                    </a:solidFill>
                  </a:tcPr>
                </a:tc>
                <a:tc>
                  <a:txBody>
                    <a:bodyPr/>
                    <a:lstStyle/>
                    <a:p>
                      <a:pPr algn="r"/>
                      <a:r>
                        <a:rPr sz="850" b="0">
                          <a:solidFill>
                            <a:srgbClr val="1F2421"/>
                          </a:solidFill>
                          <a:latin typeface="Arial"/>
                        </a:rPr>
                        <a:t>11%</a:t>
                      </a:r>
                    </a:p>
                  </a:txBody>
                  <a:tcPr marL="45720" marR="45720" marT="13716" marB="13716" anchor="ctr">
                    <a:solidFill>
                      <a:srgbClr val="FFFFFF"/>
                    </a:solidFill>
                  </a:tcPr>
                </a:tc>
                <a:tc>
                  <a:txBody>
                    <a:bodyPr/>
                    <a:lstStyle/>
                    <a:p>
                      <a:pPr algn="r"/>
                      <a:r>
                        <a:rPr sz="850" b="0">
                          <a:solidFill>
                            <a:srgbClr val="1F2421"/>
                          </a:solidFill>
                          <a:latin typeface="Arial"/>
                        </a:rPr>
                        <a:t>7%</a:t>
                      </a:r>
                    </a:p>
                  </a:txBody>
                  <a:tcPr marL="45720" marR="45720" marT="13716" marB="13716" anchor="ctr">
                    <a:solidFill>
                      <a:srgbClr val="FFFFFF"/>
                    </a:solidFill>
                  </a:tcPr>
                </a:tc>
                <a:tc>
                  <a:txBody>
                    <a:bodyPr/>
                    <a:lstStyle/>
                    <a:p>
                      <a:pPr algn="r"/>
                      <a:r>
                        <a:rPr sz="850" b="0">
                          <a:solidFill>
                            <a:srgbClr val="1F2421"/>
                          </a:solidFill>
                          <a:latin typeface="Arial"/>
                        </a:rPr>
                        <a:t>-18%</a:t>
                      </a:r>
                    </a:p>
                  </a:txBody>
                  <a:tcPr marL="45720" marR="45720" marT="13716" marB="13716" anchor="ctr">
                    <a:solidFill>
                      <a:srgbClr val="FFFFFF"/>
                    </a:solidFill>
                  </a:tcPr>
                </a:tc>
                <a:tc>
                  <a:txBody>
                    <a:bodyPr/>
                    <a:lstStyle/>
                    <a:p>
                      <a:pPr algn="r"/>
                      <a:r>
                        <a:rPr sz="850" b="0">
                          <a:solidFill>
                            <a:srgbClr val="1F2421"/>
                          </a:solidFill>
                          <a:latin typeface="Arial"/>
                        </a:rPr>
                        <a:t>7.5x</a:t>
                      </a:r>
                    </a:p>
                  </a:txBody>
                  <a:tcPr marL="45720" marR="45720" marT="13716" marB="13716" anchor="ctr">
                    <a:solidFill>
                      <a:srgbClr val="FFFFFF"/>
                    </a:solidFill>
                  </a:tcPr>
                </a:tc>
                <a:tc>
                  <a:txBody>
                    <a:bodyPr/>
                    <a:lstStyle/>
                    <a:p>
                      <a:pPr algn="r"/>
                      <a:r>
                        <a:rPr sz="850" b="0">
                          <a:solidFill>
                            <a:srgbClr val="1F2421"/>
                          </a:solidFill>
                          <a:latin typeface="Arial"/>
                        </a:rPr>
                        <a:t>0.5x</a:t>
                      </a:r>
                    </a:p>
                  </a:txBody>
                  <a:tcPr marL="45720" marR="45720" marT="13716" marB="13716" anchor="ctr">
                    <a:solidFill>
                      <a:srgbClr val="FFFFFF"/>
                    </a:solidFill>
                  </a:tcPr>
                </a:tc>
              </a:tr>
              <a:tr h="301752">
                <a:tc>
                  <a:txBody>
                    <a:bodyPr/>
                    <a:lstStyle/>
                    <a:p>
                      <a:pPr algn="l"/>
                      <a:r>
                        <a:rPr sz="850" b="1">
                          <a:solidFill>
                            <a:srgbClr val="1F2421"/>
                          </a:solidFill>
                          <a:latin typeface="Arial"/>
                        </a:rPr>
                        <a:t>Cisco</a:t>
                      </a:r>
                    </a:p>
                  </a:txBody>
                  <a:tcPr marL="45720" marR="45720" marT="13716" marB="13716" anchor="ctr">
                    <a:solidFill>
                      <a:srgbClr val="ECF2ED"/>
                    </a:solidFill>
                  </a:tcPr>
                </a:tc>
                <a:tc>
                  <a:txBody>
                    <a:bodyPr/>
                    <a:lstStyle/>
                    <a:p>
                      <a:pPr algn="r"/>
                      <a:r>
                        <a:rPr sz="850" b="0">
                          <a:solidFill>
                            <a:srgbClr val="1F2421"/>
                          </a:solidFill>
                          <a:latin typeface="Arial"/>
                        </a:rPr>
                        <a:t>63.3</a:t>
                      </a:r>
                    </a:p>
                  </a:txBody>
                  <a:tcPr marL="45720" marR="45720" marT="13716" marB="13716" anchor="ctr">
                    <a:solidFill>
                      <a:srgbClr val="ECF2ED"/>
                    </a:solidFill>
                  </a:tcPr>
                </a:tc>
                <a:tc>
                  <a:txBody>
                    <a:bodyPr/>
                    <a:lstStyle/>
                    <a:p>
                      <a:pPr algn="r"/>
                      <a:r>
                        <a:rPr sz="850" b="0">
                          <a:solidFill>
                            <a:srgbClr val="1F2421"/>
                          </a:solidFill>
                          <a:latin typeface="Arial"/>
                        </a:rPr>
                        <a:t>65%</a:t>
                      </a:r>
                    </a:p>
                  </a:txBody>
                  <a:tcPr marL="45720" marR="45720" marT="13716" marB="13716" anchor="ctr">
                    <a:solidFill>
                      <a:srgbClr val="ECF2ED"/>
                    </a:solidFill>
                  </a:tcPr>
                </a:tc>
                <a:tc>
                  <a:txBody>
                    <a:bodyPr/>
                    <a:lstStyle/>
                    <a:p>
                      <a:pPr algn="r"/>
                      <a:r>
                        <a:rPr sz="850" b="0">
                          <a:solidFill>
                            <a:srgbClr val="1F2421"/>
                          </a:solidFill>
                          <a:latin typeface="Arial"/>
                        </a:rPr>
                        <a:t>24%</a:t>
                      </a:r>
                    </a:p>
                  </a:txBody>
                  <a:tcPr marL="45720" marR="45720" marT="13716" marB="13716" anchor="ctr">
                    <a:solidFill>
                      <a:srgbClr val="ECF2ED"/>
                    </a:solidFill>
                  </a:tcPr>
                </a:tc>
                <a:tc>
                  <a:txBody>
                    <a:bodyPr/>
                    <a:lstStyle/>
                    <a:p>
                      <a:pPr algn="r"/>
                      <a:r>
                        <a:rPr sz="850" b="0">
                          <a:solidFill>
                            <a:srgbClr val="1F2421"/>
                          </a:solidFill>
                          <a:latin typeface="Arial"/>
                        </a:rPr>
                        <a:t>20%</a:t>
                      </a:r>
                    </a:p>
                  </a:txBody>
                  <a:tcPr marL="45720" marR="45720" marT="13716" marB="13716" anchor="ctr">
                    <a:solidFill>
                      <a:srgbClr val="ECF2ED"/>
                    </a:solidFill>
                  </a:tcPr>
                </a:tc>
                <a:tc>
                  <a:txBody>
                    <a:bodyPr/>
                    <a:lstStyle/>
                    <a:p>
                      <a:pPr algn="r"/>
                      <a:r>
                        <a:rPr sz="850" b="0">
                          <a:solidFill>
                            <a:srgbClr val="1F2421"/>
                          </a:solidFill>
                          <a:latin typeface="Arial"/>
                        </a:rPr>
                        <a:t>20.0x</a:t>
                      </a:r>
                    </a:p>
                  </a:txBody>
                  <a:tcPr marL="45720" marR="45720" marT="13716" marB="13716" anchor="ctr">
                    <a:solidFill>
                      <a:srgbClr val="ECF2ED"/>
                    </a:solidFill>
                  </a:tcPr>
                </a:tc>
                <a:tc>
                  <a:txBody>
                    <a:bodyPr/>
                    <a:lstStyle/>
                    <a:p>
                      <a:pPr algn="r"/>
                      <a:r>
                        <a:rPr sz="850" b="0">
                          <a:solidFill>
                            <a:srgbClr val="1F2421"/>
                          </a:solidFill>
                          <a:latin typeface="Arial"/>
                        </a:rPr>
                        <a:t>7.1x</a:t>
                      </a:r>
                    </a:p>
                  </a:txBody>
                  <a:tcPr marL="45720" marR="45720" marT="13716" marB="13716" anchor="ctr">
                    <a:solidFill>
                      <a:srgbClr val="ECF2ED"/>
                    </a:solidFill>
                  </a:tcPr>
                </a:tc>
              </a:tr>
              <a:tr h="301752">
                <a:tc>
                  <a:txBody>
                    <a:bodyPr/>
                    <a:lstStyle/>
                    <a:p>
                      <a:pPr algn="l"/>
                      <a:r>
                        <a:rPr sz="850" b="1">
                          <a:solidFill>
                            <a:srgbClr val="1F2421"/>
                          </a:solidFill>
                          <a:latin typeface="Arial"/>
                        </a:rPr>
                        <a:t>Arista</a:t>
                      </a:r>
                    </a:p>
                  </a:txBody>
                  <a:tcPr marL="45720" marR="45720" marT="13716" marB="13716" anchor="ctr">
                    <a:solidFill>
                      <a:srgbClr val="FFFFFF"/>
                    </a:solidFill>
                  </a:tcPr>
                </a:tc>
                <a:tc>
                  <a:txBody>
                    <a:bodyPr/>
                    <a:lstStyle/>
                    <a:p>
                      <a:pPr algn="r"/>
                      <a:r>
                        <a:rPr sz="850" b="0">
                          <a:solidFill>
                            <a:srgbClr val="1F2421"/>
                          </a:solidFill>
                          <a:latin typeface="Arial"/>
                        </a:rPr>
                        <a:t>10.5</a:t>
                      </a:r>
                    </a:p>
                  </a:txBody>
                  <a:tcPr marL="45720" marR="45720" marT="13716" marB="13716" anchor="ctr">
                    <a:solidFill>
                      <a:srgbClr val="FFFFFF"/>
                    </a:solidFill>
                  </a:tcPr>
                </a:tc>
                <a:tc>
                  <a:txBody>
                    <a:bodyPr/>
                    <a:lstStyle/>
                    <a:p>
                      <a:pPr algn="r"/>
                      <a:r>
                        <a:rPr sz="850" b="0">
                          <a:solidFill>
                            <a:srgbClr val="1F2421"/>
                          </a:solidFill>
                          <a:latin typeface="Arial"/>
                        </a:rPr>
                        <a:t>63%</a:t>
                      </a:r>
                    </a:p>
                  </a:txBody>
                  <a:tcPr marL="45720" marR="45720" marT="13716" marB="13716" anchor="ctr">
                    <a:solidFill>
                      <a:srgbClr val="FFFFFF"/>
                    </a:solidFill>
                  </a:tcPr>
                </a:tc>
                <a:tc>
                  <a:txBody>
                    <a:bodyPr/>
                    <a:lstStyle/>
                    <a:p>
                      <a:pPr algn="r"/>
                      <a:r>
                        <a:rPr sz="850" b="0">
                          <a:solidFill>
                            <a:srgbClr val="1F2421"/>
                          </a:solidFill>
                          <a:latin typeface="Arial"/>
                        </a:rPr>
                        <a:t>43%</a:t>
                      </a:r>
                    </a:p>
                  </a:txBody>
                  <a:tcPr marL="45720" marR="45720" marT="13716" marB="13716" anchor="ctr">
                    <a:solidFill>
                      <a:srgbClr val="FFFFFF"/>
                    </a:solidFill>
                  </a:tcPr>
                </a:tc>
                <a:tc>
                  <a:txBody>
                    <a:bodyPr/>
                    <a:lstStyle/>
                    <a:p>
                      <a:pPr algn="r"/>
                      <a:r>
                        <a:rPr sz="850" b="0">
                          <a:solidFill>
                            <a:srgbClr val="1F2421"/>
                          </a:solidFill>
                          <a:latin typeface="Arial"/>
                        </a:rPr>
                        <a:t>n/a</a:t>
                      </a:r>
                    </a:p>
                  </a:txBody>
                  <a:tcPr marL="45720" marR="45720" marT="13716" marB="13716" anchor="ctr">
                    <a:solidFill>
                      <a:srgbClr val="FFFFFF"/>
                    </a:solidFill>
                  </a:tcPr>
                </a:tc>
                <a:tc>
                  <a:txBody>
                    <a:bodyPr/>
                    <a:lstStyle/>
                    <a:p>
                      <a:pPr algn="r"/>
                      <a:r>
                        <a:rPr sz="850" b="0">
                          <a:solidFill>
                            <a:srgbClr val="1F2421"/>
                          </a:solidFill>
                          <a:latin typeface="Arial"/>
                        </a:rPr>
                        <a:t>38.7x</a:t>
                      </a:r>
                    </a:p>
                  </a:txBody>
                  <a:tcPr marL="45720" marR="45720" marT="13716" marB="13716" anchor="ctr">
                    <a:solidFill>
                      <a:srgbClr val="FFFFFF"/>
                    </a:solidFill>
                  </a:tcPr>
                </a:tc>
                <a:tc>
                  <a:txBody>
                    <a:bodyPr/>
                    <a:lstStyle/>
                    <a:p>
                      <a:pPr algn="r"/>
                      <a:r>
                        <a:rPr sz="850" b="0">
                          <a:solidFill>
                            <a:srgbClr val="1F2421"/>
                          </a:solidFill>
                          <a:latin typeface="Arial"/>
                        </a:rPr>
                        <a:t>22.6x</a:t>
                      </a:r>
                    </a:p>
                  </a:txBody>
                  <a:tcPr marL="45720" marR="45720" marT="13716" marB="13716" anchor="ctr">
                    <a:solidFill>
                      <a:srgbClr val="FFFFFF"/>
                    </a:solidFill>
                  </a:tcPr>
                </a:tc>
              </a:tr>
              <a:tr h="301752">
                <a:tc>
                  <a:txBody>
                    <a:bodyPr/>
                    <a:lstStyle/>
                    <a:p>
                      <a:pPr algn="l"/>
                      <a:r>
                        <a:rPr sz="850" b="1">
                          <a:solidFill>
                            <a:srgbClr val="1F2421"/>
                          </a:solidFill>
                          <a:latin typeface="Arial"/>
                        </a:rPr>
                        <a:t>NetApp</a:t>
                      </a:r>
                    </a:p>
                  </a:txBody>
                  <a:tcPr marL="45720" marR="45720" marT="13716" marB="13716" anchor="ctr">
                    <a:solidFill>
                      <a:srgbClr val="ECF2ED"/>
                    </a:solidFill>
                  </a:tcPr>
                </a:tc>
                <a:tc>
                  <a:txBody>
                    <a:bodyPr/>
                    <a:lstStyle/>
                    <a:p>
                      <a:pPr algn="r"/>
                      <a:r>
                        <a:rPr sz="850" b="0">
                          <a:solidFill>
                            <a:srgbClr val="1F2421"/>
                          </a:solidFill>
                          <a:latin typeface="Arial"/>
                        </a:rPr>
                        <a:t>7.4</a:t>
                      </a:r>
                    </a:p>
                  </a:txBody>
                  <a:tcPr marL="45720" marR="45720" marT="13716" marB="13716" anchor="ctr">
                    <a:solidFill>
                      <a:srgbClr val="ECF2ED"/>
                    </a:solidFill>
                  </a:tcPr>
                </a:tc>
                <a:tc>
                  <a:txBody>
                    <a:bodyPr/>
                    <a:lstStyle/>
                    <a:p>
                      <a:pPr algn="r"/>
                      <a:r>
                        <a:rPr sz="850" b="0">
                          <a:solidFill>
                            <a:srgbClr val="1F2421"/>
                          </a:solidFill>
                          <a:latin typeface="Arial"/>
                        </a:rPr>
                        <a:t>71%</a:t>
                      </a:r>
                    </a:p>
                  </a:txBody>
                  <a:tcPr marL="45720" marR="45720" marT="13716" marB="13716" anchor="ctr">
                    <a:solidFill>
                      <a:srgbClr val="ECF2ED"/>
                    </a:solidFill>
                  </a:tcPr>
                </a:tc>
                <a:tc>
                  <a:txBody>
                    <a:bodyPr/>
                    <a:lstStyle/>
                    <a:p>
                      <a:pPr algn="r"/>
                      <a:r>
                        <a:rPr sz="850" b="0">
                          <a:solidFill>
                            <a:srgbClr val="1F2421"/>
                          </a:solidFill>
                          <a:latin typeface="Arial"/>
                        </a:rPr>
                        <a:t>25%</a:t>
                      </a:r>
                    </a:p>
                  </a:txBody>
                  <a:tcPr marL="45720" marR="45720" marT="13716" marB="13716" anchor="ctr">
                    <a:solidFill>
                      <a:srgbClr val="ECF2ED"/>
                    </a:solidFill>
                  </a:tcPr>
                </a:tc>
                <a:tc>
                  <a:txBody>
                    <a:bodyPr/>
                    <a:lstStyle/>
                    <a:p>
                      <a:pPr algn="r"/>
                      <a:r>
                        <a:rPr sz="850" b="0">
                          <a:solidFill>
                            <a:srgbClr val="1F2421"/>
                          </a:solidFill>
                          <a:latin typeface="Arial"/>
                        </a:rPr>
                        <a:t>22%</a:t>
                      </a:r>
                    </a:p>
                  </a:txBody>
                  <a:tcPr marL="45720" marR="45720" marT="13716" marB="13716" anchor="ctr">
                    <a:solidFill>
                      <a:srgbClr val="ECF2ED"/>
                    </a:solidFill>
                  </a:tcPr>
                </a:tc>
                <a:tc>
                  <a:txBody>
                    <a:bodyPr/>
                    <a:lstStyle/>
                    <a:p>
                      <a:pPr algn="r"/>
                      <a:r>
                        <a:rPr sz="850" b="0">
                          <a:solidFill>
                            <a:srgbClr val="1F2421"/>
                          </a:solidFill>
                          <a:latin typeface="Arial"/>
                        </a:rPr>
                        <a:t>18.0x</a:t>
                      </a:r>
                    </a:p>
                  </a:txBody>
                  <a:tcPr marL="45720" marR="45720" marT="13716" marB="13716" anchor="ctr">
                    <a:solidFill>
                      <a:srgbClr val="ECF2ED"/>
                    </a:solidFill>
                  </a:tcPr>
                </a:tc>
                <a:tc>
                  <a:txBody>
                    <a:bodyPr/>
                    <a:lstStyle/>
                    <a:p>
                      <a:pPr algn="r"/>
                      <a:r>
                        <a:rPr sz="850" b="0">
                          <a:solidFill>
                            <a:srgbClr val="1F2421"/>
                          </a:solidFill>
                          <a:latin typeface="Arial"/>
                        </a:rPr>
                        <a:t>5.1x</a:t>
                      </a:r>
                    </a:p>
                  </a:txBody>
                  <a:tcPr marL="45720" marR="45720" marT="13716" marB="13716" anchor="ctr">
                    <a:solidFill>
                      <a:srgbClr val="ECF2ED"/>
                    </a:solidFill>
                  </a:tcPr>
                </a:tc>
              </a:tr>
            </a:tbl>
          </a:graphicData>
        </a:graphic>
      </p:graphicFrame>
      <p:sp>
        <p:nvSpPr>
          <p:cNvPr id="9" name="TextBox 134"/>
          <p:cNvSpPr txBox="1"/>
          <p:nvPr/>
        </p:nvSpPr>
        <p:spPr>
          <a:xfrm>
            <a:off x="320040" y="3666744"/>
            <a:ext cx="5120640" cy="1042416"/>
          </a:xfrm>
          <a:prstGeom prst="rect">
            <a:avLst/>
          </a:prstGeom>
          <a:noFill/>
        </p:spPr>
        <p:txBody>
          <a:bodyPr wrap="square" anchor="t" lIns="36576" rIns="36576" tIns="18288" bIns="18288">
            <a:spAutoFit/>
          </a:bodyPr>
          <a:lstStyle/>
          <a:p>
            <a:pPr algn="l">
              <a:spcAft>
                <a:spcPts val="250"/>
              </a:spcAft>
            </a:pPr>
            <a:r>
              <a:rPr sz="600">
                <a:solidFill>
                  <a:srgbClr val="135927"/>
                </a:solidFill>
                <a:latin typeface="Arial"/>
              </a:rPr>
              <a:t>■  </a:t>
            </a:r>
            <a:r>
              <a:rPr sz="900" b="1">
                <a:solidFill>
                  <a:srgbClr val="1F2421"/>
                </a:solidFill>
                <a:latin typeface="Arial"/>
              </a:rPr>
              <a:t>Bull logic: </a:t>
            </a:r>
            <a:r>
              <a:rPr sz="900" b="0">
                <a:solidFill>
                  <a:srgbClr val="1F2421"/>
                </a:solidFill>
                <a:latin typeface="Arial"/>
              </a:rPr>
              <a:t>twice Dell's gross margin and a Cisco-like networking arm, yet 13.5x vs Dell 23.0x and Cisco 20.0x; sum of the parts $67–94.</a:t>
            </a:r>
          </a:p>
          <a:p>
            <a:pPr algn="l">
              <a:spcAft>
                <a:spcPts val="250"/>
              </a:spcAft>
            </a:pPr>
            <a:r>
              <a:rPr sz="600">
                <a:solidFill>
                  <a:srgbClr val="135927"/>
                </a:solidFill>
                <a:latin typeface="Arial"/>
              </a:rPr>
              <a:t>■  </a:t>
            </a:r>
            <a:r>
              <a:rPr sz="900" b="1">
                <a:solidFill>
                  <a:srgbClr val="1F2421"/>
                </a:solidFill>
                <a:latin typeface="Arial"/>
              </a:rPr>
              <a:t>Our test: </a:t>
            </a:r>
            <a:r>
              <a:rPr sz="900" b="0">
                <a:solidFill>
                  <a:srgbClr val="1F2421"/>
                </a:solidFill>
                <a:latin typeface="Arial"/>
              </a:rPr>
              <a:t>peer multiples embed the same AI-cycle assumptions; relative value cannot show the sector is right.</a:t>
            </a:r>
          </a:p>
          <a:p>
            <a:pPr algn="l">
              <a:spcAft>
                <a:spcPts val="250"/>
              </a:spcAft>
            </a:pPr>
            <a:r>
              <a:rPr sz="600">
                <a:solidFill>
                  <a:srgbClr val="135927"/>
                </a:solidFill>
                <a:latin typeface="Arial"/>
              </a:rPr>
              <a:t>■  </a:t>
            </a:r>
            <a:r>
              <a:rPr sz="900" b="1">
                <a:solidFill>
                  <a:srgbClr val="1F2421"/>
                </a:solidFill>
                <a:latin typeface="Arial"/>
              </a:rPr>
              <a:t>Also true: </a:t>
            </a:r>
            <a:r>
              <a:rPr sz="900" b="0">
                <a:solidFill>
                  <a:srgbClr val="1F2421"/>
                </a:solidFill>
                <a:latin typeface="Arial"/>
              </a:rPr>
              <a:t>HPE's GAAP operating margin is 6% and it is losing server share.</a:t>
            </a:r>
          </a:p>
        </p:txBody>
      </p:sp>
      <p:pic>
        <p:nvPicPr>
          <p:cNvPr id="10" name="Picture 135" descr="peers_margin_vs_multiple_deck.png"/>
          <p:cNvPicPr>
            <a:picLocks noChangeAspect="1"/>
          </p:cNvPicPr>
          <p:nvPr/>
        </p:nvPicPr>
        <p:blipFill>
          <a:blip r:embed="rId3"/>
          <a:stretch>
            <a:fillRect/>
          </a:stretch>
        </p:blipFill>
        <p:spPr>
          <a:xfrm>
            <a:off x="5532120" y="1463040"/>
            <a:ext cx="3291840" cy="1393791"/>
          </a:xfrm>
          <a:prstGeom prst="rect">
            <a:avLst/>
          </a:prstGeom>
        </p:spPr>
      </p:pic>
      <p:sp>
        <p:nvSpPr>
          <p:cNvPr id="11"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Steelman: </a:t>
            </a:r>
            <a:r>
              <a:rPr sz="1050" b="0" i="1">
                <a:solidFill>
                  <a:srgbClr val="1F2421"/>
                </a:solidFill>
                <a:latin typeface="Arial"/>
              </a:rPr>
              <a:t>the strongest case for the price is relative, but peer multiples embed the same AI-cycle assumptions we are testing.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The price needs an 18% margin or 11% growth for a decade</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3 · WHAT THE PRICE ASSUMES · REVERSE DCF</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FRED DGS10; Damodaran ERP and betas (Jan-2026); Bona Fide DCF (FY27E–FY36E, SBC expensed, mid-year discounting).</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14</a:t>
            </a:r>
          </a:p>
        </p:txBody>
      </p:sp>
      <p:graphicFrame>
        <p:nvGraphicFramePr>
          <p:cNvPr id="8" name="Table 133"/>
          <p:cNvGraphicFramePr>
            <a:graphicFrameLocks noGrp="1"/>
          </p:cNvGraphicFramePr>
          <p:nvPr/>
        </p:nvGraphicFramePr>
        <p:xfrm>
          <a:off x="320040" y="1463040"/>
          <a:ext cx="2651760" cy="1920240"/>
        </p:xfrm>
        <a:graphic>
          <a:graphicData uri="http://schemas.openxmlformats.org/drawingml/2006/table">
            <a:tbl>
              <a:tblPr firstRow="1">
                <a:tableStyleId>{5C22544A-7EE6-4342-B048-85BDC9FD1C3A}</a:tableStyleId>
              </a:tblPr>
              <a:tblGrid>
                <a:gridCol w="1737360"/>
                <a:gridCol w="914400"/>
              </a:tblGrid>
              <a:tr h="274320">
                <a:tc>
                  <a:txBody>
                    <a:bodyPr/>
                    <a:lstStyle/>
                    <a:p>
                      <a:pPr algn="l"/>
                      <a:r>
                        <a:rPr sz="900" b="1">
                          <a:solidFill>
                            <a:srgbClr val="FCC80D"/>
                          </a:solidFill>
                          <a:latin typeface="Arial"/>
                        </a:rPr>
                        <a:t>Cost of capital</a:t>
                      </a:r>
                    </a:p>
                  </a:txBody>
                  <a:tcPr marL="45720" marR="45720" marT="13716" marB="13716" anchor="ctr">
                    <a:solidFill>
                      <a:srgbClr val="135927"/>
                    </a:solidFill>
                  </a:tcPr>
                </a:tc>
                <a:tc>
                  <a:txBody>
                    <a:bodyPr/>
                    <a:lstStyle/>
                    <a:p>
                      <a:pPr algn="l"/>
                      <a:r>
                        <a:rPr sz="900" b="1">
                          <a:solidFill>
                            <a:srgbClr val="FCC80D"/>
                          </a:solidFill>
                          <a:latin typeface="Arial"/>
                        </a:rPr>
                        <a:t>Value</a:t>
                      </a:r>
                    </a:p>
                  </a:txBody>
                  <a:tcPr marL="45720" marR="45720" marT="13716" marB="13716" anchor="ctr">
                    <a:solidFill>
                      <a:srgbClr val="135927"/>
                    </a:solidFill>
                  </a:tcPr>
                </a:tc>
              </a:tr>
              <a:tr h="274320">
                <a:tc>
                  <a:txBody>
                    <a:bodyPr/>
                    <a:lstStyle/>
                    <a:p>
                      <a:pPr algn="l"/>
                      <a:r>
                        <a:rPr sz="900" b="1">
                          <a:solidFill>
                            <a:srgbClr val="1F2421"/>
                          </a:solidFill>
                          <a:latin typeface="Arial"/>
                        </a:rPr>
                        <a:t>Risk-free (10Y UST)</a:t>
                      </a:r>
                    </a:p>
                  </a:txBody>
                  <a:tcPr marL="45720" marR="45720" marT="13716" marB="13716" anchor="ctr">
                    <a:solidFill>
                      <a:srgbClr val="FFFFFF"/>
                    </a:solidFill>
                  </a:tcPr>
                </a:tc>
                <a:tc>
                  <a:txBody>
                    <a:bodyPr/>
                    <a:lstStyle/>
                    <a:p>
                      <a:pPr algn="r"/>
                      <a:r>
                        <a:rPr sz="900" b="0">
                          <a:solidFill>
                            <a:srgbClr val="1F2421"/>
                          </a:solidFill>
                          <a:latin typeface="Arial"/>
                        </a:rPr>
                        <a:t>4.95%</a:t>
                      </a:r>
                    </a:p>
                  </a:txBody>
                  <a:tcPr marL="45720" marR="45720" marT="13716" marB="13716" anchor="ctr">
                    <a:solidFill>
                      <a:srgbClr val="FFFFFF"/>
                    </a:solidFill>
                  </a:tcPr>
                </a:tc>
              </a:tr>
              <a:tr h="274320">
                <a:tc>
                  <a:txBody>
                    <a:bodyPr/>
                    <a:lstStyle/>
                    <a:p>
                      <a:pPr algn="l"/>
                      <a:r>
                        <a:rPr sz="900" b="1">
                          <a:solidFill>
                            <a:srgbClr val="1F2421"/>
                          </a:solidFill>
                          <a:latin typeface="Arial"/>
                        </a:rPr>
                        <a:t>Equity risk premium</a:t>
                      </a:r>
                    </a:p>
                  </a:txBody>
                  <a:tcPr marL="45720" marR="45720" marT="13716" marB="13716" anchor="ctr">
                    <a:solidFill>
                      <a:srgbClr val="ECF2ED"/>
                    </a:solidFill>
                  </a:tcPr>
                </a:tc>
                <a:tc>
                  <a:txBody>
                    <a:bodyPr/>
                    <a:lstStyle/>
                    <a:p>
                      <a:pPr algn="r"/>
                      <a:r>
                        <a:rPr sz="900" b="0">
                          <a:solidFill>
                            <a:srgbClr val="1F2421"/>
                          </a:solidFill>
                          <a:latin typeface="Arial"/>
                        </a:rPr>
                        <a:t>3.97%</a:t>
                      </a:r>
                    </a:p>
                  </a:txBody>
                  <a:tcPr marL="45720" marR="45720" marT="13716" marB="13716" anchor="ctr">
                    <a:solidFill>
                      <a:srgbClr val="ECF2ED"/>
                    </a:solidFill>
                  </a:tcPr>
                </a:tc>
              </a:tr>
              <a:tr h="274320">
                <a:tc>
                  <a:txBody>
                    <a:bodyPr/>
                    <a:lstStyle/>
                    <a:p>
                      <a:pPr algn="l"/>
                      <a:r>
                        <a:rPr sz="900" b="1">
                          <a:solidFill>
                            <a:srgbClr val="1F2421"/>
                          </a:solidFill>
                          <a:latin typeface="Arial"/>
                        </a:rPr>
                        <a:t>Levered beta</a:t>
                      </a:r>
                    </a:p>
                  </a:txBody>
                  <a:tcPr marL="45720" marR="45720" marT="13716" marB="13716" anchor="ctr">
                    <a:solidFill>
                      <a:srgbClr val="FFFFFF"/>
                    </a:solidFill>
                  </a:tcPr>
                </a:tc>
                <a:tc>
                  <a:txBody>
                    <a:bodyPr/>
                    <a:lstStyle/>
                    <a:p>
                      <a:pPr algn="r"/>
                      <a:r>
                        <a:rPr sz="900" b="0">
                          <a:solidFill>
                            <a:srgbClr val="1F2421"/>
                          </a:solidFill>
                          <a:latin typeface="Arial"/>
                        </a:rPr>
                        <a:t>1.35</a:t>
                      </a:r>
                    </a:p>
                  </a:txBody>
                  <a:tcPr marL="45720" marR="45720" marT="13716" marB="13716" anchor="ctr">
                    <a:solidFill>
                      <a:srgbClr val="FFFFFF"/>
                    </a:solidFill>
                  </a:tcPr>
                </a:tc>
              </a:tr>
              <a:tr h="274320">
                <a:tc>
                  <a:txBody>
                    <a:bodyPr/>
                    <a:lstStyle/>
                    <a:p>
                      <a:pPr algn="l"/>
                      <a:r>
                        <a:rPr sz="900" b="1">
                          <a:solidFill>
                            <a:srgbClr val="1F2421"/>
                          </a:solidFill>
                          <a:latin typeface="Arial"/>
                        </a:rPr>
                        <a:t>Cost of equity</a:t>
                      </a:r>
                    </a:p>
                  </a:txBody>
                  <a:tcPr marL="45720" marR="45720" marT="13716" marB="13716" anchor="ctr">
                    <a:solidFill>
                      <a:srgbClr val="ECF2ED"/>
                    </a:solidFill>
                  </a:tcPr>
                </a:tc>
                <a:tc>
                  <a:txBody>
                    <a:bodyPr/>
                    <a:lstStyle/>
                    <a:p>
                      <a:pPr algn="r"/>
                      <a:r>
                        <a:rPr sz="900" b="0">
                          <a:solidFill>
                            <a:srgbClr val="1F2421"/>
                          </a:solidFill>
                          <a:latin typeface="Arial"/>
                        </a:rPr>
                        <a:t>10.32%</a:t>
                      </a:r>
                    </a:p>
                  </a:txBody>
                  <a:tcPr marL="45720" marR="45720" marT="13716" marB="13716" anchor="ctr">
                    <a:solidFill>
                      <a:srgbClr val="ECF2ED"/>
                    </a:solidFill>
                  </a:tcPr>
                </a:tc>
              </a:tr>
              <a:tr h="274320">
                <a:tc>
                  <a:txBody>
                    <a:bodyPr/>
                    <a:lstStyle/>
                    <a:p>
                      <a:pPr algn="l"/>
                      <a:r>
                        <a:rPr sz="900" b="1">
                          <a:solidFill>
                            <a:srgbClr val="1F2421"/>
                          </a:solidFill>
                          <a:latin typeface="Arial"/>
                        </a:rPr>
                        <a:t>After-tax cost of debt</a:t>
                      </a:r>
                    </a:p>
                  </a:txBody>
                  <a:tcPr marL="45720" marR="45720" marT="13716" marB="13716" anchor="ctr">
                    <a:solidFill>
                      <a:srgbClr val="FFFFFF"/>
                    </a:solidFill>
                  </a:tcPr>
                </a:tc>
                <a:tc>
                  <a:txBody>
                    <a:bodyPr/>
                    <a:lstStyle/>
                    <a:p>
                      <a:pPr algn="r"/>
                      <a:r>
                        <a:rPr sz="900" b="0">
                          <a:solidFill>
                            <a:srgbClr val="1F2421"/>
                          </a:solidFill>
                          <a:latin typeface="Arial"/>
                        </a:rPr>
                        <a:t>4.79%</a:t>
                      </a:r>
                    </a:p>
                  </a:txBody>
                  <a:tcPr marL="45720" marR="45720" marT="13716" marB="13716" anchor="ctr">
                    <a:solidFill>
                      <a:srgbClr val="FFFFFF"/>
                    </a:solidFill>
                  </a:tcPr>
                </a:tc>
              </a:tr>
              <a:tr h="274320">
                <a:tc>
                  <a:txBody>
                    <a:bodyPr/>
                    <a:lstStyle/>
                    <a:p>
                      <a:pPr algn="l"/>
                      <a:r>
                        <a:rPr sz="900" b="1">
                          <a:solidFill>
                            <a:srgbClr val="1F2421"/>
                          </a:solidFill>
                          <a:latin typeface="Arial"/>
                        </a:rPr>
                        <a:t>WACC</a:t>
                      </a:r>
                    </a:p>
                  </a:txBody>
                  <a:tcPr marL="45720" marR="45720" marT="13716" marB="13716" anchor="ctr">
                    <a:solidFill>
                      <a:srgbClr val="ECF2ED"/>
                    </a:solidFill>
                  </a:tcPr>
                </a:tc>
                <a:tc>
                  <a:txBody>
                    <a:bodyPr/>
                    <a:lstStyle/>
                    <a:p>
                      <a:pPr algn="r"/>
                      <a:r>
                        <a:rPr sz="900" b="0">
                          <a:solidFill>
                            <a:srgbClr val="1F2421"/>
                          </a:solidFill>
                          <a:latin typeface="Arial"/>
                        </a:rPr>
                        <a:t>9.30%</a:t>
                      </a:r>
                    </a:p>
                  </a:txBody>
                  <a:tcPr marL="45720" marR="45720" marT="13716" marB="13716" anchor="ctr">
                    <a:solidFill>
                      <a:srgbClr val="ECF2ED"/>
                    </a:solidFill>
                  </a:tcPr>
                </a:tc>
              </a:tr>
            </a:tbl>
          </a:graphicData>
        </a:graphic>
      </p:graphicFrame>
      <p:graphicFrame>
        <p:nvGraphicFramePr>
          <p:cNvPr id="9" name="Table 134"/>
          <p:cNvGraphicFramePr>
            <a:graphicFrameLocks noGrp="1"/>
          </p:cNvGraphicFramePr>
          <p:nvPr/>
        </p:nvGraphicFramePr>
        <p:xfrm>
          <a:off x="3154680" y="1463040"/>
          <a:ext cx="5669280" cy="1097280"/>
        </p:xfrm>
        <a:graphic>
          <a:graphicData uri="http://schemas.openxmlformats.org/drawingml/2006/table">
            <a:tbl>
              <a:tblPr firstRow="1">
                <a:tableStyleId>{5C22544A-7EE6-4342-B048-85BDC9FD1C3A}</a:tableStyleId>
              </a:tblPr>
              <a:tblGrid>
                <a:gridCol w="3291840"/>
                <a:gridCol w="1097280"/>
                <a:gridCol w="1280160"/>
              </a:tblGrid>
              <a:tr h="274320">
                <a:tc>
                  <a:txBody>
                    <a:bodyPr/>
                    <a:lstStyle/>
                    <a:p>
                      <a:pPr algn="l"/>
                      <a:r>
                        <a:rPr sz="900" b="1">
                          <a:solidFill>
                            <a:srgbClr val="FCC80D"/>
                          </a:solidFill>
                          <a:latin typeface="Arial"/>
                        </a:rPr>
                        <a:t>What $62.09 implies (one variable at a time)</a:t>
                      </a:r>
                    </a:p>
                  </a:txBody>
                  <a:tcPr marL="45720" marR="45720" marT="13716" marB="13716" anchor="ctr">
                    <a:solidFill>
                      <a:srgbClr val="135927"/>
                    </a:solidFill>
                  </a:tcPr>
                </a:tc>
                <a:tc>
                  <a:txBody>
                    <a:bodyPr/>
                    <a:lstStyle/>
                    <a:p>
                      <a:pPr algn="l"/>
                      <a:r>
                        <a:rPr sz="900" b="1">
                          <a:solidFill>
                            <a:srgbClr val="FCC80D"/>
                          </a:solidFill>
                          <a:latin typeface="Arial"/>
                        </a:rPr>
                        <a:t>Implied</a:t>
                      </a:r>
                    </a:p>
                  </a:txBody>
                  <a:tcPr marL="45720" marR="45720" marT="13716" marB="13716" anchor="ctr">
                    <a:solidFill>
                      <a:srgbClr val="135927"/>
                    </a:solidFill>
                  </a:tcPr>
                </a:tc>
                <a:tc>
                  <a:txBody>
                    <a:bodyPr/>
                    <a:lstStyle/>
                    <a:p>
                      <a:pPr algn="l"/>
                      <a:r>
                        <a:rPr sz="900" b="1">
                          <a:solidFill>
                            <a:srgbClr val="FCC80D"/>
                          </a:solidFill>
                          <a:latin typeface="Arial"/>
                        </a:rPr>
                        <a:t>Our base</a:t>
                      </a:r>
                    </a:p>
                  </a:txBody>
                  <a:tcPr marL="45720" marR="45720" marT="13716" marB="13716" anchor="ctr">
                    <a:solidFill>
                      <a:srgbClr val="135927"/>
                    </a:solidFill>
                  </a:tcPr>
                </a:tc>
              </a:tr>
              <a:tr h="274320">
                <a:tc>
                  <a:txBody>
                    <a:bodyPr/>
                    <a:lstStyle/>
                    <a:p>
                      <a:pPr algn="l"/>
                      <a:r>
                        <a:rPr sz="900" b="1">
                          <a:solidFill>
                            <a:srgbClr val="1F2421"/>
                          </a:solidFill>
                          <a:latin typeface="Arial"/>
                        </a:rPr>
                        <a:t>LT non-GAAP margin (base growth)</a:t>
                      </a:r>
                    </a:p>
                  </a:txBody>
                  <a:tcPr marL="45720" marR="45720" marT="13716" marB="13716" anchor="ctr">
                    <a:solidFill>
                      <a:srgbClr val="FFFFFF"/>
                    </a:solidFill>
                  </a:tcPr>
                </a:tc>
                <a:tc>
                  <a:txBody>
                    <a:bodyPr/>
                    <a:lstStyle/>
                    <a:p>
                      <a:pPr algn="r"/>
                      <a:r>
                        <a:rPr sz="900" b="0">
                          <a:solidFill>
                            <a:srgbClr val="1F2421"/>
                          </a:solidFill>
                          <a:latin typeface="Arial"/>
                        </a:rPr>
                        <a:t>18.4%</a:t>
                      </a:r>
                    </a:p>
                  </a:txBody>
                  <a:tcPr marL="45720" marR="45720" marT="13716" marB="13716" anchor="ctr">
                    <a:solidFill>
                      <a:srgbClr val="FFFFFF"/>
                    </a:solidFill>
                  </a:tcPr>
                </a:tc>
                <a:tc>
                  <a:txBody>
                    <a:bodyPr/>
                    <a:lstStyle/>
                    <a:p>
                      <a:pPr algn="r"/>
                      <a:r>
                        <a:rPr sz="900" b="0">
                          <a:solidFill>
                            <a:srgbClr val="1F2421"/>
                          </a:solidFill>
                          <a:latin typeface="Arial"/>
                        </a:rPr>
                        <a:t>base 12.5%</a:t>
                      </a:r>
                    </a:p>
                  </a:txBody>
                  <a:tcPr marL="45720" marR="45720" marT="13716" marB="13716" anchor="ctr">
                    <a:solidFill>
                      <a:srgbClr val="FFFFFF"/>
                    </a:solidFill>
                  </a:tcPr>
                </a:tc>
              </a:tr>
              <a:tr h="274320">
                <a:tc>
                  <a:txBody>
                    <a:bodyPr/>
                    <a:lstStyle/>
                    <a:p>
                      <a:pPr algn="l"/>
                      <a:r>
                        <a:rPr sz="900" b="1">
                          <a:solidFill>
                            <a:srgbClr val="1F2421"/>
                          </a:solidFill>
                          <a:latin typeface="Arial"/>
                        </a:rPr>
                        <a:t>Revenue CAGR FY27–36 (base margin)</a:t>
                      </a:r>
                    </a:p>
                  </a:txBody>
                  <a:tcPr marL="45720" marR="45720" marT="13716" marB="13716" anchor="ctr">
                    <a:solidFill>
                      <a:srgbClr val="ECF2ED"/>
                    </a:solidFill>
                  </a:tcPr>
                </a:tc>
                <a:tc>
                  <a:txBody>
                    <a:bodyPr/>
                    <a:lstStyle/>
                    <a:p>
                      <a:pPr algn="r"/>
                      <a:r>
                        <a:rPr sz="900" b="0">
                          <a:solidFill>
                            <a:srgbClr val="1F2421"/>
                          </a:solidFill>
                          <a:latin typeface="Arial"/>
                        </a:rPr>
                        <a:t>10.8%</a:t>
                      </a:r>
                    </a:p>
                  </a:txBody>
                  <a:tcPr marL="45720" marR="45720" marT="13716" marB="13716" anchor="ctr">
                    <a:solidFill>
                      <a:srgbClr val="ECF2ED"/>
                    </a:solidFill>
                  </a:tcPr>
                </a:tc>
                <a:tc>
                  <a:txBody>
                    <a:bodyPr/>
                    <a:lstStyle/>
                    <a:p>
                      <a:pPr algn="r"/>
                      <a:r>
                        <a:rPr sz="900" b="0">
                          <a:solidFill>
                            <a:srgbClr val="1F2421"/>
                          </a:solidFill>
                          <a:latin typeface="Arial"/>
                        </a:rPr>
                        <a:t>base 5.0%</a:t>
                      </a:r>
                    </a:p>
                  </a:txBody>
                  <a:tcPr marL="45720" marR="45720" marT="13716" marB="13716" anchor="ctr">
                    <a:solidFill>
                      <a:srgbClr val="ECF2ED"/>
                    </a:solidFill>
                  </a:tcPr>
                </a:tc>
              </a:tr>
              <a:tr h="274320">
                <a:tc>
                  <a:txBody>
                    <a:bodyPr/>
                    <a:lstStyle/>
                    <a:p>
                      <a:pPr algn="l"/>
                      <a:r>
                        <a:rPr sz="900" b="1">
                          <a:solidFill>
                            <a:srgbClr val="1F2421"/>
                          </a:solidFill>
                          <a:latin typeface="Arial"/>
                        </a:rPr>
                        <a:t>WACC (base case)</a:t>
                      </a:r>
                    </a:p>
                  </a:txBody>
                  <a:tcPr marL="45720" marR="45720" marT="13716" marB="13716" anchor="ctr">
                    <a:solidFill>
                      <a:srgbClr val="FFFFFF"/>
                    </a:solidFill>
                  </a:tcPr>
                </a:tc>
                <a:tc>
                  <a:txBody>
                    <a:bodyPr/>
                    <a:lstStyle/>
                    <a:p>
                      <a:pPr algn="r"/>
                      <a:r>
                        <a:rPr sz="900" b="0">
                          <a:solidFill>
                            <a:srgbClr val="1F2421"/>
                          </a:solidFill>
                          <a:latin typeface="Arial"/>
                        </a:rPr>
                        <a:t>7.0%</a:t>
                      </a:r>
                    </a:p>
                  </a:txBody>
                  <a:tcPr marL="45720" marR="45720" marT="13716" marB="13716" anchor="ctr">
                    <a:solidFill>
                      <a:srgbClr val="FFFFFF"/>
                    </a:solidFill>
                  </a:tcPr>
                </a:tc>
                <a:tc>
                  <a:txBody>
                    <a:bodyPr/>
                    <a:lstStyle/>
                    <a:p>
                      <a:pPr algn="r"/>
                      <a:r>
                        <a:rPr sz="900" b="0">
                          <a:solidFill>
                            <a:srgbClr val="1F2421"/>
                          </a:solidFill>
                          <a:latin typeface="Arial"/>
                        </a:rPr>
                        <a:t>ours 9.3%</a:t>
                      </a:r>
                    </a:p>
                  </a:txBody>
                  <a:tcPr marL="45720" marR="45720" marT="13716" marB="13716" anchor="ctr">
                    <a:solidFill>
                      <a:srgbClr val="FFFFFF"/>
                    </a:solidFill>
                  </a:tcPr>
                </a:tc>
              </a:tr>
            </a:tbl>
          </a:graphicData>
        </a:graphic>
      </p:graphicFrame>
      <p:graphicFrame>
        <p:nvGraphicFramePr>
          <p:cNvPr id="10" name="Table 135"/>
          <p:cNvGraphicFramePr>
            <a:graphicFrameLocks noGrp="1"/>
          </p:cNvGraphicFramePr>
          <p:nvPr/>
        </p:nvGraphicFramePr>
        <p:xfrm>
          <a:off x="3154680" y="2697480"/>
          <a:ext cx="5669280" cy="1536192"/>
        </p:xfrm>
        <a:graphic>
          <a:graphicData uri="http://schemas.openxmlformats.org/drawingml/2006/table">
            <a:tbl>
              <a:tblPr firstRow="1">
                <a:tableStyleId>{5C22544A-7EE6-4342-B048-85BDC9FD1C3A}</a:tableStyleId>
              </a:tblPr>
              <a:tblGrid>
                <a:gridCol w="1133856"/>
                <a:gridCol w="1133856"/>
                <a:gridCol w="1133856"/>
                <a:gridCol w="1133856"/>
                <a:gridCol w="1133856"/>
              </a:tblGrid>
              <a:tr h="256032">
                <a:tc>
                  <a:txBody>
                    <a:bodyPr/>
                    <a:lstStyle/>
                    <a:p>
                      <a:pPr algn="l"/>
                      <a:r>
                        <a:rPr sz="900" b="1">
                          <a:solidFill>
                            <a:srgbClr val="FCC80D"/>
                          </a:solidFill>
                          <a:latin typeface="Arial"/>
                        </a:rPr>
                        <a:t>WACC \ terminal g</a:t>
                      </a:r>
                    </a:p>
                  </a:txBody>
                  <a:tcPr marL="45720" marR="45720" marT="13716" marB="13716" anchor="ctr">
                    <a:solidFill>
                      <a:srgbClr val="135927"/>
                    </a:solidFill>
                  </a:tcPr>
                </a:tc>
                <a:tc>
                  <a:txBody>
                    <a:bodyPr/>
                    <a:lstStyle/>
                    <a:p>
                      <a:pPr algn="l"/>
                      <a:r>
                        <a:rPr sz="900" b="1">
                          <a:solidFill>
                            <a:srgbClr val="FCC80D"/>
                          </a:solidFill>
                          <a:latin typeface="Arial"/>
                        </a:rPr>
                        <a:t>2.25%</a:t>
                      </a:r>
                    </a:p>
                  </a:txBody>
                  <a:tcPr marL="45720" marR="45720" marT="13716" marB="13716" anchor="ctr">
                    <a:solidFill>
                      <a:srgbClr val="135927"/>
                    </a:solidFill>
                  </a:tcPr>
                </a:tc>
                <a:tc>
                  <a:txBody>
                    <a:bodyPr/>
                    <a:lstStyle/>
                    <a:p>
                      <a:pPr algn="l"/>
                      <a:r>
                        <a:rPr sz="900" b="1">
                          <a:solidFill>
                            <a:srgbClr val="FCC80D"/>
                          </a:solidFill>
                          <a:latin typeface="Arial"/>
                        </a:rPr>
                        <a:t>2.50%</a:t>
                      </a:r>
                    </a:p>
                  </a:txBody>
                  <a:tcPr marL="45720" marR="45720" marT="13716" marB="13716" anchor="ctr">
                    <a:solidFill>
                      <a:srgbClr val="135927"/>
                    </a:solidFill>
                  </a:tcPr>
                </a:tc>
                <a:tc>
                  <a:txBody>
                    <a:bodyPr/>
                    <a:lstStyle/>
                    <a:p>
                      <a:pPr algn="l"/>
                      <a:r>
                        <a:rPr sz="900" b="1">
                          <a:solidFill>
                            <a:srgbClr val="FCC80D"/>
                          </a:solidFill>
                          <a:latin typeface="Arial"/>
                        </a:rPr>
                        <a:t>2.75%</a:t>
                      </a:r>
                    </a:p>
                  </a:txBody>
                  <a:tcPr marL="45720" marR="45720" marT="13716" marB="13716" anchor="ctr">
                    <a:solidFill>
                      <a:srgbClr val="135927"/>
                    </a:solidFill>
                  </a:tcPr>
                </a:tc>
                <a:tc>
                  <a:txBody>
                    <a:bodyPr/>
                    <a:lstStyle/>
                    <a:p>
                      <a:pPr algn="l"/>
                      <a:r>
                        <a:rPr sz="900" b="1">
                          <a:solidFill>
                            <a:srgbClr val="FCC80D"/>
                          </a:solidFill>
                          <a:latin typeface="Arial"/>
                        </a:rPr>
                        <a:t>3.00%</a:t>
                      </a:r>
                    </a:p>
                  </a:txBody>
                  <a:tcPr marL="45720" marR="45720" marT="13716" marB="13716" anchor="ctr">
                    <a:solidFill>
                      <a:srgbClr val="135927"/>
                    </a:solidFill>
                  </a:tcPr>
                </a:tc>
              </a:tr>
              <a:tr h="256032">
                <a:tc>
                  <a:txBody>
                    <a:bodyPr/>
                    <a:lstStyle/>
                    <a:p>
                      <a:pPr algn="l"/>
                      <a:r>
                        <a:rPr sz="900" b="1">
                          <a:solidFill>
                            <a:srgbClr val="1F2421"/>
                          </a:solidFill>
                          <a:latin typeface="Arial"/>
                        </a:rPr>
                        <a:t>8.30%</a:t>
                      </a:r>
                    </a:p>
                  </a:txBody>
                  <a:tcPr marL="45720" marR="45720" marT="13716" marB="13716" anchor="ctr">
                    <a:solidFill>
                      <a:srgbClr val="FFFFFF"/>
                    </a:solidFill>
                  </a:tcPr>
                </a:tc>
                <a:tc>
                  <a:txBody>
                    <a:bodyPr/>
                    <a:lstStyle/>
                    <a:p>
                      <a:pPr algn="r"/>
                      <a:r>
                        <a:rPr sz="900" b="0">
                          <a:solidFill>
                            <a:srgbClr val="1F2421"/>
                          </a:solidFill>
                          <a:latin typeface="Arial"/>
                        </a:rPr>
                        <a:t>$45.5</a:t>
                      </a:r>
                    </a:p>
                  </a:txBody>
                  <a:tcPr marL="45720" marR="45720" marT="13716" marB="13716" anchor="ctr">
                    <a:solidFill>
                      <a:srgbClr val="FFFFFF"/>
                    </a:solidFill>
                  </a:tcPr>
                </a:tc>
                <a:tc>
                  <a:txBody>
                    <a:bodyPr/>
                    <a:lstStyle/>
                    <a:p>
                      <a:pPr algn="r"/>
                      <a:r>
                        <a:rPr sz="900" b="0">
                          <a:solidFill>
                            <a:srgbClr val="1F2421"/>
                          </a:solidFill>
                          <a:latin typeface="Arial"/>
                        </a:rPr>
                        <a:t>$46.1</a:t>
                      </a:r>
                    </a:p>
                  </a:txBody>
                  <a:tcPr marL="45720" marR="45720" marT="13716" marB="13716" anchor="ctr">
                    <a:solidFill>
                      <a:srgbClr val="FFFFFF"/>
                    </a:solidFill>
                  </a:tcPr>
                </a:tc>
                <a:tc>
                  <a:txBody>
                    <a:bodyPr/>
                    <a:lstStyle/>
                    <a:p>
                      <a:pPr algn="r"/>
                      <a:r>
                        <a:rPr sz="900" b="0">
                          <a:solidFill>
                            <a:srgbClr val="1F2421"/>
                          </a:solidFill>
                          <a:latin typeface="Arial"/>
                        </a:rPr>
                        <a:t>$46.7</a:t>
                      </a:r>
                    </a:p>
                  </a:txBody>
                  <a:tcPr marL="45720" marR="45720" marT="13716" marB="13716" anchor="ctr">
                    <a:solidFill>
                      <a:srgbClr val="FFFFFF"/>
                    </a:solidFill>
                  </a:tcPr>
                </a:tc>
                <a:tc>
                  <a:txBody>
                    <a:bodyPr/>
                    <a:lstStyle/>
                    <a:p>
                      <a:pPr algn="r"/>
                      <a:r>
                        <a:rPr sz="900" b="0">
                          <a:solidFill>
                            <a:srgbClr val="1F2421"/>
                          </a:solidFill>
                          <a:latin typeface="Arial"/>
                        </a:rPr>
                        <a:t>$47.3</a:t>
                      </a:r>
                    </a:p>
                  </a:txBody>
                  <a:tcPr marL="45720" marR="45720" marT="13716" marB="13716" anchor="ctr">
                    <a:solidFill>
                      <a:srgbClr val="FFFFFF"/>
                    </a:solidFill>
                  </a:tcPr>
                </a:tc>
              </a:tr>
              <a:tr h="256032">
                <a:tc>
                  <a:txBody>
                    <a:bodyPr/>
                    <a:lstStyle/>
                    <a:p>
                      <a:pPr algn="l"/>
                      <a:r>
                        <a:rPr sz="900" b="1">
                          <a:solidFill>
                            <a:srgbClr val="1F2421"/>
                          </a:solidFill>
                          <a:latin typeface="Arial"/>
                        </a:rPr>
                        <a:t>8.80%</a:t>
                      </a:r>
                    </a:p>
                  </a:txBody>
                  <a:tcPr marL="45720" marR="45720" marT="13716" marB="13716" anchor="ctr">
                    <a:solidFill>
                      <a:srgbClr val="ECF2ED"/>
                    </a:solidFill>
                  </a:tcPr>
                </a:tc>
                <a:tc>
                  <a:txBody>
                    <a:bodyPr/>
                    <a:lstStyle/>
                    <a:p>
                      <a:pPr algn="r"/>
                      <a:r>
                        <a:rPr sz="900" b="0">
                          <a:solidFill>
                            <a:srgbClr val="1F2421"/>
                          </a:solidFill>
                          <a:latin typeface="Arial"/>
                        </a:rPr>
                        <a:t>$41.6</a:t>
                      </a:r>
                    </a:p>
                  </a:txBody>
                  <a:tcPr marL="45720" marR="45720" marT="13716" marB="13716" anchor="ctr">
                    <a:solidFill>
                      <a:srgbClr val="ECF2ED"/>
                    </a:solidFill>
                  </a:tcPr>
                </a:tc>
                <a:tc>
                  <a:txBody>
                    <a:bodyPr/>
                    <a:lstStyle/>
                    <a:p>
                      <a:pPr algn="r"/>
                      <a:r>
                        <a:rPr sz="900" b="0">
                          <a:solidFill>
                            <a:srgbClr val="1F2421"/>
                          </a:solidFill>
                          <a:latin typeface="Arial"/>
                        </a:rPr>
                        <a:t>$42.0</a:t>
                      </a:r>
                    </a:p>
                  </a:txBody>
                  <a:tcPr marL="45720" marR="45720" marT="13716" marB="13716" anchor="ctr">
                    <a:solidFill>
                      <a:srgbClr val="ECF2ED"/>
                    </a:solidFill>
                  </a:tcPr>
                </a:tc>
                <a:tc>
                  <a:txBody>
                    <a:bodyPr/>
                    <a:lstStyle/>
                    <a:p>
                      <a:pPr algn="r"/>
                      <a:r>
                        <a:rPr sz="900" b="0">
                          <a:solidFill>
                            <a:srgbClr val="1F2421"/>
                          </a:solidFill>
                          <a:latin typeface="Arial"/>
                        </a:rPr>
                        <a:t>$42.4</a:t>
                      </a:r>
                    </a:p>
                  </a:txBody>
                  <a:tcPr marL="45720" marR="45720" marT="13716" marB="13716" anchor="ctr">
                    <a:solidFill>
                      <a:srgbClr val="ECF2ED"/>
                    </a:solidFill>
                  </a:tcPr>
                </a:tc>
                <a:tc>
                  <a:txBody>
                    <a:bodyPr/>
                    <a:lstStyle/>
                    <a:p>
                      <a:pPr algn="r"/>
                      <a:r>
                        <a:rPr sz="900" b="0">
                          <a:solidFill>
                            <a:srgbClr val="1F2421"/>
                          </a:solidFill>
                          <a:latin typeface="Arial"/>
                        </a:rPr>
                        <a:t>$42.9</a:t>
                      </a:r>
                    </a:p>
                  </a:txBody>
                  <a:tcPr marL="45720" marR="45720" marT="13716" marB="13716" anchor="ctr">
                    <a:solidFill>
                      <a:srgbClr val="ECF2ED"/>
                    </a:solidFill>
                  </a:tcPr>
                </a:tc>
              </a:tr>
              <a:tr h="256032">
                <a:tc>
                  <a:txBody>
                    <a:bodyPr/>
                    <a:lstStyle/>
                    <a:p>
                      <a:pPr algn="l"/>
                      <a:r>
                        <a:rPr sz="900" b="1">
                          <a:solidFill>
                            <a:srgbClr val="1F2421"/>
                          </a:solidFill>
                          <a:latin typeface="Arial"/>
                        </a:rPr>
                        <a:t>9.30%</a:t>
                      </a:r>
                    </a:p>
                  </a:txBody>
                  <a:tcPr marL="45720" marR="45720" marT="13716" marB="13716" anchor="ctr">
                    <a:solidFill>
                      <a:srgbClr val="FEF4CC"/>
                    </a:solidFill>
                  </a:tcPr>
                </a:tc>
                <a:tc>
                  <a:txBody>
                    <a:bodyPr/>
                    <a:lstStyle/>
                    <a:p>
                      <a:pPr algn="r"/>
                      <a:r>
                        <a:rPr sz="900" b="0">
                          <a:solidFill>
                            <a:srgbClr val="1F2421"/>
                          </a:solidFill>
                          <a:latin typeface="Arial"/>
                        </a:rPr>
                        <a:t>$38.2</a:t>
                      </a:r>
                    </a:p>
                  </a:txBody>
                  <a:tcPr marL="45720" marR="45720" marT="13716" marB="13716" anchor="ctr">
                    <a:solidFill>
                      <a:srgbClr val="FEF4CC"/>
                    </a:solidFill>
                  </a:tcPr>
                </a:tc>
                <a:tc>
                  <a:txBody>
                    <a:bodyPr/>
                    <a:lstStyle/>
                    <a:p>
                      <a:pPr algn="r"/>
                      <a:r>
                        <a:rPr sz="900" b="0">
                          <a:solidFill>
                            <a:srgbClr val="1F2421"/>
                          </a:solidFill>
                          <a:latin typeface="Arial"/>
                        </a:rPr>
                        <a:t>$38.5</a:t>
                      </a:r>
                    </a:p>
                  </a:txBody>
                  <a:tcPr marL="45720" marR="45720" marT="13716" marB="13716" anchor="ctr">
                    <a:solidFill>
                      <a:srgbClr val="FEF4CC"/>
                    </a:solidFill>
                  </a:tcPr>
                </a:tc>
                <a:tc>
                  <a:txBody>
                    <a:bodyPr/>
                    <a:lstStyle/>
                    <a:p>
                      <a:pPr algn="r"/>
                      <a:r>
                        <a:rPr sz="900" b="0">
                          <a:solidFill>
                            <a:srgbClr val="1F2421"/>
                          </a:solidFill>
                          <a:latin typeface="Arial"/>
                        </a:rPr>
                        <a:t>$38.8</a:t>
                      </a:r>
                    </a:p>
                  </a:txBody>
                  <a:tcPr marL="45720" marR="45720" marT="13716" marB="13716" anchor="ctr">
                    <a:solidFill>
                      <a:srgbClr val="FEF4CC"/>
                    </a:solidFill>
                  </a:tcPr>
                </a:tc>
                <a:tc>
                  <a:txBody>
                    <a:bodyPr/>
                    <a:lstStyle/>
                    <a:p>
                      <a:pPr algn="r"/>
                      <a:r>
                        <a:rPr sz="900" b="0">
                          <a:solidFill>
                            <a:srgbClr val="1F2421"/>
                          </a:solidFill>
                          <a:latin typeface="Arial"/>
                        </a:rPr>
                        <a:t>$39.1</a:t>
                      </a:r>
                    </a:p>
                  </a:txBody>
                  <a:tcPr marL="45720" marR="45720" marT="13716" marB="13716" anchor="ctr">
                    <a:solidFill>
                      <a:srgbClr val="FEF4CC"/>
                    </a:solidFill>
                  </a:tcPr>
                </a:tc>
              </a:tr>
              <a:tr h="256032">
                <a:tc>
                  <a:txBody>
                    <a:bodyPr/>
                    <a:lstStyle/>
                    <a:p>
                      <a:pPr algn="l"/>
                      <a:r>
                        <a:rPr sz="900" b="1">
                          <a:solidFill>
                            <a:srgbClr val="1F2421"/>
                          </a:solidFill>
                          <a:latin typeface="Arial"/>
                        </a:rPr>
                        <a:t>9.80%</a:t>
                      </a:r>
                    </a:p>
                  </a:txBody>
                  <a:tcPr marL="45720" marR="45720" marT="13716" marB="13716" anchor="ctr">
                    <a:solidFill>
                      <a:srgbClr val="ECF2ED"/>
                    </a:solidFill>
                  </a:tcPr>
                </a:tc>
                <a:tc>
                  <a:txBody>
                    <a:bodyPr/>
                    <a:lstStyle/>
                    <a:p>
                      <a:pPr algn="r"/>
                      <a:r>
                        <a:rPr sz="900" b="0">
                          <a:solidFill>
                            <a:srgbClr val="1F2421"/>
                          </a:solidFill>
                          <a:latin typeface="Arial"/>
                        </a:rPr>
                        <a:t>$35.3</a:t>
                      </a:r>
                    </a:p>
                  </a:txBody>
                  <a:tcPr marL="45720" marR="45720" marT="13716" marB="13716" anchor="ctr">
                    <a:solidFill>
                      <a:srgbClr val="ECF2ED"/>
                    </a:solidFill>
                  </a:tcPr>
                </a:tc>
                <a:tc>
                  <a:txBody>
                    <a:bodyPr/>
                    <a:lstStyle/>
                    <a:p>
                      <a:pPr algn="r"/>
                      <a:r>
                        <a:rPr sz="900" b="0">
                          <a:solidFill>
                            <a:srgbClr val="1F2421"/>
                          </a:solidFill>
                          <a:latin typeface="Arial"/>
                        </a:rPr>
                        <a:t>$35.5</a:t>
                      </a:r>
                    </a:p>
                  </a:txBody>
                  <a:tcPr marL="45720" marR="45720" marT="13716" marB="13716" anchor="ctr">
                    <a:solidFill>
                      <a:srgbClr val="ECF2ED"/>
                    </a:solidFill>
                  </a:tcPr>
                </a:tc>
                <a:tc>
                  <a:txBody>
                    <a:bodyPr/>
                    <a:lstStyle/>
                    <a:p>
                      <a:pPr algn="r"/>
                      <a:r>
                        <a:rPr sz="900" b="0">
                          <a:solidFill>
                            <a:srgbClr val="1F2421"/>
                          </a:solidFill>
                          <a:latin typeface="Arial"/>
                        </a:rPr>
                        <a:t>$35.7</a:t>
                      </a:r>
                    </a:p>
                  </a:txBody>
                  <a:tcPr marL="45720" marR="45720" marT="13716" marB="13716" anchor="ctr">
                    <a:solidFill>
                      <a:srgbClr val="ECF2ED"/>
                    </a:solidFill>
                  </a:tcPr>
                </a:tc>
                <a:tc>
                  <a:txBody>
                    <a:bodyPr/>
                    <a:lstStyle/>
                    <a:p>
                      <a:pPr algn="r"/>
                      <a:r>
                        <a:rPr sz="900" b="0">
                          <a:solidFill>
                            <a:srgbClr val="1F2421"/>
                          </a:solidFill>
                          <a:latin typeface="Arial"/>
                        </a:rPr>
                        <a:t>$35.9</a:t>
                      </a:r>
                    </a:p>
                  </a:txBody>
                  <a:tcPr marL="45720" marR="45720" marT="13716" marB="13716" anchor="ctr">
                    <a:solidFill>
                      <a:srgbClr val="ECF2ED"/>
                    </a:solidFill>
                  </a:tcPr>
                </a:tc>
              </a:tr>
              <a:tr h="256032">
                <a:tc>
                  <a:txBody>
                    <a:bodyPr/>
                    <a:lstStyle/>
                    <a:p>
                      <a:pPr algn="l"/>
                      <a:r>
                        <a:rPr sz="900" b="1">
                          <a:solidFill>
                            <a:srgbClr val="1F2421"/>
                          </a:solidFill>
                          <a:latin typeface="Arial"/>
                        </a:rPr>
                        <a:t>10.30%</a:t>
                      </a:r>
                    </a:p>
                  </a:txBody>
                  <a:tcPr marL="45720" marR="45720" marT="13716" marB="13716" anchor="ctr">
                    <a:solidFill>
                      <a:srgbClr val="FFFFFF"/>
                    </a:solidFill>
                  </a:tcPr>
                </a:tc>
                <a:tc>
                  <a:txBody>
                    <a:bodyPr/>
                    <a:lstStyle/>
                    <a:p>
                      <a:pPr algn="r"/>
                      <a:r>
                        <a:rPr sz="900" b="0">
                          <a:solidFill>
                            <a:srgbClr val="1F2421"/>
                          </a:solidFill>
                          <a:latin typeface="Arial"/>
                        </a:rPr>
                        <a:t>$32.7</a:t>
                      </a:r>
                    </a:p>
                  </a:txBody>
                  <a:tcPr marL="45720" marR="45720" marT="13716" marB="13716" anchor="ctr">
                    <a:solidFill>
                      <a:srgbClr val="FFFFFF"/>
                    </a:solidFill>
                  </a:tcPr>
                </a:tc>
                <a:tc>
                  <a:txBody>
                    <a:bodyPr/>
                    <a:lstStyle/>
                    <a:p>
                      <a:pPr algn="r"/>
                      <a:r>
                        <a:rPr sz="900" b="0">
                          <a:solidFill>
                            <a:srgbClr val="1F2421"/>
                          </a:solidFill>
                          <a:latin typeface="Arial"/>
                        </a:rPr>
                        <a:t>$32.8</a:t>
                      </a:r>
                    </a:p>
                  </a:txBody>
                  <a:tcPr marL="45720" marR="45720" marT="13716" marB="13716" anchor="ctr">
                    <a:solidFill>
                      <a:srgbClr val="FFFFFF"/>
                    </a:solidFill>
                  </a:tcPr>
                </a:tc>
                <a:tc>
                  <a:txBody>
                    <a:bodyPr/>
                    <a:lstStyle/>
                    <a:p>
                      <a:pPr algn="r"/>
                      <a:r>
                        <a:rPr sz="900" b="0">
                          <a:solidFill>
                            <a:srgbClr val="1F2421"/>
                          </a:solidFill>
                          <a:latin typeface="Arial"/>
                        </a:rPr>
                        <a:t>$33.0</a:t>
                      </a:r>
                    </a:p>
                  </a:txBody>
                  <a:tcPr marL="45720" marR="45720" marT="13716" marB="13716" anchor="ctr">
                    <a:solidFill>
                      <a:srgbClr val="FFFFFF"/>
                    </a:solidFill>
                  </a:tcPr>
                </a:tc>
                <a:tc>
                  <a:txBody>
                    <a:bodyPr/>
                    <a:lstStyle/>
                    <a:p>
                      <a:pPr algn="r"/>
                      <a:r>
                        <a:rPr sz="900" b="0">
                          <a:solidFill>
                            <a:srgbClr val="1F2421"/>
                          </a:solidFill>
                          <a:latin typeface="Arial"/>
                        </a:rPr>
                        <a:t>$33.1</a:t>
                      </a:r>
                    </a:p>
                  </a:txBody>
                  <a:tcPr marL="45720" marR="45720" marT="13716" marB="13716" anchor="ctr">
                    <a:solidFill>
                      <a:srgbClr val="FFFFFF"/>
                    </a:solidFill>
                  </a:tcPr>
                </a:tc>
              </a:tr>
            </a:tbl>
          </a:graphicData>
        </a:graphic>
      </p:graphicFrame>
      <p:sp>
        <p:nvSpPr>
          <p:cNvPr id="11" name="TextBox 136"/>
          <p:cNvSpPr txBox="1"/>
          <p:nvPr/>
        </p:nvSpPr>
        <p:spPr>
          <a:xfrm>
            <a:off x="320040" y="3474720"/>
            <a:ext cx="2651760" cy="1234440"/>
          </a:xfrm>
          <a:prstGeom prst="rect">
            <a:avLst/>
          </a:prstGeom>
          <a:noFill/>
        </p:spPr>
        <p:txBody>
          <a:bodyPr wrap="square" anchor="t" lIns="36576" rIns="36576" tIns="18288" bIns="18288">
            <a:spAutoFit/>
          </a:bodyPr>
          <a:lstStyle/>
          <a:p>
            <a:pPr algn="l">
              <a:spcAft>
                <a:spcPts val="150"/>
              </a:spcAft>
            </a:pPr>
            <a:r>
              <a:rPr sz="600">
                <a:solidFill>
                  <a:srgbClr val="135927"/>
                </a:solidFill>
                <a:latin typeface="Arial"/>
              </a:rPr>
              <a:t>■  </a:t>
            </a:r>
            <a:r>
              <a:rPr sz="850" b="0">
                <a:solidFill>
                  <a:srgbClr val="1F2421"/>
                </a:solidFill>
                <a:latin typeface="Arial"/>
              </a:rPr>
              <a:t>FY26E revenue $46.5bn (guidance midpoint)</a:t>
            </a:r>
          </a:p>
          <a:p>
            <a:pPr algn="l">
              <a:spcAft>
                <a:spcPts val="150"/>
              </a:spcAft>
            </a:pPr>
            <a:r>
              <a:rPr sz="600">
                <a:solidFill>
                  <a:srgbClr val="135927"/>
                </a:solidFill>
                <a:latin typeface="Arial"/>
              </a:rPr>
              <a:t>■  </a:t>
            </a:r>
            <a:r>
              <a:rPr sz="850" b="0">
                <a:solidFill>
                  <a:srgbClr val="1F2421"/>
                </a:solidFill>
                <a:latin typeface="Arial"/>
              </a:rPr>
              <a:t>FY27E +15%, 14.5% non-GAAP margin (framework)</a:t>
            </a:r>
          </a:p>
          <a:p>
            <a:pPr algn="l">
              <a:spcAft>
                <a:spcPts val="150"/>
              </a:spcAft>
            </a:pPr>
            <a:r>
              <a:rPr sz="600">
                <a:solidFill>
                  <a:srgbClr val="135927"/>
                </a:solidFill>
                <a:latin typeface="Arial"/>
              </a:rPr>
              <a:t>■  </a:t>
            </a:r>
            <a:r>
              <a:rPr sz="850" b="0">
                <a:solidFill>
                  <a:srgbClr val="1F2421"/>
                </a:solidFill>
                <a:latin typeface="Arial"/>
              </a:rPr>
              <a:t>LT margin 12.5%, terminal growth 2.75%, SBC expensed</a:t>
            </a:r>
          </a:p>
          <a:p>
            <a:pPr algn="l">
              <a:spcAft>
                <a:spcPts val="150"/>
              </a:spcAft>
            </a:pPr>
            <a:r>
              <a:rPr sz="600">
                <a:solidFill>
                  <a:srgbClr val="135927"/>
                </a:solidFill>
                <a:latin typeface="Arial"/>
              </a:rPr>
              <a:t>■  </a:t>
            </a:r>
            <a:r>
              <a:rPr sz="850" b="0">
                <a:solidFill>
                  <a:srgbClr val="1F2421"/>
                </a:solidFill>
                <a:latin typeface="Arial"/>
              </a:rPr>
              <a:t>Equity = EV − debt $20.2bn + cash $6.2bn</a:t>
            </a:r>
          </a:p>
        </p:txBody>
      </p:sp>
      <p:sp>
        <p:nvSpPr>
          <p:cNvPr id="12"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Investor logic: </a:t>
            </a:r>
            <a:r>
              <a:rPr sz="1050" b="0" i="1">
                <a:solidFill>
                  <a:srgbClr val="1F2421"/>
                </a:solidFill>
                <a:latin typeface="Arial"/>
              </a:rPr>
              <a:t>treat the price as a forecast. Solve for what it requires, then judge whether that world is plausible.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Intrinsic value sits below the price; peer multiples sit above</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3 · WHAT THE PRICE ASSUMES · VALUATION RANGE</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Bona Fide DCF, comps and M&amp;A analysis; Yahoo Finance targets; excel/HPE_valuation_model.xlsx.</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15</a:t>
            </a:r>
          </a:p>
        </p:txBody>
      </p:sp>
      <p:pic>
        <p:nvPicPr>
          <p:cNvPr id="8" name="Picture 133" descr="val_football_field_deck.png"/>
          <p:cNvPicPr>
            <a:picLocks noChangeAspect="1"/>
          </p:cNvPicPr>
          <p:nvPr/>
        </p:nvPicPr>
        <p:blipFill>
          <a:blip r:embed="rId3"/>
          <a:stretch>
            <a:fillRect/>
          </a:stretch>
        </p:blipFill>
        <p:spPr>
          <a:xfrm>
            <a:off x="274320" y="1463040"/>
            <a:ext cx="5760720" cy="2314191"/>
          </a:xfrm>
          <a:prstGeom prst="rect">
            <a:avLst/>
          </a:prstGeom>
        </p:spPr>
      </p:pic>
      <p:sp>
        <p:nvSpPr>
          <p:cNvPr id="9" name="Rectangle 134"/>
          <p:cNvSpPr/>
          <p:nvPr/>
        </p:nvSpPr>
        <p:spPr>
          <a:xfrm>
            <a:off x="6217920" y="1463040"/>
            <a:ext cx="2606040" cy="585216"/>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135"/>
          <p:cNvSpPr txBox="1"/>
          <p:nvPr/>
        </p:nvSpPr>
        <p:spPr>
          <a:xfrm>
            <a:off x="6291072" y="1508760"/>
            <a:ext cx="245973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SHARE PRICE</a:t>
            </a:r>
          </a:p>
        </p:txBody>
      </p:sp>
      <p:sp>
        <p:nvSpPr>
          <p:cNvPr id="11" name="TextBox 136"/>
          <p:cNvSpPr txBox="1"/>
          <p:nvPr/>
        </p:nvSpPr>
        <p:spPr>
          <a:xfrm>
            <a:off x="6291072" y="1682496"/>
            <a:ext cx="2459736" cy="384048"/>
          </a:xfrm>
          <a:prstGeom prst="rect">
            <a:avLst/>
          </a:prstGeom>
          <a:noFill/>
        </p:spPr>
        <p:txBody>
          <a:bodyPr wrap="square" anchor="t" lIns="36576" rIns="36576" tIns="18288" bIns="18288">
            <a:spAutoFit/>
          </a:bodyPr>
          <a:lstStyle/>
          <a:p>
            <a:pPr algn="l">
              <a:spcAft>
                <a:spcPts val="300"/>
              </a:spcAft>
            </a:pPr>
            <a:r>
              <a:rPr sz="1500" b="1">
                <a:solidFill>
                  <a:srgbClr val="B8860B"/>
                </a:solidFill>
                <a:latin typeface="Twentieth Century"/>
              </a:rPr>
              <a:t>$62.09</a:t>
            </a:r>
          </a:p>
        </p:txBody>
      </p:sp>
      <p:sp>
        <p:nvSpPr>
          <p:cNvPr id="12" name="TextBox 137"/>
          <p:cNvSpPr txBox="1"/>
          <p:nvPr/>
        </p:nvSpPr>
        <p:spPr>
          <a:xfrm>
            <a:off x="7543800" y="1517904"/>
            <a:ext cx="1234440" cy="228600"/>
          </a:xfrm>
          <a:prstGeom prst="rect">
            <a:avLst/>
          </a:prstGeom>
          <a:noFill/>
        </p:spPr>
        <p:txBody>
          <a:bodyPr wrap="square" anchor="t" lIns="36576" rIns="36576" tIns="18288" bIns="18288">
            <a:spAutoFit/>
          </a:bodyPr>
          <a:lstStyle/>
          <a:p>
            <a:pPr algn="r">
              <a:spcAft>
                <a:spcPts val="300"/>
              </a:spcAft>
            </a:pPr>
            <a:r>
              <a:rPr sz="700" b="0">
                <a:solidFill>
                  <a:srgbClr val="595959"/>
                </a:solidFill>
                <a:latin typeface="Arial"/>
              </a:rPr>
              <a:t>11-Sep-2026 close</a:t>
            </a:r>
          </a:p>
        </p:txBody>
      </p:sp>
      <p:sp>
        <p:nvSpPr>
          <p:cNvPr id="13" name="Rectangle 138"/>
          <p:cNvSpPr/>
          <p:nvPr/>
        </p:nvSpPr>
        <p:spPr>
          <a:xfrm>
            <a:off x="6217920" y="2112264"/>
            <a:ext cx="2606040" cy="585216"/>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9"/>
          <p:cNvSpPr txBox="1"/>
          <p:nvPr/>
        </p:nvSpPr>
        <p:spPr>
          <a:xfrm>
            <a:off x="6291072" y="2157984"/>
            <a:ext cx="245973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BASE-CASE DCF</a:t>
            </a:r>
          </a:p>
        </p:txBody>
      </p:sp>
      <p:sp>
        <p:nvSpPr>
          <p:cNvPr id="15" name="TextBox 140"/>
          <p:cNvSpPr txBox="1"/>
          <p:nvPr/>
        </p:nvSpPr>
        <p:spPr>
          <a:xfrm>
            <a:off x="6291072" y="2331720"/>
            <a:ext cx="2459736" cy="384048"/>
          </a:xfrm>
          <a:prstGeom prst="rect">
            <a:avLst/>
          </a:prstGeom>
          <a:noFill/>
        </p:spPr>
        <p:txBody>
          <a:bodyPr wrap="square" anchor="t" lIns="36576" rIns="36576" tIns="18288" bIns="18288">
            <a:spAutoFit/>
          </a:bodyPr>
          <a:lstStyle/>
          <a:p>
            <a:pPr algn="l">
              <a:spcAft>
                <a:spcPts val="300"/>
              </a:spcAft>
            </a:pPr>
            <a:r>
              <a:rPr sz="1500" b="1">
                <a:solidFill>
                  <a:srgbClr val="135927"/>
                </a:solidFill>
                <a:latin typeface="Twentieth Century"/>
              </a:rPr>
              <a:t>$38.80</a:t>
            </a:r>
          </a:p>
        </p:txBody>
      </p:sp>
      <p:sp>
        <p:nvSpPr>
          <p:cNvPr id="16" name="TextBox 141"/>
          <p:cNvSpPr txBox="1"/>
          <p:nvPr/>
        </p:nvSpPr>
        <p:spPr>
          <a:xfrm>
            <a:off x="7543800" y="2167128"/>
            <a:ext cx="1234440" cy="228600"/>
          </a:xfrm>
          <a:prstGeom prst="rect">
            <a:avLst/>
          </a:prstGeom>
          <a:noFill/>
        </p:spPr>
        <p:txBody>
          <a:bodyPr wrap="square" anchor="t" lIns="36576" rIns="36576" tIns="18288" bIns="18288">
            <a:spAutoFit/>
          </a:bodyPr>
          <a:lstStyle/>
          <a:p>
            <a:pPr algn="r">
              <a:spcAft>
                <a:spcPts val="300"/>
              </a:spcAft>
            </a:pPr>
            <a:r>
              <a:rPr sz="700" b="0">
                <a:solidFill>
                  <a:srgbClr val="595959"/>
                </a:solidFill>
                <a:latin typeface="Arial"/>
              </a:rPr>
              <a:t>WACC 9.30%</a:t>
            </a:r>
          </a:p>
        </p:txBody>
      </p:sp>
      <p:sp>
        <p:nvSpPr>
          <p:cNvPr id="17" name="Rectangle 142"/>
          <p:cNvSpPr/>
          <p:nvPr/>
        </p:nvSpPr>
        <p:spPr>
          <a:xfrm>
            <a:off x="6217920" y="2761488"/>
            <a:ext cx="2606040" cy="585216"/>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43"/>
          <p:cNvSpPr txBox="1"/>
          <p:nvPr/>
        </p:nvSpPr>
        <p:spPr>
          <a:xfrm>
            <a:off x="6291072" y="2807208"/>
            <a:ext cx="245973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PROBABILITY-WEIGHTED</a:t>
            </a:r>
          </a:p>
        </p:txBody>
      </p:sp>
      <p:sp>
        <p:nvSpPr>
          <p:cNvPr id="19" name="TextBox 144"/>
          <p:cNvSpPr txBox="1"/>
          <p:nvPr/>
        </p:nvSpPr>
        <p:spPr>
          <a:xfrm>
            <a:off x="6291072" y="2980944"/>
            <a:ext cx="2459736" cy="384048"/>
          </a:xfrm>
          <a:prstGeom prst="rect">
            <a:avLst/>
          </a:prstGeom>
          <a:noFill/>
        </p:spPr>
        <p:txBody>
          <a:bodyPr wrap="square" anchor="t" lIns="36576" rIns="36576" tIns="18288" bIns="18288">
            <a:spAutoFit/>
          </a:bodyPr>
          <a:lstStyle/>
          <a:p>
            <a:pPr algn="l">
              <a:spcAft>
                <a:spcPts val="300"/>
              </a:spcAft>
            </a:pPr>
            <a:r>
              <a:rPr sz="1500" b="1">
                <a:solidFill>
                  <a:srgbClr val="135927"/>
                </a:solidFill>
                <a:latin typeface="Twentieth Century"/>
              </a:rPr>
              <a:t>$38.43</a:t>
            </a:r>
          </a:p>
        </p:txBody>
      </p:sp>
      <p:sp>
        <p:nvSpPr>
          <p:cNvPr id="20" name="TextBox 145"/>
          <p:cNvSpPr txBox="1"/>
          <p:nvPr/>
        </p:nvSpPr>
        <p:spPr>
          <a:xfrm>
            <a:off x="7543800" y="2816352"/>
            <a:ext cx="1234440" cy="228600"/>
          </a:xfrm>
          <a:prstGeom prst="rect">
            <a:avLst/>
          </a:prstGeom>
          <a:noFill/>
        </p:spPr>
        <p:txBody>
          <a:bodyPr wrap="square" anchor="t" lIns="36576" rIns="36576" tIns="18288" bIns="18288">
            <a:spAutoFit/>
          </a:bodyPr>
          <a:lstStyle/>
          <a:p>
            <a:pPr algn="r">
              <a:spcAft>
                <a:spcPts val="300"/>
              </a:spcAft>
            </a:pPr>
            <a:r>
              <a:rPr sz="700" b="0">
                <a:solidFill>
                  <a:srgbClr val="595959"/>
                </a:solidFill>
                <a:latin typeface="Arial"/>
              </a:rPr>
              <a:t>25 / 50 / 25</a:t>
            </a:r>
          </a:p>
        </p:txBody>
      </p:sp>
      <p:sp>
        <p:nvSpPr>
          <p:cNvPr id="21" name="Rectangle 146"/>
          <p:cNvSpPr/>
          <p:nvPr/>
        </p:nvSpPr>
        <p:spPr>
          <a:xfrm>
            <a:off x="6217920" y="3410712"/>
            <a:ext cx="2606040" cy="585216"/>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147"/>
          <p:cNvSpPr txBox="1"/>
          <p:nvPr/>
        </p:nvSpPr>
        <p:spPr>
          <a:xfrm>
            <a:off x="6291072" y="3456432"/>
            <a:ext cx="245973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DAMODARAN GINZU</a:t>
            </a:r>
          </a:p>
        </p:txBody>
      </p:sp>
      <p:sp>
        <p:nvSpPr>
          <p:cNvPr id="23" name="TextBox 148"/>
          <p:cNvSpPr txBox="1"/>
          <p:nvPr/>
        </p:nvSpPr>
        <p:spPr>
          <a:xfrm>
            <a:off x="6291072" y="3630168"/>
            <a:ext cx="2459736" cy="384048"/>
          </a:xfrm>
          <a:prstGeom prst="rect">
            <a:avLst/>
          </a:prstGeom>
          <a:noFill/>
        </p:spPr>
        <p:txBody>
          <a:bodyPr wrap="square" anchor="t" lIns="36576" rIns="36576" tIns="18288" bIns="18288">
            <a:spAutoFit/>
          </a:bodyPr>
          <a:lstStyle/>
          <a:p>
            <a:pPr algn="l">
              <a:spcAft>
                <a:spcPts val="300"/>
              </a:spcAft>
            </a:pPr>
            <a:r>
              <a:rPr sz="1500" b="1">
                <a:solidFill>
                  <a:srgbClr val="135927"/>
                </a:solidFill>
                <a:latin typeface="Twentieth Century"/>
              </a:rPr>
              <a:t>$31.57</a:t>
            </a:r>
          </a:p>
        </p:txBody>
      </p:sp>
      <p:sp>
        <p:nvSpPr>
          <p:cNvPr id="24" name="TextBox 149"/>
          <p:cNvSpPr txBox="1"/>
          <p:nvPr/>
        </p:nvSpPr>
        <p:spPr>
          <a:xfrm>
            <a:off x="7543800" y="3465576"/>
            <a:ext cx="1234440" cy="228600"/>
          </a:xfrm>
          <a:prstGeom prst="rect">
            <a:avLst/>
          </a:prstGeom>
          <a:noFill/>
        </p:spPr>
        <p:txBody>
          <a:bodyPr wrap="square" anchor="t" lIns="36576" rIns="36576" tIns="18288" bIns="18288">
            <a:spAutoFit/>
          </a:bodyPr>
          <a:lstStyle/>
          <a:p>
            <a:pPr algn="r">
              <a:spcAft>
                <a:spcPts val="300"/>
              </a:spcAft>
            </a:pPr>
            <a:r>
              <a:rPr sz="700" b="0">
                <a:solidFill>
                  <a:srgbClr val="595959"/>
                </a:solidFill>
                <a:latin typeface="Arial"/>
              </a:rPr>
              <a:t>independent model</a:t>
            </a:r>
          </a:p>
        </p:txBody>
      </p:sp>
      <p:sp>
        <p:nvSpPr>
          <p:cNvPr id="25" name="Rectangle 150"/>
          <p:cNvSpPr/>
          <p:nvPr/>
        </p:nvSpPr>
        <p:spPr>
          <a:xfrm>
            <a:off x="6217920" y="4059935"/>
            <a:ext cx="2606040" cy="585216"/>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151"/>
          <p:cNvSpPr txBox="1"/>
          <p:nvPr/>
        </p:nvSpPr>
        <p:spPr>
          <a:xfrm>
            <a:off x="6291072" y="4105655"/>
            <a:ext cx="2459736"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CORE-PEER P/E RANGE</a:t>
            </a:r>
          </a:p>
        </p:txBody>
      </p:sp>
      <p:sp>
        <p:nvSpPr>
          <p:cNvPr id="27" name="TextBox 152"/>
          <p:cNvSpPr txBox="1"/>
          <p:nvPr/>
        </p:nvSpPr>
        <p:spPr>
          <a:xfrm>
            <a:off x="6291072" y="4279392"/>
            <a:ext cx="2459736" cy="384048"/>
          </a:xfrm>
          <a:prstGeom prst="rect">
            <a:avLst/>
          </a:prstGeom>
          <a:noFill/>
        </p:spPr>
        <p:txBody>
          <a:bodyPr wrap="square" anchor="t" lIns="36576" rIns="36576" tIns="18288" bIns="18288">
            <a:spAutoFit/>
          </a:bodyPr>
          <a:lstStyle/>
          <a:p>
            <a:pPr algn="l">
              <a:spcAft>
                <a:spcPts val="300"/>
              </a:spcAft>
            </a:pPr>
            <a:r>
              <a:rPr sz="1500" b="1">
                <a:solidFill>
                  <a:srgbClr val="595959"/>
                </a:solidFill>
                <a:latin typeface="Twentieth Century"/>
              </a:rPr>
              <a:t>$35–$106</a:t>
            </a:r>
          </a:p>
        </p:txBody>
      </p:sp>
      <p:sp>
        <p:nvSpPr>
          <p:cNvPr id="28" name="TextBox 153"/>
          <p:cNvSpPr txBox="1"/>
          <p:nvPr/>
        </p:nvSpPr>
        <p:spPr>
          <a:xfrm>
            <a:off x="7543800" y="4114800"/>
            <a:ext cx="1234440" cy="228600"/>
          </a:xfrm>
          <a:prstGeom prst="rect">
            <a:avLst/>
          </a:prstGeom>
          <a:noFill/>
        </p:spPr>
        <p:txBody>
          <a:bodyPr wrap="square" anchor="t" lIns="36576" rIns="36576" tIns="18288" bIns="18288">
            <a:spAutoFit/>
          </a:bodyPr>
          <a:lstStyle/>
          <a:p>
            <a:pPr algn="r">
              <a:spcAft>
                <a:spcPts val="300"/>
              </a:spcAft>
            </a:pPr>
            <a:r>
              <a:rPr sz="700" b="0">
                <a:solidFill>
                  <a:srgbClr val="595959"/>
                </a:solidFill>
                <a:latin typeface="Arial"/>
              </a:rPr>
              <a:t>if sector multiples hold</a:t>
            </a:r>
          </a:p>
        </p:txBody>
      </p:sp>
      <p:sp>
        <p:nvSpPr>
          <p:cNvPr id="29"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Investor logic: </a:t>
            </a:r>
            <a:r>
              <a:rPr sz="1050" b="0" i="1">
                <a:solidFill>
                  <a:srgbClr val="1F2421"/>
                </a:solidFill>
                <a:latin typeface="Arial"/>
              </a:rPr>
              <a:t>methods that value HPE's own cash flows cluster at $31–43; only methods that borrow today's sector multiples reach the price.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Asymmetry: even our bull case falls short of today's price</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3 · WHAT THE PRICE ASSUMES · SCENARIOS</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Bona Fide DCF scenarios; drivers flexed one at a time around the base case.</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16</a:t>
            </a:r>
          </a:p>
        </p:txBody>
      </p:sp>
      <p:graphicFrame>
        <p:nvGraphicFramePr>
          <p:cNvPr id="8" name="Table 133"/>
          <p:cNvGraphicFramePr>
            <a:graphicFrameLocks noGrp="1"/>
          </p:cNvGraphicFramePr>
          <p:nvPr/>
        </p:nvGraphicFramePr>
        <p:xfrm>
          <a:off x="320040" y="1463040"/>
          <a:ext cx="4572000" cy="1463040"/>
        </p:xfrm>
        <a:graphic>
          <a:graphicData uri="http://schemas.openxmlformats.org/drawingml/2006/table">
            <a:tbl>
              <a:tblPr firstRow="1">
                <a:tableStyleId>{5C22544A-7EE6-4342-B048-85BDC9FD1C3A}</a:tableStyleId>
              </a:tblPr>
              <a:tblGrid>
                <a:gridCol w="1005840"/>
                <a:gridCol w="502920"/>
                <a:gridCol w="594360"/>
                <a:gridCol w="594360"/>
                <a:gridCol w="685800"/>
                <a:gridCol w="594360"/>
                <a:gridCol w="594360"/>
              </a:tblGrid>
              <a:tr h="292608">
                <a:tc>
                  <a:txBody>
                    <a:bodyPr/>
                    <a:lstStyle/>
                    <a:p>
                      <a:pPr algn="l"/>
                      <a:r>
                        <a:rPr sz="900" b="1">
                          <a:solidFill>
                            <a:srgbClr val="FCC80D"/>
                          </a:solidFill>
                          <a:latin typeface="Arial"/>
                        </a:rPr>
                        <a:t>Case</a:t>
                      </a:r>
                    </a:p>
                  </a:txBody>
                  <a:tcPr marL="45720" marR="45720" marT="13716" marB="13716" anchor="ctr">
                    <a:solidFill>
                      <a:srgbClr val="135927"/>
                    </a:solidFill>
                  </a:tcPr>
                </a:tc>
                <a:tc>
                  <a:txBody>
                    <a:bodyPr/>
                    <a:lstStyle/>
                    <a:p>
                      <a:pPr algn="l"/>
                      <a:r>
                        <a:rPr sz="900" b="1">
                          <a:solidFill>
                            <a:srgbClr val="FCC80D"/>
                          </a:solidFill>
                          <a:latin typeface="Arial"/>
                        </a:rPr>
                        <a:t>Prob.</a:t>
                      </a:r>
                    </a:p>
                  </a:txBody>
                  <a:tcPr marL="45720" marR="45720" marT="13716" marB="13716" anchor="ctr">
                    <a:solidFill>
                      <a:srgbClr val="135927"/>
                    </a:solidFill>
                  </a:tcPr>
                </a:tc>
                <a:tc>
                  <a:txBody>
                    <a:bodyPr/>
                    <a:lstStyle/>
                    <a:p>
                      <a:pPr algn="l"/>
                      <a:r>
                        <a:rPr sz="900" b="1">
                          <a:solidFill>
                            <a:srgbClr val="FCC80D"/>
                          </a:solidFill>
                          <a:latin typeface="Arial"/>
                        </a:rPr>
                        <a:t>FY27 g</a:t>
                      </a:r>
                    </a:p>
                  </a:txBody>
                  <a:tcPr marL="45720" marR="45720" marT="13716" marB="13716" anchor="ctr">
                    <a:solidFill>
                      <a:srgbClr val="135927"/>
                    </a:solidFill>
                  </a:tcPr>
                </a:tc>
                <a:tc>
                  <a:txBody>
                    <a:bodyPr/>
                    <a:lstStyle/>
                    <a:p>
                      <a:pPr algn="l"/>
                      <a:r>
                        <a:rPr sz="900" b="1">
                          <a:solidFill>
                            <a:srgbClr val="FCC80D"/>
                          </a:solidFill>
                          <a:latin typeface="Arial"/>
                        </a:rPr>
                        <a:t>FY28 g</a:t>
                      </a:r>
                    </a:p>
                  </a:txBody>
                  <a:tcPr marL="45720" marR="45720" marT="13716" marB="13716" anchor="ctr">
                    <a:solidFill>
                      <a:srgbClr val="135927"/>
                    </a:solidFill>
                  </a:tcPr>
                </a:tc>
                <a:tc>
                  <a:txBody>
                    <a:bodyPr/>
                    <a:lstStyle/>
                    <a:p>
                      <a:pPr algn="l"/>
                      <a:r>
                        <a:rPr sz="900" b="1">
                          <a:solidFill>
                            <a:srgbClr val="FCC80D"/>
                          </a:solidFill>
                          <a:latin typeface="Arial"/>
                        </a:rPr>
                        <a:t>LT margin</a:t>
                      </a:r>
                    </a:p>
                  </a:txBody>
                  <a:tcPr marL="45720" marR="45720" marT="13716" marB="13716" anchor="ctr">
                    <a:solidFill>
                      <a:srgbClr val="135927"/>
                    </a:solidFill>
                  </a:tcPr>
                </a:tc>
                <a:tc>
                  <a:txBody>
                    <a:bodyPr/>
                    <a:lstStyle/>
                    <a:p>
                      <a:pPr algn="l"/>
                      <a:r>
                        <a:rPr sz="900" b="1">
                          <a:solidFill>
                            <a:srgbClr val="FCC80D"/>
                          </a:solidFill>
                          <a:latin typeface="Arial"/>
                        </a:rPr>
                        <a:t>Term. g</a:t>
                      </a:r>
                    </a:p>
                  </a:txBody>
                  <a:tcPr marL="45720" marR="45720" marT="13716" marB="13716" anchor="ctr">
                    <a:solidFill>
                      <a:srgbClr val="135927"/>
                    </a:solidFill>
                  </a:tcPr>
                </a:tc>
                <a:tc>
                  <a:txBody>
                    <a:bodyPr/>
                    <a:lstStyle/>
                    <a:p>
                      <a:pPr algn="l"/>
                      <a:r>
                        <a:rPr sz="900" b="1">
                          <a:solidFill>
                            <a:srgbClr val="FCC80D"/>
                          </a:solidFill>
                          <a:latin typeface="Arial"/>
                        </a:rPr>
                        <a:t>Value/sh</a:t>
                      </a:r>
                    </a:p>
                  </a:txBody>
                  <a:tcPr marL="45720" marR="45720" marT="13716" marB="13716" anchor="ctr">
                    <a:solidFill>
                      <a:srgbClr val="135927"/>
                    </a:solidFill>
                  </a:tcPr>
                </a:tc>
              </a:tr>
              <a:tr h="292608">
                <a:tc>
                  <a:txBody>
                    <a:bodyPr/>
                    <a:lstStyle/>
                    <a:p>
                      <a:pPr algn="l"/>
                      <a:r>
                        <a:rPr sz="900" b="1">
                          <a:solidFill>
                            <a:srgbClr val="1F2421"/>
                          </a:solidFill>
                          <a:latin typeface="Arial"/>
                        </a:rPr>
                        <a:t>Bear</a:t>
                      </a:r>
                    </a:p>
                  </a:txBody>
                  <a:tcPr marL="45720" marR="45720" marT="13716" marB="13716" anchor="ctr">
                    <a:solidFill>
                      <a:srgbClr val="FFFFFF"/>
                    </a:solidFill>
                  </a:tcPr>
                </a:tc>
                <a:tc>
                  <a:txBody>
                    <a:bodyPr/>
                    <a:lstStyle/>
                    <a:p>
                      <a:pPr algn="r"/>
                      <a:r>
                        <a:rPr sz="900" b="0">
                          <a:solidFill>
                            <a:srgbClr val="1F2421"/>
                          </a:solidFill>
                          <a:latin typeface="Arial"/>
                        </a:rPr>
                        <a:t>25%</a:t>
                      </a:r>
                    </a:p>
                  </a:txBody>
                  <a:tcPr marL="45720" marR="45720" marT="13716" marB="13716" anchor="ctr">
                    <a:solidFill>
                      <a:srgbClr val="FFFFFF"/>
                    </a:solidFill>
                  </a:tcPr>
                </a:tc>
                <a:tc>
                  <a:txBody>
                    <a:bodyPr/>
                    <a:lstStyle/>
                    <a:p>
                      <a:pPr algn="r"/>
                      <a:r>
                        <a:rPr sz="900" b="0">
                          <a:solidFill>
                            <a:srgbClr val="1F2421"/>
                          </a:solidFill>
                          <a:latin typeface="Arial"/>
                        </a:rPr>
                        <a:t>+10%</a:t>
                      </a:r>
                    </a:p>
                  </a:txBody>
                  <a:tcPr marL="45720" marR="45720" marT="13716" marB="13716" anchor="ctr">
                    <a:solidFill>
                      <a:srgbClr val="FFFFFF"/>
                    </a:solidFill>
                  </a:tcPr>
                </a:tc>
                <a:tc>
                  <a:txBody>
                    <a:bodyPr/>
                    <a:lstStyle/>
                    <a:p>
                      <a:pPr algn="r"/>
                      <a:r>
                        <a:rPr sz="900" b="0">
                          <a:solidFill>
                            <a:srgbClr val="1F2421"/>
                          </a:solidFill>
                          <a:latin typeface="Arial"/>
                        </a:rPr>
                        <a:t>-3%</a:t>
                      </a:r>
                    </a:p>
                  </a:txBody>
                  <a:tcPr marL="45720" marR="45720" marT="13716" marB="13716" anchor="ctr">
                    <a:solidFill>
                      <a:srgbClr val="FFFFFF"/>
                    </a:solidFill>
                  </a:tcPr>
                </a:tc>
                <a:tc>
                  <a:txBody>
                    <a:bodyPr/>
                    <a:lstStyle/>
                    <a:p>
                      <a:pPr algn="r"/>
                      <a:r>
                        <a:rPr sz="900" b="0">
                          <a:solidFill>
                            <a:srgbClr val="1F2421"/>
                          </a:solidFill>
                          <a:latin typeface="Arial"/>
                        </a:rPr>
                        <a:t>10.5%</a:t>
                      </a:r>
                    </a:p>
                  </a:txBody>
                  <a:tcPr marL="45720" marR="45720" marT="13716" marB="13716" anchor="ctr">
                    <a:solidFill>
                      <a:srgbClr val="FFFFFF"/>
                    </a:solidFill>
                  </a:tcPr>
                </a:tc>
                <a:tc>
                  <a:txBody>
                    <a:bodyPr/>
                    <a:lstStyle/>
                    <a:p>
                      <a:pPr algn="r"/>
                      <a:r>
                        <a:rPr sz="900" b="0">
                          <a:solidFill>
                            <a:srgbClr val="1F2421"/>
                          </a:solidFill>
                          <a:latin typeface="Arial"/>
                        </a:rPr>
                        <a:t>2.25%</a:t>
                      </a:r>
                    </a:p>
                  </a:txBody>
                  <a:tcPr marL="45720" marR="45720" marT="13716" marB="13716" anchor="ctr">
                    <a:solidFill>
                      <a:srgbClr val="FFFFFF"/>
                    </a:solidFill>
                  </a:tcPr>
                </a:tc>
                <a:tc>
                  <a:txBody>
                    <a:bodyPr/>
                    <a:lstStyle/>
                    <a:p>
                      <a:pPr algn="r"/>
                      <a:r>
                        <a:rPr sz="900" b="0">
                          <a:solidFill>
                            <a:srgbClr val="1F2421"/>
                          </a:solidFill>
                          <a:latin typeface="Arial"/>
                        </a:rPr>
                        <a:t>$22.19</a:t>
                      </a:r>
                    </a:p>
                  </a:txBody>
                  <a:tcPr marL="45720" marR="45720" marT="13716" marB="13716" anchor="ctr">
                    <a:solidFill>
                      <a:srgbClr val="FFFFFF"/>
                    </a:solidFill>
                  </a:tcPr>
                </a:tc>
              </a:tr>
              <a:tr h="292608">
                <a:tc>
                  <a:txBody>
                    <a:bodyPr/>
                    <a:lstStyle/>
                    <a:p>
                      <a:pPr algn="l"/>
                      <a:r>
                        <a:rPr sz="900" b="1">
                          <a:solidFill>
                            <a:srgbClr val="1F2421"/>
                          </a:solidFill>
                          <a:latin typeface="Arial"/>
                        </a:rPr>
                        <a:t>Base</a:t>
                      </a:r>
                    </a:p>
                  </a:txBody>
                  <a:tcPr marL="45720" marR="45720" marT="13716" marB="13716" anchor="ctr">
                    <a:solidFill>
                      <a:srgbClr val="FEF4CC"/>
                    </a:solidFill>
                  </a:tcPr>
                </a:tc>
                <a:tc>
                  <a:txBody>
                    <a:bodyPr/>
                    <a:lstStyle/>
                    <a:p>
                      <a:pPr algn="r"/>
                      <a:r>
                        <a:rPr sz="900" b="0">
                          <a:solidFill>
                            <a:srgbClr val="1F2421"/>
                          </a:solidFill>
                          <a:latin typeface="Arial"/>
                        </a:rPr>
                        <a:t>50%</a:t>
                      </a:r>
                    </a:p>
                  </a:txBody>
                  <a:tcPr marL="45720" marR="45720" marT="13716" marB="13716" anchor="ctr">
                    <a:solidFill>
                      <a:srgbClr val="FEF4CC"/>
                    </a:solidFill>
                  </a:tcPr>
                </a:tc>
                <a:tc>
                  <a:txBody>
                    <a:bodyPr/>
                    <a:lstStyle/>
                    <a:p>
                      <a:pPr algn="r"/>
                      <a:r>
                        <a:rPr sz="900" b="0">
                          <a:solidFill>
                            <a:srgbClr val="1F2421"/>
                          </a:solidFill>
                          <a:latin typeface="Arial"/>
                        </a:rPr>
                        <a:t>+15%</a:t>
                      </a:r>
                    </a:p>
                  </a:txBody>
                  <a:tcPr marL="45720" marR="45720" marT="13716" marB="13716" anchor="ctr">
                    <a:solidFill>
                      <a:srgbClr val="FEF4CC"/>
                    </a:solidFill>
                  </a:tcPr>
                </a:tc>
                <a:tc>
                  <a:txBody>
                    <a:bodyPr/>
                    <a:lstStyle/>
                    <a:p>
                      <a:pPr algn="r"/>
                      <a:r>
                        <a:rPr sz="900" b="0">
                          <a:solidFill>
                            <a:srgbClr val="1F2421"/>
                          </a:solidFill>
                          <a:latin typeface="Arial"/>
                        </a:rPr>
                        <a:t>+6%</a:t>
                      </a:r>
                    </a:p>
                  </a:txBody>
                  <a:tcPr marL="45720" marR="45720" marT="13716" marB="13716" anchor="ctr">
                    <a:solidFill>
                      <a:srgbClr val="FEF4CC"/>
                    </a:solidFill>
                  </a:tcPr>
                </a:tc>
                <a:tc>
                  <a:txBody>
                    <a:bodyPr/>
                    <a:lstStyle/>
                    <a:p>
                      <a:pPr algn="r"/>
                      <a:r>
                        <a:rPr sz="900" b="0">
                          <a:solidFill>
                            <a:srgbClr val="1F2421"/>
                          </a:solidFill>
                          <a:latin typeface="Arial"/>
                        </a:rPr>
                        <a:t>12.5%</a:t>
                      </a:r>
                    </a:p>
                  </a:txBody>
                  <a:tcPr marL="45720" marR="45720" marT="13716" marB="13716" anchor="ctr">
                    <a:solidFill>
                      <a:srgbClr val="FEF4CC"/>
                    </a:solidFill>
                  </a:tcPr>
                </a:tc>
                <a:tc>
                  <a:txBody>
                    <a:bodyPr/>
                    <a:lstStyle/>
                    <a:p>
                      <a:pPr algn="r"/>
                      <a:r>
                        <a:rPr sz="900" b="0">
                          <a:solidFill>
                            <a:srgbClr val="1F2421"/>
                          </a:solidFill>
                          <a:latin typeface="Arial"/>
                        </a:rPr>
                        <a:t>2.75%</a:t>
                      </a:r>
                    </a:p>
                  </a:txBody>
                  <a:tcPr marL="45720" marR="45720" marT="13716" marB="13716" anchor="ctr">
                    <a:solidFill>
                      <a:srgbClr val="FEF4CC"/>
                    </a:solidFill>
                  </a:tcPr>
                </a:tc>
                <a:tc>
                  <a:txBody>
                    <a:bodyPr/>
                    <a:lstStyle/>
                    <a:p>
                      <a:pPr algn="r"/>
                      <a:r>
                        <a:rPr sz="900" b="0">
                          <a:solidFill>
                            <a:srgbClr val="1F2421"/>
                          </a:solidFill>
                          <a:latin typeface="Arial"/>
                        </a:rPr>
                        <a:t>$38.80</a:t>
                      </a:r>
                    </a:p>
                  </a:txBody>
                  <a:tcPr marL="45720" marR="45720" marT="13716" marB="13716" anchor="ctr">
                    <a:solidFill>
                      <a:srgbClr val="FEF4CC"/>
                    </a:solidFill>
                  </a:tcPr>
                </a:tc>
              </a:tr>
              <a:tr h="292608">
                <a:tc>
                  <a:txBody>
                    <a:bodyPr/>
                    <a:lstStyle/>
                    <a:p>
                      <a:pPr algn="l"/>
                      <a:r>
                        <a:rPr sz="900" b="1">
                          <a:solidFill>
                            <a:srgbClr val="1F2421"/>
                          </a:solidFill>
                          <a:latin typeface="Arial"/>
                        </a:rPr>
                        <a:t>Bull</a:t>
                      </a:r>
                    </a:p>
                  </a:txBody>
                  <a:tcPr marL="45720" marR="45720" marT="13716" marB="13716" anchor="ctr">
                    <a:solidFill>
                      <a:srgbClr val="FFFFFF"/>
                    </a:solidFill>
                  </a:tcPr>
                </a:tc>
                <a:tc>
                  <a:txBody>
                    <a:bodyPr/>
                    <a:lstStyle/>
                    <a:p>
                      <a:pPr algn="r"/>
                      <a:r>
                        <a:rPr sz="900" b="0">
                          <a:solidFill>
                            <a:srgbClr val="1F2421"/>
                          </a:solidFill>
                          <a:latin typeface="Arial"/>
                        </a:rPr>
                        <a:t>25%</a:t>
                      </a:r>
                    </a:p>
                  </a:txBody>
                  <a:tcPr marL="45720" marR="45720" marT="13716" marB="13716" anchor="ctr">
                    <a:solidFill>
                      <a:srgbClr val="FFFFFF"/>
                    </a:solidFill>
                  </a:tcPr>
                </a:tc>
                <a:tc>
                  <a:txBody>
                    <a:bodyPr/>
                    <a:lstStyle/>
                    <a:p>
                      <a:pPr algn="r"/>
                      <a:r>
                        <a:rPr sz="900" b="0">
                          <a:solidFill>
                            <a:srgbClr val="1F2421"/>
                          </a:solidFill>
                          <a:latin typeface="Arial"/>
                        </a:rPr>
                        <a:t>+17%</a:t>
                      </a:r>
                    </a:p>
                  </a:txBody>
                  <a:tcPr marL="45720" marR="45720" marT="13716" marB="13716" anchor="ctr">
                    <a:solidFill>
                      <a:srgbClr val="FFFFFF"/>
                    </a:solidFill>
                  </a:tcPr>
                </a:tc>
                <a:tc>
                  <a:txBody>
                    <a:bodyPr/>
                    <a:lstStyle/>
                    <a:p>
                      <a:pPr algn="r"/>
                      <a:r>
                        <a:rPr sz="900" b="0">
                          <a:solidFill>
                            <a:srgbClr val="1F2421"/>
                          </a:solidFill>
                          <a:latin typeface="Arial"/>
                        </a:rPr>
                        <a:t>+9%</a:t>
                      </a:r>
                    </a:p>
                  </a:txBody>
                  <a:tcPr marL="45720" marR="45720" marT="13716" marB="13716" anchor="ctr">
                    <a:solidFill>
                      <a:srgbClr val="FFFFFF"/>
                    </a:solidFill>
                  </a:tcPr>
                </a:tc>
                <a:tc>
                  <a:txBody>
                    <a:bodyPr/>
                    <a:lstStyle/>
                    <a:p>
                      <a:pPr algn="r"/>
                      <a:r>
                        <a:rPr sz="900" b="0">
                          <a:solidFill>
                            <a:srgbClr val="1F2421"/>
                          </a:solidFill>
                          <a:latin typeface="Arial"/>
                        </a:rPr>
                        <a:t>14.5%</a:t>
                      </a:r>
                    </a:p>
                  </a:txBody>
                  <a:tcPr marL="45720" marR="45720" marT="13716" marB="13716" anchor="ctr">
                    <a:solidFill>
                      <a:srgbClr val="FFFFFF"/>
                    </a:solidFill>
                  </a:tcPr>
                </a:tc>
                <a:tc>
                  <a:txBody>
                    <a:bodyPr/>
                    <a:lstStyle/>
                    <a:p>
                      <a:pPr algn="r"/>
                      <a:r>
                        <a:rPr sz="900" b="0">
                          <a:solidFill>
                            <a:srgbClr val="1F2421"/>
                          </a:solidFill>
                          <a:latin typeface="Arial"/>
                        </a:rPr>
                        <a:t>3.25%</a:t>
                      </a:r>
                    </a:p>
                  </a:txBody>
                  <a:tcPr marL="45720" marR="45720" marT="13716" marB="13716" anchor="ctr">
                    <a:solidFill>
                      <a:srgbClr val="FFFFFF"/>
                    </a:solidFill>
                  </a:tcPr>
                </a:tc>
                <a:tc>
                  <a:txBody>
                    <a:bodyPr/>
                    <a:lstStyle/>
                    <a:p>
                      <a:pPr algn="r"/>
                      <a:r>
                        <a:rPr sz="900" b="0">
                          <a:solidFill>
                            <a:srgbClr val="1F2421"/>
                          </a:solidFill>
                          <a:latin typeface="Arial"/>
                        </a:rPr>
                        <a:t>$53.93</a:t>
                      </a:r>
                    </a:p>
                  </a:txBody>
                  <a:tcPr marL="45720" marR="45720" marT="13716" marB="13716" anchor="ctr">
                    <a:solidFill>
                      <a:srgbClr val="FFFFFF"/>
                    </a:solidFill>
                  </a:tcPr>
                </a:tc>
              </a:tr>
              <a:tr h="292608">
                <a:tc>
                  <a:txBody>
                    <a:bodyPr/>
                    <a:lstStyle/>
                    <a:p>
                      <a:pPr algn="l"/>
                      <a:r>
                        <a:rPr sz="900" b="1">
                          <a:solidFill>
                            <a:srgbClr val="1F2421"/>
                          </a:solidFill>
                          <a:latin typeface="Arial"/>
                        </a:rPr>
                        <a:t>Prob.-weighted</a:t>
                      </a:r>
                    </a:p>
                  </a:txBody>
                  <a:tcPr marL="45720" marR="45720" marT="13716" marB="13716" anchor="ctr">
                    <a:solidFill>
                      <a:srgbClr val="ECF2ED"/>
                    </a:solidFill>
                  </a:tcPr>
                </a:tc>
                <a:tc>
                  <a:txBody>
                    <a:bodyPr/>
                    <a:lstStyle/>
                    <a:p>
                      <a:pPr algn="r"/>
                      <a:r>
                        <a:rPr sz="900" b="0">
                          <a:solidFill>
                            <a:srgbClr val="1F2421"/>
                          </a:solidFill>
                          <a:latin typeface="Arial"/>
                        </a:rPr>
                        <a:t>100%</a:t>
                      </a:r>
                    </a:p>
                  </a:txBody>
                  <a:tcPr marL="45720" marR="45720" marT="13716" marB="13716" anchor="ctr">
                    <a:solidFill>
                      <a:srgbClr val="ECF2ED"/>
                    </a:solidFill>
                  </a:tcPr>
                </a:tc>
                <a:tc>
                  <a:txBody>
                    <a:bodyPr/>
                    <a:lstStyle/>
                    <a:p>
                      <a:pPr algn="r"/>
                    </a:p>
                  </a:txBody>
                  <a:tcPr marL="45720" marR="45720" marT="13716" marB="13716" anchor="ctr">
                    <a:solidFill>
                      <a:srgbClr val="ECF2ED"/>
                    </a:solidFill>
                  </a:tcPr>
                </a:tc>
                <a:tc>
                  <a:txBody>
                    <a:bodyPr/>
                    <a:lstStyle/>
                    <a:p>
                      <a:pPr algn="r"/>
                    </a:p>
                  </a:txBody>
                  <a:tcPr marL="45720" marR="45720" marT="13716" marB="13716" anchor="ctr">
                    <a:solidFill>
                      <a:srgbClr val="ECF2ED"/>
                    </a:solidFill>
                  </a:tcPr>
                </a:tc>
                <a:tc>
                  <a:txBody>
                    <a:bodyPr/>
                    <a:lstStyle/>
                    <a:p>
                      <a:pPr algn="r"/>
                    </a:p>
                  </a:txBody>
                  <a:tcPr marL="45720" marR="45720" marT="13716" marB="13716" anchor="ctr">
                    <a:solidFill>
                      <a:srgbClr val="ECF2ED"/>
                    </a:solidFill>
                  </a:tcPr>
                </a:tc>
                <a:tc>
                  <a:txBody>
                    <a:bodyPr/>
                    <a:lstStyle/>
                    <a:p>
                      <a:pPr algn="r"/>
                    </a:p>
                  </a:txBody>
                  <a:tcPr marL="45720" marR="45720" marT="13716" marB="13716" anchor="ctr">
                    <a:solidFill>
                      <a:srgbClr val="ECF2ED"/>
                    </a:solidFill>
                  </a:tcPr>
                </a:tc>
                <a:tc>
                  <a:txBody>
                    <a:bodyPr/>
                    <a:lstStyle/>
                    <a:p>
                      <a:pPr algn="r"/>
                      <a:r>
                        <a:rPr sz="900" b="0">
                          <a:solidFill>
                            <a:srgbClr val="1F2421"/>
                          </a:solidFill>
                          <a:latin typeface="Arial"/>
                        </a:rPr>
                        <a:t>$38.43</a:t>
                      </a:r>
                    </a:p>
                  </a:txBody>
                  <a:tcPr marL="45720" marR="45720" marT="13716" marB="13716" anchor="ctr">
                    <a:solidFill>
                      <a:srgbClr val="ECF2ED"/>
                    </a:solidFill>
                  </a:tcPr>
                </a:tc>
              </a:tr>
            </a:tbl>
          </a:graphicData>
        </a:graphic>
      </p:graphicFrame>
      <p:sp>
        <p:nvSpPr>
          <p:cNvPr id="9" name="TextBox 134"/>
          <p:cNvSpPr txBox="1"/>
          <p:nvPr/>
        </p:nvSpPr>
        <p:spPr>
          <a:xfrm>
            <a:off x="320040" y="3035808"/>
            <a:ext cx="4572000" cy="1673352"/>
          </a:xfrm>
          <a:prstGeom prst="rect">
            <a:avLst/>
          </a:prstGeom>
          <a:noFill/>
        </p:spPr>
        <p:txBody>
          <a:bodyPr wrap="square" anchor="t" lIns="36576" rIns="36576" tIns="18288" bIns="18288">
            <a:spAutoFit/>
          </a:bodyPr>
          <a:lstStyle/>
          <a:p>
            <a:pPr algn="l">
              <a:spcAft>
                <a:spcPts val="250"/>
              </a:spcAft>
            </a:pPr>
            <a:r>
              <a:rPr sz="600">
                <a:solidFill>
                  <a:srgbClr val="135927"/>
                </a:solidFill>
                <a:latin typeface="Arial"/>
              </a:rPr>
              <a:t>■  </a:t>
            </a:r>
            <a:r>
              <a:rPr sz="900" b="1">
                <a:solidFill>
                  <a:srgbClr val="1F2421"/>
                </a:solidFill>
                <a:latin typeface="Arial"/>
              </a:rPr>
              <a:t>Bear: </a:t>
            </a:r>
            <a:r>
              <a:rPr sz="900" b="0">
                <a:solidFill>
                  <a:srgbClr val="1F2421"/>
                </a:solidFill>
                <a:latin typeface="Arial"/>
              </a:rPr>
              <a:t>AI digestion and memory normalisation reverse FY26 price gains; margin back to ~10.5%.</a:t>
            </a:r>
          </a:p>
          <a:p>
            <a:pPr algn="l">
              <a:spcAft>
                <a:spcPts val="250"/>
              </a:spcAft>
            </a:pPr>
            <a:r>
              <a:rPr sz="600">
                <a:solidFill>
                  <a:srgbClr val="135927"/>
                </a:solidFill>
                <a:latin typeface="Arial"/>
              </a:rPr>
              <a:t>■  </a:t>
            </a:r>
            <a:r>
              <a:rPr sz="900" b="1">
                <a:solidFill>
                  <a:srgbClr val="1F2421"/>
                </a:solidFill>
                <a:latin typeface="Arial"/>
              </a:rPr>
              <a:t>Base: </a:t>
            </a:r>
            <a:r>
              <a:rPr sz="900" b="0">
                <a:solidFill>
                  <a:srgbClr val="1F2421"/>
                </a:solidFill>
                <a:latin typeface="Arial"/>
              </a:rPr>
              <a:t>FY27 framework delivered; growth fades to mid-single digits; margin 12.5%.</a:t>
            </a:r>
          </a:p>
          <a:p>
            <a:pPr algn="l">
              <a:spcAft>
                <a:spcPts val="250"/>
              </a:spcAft>
            </a:pPr>
            <a:r>
              <a:rPr sz="600">
                <a:solidFill>
                  <a:srgbClr val="135927"/>
                </a:solidFill>
                <a:latin typeface="Arial"/>
              </a:rPr>
              <a:t>■  </a:t>
            </a:r>
            <a:r>
              <a:rPr sz="900" b="1">
                <a:solidFill>
                  <a:srgbClr val="1F2421"/>
                </a:solidFill>
                <a:latin typeface="Arial"/>
              </a:rPr>
              <a:t>Bull: </a:t>
            </a:r>
            <a:r>
              <a:rPr sz="900" b="0">
                <a:solidFill>
                  <a:srgbClr val="1F2421"/>
                </a:solidFill>
                <a:latin typeface="Arial"/>
              </a:rPr>
              <a:t>Oracle and Helios lift networking mix; margin holds ~14.5%.</a:t>
            </a:r>
          </a:p>
          <a:p>
            <a:pPr algn="l">
              <a:spcAft>
                <a:spcPts val="250"/>
              </a:spcAft>
            </a:pPr>
            <a:r>
              <a:rPr sz="600">
                <a:solidFill>
                  <a:srgbClr val="135927"/>
                </a:solidFill>
                <a:latin typeface="Arial"/>
              </a:rPr>
              <a:t>■  </a:t>
            </a:r>
            <a:r>
              <a:rPr sz="900" b="1">
                <a:solidFill>
                  <a:srgbClr val="1F2421"/>
                </a:solidFill>
                <a:latin typeface="Arial"/>
              </a:rPr>
              <a:t>Largest drivers: </a:t>
            </a:r>
            <a:r>
              <a:rPr sz="900" b="0">
                <a:solidFill>
                  <a:srgbClr val="1F2421"/>
                </a:solidFill>
                <a:latin typeface="Arial"/>
              </a:rPr>
              <a:t>WACC, growth and long-term margin; margin is the open question.</a:t>
            </a:r>
          </a:p>
        </p:txBody>
      </p:sp>
      <p:pic>
        <p:nvPicPr>
          <p:cNvPr id="10" name="Picture 135" descr="val_driver_sensitivity_deck.png"/>
          <p:cNvPicPr>
            <a:picLocks noChangeAspect="1"/>
          </p:cNvPicPr>
          <p:nvPr/>
        </p:nvPicPr>
        <p:blipFill>
          <a:blip r:embed="rId3"/>
          <a:stretch>
            <a:fillRect/>
          </a:stretch>
        </p:blipFill>
        <p:spPr>
          <a:xfrm>
            <a:off x="5029200" y="1463040"/>
            <a:ext cx="3794760" cy="1167785"/>
          </a:xfrm>
          <a:prstGeom prst="rect">
            <a:avLst/>
          </a:prstGeom>
        </p:spPr>
      </p:pic>
      <p:sp>
        <p:nvSpPr>
          <p:cNvPr id="11"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Asymmetry: </a:t>
            </a:r>
            <a:r>
              <a:rPr sz="1050" b="0" i="1">
                <a:solidFill>
                  <a:srgbClr val="1F2421"/>
                </a:solidFill>
                <a:latin typeface="Arial"/>
              </a:rPr>
              <a:t>if even the bull case sits below the price, upside needs assumptions beyond what the evidence supports.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The market is pricing a regime change, not a cycle</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4 · MARKET, RISKS &amp; DECISION · STOCK</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Yahoo Finance (spin-off and dividend adjusted); Bona Fide analysis.</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17</a:t>
            </a:r>
          </a:p>
        </p:txBody>
      </p:sp>
      <p:pic>
        <p:nvPicPr>
          <p:cNvPr id="8" name="Picture 133" descr="stock_long_term_weekly_deck.png"/>
          <p:cNvPicPr>
            <a:picLocks noChangeAspect="1"/>
          </p:cNvPicPr>
          <p:nvPr/>
        </p:nvPicPr>
        <p:blipFill>
          <a:blip r:embed="rId3"/>
          <a:stretch>
            <a:fillRect/>
          </a:stretch>
        </p:blipFill>
        <p:spPr>
          <a:xfrm>
            <a:off x="274320" y="1463040"/>
            <a:ext cx="5394960" cy="2137567"/>
          </a:xfrm>
          <a:prstGeom prst="rect">
            <a:avLst/>
          </a:prstGeom>
        </p:spPr>
      </p:pic>
      <p:graphicFrame>
        <p:nvGraphicFramePr>
          <p:cNvPr id="9" name="Table 134"/>
          <p:cNvGraphicFramePr>
            <a:graphicFrameLocks noGrp="1"/>
          </p:cNvGraphicFramePr>
          <p:nvPr/>
        </p:nvGraphicFramePr>
        <p:xfrm>
          <a:off x="5806440" y="1463040"/>
          <a:ext cx="3017520" cy="1645920"/>
        </p:xfrm>
        <a:graphic>
          <a:graphicData uri="http://schemas.openxmlformats.org/drawingml/2006/table">
            <a:tbl>
              <a:tblPr firstRow="1">
                <a:tableStyleId>{5C22544A-7EE6-4342-B048-85BDC9FD1C3A}</a:tableStyleId>
              </a:tblPr>
              <a:tblGrid>
                <a:gridCol w="1097280"/>
                <a:gridCol w="640080"/>
                <a:gridCol w="640080"/>
                <a:gridCol w="640080"/>
              </a:tblGrid>
              <a:tr h="274320">
                <a:tc>
                  <a:txBody>
                    <a:bodyPr/>
                    <a:lstStyle/>
                    <a:p>
                      <a:pPr algn="l"/>
                      <a:r>
                        <a:rPr sz="900" b="1">
                          <a:solidFill>
                            <a:srgbClr val="FCC80D"/>
                          </a:solidFill>
                          <a:latin typeface="Arial"/>
                        </a:rPr>
                        <a:t>Total return</a:t>
                      </a:r>
                    </a:p>
                  </a:txBody>
                  <a:tcPr marL="45720" marR="45720" marT="13716" marB="13716" anchor="ctr">
                    <a:solidFill>
                      <a:srgbClr val="135927"/>
                    </a:solidFill>
                  </a:tcPr>
                </a:tc>
                <a:tc>
                  <a:txBody>
                    <a:bodyPr/>
                    <a:lstStyle/>
                    <a:p>
                      <a:pPr algn="l"/>
                      <a:r>
                        <a:rPr sz="900" b="1">
                          <a:solidFill>
                            <a:srgbClr val="FCC80D"/>
                          </a:solidFill>
                          <a:latin typeface="Arial"/>
                        </a:rPr>
                        <a:t>1Y</a:t>
                      </a:r>
                    </a:p>
                  </a:txBody>
                  <a:tcPr marL="45720" marR="45720" marT="13716" marB="13716" anchor="ctr">
                    <a:solidFill>
                      <a:srgbClr val="135927"/>
                    </a:solidFill>
                  </a:tcPr>
                </a:tc>
                <a:tc>
                  <a:txBody>
                    <a:bodyPr/>
                    <a:lstStyle/>
                    <a:p>
                      <a:pPr algn="l"/>
                      <a:r>
                        <a:rPr sz="900" b="1">
                          <a:solidFill>
                            <a:srgbClr val="FCC80D"/>
                          </a:solidFill>
                          <a:latin typeface="Arial"/>
                        </a:rPr>
                        <a:t>3Y</a:t>
                      </a:r>
                    </a:p>
                  </a:txBody>
                  <a:tcPr marL="45720" marR="45720" marT="13716" marB="13716" anchor="ctr">
                    <a:solidFill>
                      <a:srgbClr val="135927"/>
                    </a:solidFill>
                  </a:tcPr>
                </a:tc>
                <a:tc>
                  <a:txBody>
                    <a:bodyPr/>
                    <a:lstStyle/>
                    <a:p>
                      <a:pPr algn="l"/>
                      <a:r>
                        <a:rPr sz="900" b="1">
                          <a:solidFill>
                            <a:srgbClr val="FCC80D"/>
                          </a:solidFill>
                          <a:latin typeface="Arial"/>
                        </a:rPr>
                        <a:t>5Y</a:t>
                      </a:r>
                    </a:p>
                  </a:txBody>
                  <a:tcPr marL="45720" marR="45720" marT="13716" marB="13716" anchor="ctr">
                    <a:solidFill>
                      <a:srgbClr val="135927"/>
                    </a:solidFill>
                  </a:tcPr>
                </a:tc>
              </a:tr>
              <a:tr h="274320">
                <a:tc>
                  <a:txBody>
                    <a:bodyPr/>
                    <a:lstStyle/>
                    <a:p>
                      <a:pPr algn="l"/>
                      <a:r>
                        <a:rPr sz="900" b="1">
                          <a:solidFill>
                            <a:srgbClr val="1F2421"/>
                          </a:solidFill>
                          <a:latin typeface="Arial"/>
                        </a:rPr>
                        <a:t>HPE</a:t>
                      </a:r>
                    </a:p>
                  </a:txBody>
                  <a:tcPr marL="45720" marR="45720" marT="13716" marB="13716" anchor="ctr">
                    <a:solidFill>
                      <a:srgbClr val="FEF4CC"/>
                    </a:solidFill>
                  </a:tcPr>
                </a:tc>
                <a:tc>
                  <a:txBody>
                    <a:bodyPr/>
                    <a:lstStyle/>
                    <a:p>
                      <a:pPr algn="r"/>
                      <a:r>
                        <a:rPr sz="900" b="0">
                          <a:solidFill>
                            <a:srgbClr val="1F2421"/>
                          </a:solidFill>
                          <a:latin typeface="Arial"/>
                        </a:rPr>
                        <a:t>+155%</a:t>
                      </a:r>
                    </a:p>
                  </a:txBody>
                  <a:tcPr marL="45720" marR="45720" marT="13716" marB="13716" anchor="ctr">
                    <a:solidFill>
                      <a:srgbClr val="FEF4CC"/>
                    </a:solidFill>
                  </a:tcPr>
                </a:tc>
                <a:tc>
                  <a:txBody>
                    <a:bodyPr/>
                    <a:lstStyle/>
                    <a:p>
                      <a:pPr algn="r"/>
                      <a:r>
                        <a:rPr sz="900" b="0">
                          <a:solidFill>
                            <a:srgbClr val="1F2421"/>
                          </a:solidFill>
                          <a:latin typeface="Arial"/>
                        </a:rPr>
                        <a:t>+289%</a:t>
                      </a:r>
                    </a:p>
                  </a:txBody>
                  <a:tcPr marL="45720" marR="45720" marT="13716" marB="13716" anchor="ctr">
                    <a:solidFill>
                      <a:srgbClr val="FEF4CC"/>
                    </a:solidFill>
                  </a:tcPr>
                </a:tc>
                <a:tc>
                  <a:txBody>
                    <a:bodyPr/>
                    <a:lstStyle/>
                    <a:p>
                      <a:pPr algn="r"/>
                      <a:r>
                        <a:rPr sz="900" b="0">
                          <a:solidFill>
                            <a:srgbClr val="1F2421"/>
                          </a:solidFill>
                          <a:latin typeface="Arial"/>
                        </a:rPr>
                        <a:t>+396%</a:t>
                      </a:r>
                    </a:p>
                  </a:txBody>
                  <a:tcPr marL="45720" marR="45720" marT="13716" marB="13716" anchor="ctr">
                    <a:solidFill>
                      <a:srgbClr val="FEF4CC"/>
                    </a:solidFill>
                  </a:tcPr>
                </a:tc>
              </a:tr>
              <a:tr h="274320">
                <a:tc>
                  <a:txBody>
                    <a:bodyPr/>
                    <a:lstStyle/>
                    <a:p>
                      <a:pPr algn="l"/>
                      <a:r>
                        <a:rPr sz="900" b="1">
                          <a:solidFill>
                            <a:srgbClr val="1F2421"/>
                          </a:solidFill>
                          <a:latin typeface="Arial"/>
                        </a:rPr>
                        <a:t>S&amp;P 500</a:t>
                      </a:r>
                    </a:p>
                  </a:txBody>
                  <a:tcPr marL="45720" marR="45720" marT="13716" marB="13716" anchor="ctr">
                    <a:solidFill>
                      <a:srgbClr val="ECF2ED"/>
                    </a:solidFill>
                  </a:tcPr>
                </a:tc>
                <a:tc>
                  <a:txBody>
                    <a:bodyPr/>
                    <a:lstStyle/>
                    <a:p>
                      <a:pPr algn="r"/>
                      <a:r>
                        <a:rPr sz="900" b="0">
                          <a:solidFill>
                            <a:srgbClr val="1F2421"/>
                          </a:solidFill>
                          <a:latin typeface="Arial"/>
                        </a:rPr>
                        <a:t>+18%</a:t>
                      </a:r>
                    </a:p>
                  </a:txBody>
                  <a:tcPr marL="45720" marR="45720" marT="13716" marB="13716" anchor="ctr">
                    <a:solidFill>
                      <a:srgbClr val="ECF2ED"/>
                    </a:solidFill>
                  </a:tcPr>
                </a:tc>
                <a:tc>
                  <a:txBody>
                    <a:bodyPr/>
                    <a:lstStyle/>
                    <a:p>
                      <a:pPr algn="r"/>
                      <a:r>
                        <a:rPr sz="900" b="0">
                          <a:solidFill>
                            <a:srgbClr val="1F2421"/>
                          </a:solidFill>
                          <a:latin typeface="Arial"/>
                        </a:rPr>
                        <a:t>+77%</a:t>
                      </a:r>
                    </a:p>
                  </a:txBody>
                  <a:tcPr marL="45720" marR="45720" marT="13716" marB="13716" anchor="ctr">
                    <a:solidFill>
                      <a:srgbClr val="ECF2ED"/>
                    </a:solidFill>
                  </a:tcPr>
                </a:tc>
                <a:tc>
                  <a:txBody>
                    <a:bodyPr/>
                    <a:lstStyle/>
                    <a:p>
                      <a:pPr algn="r"/>
                      <a:r>
                        <a:rPr sz="900" b="0">
                          <a:solidFill>
                            <a:srgbClr val="1F2421"/>
                          </a:solidFill>
                          <a:latin typeface="Arial"/>
                        </a:rPr>
                        <a:t>+84%</a:t>
                      </a:r>
                    </a:p>
                  </a:txBody>
                  <a:tcPr marL="45720" marR="45720" marT="13716" marB="13716" anchor="ctr">
                    <a:solidFill>
                      <a:srgbClr val="ECF2ED"/>
                    </a:solidFill>
                  </a:tcPr>
                </a:tc>
              </a:tr>
              <a:tr h="274320">
                <a:tc>
                  <a:txBody>
                    <a:bodyPr/>
                    <a:lstStyle/>
                    <a:p>
                      <a:pPr algn="l"/>
                      <a:r>
                        <a:rPr sz="900" b="1">
                          <a:solidFill>
                            <a:srgbClr val="1F2421"/>
                          </a:solidFill>
                          <a:latin typeface="Arial"/>
                        </a:rPr>
                        <a:t>Tech (XLK)</a:t>
                      </a:r>
                    </a:p>
                  </a:txBody>
                  <a:tcPr marL="45720" marR="45720" marT="13716" marB="13716" anchor="ctr">
                    <a:solidFill>
                      <a:srgbClr val="FFFFFF"/>
                    </a:solidFill>
                  </a:tcPr>
                </a:tc>
                <a:tc>
                  <a:txBody>
                    <a:bodyPr/>
                    <a:lstStyle/>
                    <a:p>
                      <a:pPr algn="r"/>
                      <a:r>
                        <a:rPr sz="900" b="0">
                          <a:solidFill>
                            <a:srgbClr val="1F2421"/>
                          </a:solidFill>
                          <a:latin typeface="Arial"/>
                        </a:rPr>
                        <a:t>+39%</a:t>
                      </a:r>
                    </a:p>
                  </a:txBody>
                  <a:tcPr marL="45720" marR="45720" marT="13716" marB="13716" anchor="ctr">
                    <a:solidFill>
                      <a:srgbClr val="FFFFFF"/>
                    </a:solidFill>
                  </a:tcPr>
                </a:tc>
                <a:tc>
                  <a:txBody>
                    <a:bodyPr/>
                    <a:lstStyle/>
                    <a:p>
                      <a:pPr algn="r"/>
                      <a:r>
                        <a:rPr sz="900" b="0">
                          <a:solidFill>
                            <a:srgbClr val="1F2421"/>
                          </a:solidFill>
                          <a:latin typeface="Arial"/>
                        </a:rPr>
                        <a:t>+120%</a:t>
                      </a:r>
                    </a:p>
                  </a:txBody>
                  <a:tcPr marL="45720" marR="45720" marT="13716" marB="13716" anchor="ctr">
                    <a:solidFill>
                      <a:srgbClr val="FFFFFF"/>
                    </a:solidFill>
                  </a:tcPr>
                </a:tc>
                <a:tc>
                  <a:txBody>
                    <a:bodyPr/>
                    <a:lstStyle/>
                    <a:p>
                      <a:pPr algn="r"/>
                      <a:r>
                        <a:rPr sz="900" b="0">
                          <a:solidFill>
                            <a:srgbClr val="1F2421"/>
                          </a:solidFill>
                          <a:latin typeface="Arial"/>
                        </a:rPr>
                        <a:t>+149%</a:t>
                      </a:r>
                    </a:p>
                  </a:txBody>
                  <a:tcPr marL="45720" marR="45720" marT="13716" marB="13716" anchor="ctr">
                    <a:solidFill>
                      <a:srgbClr val="FFFFFF"/>
                    </a:solidFill>
                  </a:tcPr>
                </a:tc>
              </a:tr>
              <a:tr h="274320">
                <a:tc>
                  <a:txBody>
                    <a:bodyPr/>
                    <a:lstStyle/>
                    <a:p>
                      <a:pPr algn="l"/>
                      <a:r>
                        <a:rPr sz="900" b="1">
                          <a:solidFill>
                            <a:srgbClr val="1F2421"/>
                          </a:solidFill>
                          <a:latin typeface="Arial"/>
                        </a:rPr>
                        <a:t>Dell</a:t>
                      </a:r>
                    </a:p>
                  </a:txBody>
                  <a:tcPr marL="45720" marR="45720" marT="13716" marB="13716" anchor="ctr">
                    <a:solidFill>
                      <a:srgbClr val="ECF2ED"/>
                    </a:solidFill>
                  </a:tcPr>
                </a:tc>
                <a:tc>
                  <a:txBody>
                    <a:bodyPr/>
                    <a:lstStyle/>
                    <a:p>
                      <a:pPr algn="r"/>
                      <a:r>
                        <a:rPr sz="900" b="0">
                          <a:solidFill>
                            <a:srgbClr val="1F2421"/>
                          </a:solidFill>
                          <a:latin typeface="Arial"/>
                        </a:rPr>
                        <a:t>+358%</a:t>
                      </a:r>
                    </a:p>
                  </a:txBody>
                  <a:tcPr marL="45720" marR="45720" marT="13716" marB="13716" anchor="ctr">
                    <a:solidFill>
                      <a:srgbClr val="ECF2ED"/>
                    </a:solidFill>
                  </a:tcPr>
                </a:tc>
                <a:tc>
                  <a:txBody>
                    <a:bodyPr/>
                    <a:lstStyle/>
                    <a:p>
                      <a:pPr algn="r"/>
                      <a:r>
                        <a:rPr sz="900" b="0">
                          <a:solidFill>
                            <a:srgbClr val="1F2421"/>
                          </a:solidFill>
                          <a:latin typeface="Arial"/>
                        </a:rPr>
                        <a:t>+725%</a:t>
                      </a:r>
                    </a:p>
                  </a:txBody>
                  <a:tcPr marL="45720" marR="45720" marT="13716" marB="13716" anchor="ctr">
                    <a:solidFill>
                      <a:srgbClr val="ECF2ED"/>
                    </a:solidFill>
                  </a:tcPr>
                </a:tc>
                <a:tc>
                  <a:txBody>
                    <a:bodyPr/>
                    <a:lstStyle/>
                    <a:p>
                      <a:pPr algn="r"/>
                      <a:r>
                        <a:rPr sz="900" b="0">
                          <a:solidFill>
                            <a:srgbClr val="1F2421"/>
                          </a:solidFill>
                          <a:latin typeface="Arial"/>
                        </a:rPr>
                        <a:t>+1194%</a:t>
                      </a:r>
                    </a:p>
                  </a:txBody>
                  <a:tcPr marL="45720" marR="45720" marT="13716" marB="13716" anchor="ctr">
                    <a:solidFill>
                      <a:srgbClr val="ECF2ED"/>
                    </a:solidFill>
                  </a:tcPr>
                </a:tc>
              </a:tr>
              <a:tr h="274320">
                <a:tc>
                  <a:txBody>
                    <a:bodyPr/>
                    <a:lstStyle/>
                    <a:p>
                      <a:pPr algn="l"/>
                      <a:r>
                        <a:rPr sz="900" b="1">
                          <a:solidFill>
                            <a:srgbClr val="1F2421"/>
                          </a:solidFill>
                          <a:latin typeface="Arial"/>
                        </a:rPr>
                        <a:t>Cisco</a:t>
                      </a:r>
                    </a:p>
                  </a:txBody>
                  <a:tcPr marL="45720" marR="45720" marT="13716" marB="13716" anchor="ctr">
                    <a:solidFill>
                      <a:srgbClr val="FFFFFF"/>
                    </a:solidFill>
                  </a:tcPr>
                </a:tc>
                <a:tc>
                  <a:txBody>
                    <a:bodyPr/>
                    <a:lstStyle/>
                    <a:p>
                      <a:pPr algn="r"/>
                      <a:r>
                        <a:rPr sz="900" b="0">
                          <a:solidFill>
                            <a:srgbClr val="1F2421"/>
                          </a:solidFill>
                          <a:latin typeface="Arial"/>
                        </a:rPr>
                        <a:t>+69%</a:t>
                      </a:r>
                    </a:p>
                  </a:txBody>
                  <a:tcPr marL="45720" marR="45720" marT="13716" marB="13716" anchor="ctr">
                    <a:solidFill>
                      <a:srgbClr val="FFFFFF"/>
                    </a:solidFill>
                  </a:tcPr>
                </a:tc>
                <a:tc>
                  <a:txBody>
                    <a:bodyPr/>
                    <a:lstStyle/>
                    <a:p>
                      <a:pPr algn="r"/>
                      <a:r>
                        <a:rPr sz="900" b="0">
                          <a:solidFill>
                            <a:srgbClr val="1F2421"/>
                          </a:solidFill>
                          <a:latin typeface="Arial"/>
                        </a:rPr>
                        <a:t>+114%</a:t>
                      </a:r>
                    </a:p>
                  </a:txBody>
                  <a:tcPr marL="45720" marR="45720" marT="13716" marB="13716" anchor="ctr">
                    <a:solidFill>
                      <a:srgbClr val="FFFFFF"/>
                    </a:solidFill>
                  </a:tcPr>
                </a:tc>
                <a:tc>
                  <a:txBody>
                    <a:bodyPr/>
                    <a:lstStyle/>
                    <a:p>
                      <a:pPr algn="r"/>
                      <a:r>
                        <a:rPr sz="900" b="0">
                          <a:solidFill>
                            <a:srgbClr val="1F2421"/>
                          </a:solidFill>
                          <a:latin typeface="Arial"/>
                        </a:rPr>
                        <a:t>+123%</a:t>
                      </a:r>
                    </a:p>
                  </a:txBody>
                  <a:tcPr marL="45720" marR="45720" marT="13716" marB="13716" anchor="ctr">
                    <a:solidFill>
                      <a:srgbClr val="FFFFFF"/>
                    </a:solidFill>
                  </a:tcPr>
                </a:tc>
              </a:tr>
            </a:tbl>
          </a:graphicData>
        </a:graphic>
      </p:graphicFrame>
      <p:sp>
        <p:nvSpPr>
          <p:cNvPr id="10" name="TextBox 135"/>
          <p:cNvSpPr txBox="1"/>
          <p:nvPr/>
        </p:nvSpPr>
        <p:spPr>
          <a:xfrm>
            <a:off x="5806440" y="3200400"/>
            <a:ext cx="3017520" cy="1508760"/>
          </a:xfrm>
          <a:prstGeom prst="rect">
            <a:avLst/>
          </a:prstGeom>
          <a:noFill/>
        </p:spPr>
        <p:txBody>
          <a:bodyPr wrap="square" anchor="t" lIns="36576" rIns="36576" tIns="18288" bIns="18288">
            <a:spAutoFit/>
          </a:bodyPr>
          <a:lstStyle/>
          <a:p>
            <a:pPr algn="l">
              <a:spcAft>
                <a:spcPts val="250"/>
              </a:spcAft>
            </a:pPr>
            <a:r>
              <a:rPr sz="600">
                <a:solidFill>
                  <a:srgbClr val="135927"/>
                </a:solidFill>
                <a:latin typeface="Arial"/>
              </a:rPr>
              <a:t>■  </a:t>
            </a:r>
            <a:r>
              <a:rPr sz="850" b="1">
                <a:solidFill>
                  <a:srgbClr val="1F2421"/>
                </a:solidFill>
                <a:latin typeface="Arial"/>
              </a:rPr>
              <a:t>Trades as AI hardware: </a:t>
            </a:r>
            <a:r>
              <a:rPr sz="850" b="0">
                <a:solidFill>
                  <a:srgbClr val="1F2421"/>
                </a:solidFill>
                <a:latin typeface="Arial"/>
              </a:rPr>
              <a:t>correlation with Dell 0.66 &gt; S&amp;P 500 0.47; beta 1.40.</a:t>
            </a:r>
          </a:p>
          <a:p>
            <a:pPr algn="l">
              <a:spcAft>
                <a:spcPts val="250"/>
              </a:spcAft>
            </a:pPr>
            <a:r>
              <a:rPr sz="600">
                <a:solidFill>
                  <a:srgbClr val="135927"/>
                </a:solidFill>
                <a:latin typeface="Arial"/>
              </a:rPr>
              <a:t>■  </a:t>
            </a:r>
            <a:r>
              <a:rPr sz="850" b="1">
                <a:solidFill>
                  <a:srgbClr val="1F2421"/>
                </a:solidFill>
                <a:latin typeface="Arial"/>
              </a:rPr>
              <a:t>Catalysts: </a:t>
            </a:r>
            <a:r>
              <a:rPr sz="850" b="0">
                <a:solidFill>
                  <a:srgbClr val="1F2421"/>
                </a:solidFill>
                <a:latin typeface="Arial"/>
              </a:rPr>
              <a:t>30-Sep Networking Investor Day; early Dec Q4 FY26 and FY27 guide; ~Sep-2027 preferred conversion.</a:t>
            </a:r>
          </a:p>
        </p:txBody>
      </p:sp>
      <p:sp>
        <p:nvSpPr>
          <p:cNvPr id="11"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Pattern: </a:t>
            </a:r>
            <a:r>
              <a:rPr sz="1050" b="0" i="1">
                <a:solidFill>
                  <a:srgbClr val="1F2421"/>
                </a:solidFill>
                <a:latin typeface="Arial"/>
              </a:rPr>
              <a:t>HPE now trades as an AI-hardware name, and its returns have fat tails: think in ranges, size for turbulence.</a:t>
            </a:r>
          </a:p>
        </p:txBody>
      </p:sp>
      <p:sp>
        <p:nvSpPr>
          <p:cNvPr id="12" name="TextBox 135"/>
          <p:cNvSpPr txBox="1"/>
          <p:nvPr/>
        </p:nvSpPr>
        <p:spPr>
          <a:xfrm>
            <a:off x="320040" y="3675887"/>
            <a:ext cx="534924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PATTERN IN THE RETURNS</a:t>
            </a:r>
          </a:p>
        </p:txBody>
      </p:sp>
      <p:sp>
        <p:nvSpPr>
          <p:cNvPr id="13" name="TextBox 136"/>
          <p:cNvSpPr txBox="1"/>
          <p:nvPr/>
        </p:nvSpPr>
        <p:spPr>
          <a:xfrm>
            <a:off x="320040" y="3904487"/>
            <a:ext cx="5349240" cy="804672"/>
          </a:xfrm>
          <a:prstGeom prst="rect">
            <a:avLst/>
          </a:prstGeom>
          <a:noFill/>
        </p:spPr>
        <p:txBody>
          <a:bodyPr wrap="square" anchor="t" lIns="36576" rIns="36576" tIns="18288" bIns="18288">
            <a:spAutoFit/>
          </a:bodyPr>
          <a:lstStyle/>
          <a:p>
            <a:pPr algn="l">
              <a:spcAft>
                <a:spcPts val="200"/>
              </a:spcAft>
            </a:pPr>
            <a:r>
              <a:rPr sz="600">
                <a:solidFill>
                  <a:srgbClr val="135927"/>
                </a:solidFill>
                <a:latin typeface="Arial"/>
              </a:rPr>
              <a:t>■  </a:t>
            </a:r>
            <a:r>
              <a:rPr sz="850" b="1">
                <a:solidFill>
                  <a:srgbClr val="1F2421"/>
                </a:solidFill>
                <a:latin typeface="Arial"/>
              </a:rPr>
              <a:t>Direction: </a:t>
            </a:r>
            <a:r>
              <a:rPr sz="850" b="0">
                <a:solidFill>
                  <a:srgbClr val="1F2421"/>
                </a:solidFill>
                <a:latin typeface="Arial"/>
              </a:rPr>
              <a:t>no significant autocorrelation (Ljung-Box p = 0.06); past prices don't predict the next move.</a:t>
            </a:r>
          </a:p>
          <a:p>
            <a:pPr algn="l">
              <a:spcAft>
                <a:spcPts val="200"/>
              </a:spcAft>
            </a:pPr>
            <a:r>
              <a:rPr sz="600">
                <a:solidFill>
                  <a:srgbClr val="135927"/>
                </a:solidFill>
                <a:latin typeface="Arial"/>
              </a:rPr>
              <a:t>■  </a:t>
            </a:r>
            <a:r>
              <a:rPr sz="850" b="1">
                <a:solidFill>
                  <a:srgbClr val="1F2421"/>
                </a:solidFill>
                <a:latin typeface="Arial"/>
              </a:rPr>
              <a:t>Turbulence: </a:t>
            </a:r>
            <a:r>
              <a:rPr sz="850" b="0">
                <a:solidFill>
                  <a:srgbClr val="1F2421"/>
                </a:solidFill>
                <a:latin typeface="Arial"/>
              </a:rPr>
              <a:t>volatility clusters; 3σ days occur 6.8x as often as a normal distribution implies.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The biggest risks are the forces that created the rally</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4 · MARKET, RISKS &amp; DECISION · RISKS</a:t>
            </a:r>
          </a:p>
        </p:txBody>
      </p:sp>
      <p:sp>
        <p:nvSpPr>
          <p:cNvPr id="6"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Investor logic: </a:t>
            </a:r>
            <a:r>
              <a:rPr sz="1050" b="0" i="1">
                <a:solidFill>
                  <a:srgbClr val="1F2421"/>
                </a:solidFill>
                <a:latin typeface="Arial"/>
              </a:rPr>
              <a:t>the biggest risks are the rally's own drivers running in reverse. Trace each to valuation and watch its indicator.</a:t>
            </a:r>
          </a:p>
        </p:txBody>
      </p:sp>
      <p:sp>
        <p:nvSpPr>
          <p:cNvPr id="7" name="TextBox 132"/>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Bona Fide analysis; IDC, TrendForce, Dell'Oro, SEC capex filings, HPE Q3 FY26 materials.</a:t>
            </a:r>
          </a:p>
        </p:txBody>
      </p:sp>
      <p:sp>
        <p:nvSpPr>
          <p:cNvPr id="8" name="TextBox 133"/>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18</a:t>
            </a:r>
          </a:p>
        </p:txBody>
      </p:sp>
      <p:graphicFrame>
        <p:nvGraphicFramePr>
          <p:cNvPr id="9" name="Table 134"/>
          <p:cNvGraphicFramePr>
            <a:graphicFrameLocks noGrp="1"/>
          </p:cNvGraphicFramePr>
          <p:nvPr/>
        </p:nvGraphicFramePr>
        <p:xfrm>
          <a:off x="320040" y="1463040"/>
          <a:ext cx="8503920" cy="3200400"/>
        </p:xfrm>
        <a:graphic>
          <a:graphicData uri="http://schemas.openxmlformats.org/drawingml/2006/table">
            <a:tbl>
              <a:tblPr firstRow="1">
                <a:tableStyleId>{5C22544A-7EE6-4342-B048-85BDC9FD1C3A}</a:tableStyleId>
              </a:tblPr>
              <a:tblGrid>
                <a:gridCol w="1691640"/>
                <a:gridCol w="731520"/>
                <a:gridCol w="3840480"/>
                <a:gridCol w="2240280"/>
              </a:tblGrid>
              <a:tr h="457200">
                <a:tc>
                  <a:txBody>
                    <a:bodyPr/>
                    <a:lstStyle/>
                    <a:p>
                      <a:pPr algn="l"/>
                      <a:r>
                        <a:rPr sz="850" b="1">
                          <a:solidFill>
                            <a:srgbClr val="FCC80D"/>
                          </a:solidFill>
                          <a:latin typeface="Arial"/>
                        </a:rPr>
                        <a:t>Risk</a:t>
                      </a:r>
                    </a:p>
                  </a:txBody>
                  <a:tcPr marL="45720" marR="45720" marT="13716" marB="13716" anchor="ctr">
                    <a:solidFill>
                      <a:srgbClr val="135927"/>
                    </a:solidFill>
                  </a:tcPr>
                </a:tc>
                <a:tc>
                  <a:txBody>
                    <a:bodyPr/>
                    <a:lstStyle/>
                    <a:p>
                      <a:pPr algn="l"/>
                      <a:r>
                        <a:rPr sz="850" b="1">
                          <a:solidFill>
                            <a:srgbClr val="FCC80D"/>
                          </a:solidFill>
                          <a:latin typeface="Arial"/>
                        </a:rPr>
                        <a:t>Type</a:t>
                      </a:r>
                    </a:p>
                  </a:txBody>
                  <a:tcPr marL="45720" marR="45720" marT="13716" marB="13716" anchor="ctr">
                    <a:solidFill>
                      <a:srgbClr val="135927"/>
                    </a:solidFill>
                  </a:tcPr>
                </a:tc>
                <a:tc>
                  <a:txBody>
                    <a:bodyPr/>
                    <a:lstStyle/>
                    <a:p>
                      <a:pPr algn="l"/>
                      <a:r>
                        <a:rPr sz="850" b="1">
                          <a:solidFill>
                            <a:srgbClr val="FCC80D"/>
                          </a:solidFill>
                          <a:latin typeface="Arial"/>
                        </a:rPr>
                        <a:t>Transmission: revenue → margin → cash flow → balance sheet → valuation</a:t>
                      </a:r>
                    </a:p>
                  </a:txBody>
                  <a:tcPr marL="45720" marR="45720" marT="13716" marB="13716" anchor="ctr">
                    <a:solidFill>
                      <a:srgbClr val="135927"/>
                    </a:solidFill>
                  </a:tcPr>
                </a:tc>
                <a:tc>
                  <a:txBody>
                    <a:bodyPr/>
                    <a:lstStyle/>
                    <a:p>
                      <a:pPr algn="l"/>
                      <a:r>
                        <a:rPr sz="850" b="1">
                          <a:solidFill>
                            <a:srgbClr val="FCC80D"/>
                          </a:solidFill>
                          <a:latin typeface="Arial"/>
                        </a:rPr>
                        <a:t>Monitor</a:t>
                      </a:r>
                    </a:p>
                  </a:txBody>
                  <a:tcPr marL="45720" marR="45720" marT="13716" marB="13716" anchor="ctr">
                    <a:solidFill>
                      <a:srgbClr val="135927"/>
                    </a:solidFill>
                  </a:tcPr>
                </a:tc>
              </a:tr>
              <a:tr h="457200">
                <a:tc>
                  <a:txBody>
                    <a:bodyPr/>
                    <a:lstStyle/>
                    <a:p>
                      <a:pPr algn="l"/>
                      <a:r>
                        <a:rPr sz="850" b="1">
                          <a:solidFill>
                            <a:srgbClr val="1F2421"/>
                          </a:solidFill>
                          <a:latin typeface="Arial"/>
                        </a:rPr>
                        <a:t>Cloud &amp; AI margin reversal</a:t>
                      </a:r>
                    </a:p>
                  </a:txBody>
                  <a:tcPr marL="45720" marR="45720" marT="13716" marB="13716" anchor="ctr">
                    <a:solidFill>
                      <a:srgbClr val="FFFFFF"/>
                    </a:solidFill>
                  </a:tcPr>
                </a:tc>
                <a:tc>
                  <a:txBody>
                    <a:bodyPr/>
                    <a:lstStyle/>
                    <a:p>
                      <a:pPr algn="l"/>
                      <a:r>
                        <a:rPr sz="850" b="0">
                          <a:solidFill>
                            <a:srgbClr val="1F2421"/>
                          </a:solidFill>
                          <a:latin typeface="Arial"/>
                        </a:rPr>
                        <a:t>Company</a:t>
                      </a:r>
                    </a:p>
                  </a:txBody>
                  <a:tcPr marL="45720" marR="45720" marT="13716" marB="13716" anchor="ctr">
                    <a:solidFill>
                      <a:srgbClr val="FFFFFF"/>
                    </a:solidFill>
                  </a:tcPr>
                </a:tc>
                <a:tc>
                  <a:txBody>
                    <a:bodyPr/>
                    <a:lstStyle/>
                    <a:p>
                      <a:pPr algn="l"/>
                      <a:r>
                        <a:rPr sz="850" b="0">
                          <a:solidFill>
                            <a:srgbClr val="1F2421"/>
                          </a:solidFill>
                          <a:latin typeface="Arial"/>
                        </a:rPr>
                        <a:t>Memory prices fall → ASPs and GM ↓ → FCF ↓, inventory write-downs</a:t>
                      </a:r>
                    </a:p>
                  </a:txBody>
                  <a:tcPr marL="45720" marR="45720" marT="13716" marB="13716" anchor="ctr">
                    <a:solidFill>
                      <a:srgbClr val="FFFFFF"/>
                    </a:solidFill>
                  </a:tcPr>
                </a:tc>
                <a:tc>
                  <a:txBody>
                    <a:bodyPr/>
                    <a:lstStyle/>
                    <a:p>
                      <a:pPr algn="l"/>
                      <a:r>
                        <a:rPr sz="850" b="0">
                          <a:solidFill>
                            <a:srgbClr val="1F2421"/>
                          </a:solidFill>
                          <a:latin typeface="Arial"/>
                        </a:rPr>
                        <a:t>TrendForce prices; HPE non-GAAP GM</a:t>
                      </a:r>
                    </a:p>
                  </a:txBody>
                  <a:tcPr marL="45720" marR="45720" marT="13716" marB="13716" anchor="ctr">
                    <a:solidFill>
                      <a:srgbClr val="FFFFFF"/>
                    </a:solidFill>
                  </a:tcPr>
                </a:tc>
              </a:tr>
              <a:tr h="457200">
                <a:tc>
                  <a:txBody>
                    <a:bodyPr/>
                    <a:lstStyle/>
                    <a:p>
                      <a:pPr algn="l"/>
                      <a:r>
                        <a:rPr sz="850" b="1">
                          <a:solidFill>
                            <a:srgbClr val="1F2421"/>
                          </a:solidFill>
                          <a:latin typeface="Arial"/>
                        </a:rPr>
                        <a:t>Networking execution</a:t>
                      </a:r>
                    </a:p>
                  </a:txBody>
                  <a:tcPr marL="45720" marR="45720" marT="13716" marB="13716" anchor="ctr">
                    <a:solidFill>
                      <a:srgbClr val="ECF2ED"/>
                    </a:solidFill>
                  </a:tcPr>
                </a:tc>
                <a:tc>
                  <a:txBody>
                    <a:bodyPr/>
                    <a:lstStyle/>
                    <a:p>
                      <a:pPr algn="l"/>
                      <a:r>
                        <a:rPr sz="850" b="0">
                          <a:solidFill>
                            <a:srgbClr val="1F2421"/>
                          </a:solidFill>
                          <a:latin typeface="Arial"/>
                        </a:rPr>
                        <a:t>Company</a:t>
                      </a:r>
                    </a:p>
                  </a:txBody>
                  <a:tcPr marL="45720" marR="45720" marT="13716" marB="13716" anchor="ctr">
                    <a:solidFill>
                      <a:srgbClr val="ECF2ED"/>
                    </a:solidFill>
                  </a:tcPr>
                </a:tc>
                <a:tc>
                  <a:txBody>
                    <a:bodyPr/>
                    <a:lstStyle/>
                    <a:p>
                      <a:pPr algn="l"/>
                      <a:r>
                        <a:rPr sz="850" b="0">
                          <a:solidFill>
                            <a:srgbClr val="1F2421"/>
                          </a:solidFill>
                          <a:latin typeface="Arial"/>
                        </a:rPr>
                        <a:t>Share loss / synergy miss → highest-margin revenue ↓ → multiple ↓</a:t>
                      </a:r>
                    </a:p>
                  </a:txBody>
                  <a:tcPr marL="45720" marR="45720" marT="13716" marB="13716" anchor="ctr">
                    <a:solidFill>
                      <a:srgbClr val="ECF2ED"/>
                    </a:solidFill>
                  </a:tcPr>
                </a:tc>
                <a:tc>
                  <a:txBody>
                    <a:bodyPr/>
                    <a:lstStyle/>
                    <a:p>
                      <a:pPr algn="l"/>
                      <a:r>
                        <a:rPr sz="850" b="0">
                          <a:solidFill>
                            <a:srgbClr val="1F2421"/>
                          </a:solidFill>
                          <a:latin typeface="Arial"/>
                        </a:rPr>
                        <a:t>Normalised growth; Dell'Oro share; Investor Day</a:t>
                      </a:r>
                    </a:p>
                  </a:txBody>
                  <a:tcPr marL="45720" marR="45720" marT="13716" marB="13716" anchor="ctr">
                    <a:solidFill>
                      <a:srgbClr val="ECF2ED"/>
                    </a:solidFill>
                  </a:tcPr>
                </a:tc>
              </a:tr>
              <a:tr h="457200">
                <a:tc>
                  <a:txBody>
                    <a:bodyPr/>
                    <a:lstStyle/>
                    <a:p>
                      <a:pPr algn="l"/>
                      <a:r>
                        <a:rPr sz="850" b="1">
                          <a:solidFill>
                            <a:srgbClr val="1F2421"/>
                          </a:solidFill>
                          <a:latin typeface="Arial"/>
                        </a:rPr>
                        <a:t>AI deal lumpiness &amp; credit</a:t>
                      </a:r>
                    </a:p>
                  </a:txBody>
                  <a:tcPr marL="45720" marR="45720" marT="13716" marB="13716" anchor="ctr">
                    <a:solidFill>
                      <a:srgbClr val="FFFFFF"/>
                    </a:solidFill>
                  </a:tcPr>
                </a:tc>
                <a:tc>
                  <a:txBody>
                    <a:bodyPr/>
                    <a:lstStyle/>
                    <a:p>
                      <a:pPr algn="l"/>
                      <a:r>
                        <a:rPr sz="850" b="0">
                          <a:solidFill>
                            <a:srgbClr val="1F2421"/>
                          </a:solidFill>
                          <a:latin typeface="Arial"/>
                        </a:rPr>
                        <a:t>Company</a:t>
                      </a:r>
                    </a:p>
                  </a:txBody>
                  <a:tcPr marL="45720" marR="45720" marT="13716" marB="13716" anchor="ctr">
                    <a:solidFill>
                      <a:srgbClr val="FFFFFF"/>
                    </a:solidFill>
                  </a:tcPr>
                </a:tc>
                <a:tc>
                  <a:txBody>
                    <a:bodyPr/>
                    <a:lstStyle/>
                    <a:p>
                      <a:pPr algn="l"/>
                      <a:r>
                        <a:rPr sz="850" b="0">
                          <a:solidFill>
                            <a:srgbClr val="1F2421"/>
                          </a:solidFill>
                          <a:latin typeface="Arial"/>
                        </a:rPr>
                        <a:t>Slips/cancellations → FCF swings of $bn → leverage ↑</a:t>
                      </a:r>
                    </a:p>
                  </a:txBody>
                  <a:tcPr marL="45720" marR="45720" marT="13716" marB="13716" anchor="ctr">
                    <a:solidFill>
                      <a:srgbClr val="FFFFFF"/>
                    </a:solidFill>
                  </a:tcPr>
                </a:tc>
                <a:tc>
                  <a:txBody>
                    <a:bodyPr/>
                    <a:lstStyle/>
                    <a:p>
                      <a:pPr algn="l"/>
                      <a:r>
                        <a:rPr sz="850" b="0">
                          <a:solidFill>
                            <a:srgbClr val="1F2421"/>
                          </a:solidFill>
                          <a:latin typeface="Arial"/>
                        </a:rPr>
                        <a:t>Backlog conversion; DIO/DPO; FS reserves</a:t>
                      </a:r>
                    </a:p>
                  </a:txBody>
                  <a:tcPr marL="45720" marR="45720" marT="13716" marB="13716" anchor="ctr">
                    <a:solidFill>
                      <a:srgbClr val="FFFFFF"/>
                    </a:solidFill>
                  </a:tcPr>
                </a:tc>
              </a:tr>
              <a:tr h="457200">
                <a:tc>
                  <a:txBody>
                    <a:bodyPr/>
                    <a:lstStyle/>
                    <a:p>
                      <a:pPr algn="l"/>
                      <a:r>
                        <a:rPr sz="850" b="1">
                          <a:solidFill>
                            <a:srgbClr val="1F2421"/>
                          </a:solidFill>
                          <a:latin typeface="Arial"/>
                        </a:rPr>
                        <a:t>AI capex digestion</a:t>
                      </a:r>
                    </a:p>
                  </a:txBody>
                  <a:tcPr marL="45720" marR="45720" marT="13716" marB="13716" anchor="ctr">
                    <a:solidFill>
                      <a:srgbClr val="ECF2ED"/>
                    </a:solidFill>
                  </a:tcPr>
                </a:tc>
                <a:tc>
                  <a:txBody>
                    <a:bodyPr/>
                    <a:lstStyle/>
                    <a:p>
                      <a:pPr algn="l"/>
                      <a:r>
                        <a:rPr sz="850" b="0">
                          <a:solidFill>
                            <a:srgbClr val="1F2421"/>
                          </a:solidFill>
                          <a:latin typeface="Arial"/>
                        </a:rPr>
                        <a:t>External</a:t>
                      </a:r>
                    </a:p>
                  </a:txBody>
                  <a:tcPr marL="45720" marR="45720" marT="13716" marB="13716" anchor="ctr">
                    <a:solidFill>
                      <a:srgbClr val="ECF2ED"/>
                    </a:solidFill>
                  </a:tcPr>
                </a:tc>
                <a:tc>
                  <a:txBody>
                    <a:bodyPr/>
                    <a:lstStyle/>
                    <a:p>
                      <a:pPr algn="l"/>
                      <a:r>
                        <a:rPr sz="850" b="0">
                          <a:solidFill>
                            <a:srgbClr val="1F2421"/>
                          </a:solidFill>
                          <a:latin typeface="Arial"/>
                        </a:rPr>
                        <a:t>Orders ↓ → revenue ↓ → sector de-rating (peers 18–23x P/E)</a:t>
                      </a:r>
                    </a:p>
                  </a:txBody>
                  <a:tcPr marL="45720" marR="45720" marT="13716" marB="13716" anchor="ctr">
                    <a:solidFill>
                      <a:srgbClr val="ECF2ED"/>
                    </a:solidFill>
                  </a:tcPr>
                </a:tc>
                <a:tc>
                  <a:txBody>
                    <a:bodyPr/>
                    <a:lstStyle/>
                    <a:p>
                      <a:pPr algn="l"/>
                      <a:r>
                        <a:rPr sz="850" b="0">
                          <a:solidFill>
                            <a:srgbClr val="1F2421"/>
                          </a:solidFill>
                          <a:latin typeface="Arial"/>
                        </a:rPr>
                        <a:t>Hyperscaler capex guides; IDC growth</a:t>
                      </a:r>
                    </a:p>
                  </a:txBody>
                  <a:tcPr marL="45720" marR="45720" marT="13716" marB="13716" anchor="ctr">
                    <a:solidFill>
                      <a:srgbClr val="ECF2ED"/>
                    </a:solidFill>
                  </a:tcPr>
                </a:tc>
              </a:tr>
              <a:tr h="457200">
                <a:tc>
                  <a:txBody>
                    <a:bodyPr/>
                    <a:lstStyle/>
                    <a:p>
                      <a:pPr algn="l"/>
                      <a:r>
                        <a:rPr sz="850" b="1">
                          <a:solidFill>
                            <a:srgbClr val="1F2421"/>
                          </a:solidFill>
                          <a:latin typeface="Arial"/>
                        </a:rPr>
                        <a:t>Supply &amp; trade policy</a:t>
                      </a:r>
                    </a:p>
                  </a:txBody>
                  <a:tcPr marL="45720" marR="45720" marT="13716" marB="13716" anchor="ctr">
                    <a:solidFill>
                      <a:srgbClr val="FFFFFF"/>
                    </a:solidFill>
                  </a:tcPr>
                </a:tc>
                <a:tc>
                  <a:txBody>
                    <a:bodyPr/>
                    <a:lstStyle/>
                    <a:p>
                      <a:pPr algn="l"/>
                      <a:r>
                        <a:rPr sz="850" b="0">
                          <a:solidFill>
                            <a:srgbClr val="1F2421"/>
                          </a:solidFill>
                          <a:latin typeface="Arial"/>
                        </a:rPr>
                        <a:t>External</a:t>
                      </a:r>
                    </a:p>
                  </a:txBody>
                  <a:tcPr marL="45720" marR="45720" marT="13716" marB="13716" anchor="ctr">
                    <a:solidFill>
                      <a:srgbClr val="FFFFFF"/>
                    </a:solidFill>
                  </a:tcPr>
                </a:tc>
                <a:tc>
                  <a:txBody>
                    <a:bodyPr/>
                    <a:lstStyle/>
                    <a:p>
                      <a:pPr algn="l"/>
                      <a:r>
                        <a:rPr sz="850" b="0">
                          <a:solidFill>
                            <a:srgbClr val="1F2421"/>
                          </a:solidFill>
                          <a:latin typeface="Arial"/>
                        </a:rPr>
                        <a:t>Shortages/tariffs → unfilled orders, COGS ↑ → FCF ↓</a:t>
                      </a:r>
                    </a:p>
                  </a:txBody>
                  <a:tcPr marL="45720" marR="45720" marT="13716" marB="13716" anchor="ctr">
                    <a:solidFill>
                      <a:srgbClr val="FFFFFF"/>
                    </a:solidFill>
                  </a:tcPr>
                </a:tc>
                <a:tc>
                  <a:txBody>
                    <a:bodyPr/>
                    <a:lstStyle/>
                    <a:p>
                      <a:pPr algn="l"/>
                      <a:r>
                        <a:rPr sz="850" b="0">
                          <a:solidFill>
                            <a:srgbClr val="1F2421"/>
                          </a:solidFill>
                          <a:latin typeface="Arial"/>
                        </a:rPr>
                        <a:t>Lead times; USTR/BIS actions</a:t>
                      </a:r>
                    </a:p>
                  </a:txBody>
                  <a:tcPr marL="45720" marR="45720" marT="13716" marB="13716" anchor="ctr">
                    <a:solidFill>
                      <a:srgbClr val="FFFFFF"/>
                    </a:solidFill>
                  </a:tcPr>
                </a:tc>
              </a:tr>
              <a:tr h="457200">
                <a:tc>
                  <a:txBody>
                    <a:bodyPr/>
                    <a:lstStyle/>
                    <a:p>
                      <a:pPr algn="l"/>
                      <a:r>
                        <a:rPr sz="850" b="1">
                          <a:solidFill>
                            <a:srgbClr val="1F2421"/>
                          </a:solidFill>
                          <a:latin typeface="Arial"/>
                        </a:rPr>
                        <a:t>Rates &amp; enterprise budgets</a:t>
                      </a:r>
                    </a:p>
                  </a:txBody>
                  <a:tcPr marL="45720" marR="45720" marT="13716" marB="13716" anchor="ctr">
                    <a:solidFill>
                      <a:srgbClr val="ECF2ED"/>
                    </a:solidFill>
                  </a:tcPr>
                </a:tc>
                <a:tc>
                  <a:txBody>
                    <a:bodyPr/>
                    <a:lstStyle/>
                    <a:p>
                      <a:pPr algn="l"/>
                      <a:r>
                        <a:rPr sz="850" b="0">
                          <a:solidFill>
                            <a:srgbClr val="1F2421"/>
                          </a:solidFill>
                          <a:latin typeface="Arial"/>
                        </a:rPr>
                        <a:t>External</a:t>
                      </a:r>
                    </a:p>
                  </a:txBody>
                  <a:tcPr marL="45720" marR="45720" marT="13716" marB="13716" anchor="ctr">
                    <a:solidFill>
                      <a:srgbClr val="ECF2ED"/>
                    </a:solidFill>
                  </a:tcPr>
                </a:tc>
                <a:tc>
                  <a:txBody>
                    <a:bodyPr/>
                    <a:lstStyle/>
                    <a:p>
                      <a:pPr algn="l"/>
                      <a:r>
                        <a:rPr sz="850" b="0">
                          <a:solidFill>
                            <a:srgbClr val="1F2421"/>
                          </a:solidFill>
                          <a:latin typeface="Arial"/>
                        </a:rPr>
                        <a:t>WACC ↑, refresh delayed → ±1pp WACC ≈ ±$6–8/share</a:t>
                      </a:r>
                    </a:p>
                  </a:txBody>
                  <a:tcPr marL="45720" marR="45720" marT="13716" marB="13716" anchor="ctr">
                    <a:solidFill>
                      <a:srgbClr val="ECF2ED"/>
                    </a:solidFill>
                  </a:tcPr>
                </a:tc>
                <a:tc>
                  <a:txBody>
                    <a:bodyPr/>
                    <a:lstStyle/>
                    <a:p>
                      <a:pPr algn="l"/>
                      <a:r>
                        <a:rPr sz="850" b="0">
                          <a:solidFill>
                            <a:srgbClr val="1F2421"/>
                          </a:solidFill>
                          <a:latin typeface="Arial"/>
                        </a:rPr>
                        <a:t>10Y yield; BBB spreads; Gartner IT spend</a:t>
                      </a:r>
                    </a:p>
                  </a:txBody>
                  <a:tcPr marL="45720" marR="45720" marT="13716" marB="13716" anchor="ctr">
                    <a:solidFill>
                      <a:srgbClr val="ECF2ED"/>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Price vs range: what must be true, and what to watch</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PART 4 · MARKET, RISKS &amp; DECISION · CONCLUSION</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Bona Fide DCF and comps; no rating or price target is expressed.</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19</a:t>
            </a:r>
          </a:p>
        </p:txBody>
      </p:sp>
      <p:graphicFrame>
        <p:nvGraphicFramePr>
          <p:cNvPr id="8" name="Chart 133"/>
          <p:cNvGraphicFramePr>
            <a:graphicFrameLocks noGrp="1"/>
          </p:cNvGraphicFramePr>
          <p:nvPr/>
        </p:nvGraphicFramePr>
        <p:xfrm>
          <a:off x="320040" y="1463040"/>
          <a:ext cx="4206240" cy="2606040"/>
        </p:xfrm>
        <a:graphic>
          <a:graphicData uri="http://schemas.openxmlformats.org/drawingml/2006/chart">
            <c:chart xmlns:c="http://schemas.openxmlformats.org/drawingml/2006/chart" r:id="rId3"/>
          </a:graphicData>
        </a:graphic>
      </p:graphicFrame>
      <p:sp>
        <p:nvSpPr>
          <p:cNvPr id="9" name="TextBox 134"/>
          <p:cNvSpPr txBox="1"/>
          <p:nvPr/>
        </p:nvSpPr>
        <p:spPr>
          <a:xfrm>
            <a:off x="320040" y="4114800"/>
            <a:ext cx="4206240" cy="594360"/>
          </a:xfrm>
          <a:prstGeom prst="rect">
            <a:avLst/>
          </a:prstGeom>
          <a:noFill/>
        </p:spPr>
        <p:txBody>
          <a:bodyPr wrap="square" anchor="t" lIns="36576" rIns="36576" tIns="18288" bIns="18288">
            <a:spAutoFit/>
          </a:bodyPr>
          <a:lstStyle/>
          <a:p>
            <a:pPr algn="l">
              <a:spcAft>
                <a:spcPts val="300"/>
              </a:spcAft>
            </a:pPr>
            <a:r>
              <a:rPr sz="950" b="0">
                <a:solidFill>
                  <a:srgbClr val="595959"/>
                </a:solidFill>
                <a:latin typeface="Arial"/>
              </a:rPr>
              <a:t>Relative value if peer multiples hold: $67–$106 per share</a:t>
            </a:r>
          </a:p>
        </p:txBody>
      </p:sp>
      <p:sp>
        <p:nvSpPr>
          <p:cNvPr id="10" name="TextBox 135"/>
          <p:cNvSpPr txBox="1"/>
          <p:nvPr/>
        </p:nvSpPr>
        <p:spPr>
          <a:xfrm>
            <a:off x="4709160" y="1463040"/>
            <a:ext cx="411480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FOR $62.09 TO BE FAIR VALUE, ONE OF THESE MUST HOLD</a:t>
            </a:r>
          </a:p>
        </p:txBody>
      </p:sp>
      <p:sp>
        <p:nvSpPr>
          <p:cNvPr id="11" name="TextBox 136"/>
          <p:cNvSpPr txBox="1"/>
          <p:nvPr/>
        </p:nvSpPr>
        <p:spPr>
          <a:xfrm>
            <a:off x="4709160" y="1737360"/>
            <a:ext cx="4114800" cy="1234440"/>
          </a:xfrm>
          <a:prstGeom prst="rect">
            <a:avLst/>
          </a:prstGeom>
          <a:noFill/>
        </p:spPr>
        <p:txBody>
          <a:bodyPr wrap="square" anchor="t" lIns="36576" rIns="36576" tIns="18288" bIns="18288">
            <a:spAutoFit/>
          </a:bodyPr>
          <a:lstStyle/>
          <a:p>
            <a:pPr algn="l">
              <a:spcAft>
                <a:spcPts val="500"/>
              </a:spcAft>
            </a:pPr>
            <a:r>
              <a:rPr sz="600">
                <a:solidFill>
                  <a:srgbClr val="135927"/>
                </a:solidFill>
                <a:latin typeface="Arial"/>
              </a:rPr>
              <a:t>■  </a:t>
            </a:r>
            <a:r>
              <a:rPr sz="1000" b="0">
                <a:solidFill>
                  <a:srgbClr val="1F2421"/>
                </a:solidFill>
                <a:latin typeface="Arial"/>
              </a:rPr>
              <a:t>Long-term non-GAAP margin ≈ 18% (FY27 guide 14–15%)</a:t>
            </a:r>
          </a:p>
          <a:p>
            <a:pPr algn="l">
              <a:spcAft>
                <a:spcPts val="500"/>
              </a:spcAft>
            </a:pPr>
            <a:r>
              <a:rPr sz="600">
                <a:solidFill>
                  <a:srgbClr val="135927"/>
                </a:solidFill>
                <a:latin typeface="Arial"/>
              </a:rPr>
              <a:t>■  </a:t>
            </a:r>
            <a:r>
              <a:rPr sz="1000" b="0">
                <a:solidFill>
                  <a:srgbClr val="1F2421"/>
                </a:solidFill>
                <a:latin typeface="Arial"/>
              </a:rPr>
              <a:t>Revenue CAGR ≈ 11% for ten years (base 5%)</a:t>
            </a:r>
          </a:p>
          <a:p>
            <a:pPr algn="l">
              <a:spcAft>
                <a:spcPts val="500"/>
              </a:spcAft>
            </a:pPr>
            <a:r>
              <a:rPr sz="600">
                <a:solidFill>
                  <a:srgbClr val="135927"/>
                </a:solidFill>
                <a:latin typeface="Arial"/>
              </a:rPr>
              <a:t>■  </a:t>
            </a:r>
            <a:r>
              <a:rPr sz="1000" b="0">
                <a:solidFill>
                  <a:srgbClr val="1F2421"/>
                </a:solidFill>
                <a:latin typeface="Arial"/>
              </a:rPr>
              <a:t>Cost of capital ≈ 7.0%, or AI-hardware peer multiples persist</a:t>
            </a:r>
          </a:p>
        </p:txBody>
      </p:sp>
      <p:sp>
        <p:nvSpPr>
          <p:cNvPr id="12" name="TextBox 137"/>
          <p:cNvSpPr txBox="1"/>
          <p:nvPr/>
        </p:nvSpPr>
        <p:spPr>
          <a:xfrm>
            <a:off x="4709160" y="3063240"/>
            <a:ext cx="411480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WHAT WOULD CHANGE THE VIEW</a:t>
            </a:r>
          </a:p>
        </p:txBody>
      </p:sp>
      <p:sp>
        <p:nvSpPr>
          <p:cNvPr id="13" name="TextBox 138"/>
          <p:cNvSpPr txBox="1"/>
          <p:nvPr/>
        </p:nvSpPr>
        <p:spPr>
          <a:xfrm>
            <a:off x="4709160" y="3337560"/>
            <a:ext cx="4114800" cy="1371600"/>
          </a:xfrm>
          <a:prstGeom prst="rect">
            <a:avLst/>
          </a:prstGeom>
          <a:noFill/>
        </p:spPr>
        <p:txBody>
          <a:bodyPr wrap="square" anchor="t" lIns="36576" rIns="36576" tIns="18288" bIns="18288">
            <a:spAutoFit/>
          </a:bodyPr>
          <a:lstStyle/>
          <a:p>
            <a:pPr algn="l">
              <a:spcAft>
                <a:spcPts val="500"/>
              </a:spcAft>
            </a:pPr>
            <a:r>
              <a:rPr sz="570">
                <a:solidFill>
                  <a:srgbClr val="135927"/>
                </a:solidFill>
                <a:latin typeface="Arial"/>
              </a:rPr>
              <a:t>■  </a:t>
            </a:r>
            <a:r>
              <a:rPr sz="950" b="1">
                <a:solidFill>
                  <a:srgbClr val="1F2421"/>
                </a:solidFill>
                <a:latin typeface="Arial"/>
              </a:rPr>
              <a:t>Up:</a:t>
            </a:r>
            <a:r>
              <a:rPr sz="950" b="0">
                <a:solidFill>
                  <a:srgbClr val="1F2421"/>
                </a:solidFill>
                <a:latin typeface="Arial"/>
              </a:rPr>
              <a:t> Cloud &amp; AI margin ≥13% through a memory-price decline; networking mid-teens organic growth; FY27 FCF well above $5bn</a:t>
            </a:r>
          </a:p>
          <a:p>
            <a:pPr algn="l">
              <a:spcAft>
                <a:spcPts val="500"/>
              </a:spcAft>
            </a:pPr>
            <a:r>
              <a:rPr sz="570">
                <a:solidFill>
                  <a:srgbClr val="135927"/>
                </a:solidFill>
                <a:latin typeface="Arial"/>
              </a:rPr>
              <a:t>■  </a:t>
            </a:r>
            <a:r>
              <a:rPr sz="950" b="1">
                <a:solidFill>
                  <a:srgbClr val="1F2421"/>
                </a:solidFill>
                <a:latin typeface="Arial"/>
              </a:rPr>
              <a:t>Down:</a:t>
            </a:r>
            <a:r>
              <a:rPr sz="950" b="0">
                <a:solidFill>
                  <a:srgbClr val="1F2421"/>
                </a:solidFill>
                <a:latin typeface="Arial"/>
              </a:rPr>
              <a:t> non-GAAP GM &lt;33%, AI backlog declines, sector de-rating</a:t>
            </a:r>
          </a:p>
        </p:txBody>
      </p:sp>
      <p:sp>
        <p:nvSpPr>
          <p:cNvPr id="14"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Decision logic: </a:t>
            </a:r>
            <a:r>
              <a:rPr sz="1050" b="0" i="1">
                <a:solidFill>
                  <a:srgbClr val="1F2421"/>
                </a:solidFill>
                <a:latin typeface="Arial"/>
              </a:rPr>
              <a:t>we don't need to predict the cycle; we need to know which signposts would move value toward the price, or the price toward value.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Five patterns to take away</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CLOSING</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Bona Fide analysis; HTML report sections 1–12.</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20</a:t>
            </a:r>
          </a:p>
        </p:txBody>
      </p:sp>
      <p:sp>
        <p:nvSpPr>
          <p:cNvPr id="8"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The HPE case in one line: </a:t>
            </a:r>
            <a:r>
              <a:rPr sz="1050" b="0" i="1">
                <a:solidFill>
                  <a:srgbClr val="1F2421"/>
                </a:solidFill>
                <a:latin typeface="Arial"/>
              </a:rPr>
              <a:t>a better business, priced as if the cycle never turns.</a:t>
            </a:r>
          </a:p>
        </p:txBody>
      </p:sp>
      <p:graphicFrame>
        <p:nvGraphicFramePr>
          <p:cNvPr id="9" name="Table 133"/>
          <p:cNvGraphicFramePr>
            <a:graphicFrameLocks noGrp="1"/>
          </p:cNvGraphicFramePr>
          <p:nvPr/>
        </p:nvGraphicFramePr>
        <p:xfrm>
          <a:off x="320040" y="1463040"/>
          <a:ext cx="8503920" cy="2304288"/>
        </p:xfrm>
        <a:graphic>
          <a:graphicData uri="http://schemas.openxmlformats.org/drawingml/2006/table">
            <a:tbl>
              <a:tblPr firstRow="1" bandRow="1">
                <a:tableStyleId>{5C22544A-7EE6-4342-B048-85BDC9FD1C3A}</a:tableStyleId>
              </a:tblPr>
              <a:tblGrid>
                <a:gridCol w="2514600"/>
                <a:gridCol w="3429000"/>
                <a:gridCol w="2560320"/>
              </a:tblGrid>
              <a:tr h="384048">
                <a:tc>
                  <a:txBody>
                    <a:bodyPr wrap="square"/>
                    <a:lstStyle/>
                    <a:p>
                      <a:r>
                        <a:rPr sz="900" b="1" i="0">
                          <a:solidFill>
                            <a:srgbClr val="FCC80D"/>
                          </a:solidFill>
                          <a:latin typeface="Arial"/>
                        </a:rPr>
                        <a:t>Pattern</a:t>
                      </a:r>
                    </a:p>
                  </a:txBody>
                  <a:tcPr marL="45720" marR="45720" marT="18288" marB="18288" anchor="ctr">
                    <a:solidFill>
                      <a:srgbClr val="135927"/>
                    </a:solidFill>
                  </a:tcPr>
                </a:tc>
                <a:tc>
                  <a:txBody>
                    <a:bodyPr wrap="square"/>
                    <a:lstStyle/>
                    <a:p>
                      <a:r>
                        <a:rPr sz="900" b="1" i="0">
                          <a:solidFill>
                            <a:srgbClr val="FCC80D"/>
                          </a:solidFill>
                          <a:latin typeface="Arial"/>
                        </a:rPr>
                        <a:t>What we saw at HPE</a:t>
                      </a:r>
                    </a:p>
                  </a:txBody>
                  <a:tcPr marL="45720" marR="45720" marT="18288" marB="18288" anchor="ctr">
                    <a:solidFill>
                      <a:srgbClr val="135927"/>
                    </a:solidFill>
                  </a:tcPr>
                </a:tc>
                <a:tc>
                  <a:txBody>
                    <a:bodyPr wrap="square"/>
                    <a:lstStyle/>
                    <a:p>
                      <a:r>
                        <a:rPr sz="900" b="1" i="0">
                          <a:solidFill>
                            <a:srgbClr val="FCC80D"/>
                          </a:solidFill>
                          <a:latin typeface="Arial"/>
                        </a:rPr>
                        <a:t>Where else to use it</a:t>
                      </a:r>
                    </a:p>
                  </a:txBody>
                  <a:tcPr marL="45720" marR="45720" marT="18288" marB="18288" anchor="ctr">
                    <a:solidFill>
                      <a:srgbClr val="135927"/>
                    </a:solidFill>
                  </a:tcPr>
                </a:tc>
              </a:tr>
              <a:tr h="384048">
                <a:tc>
                  <a:txBody>
                    <a:bodyPr wrap="square"/>
                    <a:lstStyle/>
                    <a:p>
                      <a:r>
                        <a:rPr sz="900" b="1" i="0">
                          <a:solidFill>
                            <a:srgbClr val="1F2421"/>
                          </a:solidFill>
                          <a:latin typeface="Arial"/>
                        </a:rPr>
                        <a:t>1 · Follow profit, not revenue</a:t>
                      </a:r>
                    </a:p>
                  </a:txBody>
                  <a:tcPr marL="45720" marR="45720" marT="18288" marB="18288" anchor="ctr">
                    <a:solidFill>
                      <a:srgbClr val="FFFFFF"/>
                    </a:solidFill>
                  </a:tcPr>
                </a:tc>
                <a:tc>
                  <a:txBody>
                    <a:bodyPr wrap="square"/>
                    <a:lstStyle/>
                    <a:p>
                      <a:r>
                        <a:rPr sz="900" b="0" i="0">
                          <a:solidFill>
                            <a:srgbClr val="1F2421"/>
                          </a:solidFill>
                          <a:latin typeface="Arial"/>
                        </a:rPr>
                        <a:t>Networking: 26% of revenue, 40% of segment profit</a:t>
                      </a:r>
                    </a:p>
                  </a:txBody>
                  <a:tcPr marL="45720" marR="45720" marT="18288" marB="18288" anchor="ctr">
                    <a:solidFill>
                      <a:srgbClr val="FFFFFF"/>
                    </a:solidFill>
                  </a:tcPr>
                </a:tc>
                <a:tc>
                  <a:txBody>
                    <a:bodyPr wrap="square"/>
                    <a:lstStyle/>
                    <a:p>
                      <a:r>
                        <a:rPr sz="900" b="0" i="0">
                          <a:solidFill>
                            <a:srgbClr val="1F2421"/>
                          </a:solidFill>
                          <a:latin typeface="Arial"/>
                        </a:rPr>
                        <a:t>Any company that reports segments</a:t>
                      </a:r>
                    </a:p>
                  </a:txBody>
                  <a:tcPr marL="45720" marR="45720" marT="18288" marB="18288" anchor="ctr">
                    <a:solidFill>
                      <a:srgbClr val="FFFFFF"/>
                    </a:solidFill>
                  </a:tcPr>
                </a:tc>
              </a:tr>
              <a:tr h="384048">
                <a:tc>
                  <a:txBody>
                    <a:bodyPr wrap="square"/>
                    <a:lstStyle/>
                    <a:p>
                      <a:r>
                        <a:rPr sz="900" b="1" i="0">
                          <a:solidFill>
                            <a:srgbClr val="1F2421"/>
                          </a:solidFill>
                          <a:latin typeface="Arial"/>
                        </a:rPr>
                        <a:t>2 · Separate the tide from the boat</a:t>
                      </a:r>
                    </a:p>
                  </a:txBody>
                  <a:tcPr marL="45720" marR="45720" marT="18288" marB="18288" anchor="ctr">
                    <a:solidFill>
                      <a:srgbClr val="FFFFFF"/>
                    </a:solidFill>
                  </a:tcPr>
                </a:tc>
                <a:tc>
                  <a:txBody>
                    <a:bodyPr wrap="square"/>
                    <a:lstStyle/>
                    <a:p>
                      <a:r>
                        <a:rPr sz="900" b="0" i="0">
                          <a:solidFill>
                            <a:srgbClr val="1F2421"/>
                          </a:solidFill>
                          <a:latin typeface="Arial"/>
                        </a:rPr>
                        <a:t>FY26 $17.4bn above trend: about a third Juniper, two-thirds AI and pricing</a:t>
                      </a:r>
                    </a:p>
                  </a:txBody>
                  <a:tcPr marL="45720" marR="45720" marT="18288" marB="18288" anchor="ctr">
                    <a:solidFill>
                      <a:srgbClr val="FFFFFF"/>
                    </a:solidFill>
                  </a:tcPr>
                </a:tc>
                <a:tc>
                  <a:txBody>
                    <a:bodyPr wrap="square"/>
                    <a:lstStyle/>
                    <a:p>
                      <a:r>
                        <a:rPr sz="900" b="0" i="0">
                          <a:solidFill>
                            <a:srgbClr val="1F2421"/>
                          </a:solidFill>
                          <a:latin typeface="Arial"/>
                        </a:rPr>
                        <a:t>Acquirers in booming markets</a:t>
                      </a:r>
                    </a:p>
                  </a:txBody>
                  <a:tcPr marL="45720" marR="45720" marT="18288" marB="18288" anchor="ctr">
                    <a:solidFill>
                      <a:srgbClr val="FFFFFF"/>
                    </a:solidFill>
                  </a:tcPr>
                </a:tc>
              </a:tr>
              <a:tr h="384048">
                <a:tc>
                  <a:txBody>
                    <a:bodyPr wrap="square"/>
                    <a:lstStyle/>
                    <a:p>
                      <a:r>
                        <a:rPr sz="900" b="1" i="0">
                          <a:solidFill>
                            <a:srgbClr val="1F2421"/>
                          </a:solidFill>
                          <a:latin typeface="Arial"/>
                        </a:rPr>
                        <a:t>3 · Your place in the value chain sets your cycle</a:t>
                      </a:r>
                    </a:p>
                  </a:txBody>
                  <a:tcPr marL="45720" marR="45720" marT="18288" marB="18288" anchor="ctr">
                    <a:solidFill>
                      <a:srgbClr val="FFFFFF"/>
                    </a:solidFill>
                  </a:tcPr>
                </a:tc>
                <a:tc>
                  <a:txBody>
                    <a:bodyPr wrap="square"/>
                    <a:lstStyle/>
                    <a:p>
                      <a:r>
                        <a:rPr sz="900" b="0" i="0">
                          <a:solidFill>
                            <a:srgbClr val="1F2421"/>
                          </a:solidFill>
                          <a:latin typeface="Arial"/>
                        </a:rPr>
                        <a:t>Paid at shipment: elastic revenue, thin margins, little contracted backlog</a:t>
                      </a:r>
                    </a:p>
                  </a:txBody>
                  <a:tcPr marL="45720" marR="45720" marT="18288" marB="18288" anchor="ctr">
                    <a:solidFill>
                      <a:srgbClr val="FFFFFF"/>
                    </a:solidFill>
                  </a:tcPr>
                </a:tc>
                <a:tc>
                  <a:txBody>
                    <a:bodyPr wrap="square"/>
                    <a:lstStyle/>
                    <a:p>
                      <a:r>
                        <a:rPr sz="900" b="0" i="0">
                          <a:solidFill>
                            <a:srgbClr val="1F2421"/>
                          </a:solidFill>
                          <a:latin typeface="Arial"/>
                        </a:rPr>
                        <a:t>Semiconductor equipment, memory, contract manufacturers</a:t>
                      </a:r>
                    </a:p>
                  </a:txBody>
                  <a:tcPr marL="45720" marR="45720" marT="18288" marB="18288" anchor="ctr">
                    <a:solidFill>
                      <a:srgbClr val="FFFFFF"/>
                    </a:solidFill>
                  </a:tcPr>
                </a:tc>
              </a:tr>
              <a:tr h="384048">
                <a:tc>
                  <a:txBody>
                    <a:bodyPr wrap="square"/>
                    <a:lstStyle/>
                    <a:p>
                      <a:r>
                        <a:rPr sz="900" b="1" i="0">
                          <a:solidFill>
                            <a:srgbClr val="1F2421"/>
                          </a:solidFill>
                          <a:latin typeface="Arial"/>
                        </a:rPr>
                        <a:t>4 · Working capital narrates the cycle</a:t>
                      </a:r>
                    </a:p>
                  </a:txBody>
                  <a:tcPr marL="45720" marR="45720" marT="18288" marB="18288" anchor="ctr">
                    <a:solidFill>
                      <a:srgbClr val="FFFFFF"/>
                    </a:solidFill>
                  </a:tcPr>
                </a:tc>
                <a:tc>
                  <a:txBody>
                    <a:bodyPr wrap="square"/>
                    <a:lstStyle/>
                    <a:p>
                      <a:r>
                        <a:rPr sz="900" b="0" i="0">
                          <a:solidFill>
                            <a:srgbClr val="1F2421"/>
                          </a:solidFill>
                          <a:latin typeface="Arial"/>
                        </a:rPr>
                        <a:t>Record free cash flow while payables fund a $5.5bn inventory build</a:t>
                      </a:r>
                    </a:p>
                  </a:txBody>
                  <a:tcPr marL="45720" marR="45720" marT="18288" marB="18288" anchor="ctr">
                    <a:solidFill>
                      <a:srgbClr val="FFFFFF"/>
                    </a:solidFill>
                  </a:tcPr>
                </a:tc>
                <a:tc>
                  <a:txBody>
                    <a:bodyPr wrap="square"/>
                    <a:lstStyle/>
                    <a:p>
                      <a:r>
                        <a:rPr sz="900" b="0" i="0">
                          <a:solidFill>
                            <a:srgbClr val="1F2421"/>
                          </a:solidFill>
                          <a:latin typeface="Arial"/>
                        </a:rPr>
                        <a:t>Hardware and distribution businesses near peaks</a:t>
                      </a:r>
                    </a:p>
                  </a:txBody>
                  <a:tcPr marL="45720" marR="45720" marT="18288" marB="18288" anchor="ctr">
                    <a:solidFill>
                      <a:srgbClr val="FFFFFF"/>
                    </a:solidFill>
                  </a:tcPr>
                </a:tc>
              </a:tr>
              <a:tr h="384048">
                <a:tc>
                  <a:txBody>
                    <a:bodyPr wrap="square"/>
                    <a:lstStyle/>
                    <a:p>
                      <a:r>
                        <a:rPr sz="900" b="1" i="0">
                          <a:solidFill>
                            <a:srgbClr val="1F2421"/>
                          </a:solidFill>
                          <a:latin typeface="Arial"/>
                        </a:rPr>
                        <a:t>5 · The price is a forecast; think in ranges</a:t>
                      </a:r>
                    </a:p>
                  </a:txBody>
                  <a:tcPr marL="45720" marR="45720" marT="18288" marB="18288" anchor="ctr">
                    <a:solidFill>
                      <a:srgbClr val="FFFFFF"/>
                    </a:solidFill>
                  </a:tcPr>
                </a:tc>
                <a:tc>
                  <a:txBody>
                    <a:bodyPr wrap="square"/>
                    <a:lstStyle/>
                    <a:p>
                      <a:r>
                        <a:rPr sz="900" b="0" i="0">
                          <a:solidFill>
                            <a:srgbClr val="1F2421"/>
                          </a:solidFill>
                          <a:latin typeface="Arial"/>
                        </a:rPr>
                        <a:t>$62.09 needs an 18% margin; 3σ days 6.8x a normal distribution</a:t>
                      </a:r>
                    </a:p>
                  </a:txBody>
                  <a:tcPr marL="45720" marR="45720" marT="18288" marB="18288" anchor="ctr">
                    <a:solidFill>
                      <a:srgbClr val="FFFFFF"/>
                    </a:solidFill>
                  </a:tcPr>
                </a:tc>
                <a:tc>
                  <a:txBody>
                    <a:bodyPr wrap="square"/>
                    <a:lstStyle/>
                    <a:p>
                      <a:r>
                        <a:rPr sz="900" b="0" i="0">
                          <a:solidFill>
                            <a:srgbClr val="1F2421"/>
                          </a:solidFill>
                          <a:latin typeface="Arial"/>
                        </a:rPr>
                        <a:t>Momentum stocks and re-ratings</a:t>
                      </a:r>
                    </a:p>
                  </a:txBody>
                  <a:tcPr marL="45720" marR="45720" marT="18288" marB="18288" anchor="ctr">
                    <a:solidFill>
                      <a:srgbClr val="FFFFFF"/>
                    </a:solidFill>
                  </a:tcPr>
                </a:tc>
              </a:tr>
            </a:tbl>
          </a:graphicData>
        </a:graphic>
      </p:graphicFrame>
      <p:sp>
        <p:nvSpPr>
          <p:cNvPr id="10" name="TextBox 134"/>
          <p:cNvSpPr txBox="1"/>
          <p:nvPr/>
        </p:nvSpPr>
        <p:spPr>
          <a:xfrm>
            <a:off x="320040" y="3950208"/>
            <a:ext cx="8503920" cy="457200"/>
          </a:xfrm>
          <a:prstGeom prst="rect">
            <a:avLst/>
          </a:prstGeom>
          <a:noFill/>
        </p:spPr>
        <p:txBody>
          <a:bodyPr wrap="square">
            <a:spAutoFit/>
          </a:bodyPr>
          <a:lstStyle/>
          <a:p>
            <a:r>
              <a:rPr sz="1800" b="1" i="0">
                <a:solidFill>
                  <a:srgbClr val="135927"/>
                </a:solidFill>
                <a:latin typeface="Arial"/>
              </a:rPr>
              <a:t>Thank you. Questions?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descr="header_linkedin.png" id="3" name="Google Shape;121;p29"/>
          <p:cNvPicPr preferRelativeResize="0"/>
          <p:nvPr/>
        </p:nvPicPr>
        <p:blipFill rotWithShape="1">
          <a:blip r:embed="rId2">
            <a:alphaModFix/>
          </a:blip>
          <a:srcRect b="0" l="0" r="0" t="0"/>
          <a:stretch/>
        </p:blipFill>
        <p:spPr>
          <a:xfrm>
            <a:off x="-12073" y="-90539"/>
            <a:ext cx="9168146" cy="5324578"/>
          </a:xfrm>
          <a:prstGeom prst="rect">
            <a:avLst/>
          </a:prstGeom>
          <a:noFill/>
          <a:ln>
            <a:noFill/>
          </a:ln>
        </p:spPr>
      </p:pic>
      <p:sp>
        <p:nvSpPr>
          <p:cNvPr id="4" name="Google Shape;123;p29"/>
          <p:cNvSpPr txBox="1"/>
          <p:nvPr>
            <p:ph idx="4294967295" type="ctrTitle"/>
          </p:nvPr>
        </p:nvSpPr>
        <p:spPr>
          <a:xfrm>
            <a:off x="452437" y="2139890"/>
            <a:ext cx="3657600" cy="1743075"/>
          </a:xfrm>
          <a:prstGeom prst="rect">
            <a:avLst/>
          </a:prstGeom>
          <a:noFill/>
          <a:ln>
            <a:noFill/>
          </a:ln>
        </p:spPr>
        <p:txBody>
          <a:bodyPr anchorCtr="0" anchor="b" bIns="19050" lIns="19050" spcFirstLastPara="1" rIns="19050" wrap="square" tIns="19050">
            <a:normAutofit/>
          </a:bodyPr>
          <a:lstStyle/>
          <a:p>
            <a:pPr indent="0" lvl="0" marL="0" marR="0" rtl="0" algn="l">
              <a:lnSpc>
                <a:spcPct val="80000"/>
              </a:lnSpc>
              <a:spcBef>
                <a:spcPts val="0"/>
              </a:spcBef>
              <a:spcAft>
                <a:spcPts val="0"/>
              </a:spcAft>
              <a:buClr>
                <a:srgbClr val="FCC80D"/>
              </a:buClr>
              <a:buSzPts val="4400"/>
              <a:buFont typeface="Twentieth Century"/>
              <a:buNone/>
            </a:pPr>
            <a:endParaRPr/>
            <a:r>
              <a:rPr b="1" i="0" lang="nl" sz="2600" u="none" cap="none" strike="noStrike">
                <a:solidFill>
                  <a:srgbClr val="FCC80D"/>
                </a:solidFill>
                <a:latin typeface="Twentieth Century"/>
                <a:ea typeface="Twentieth Century"/>
                <a:cs typeface="Twentieth Century"/>
                <a:sym typeface="Twentieth Century"/>
              </a:rPr>
              <a:t>Appendix</a:t>
            </a:r>
          </a:p>
        </p:txBody>
      </p:sp>
      <p:sp>
        <p:nvSpPr>
          <p:cNvPr id="5" name="Google Shape;124;p29"/>
          <p:cNvSpPr txBox="1"/>
          <p:nvPr>
            <p:ph idx="4294967295" type="subTitle"/>
          </p:nvPr>
        </p:nvSpPr>
        <p:spPr>
          <a:xfrm>
            <a:off x="478206" y="3895344"/>
            <a:ext cx="3429000" cy="492382"/>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CC80D"/>
              </a:buClr>
              <a:buSzPts val="1400"/>
              <a:buFont typeface="Twentieth Century"/>
              <a:buNone/>
            </a:pPr>
            <a:endParaRPr/>
            <a:r>
              <a:rPr b="1" i="1" lang="nl" sz="1100" u="none" cap="none" strike="noStrike">
                <a:solidFill>
                  <a:srgbClr val="FCC80D"/>
                </a:solidFill>
                <a:latin typeface="Twentieth Century"/>
                <a:ea typeface="Twentieth Century"/>
                <a:cs typeface="Twentieth Century"/>
                <a:sym typeface="Twentieth Century"/>
              </a:rPr>
              <a:t>Backup slides for questions</a:t>
            </a:r>
          </a:p>
          <a:p>
            <a:pPr indent="0" lvl="0" marL="0" marR="0" rtl="0" algn="l">
              <a:lnSpc>
                <a:spcPct val="100000"/>
              </a:lnSpc>
              <a:spcBef>
                <a:spcPts val="0"/>
              </a:spcBef>
              <a:spcAft>
                <a:spcPts val="0"/>
              </a:spcAft>
              <a:buClr>
                <a:srgbClr val="FCC80D"/>
              </a:buClr>
              <a:buSzPts val="1400"/>
              <a:buFont typeface="Twentieth Century"/>
              <a:buNone/>
            </a:pPr>
            <a:endParaRPr/>
            <a:r>
              <a:rPr b="1" i="1" lang="nl" sz="1100" u="none" cap="none" strike="noStrike">
                <a:solidFill>
                  <a:srgbClr val="FCC80D"/>
                </a:solidFill>
                <a:latin typeface="Twentieth Century"/>
                <a:ea typeface="Twentieth Century"/>
                <a:cs typeface="Twentieth Century"/>
                <a:sym typeface="Twentieth Century"/>
              </a:rPr>
              <a:t>Moat · capital structure · price action · catalysts</a:t>
            </a:r>
          </a:p>
          <a:p>
            <a:pPr indent="0" lvl="0" marL="0" marR="0" rtl="0" algn="l">
              <a:lnSpc>
                <a:spcPct val="100000"/>
              </a:lnSpc>
              <a:spcBef>
                <a:spcPts val="0"/>
              </a:spcBef>
              <a:spcAft>
                <a:spcPts val="0"/>
              </a:spcAft>
              <a:buClr>
                <a:srgbClr val="FCC80D"/>
              </a:buClr>
              <a:buSzPts val="1400"/>
              <a:buFont typeface="Twentieth Century"/>
              <a:buNone/>
            </a:pPr>
            <a:endParaRPr/>
            <a:r>
              <a:rPr b="1" i="1" lang="nl" sz="1100" u="none" cap="none" strike="noStrike">
                <a:solidFill>
                  <a:srgbClr val="FCC80D"/>
                </a:solidFill>
                <a:latin typeface="Twentieth Century"/>
                <a:ea typeface="Twentieth Century"/>
                <a:cs typeface="Twentieth Century"/>
                <a:sym typeface="Twentieth Century"/>
              </a:rPr>
              <a:t>Q&amp;A: Juniper security; landlords, neoclouds, servers</a:t>
            </a:r>
          </a:p>
        </p:txBody>
      </p:sp>
      <p:sp>
        <p:nvSpPr>
          <p:cNvPr id="6" name="Google Shape;122;p29"/>
          <p:cNvSpPr txBox="1"/>
          <p:nvPr>
            <p:ph idx="1" type="body"/>
          </p:nvPr>
        </p:nvSpPr>
        <p:spPr>
          <a:xfrm>
            <a:off x="452437" y="4750459"/>
            <a:ext cx="8239126" cy="238867"/>
          </a:xfrm>
          <a:prstGeom prst="rect">
            <a:avLst/>
          </a:prstGeom>
          <a:noFill/>
          <a:ln>
            <a:noFill/>
          </a:ln>
        </p:spPr>
        <p:txBody>
          <a:bodyPr anchorCtr="0" anchor="t" bIns="17150" lIns="17150" spcFirstLastPara="1" rIns="17150" wrap="square" tIns="17150">
            <a:normAutofit lnSpcReduction="10000"/>
          </a:bodyPr>
          <a:lstStyle/>
          <a:p>
            <a:pPr indent="0" lvl="0" marL="0" rtl="0" algn="l">
              <a:lnSpc>
                <a:spcPct val="100000"/>
              </a:lnSpc>
              <a:spcBef>
                <a:spcPts val="0"/>
              </a:spcBef>
              <a:spcAft>
                <a:spcPts val="0"/>
              </a:spcAft>
              <a:buClr>
                <a:srgbClr val="FFFFFF"/>
              </a:buClr>
              <a:buSzPts val="1400"/>
              <a:buFont typeface="Helvetica Neue"/>
              <a:buNone/>
            </a:pPr>
            <a:r>
              <a:rPr b="1" i="0" lang="nl" sz="1400" u="none" cap="none" strike="noStrike">
                <a:solidFill>
                  <a:srgbClr val="FFFFFF"/>
                </a:solidFill>
                <a:latin typeface="Helvetica Neue"/>
                <a:ea typeface="Helvetica Neue"/>
                <a:cs typeface="Helvetica Neue"/>
                <a:sym typeface="Helvetica Neue"/>
              </a:rPr>
              <a:t/>
            </a:r>
            <a:r>
              <a:rPr lang="nl">
                <a:solidFill>
                  <a:srgbClr val="FFFFFF"/>
                </a:solidFill>
              </a:rPr>
              <a:t>Bona Fide Student Investment Society · 2026-2027 · Prices as of 11-Sep-2026</a:t>
            </a:r>
            <a:endParaRPr b="1" i="0" sz="14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Moat is narrow and sits in networking, not servers</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APPENDIX · COMPETITIVE POSITION &amp; MOAT</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Bona Fide analysis using IDC, Dell'Oro, HPE filings and peer financials.</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22</a:t>
            </a:r>
          </a:p>
        </p:txBody>
      </p:sp>
      <p:graphicFrame>
        <p:nvGraphicFramePr>
          <p:cNvPr id="8" name="Table 133"/>
          <p:cNvGraphicFramePr>
            <a:graphicFrameLocks noGrp="1"/>
          </p:cNvGraphicFramePr>
          <p:nvPr/>
        </p:nvGraphicFramePr>
        <p:xfrm>
          <a:off x="320040" y="960120"/>
          <a:ext cx="4297680" cy="1975104"/>
        </p:xfrm>
        <a:graphic>
          <a:graphicData uri="http://schemas.openxmlformats.org/drawingml/2006/table">
            <a:tbl>
              <a:tblPr firstRow="1">
                <a:tableStyleId>{5C22544A-7EE6-4342-B048-85BDC9FD1C3A}</a:tableStyleId>
              </a:tblPr>
              <a:tblGrid>
                <a:gridCol w="960120"/>
                <a:gridCol w="731520"/>
                <a:gridCol w="2606040"/>
              </a:tblGrid>
              <a:tr h="329184">
                <a:tc>
                  <a:txBody>
                    <a:bodyPr/>
                    <a:lstStyle/>
                    <a:p>
                      <a:pPr algn="l"/>
                      <a:r>
                        <a:rPr sz="850" b="1">
                          <a:solidFill>
                            <a:srgbClr val="FCC80D"/>
                          </a:solidFill>
                          <a:latin typeface="Arial"/>
                        </a:rPr>
                        <a:t>Porter force</a:t>
                      </a:r>
                    </a:p>
                  </a:txBody>
                  <a:tcPr marL="45720" marR="45720" marT="13716" marB="13716" anchor="ctr">
                    <a:solidFill>
                      <a:srgbClr val="135927"/>
                    </a:solidFill>
                  </a:tcPr>
                </a:tc>
                <a:tc>
                  <a:txBody>
                    <a:bodyPr/>
                    <a:lstStyle/>
                    <a:p>
                      <a:pPr algn="l"/>
                      <a:r>
                        <a:rPr sz="850" b="1">
                          <a:solidFill>
                            <a:srgbClr val="FCC80D"/>
                          </a:solidFill>
                          <a:latin typeface="Arial"/>
                        </a:rPr>
                        <a:t>Intensity</a:t>
                      </a:r>
                    </a:p>
                  </a:txBody>
                  <a:tcPr marL="45720" marR="45720" marT="13716" marB="13716" anchor="ctr">
                    <a:solidFill>
                      <a:srgbClr val="135927"/>
                    </a:solidFill>
                  </a:tcPr>
                </a:tc>
                <a:tc>
                  <a:txBody>
                    <a:bodyPr/>
                    <a:lstStyle/>
                    <a:p>
                      <a:pPr algn="l"/>
                      <a:r>
                        <a:rPr sz="850" b="1">
                          <a:solidFill>
                            <a:srgbClr val="FCC80D"/>
                          </a:solidFill>
                          <a:latin typeface="Arial"/>
                        </a:rPr>
                        <a:t>Evidence</a:t>
                      </a:r>
                    </a:p>
                  </a:txBody>
                  <a:tcPr marL="45720" marR="45720" marT="13716" marB="13716" anchor="ctr">
                    <a:solidFill>
                      <a:srgbClr val="135927"/>
                    </a:solidFill>
                  </a:tcPr>
                </a:tc>
              </a:tr>
              <a:tr h="329184">
                <a:tc>
                  <a:txBody>
                    <a:bodyPr/>
                    <a:lstStyle/>
                    <a:p>
                      <a:pPr algn="l"/>
                      <a:r>
                        <a:rPr sz="850" b="1">
                          <a:solidFill>
                            <a:srgbClr val="1F2421"/>
                          </a:solidFill>
                          <a:latin typeface="Arial"/>
                        </a:rPr>
                        <a:t>Rivalry</a:t>
                      </a:r>
                    </a:p>
                  </a:txBody>
                  <a:tcPr marL="45720" marR="45720" marT="13716" marB="13716" anchor="ctr">
                    <a:solidFill>
                      <a:srgbClr val="FFFFFF"/>
                    </a:solidFill>
                  </a:tcPr>
                </a:tc>
                <a:tc>
                  <a:txBody>
                    <a:bodyPr/>
                    <a:lstStyle/>
                    <a:p>
                      <a:pPr algn="l"/>
                      <a:r>
                        <a:rPr sz="850" b="0">
                          <a:solidFill>
                            <a:srgbClr val="1F2421"/>
                          </a:solidFill>
                          <a:latin typeface="Arial"/>
                        </a:rPr>
                        <a:t>High</a:t>
                      </a:r>
                    </a:p>
                  </a:txBody>
                  <a:tcPr marL="45720" marR="45720" marT="13716" marB="13716" anchor="ctr">
                    <a:solidFill>
                      <a:srgbClr val="FFFFFF"/>
                    </a:solidFill>
                  </a:tcPr>
                </a:tc>
                <a:tc>
                  <a:txBody>
                    <a:bodyPr/>
                    <a:lstStyle/>
                    <a:p>
                      <a:pPr algn="l"/>
                      <a:r>
                        <a:rPr sz="850" b="0">
                          <a:solidFill>
                            <a:srgbClr val="1F2421"/>
                          </a:solidFill>
                          <a:latin typeface="Arial"/>
                        </a:rPr>
                        <a:t>Dell, Supermicro, Lenovo, Cisco, Arista, ODMs</a:t>
                      </a:r>
                    </a:p>
                  </a:txBody>
                  <a:tcPr marL="45720" marR="45720" marT="13716" marB="13716" anchor="ctr">
                    <a:solidFill>
                      <a:srgbClr val="FFFFFF"/>
                    </a:solidFill>
                  </a:tcPr>
                </a:tc>
              </a:tr>
              <a:tr h="329184">
                <a:tc>
                  <a:txBody>
                    <a:bodyPr/>
                    <a:lstStyle/>
                    <a:p>
                      <a:pPr algn="l"/>
                      <a:r>
                        <a:rPr sz="850" b="1">
                          <a:solidFill>
                            <a:srgbClr val="1F2421"/>
                          </a:solidFill>
                          <a:latin typeface="Arial"/>
                        </a:rPr>
                        <a:t>Suppliers</a:t>
                      </a:r>
                    </a:p>
                  </a:txBody>
                  <a:tcPr marL="45720" marR="45720" marT="13716" marB="13716" anchor="ctr">
                    <a:solidFill>
                      <a:srgbClr val="ECF2ED"/>
                    </a:solidFill>
                  </a:tcPr>
                </a:tc>
                <a:tc>
                  <a:txBody>
                    <a:bodyPr/>
                    <a:lstStyle/>
                    <a:p>
                      <a:pPr algn="l"/>
                      <a:r>
                        <a:rPr sz="850" b="0">
                          <a:solidFill>
                            <a:srgbClr val="1F2421"/>
                          </a:solidFill>
                          <a:latin typeface="Arial"/>
                        </a:rPr>
                        <a:t>High</a:t>
                      </a:r>
                    </a:p>
                  </a:txBody>
                  <a:tcPr marL="45720" marR="45720" marT="13716" marB="13716" anchor="ctr">
                    <a:solidFill>
                      <a:srgbClr val="ECF2ED"/>
                    </a:solidFill>
                  </a:tcPr>
                </a:tc>
                <a:tc>
                  <a:txBody>
                    <a:bodyPr/>
                    <a:lstStyle/>
                    <a:p>
                      <a:pPr algn="l"/>
                      <a:r>
                        <a:rPr sz="850" b="0">
                          <a:solidFill>
                            <a:srgbClr val="1F2421"/>
                          </a:solidFill>
                          <a:latin typeface="Arial"/>
                        </a:rPr>
                        <a:t>NVIDIA, memory triopoly, Broadcom</a:t>
                      </a:r>
                    </a:p>
                  </a:txBody>
                  <a:tcPr marL="45720" marR="45720" marT="13716" marB="13716" anchor="ctr">
                    <a:solidFill>
                      <a:srgbClr val="ECF2ED"/>
                    </a:solidFill>
                  </a:tcPr>
                </a:tc>
              </a:tr>
              <a:tr h="329184">
                <a:tc>
                  <a:txBody>
                    <a:bodyPr/>
                    <a:lstStyle/>
                    <a:p>
                      <a:pPr algn="l"/>
                      <a:r>
                        <a:rPr sz="850" b="1">
                          <a:solidFill>
                            <a:srgbClr val="1F2421"/>
                          </a:solidFill>
                          <a:latin typeface="Arial"/>
                        </a:rPr>
                        <a:t>Buyers</a:t>
                      </a:r>
                    </a:p>
                  </a:txBody>
                  <a:tcPr marL="45720" marR="45720" marT="13716" marB="13716" anchor="ctr">
                    <a:solidFill>
                      <a:srgbClr val="FFFFFF"/>
                    </a:solidFill>
                  </a:tcPr>
                </a:tc>
                <a:tc>
                  <a:txBody>
                    <a:bodyPr/>
                    <a:lstStyle/>
                    <a:p>
                      <a:pPr algn="l"/>
                      <a:r>
                        <a:rPr sz="850" b="0">
                          <a:solidFill>
                            <a:srgbClr val="1F2421"/>
                          </a:solidFill>
                          <a:latin typeface="Arial"/>
                        </a:rPr>
                        <a:t>Med–high</a:t>
                      </a:r>
                    </a:p>
                  </a:txBody>
                  <a:tcPr marL="45720" marR="45720" marT="13716" marB="13716" anchor="ctr">
                    <a:solidFill>
                      <a:srgbClr val="FFFFFF"/>
                    </a:solidFill>
                  </a:tcPr>
                </a:tc>
                <a:tc>
                  <a:txBody>
                    <a:bodyPr/>
                    <a:lstStyle/>
                    <a:p>
                      <a:pPr algn="l"/>
                      <a:r>
                        <a:rPr sz="850" b="0">
                          <a:solidFill>
                            <a:srgbClr val="1F2421"/>
                          </a:solidFill>
                          <a:latin typeface="Arial"/>
                        </a:rPr>
                        <a:t>Hyperscalers and sovereigns buy in huge lots</a:t>
                      </a:r>
                    </a:p>
                  </a:txBody>
                  <a:tcPr marL="45720" marR="45720" marT="13716" marB="13716" anchor="ctr">
                    <a:solidFill>
                      <a:srgbClr val="FFFFFF"/>
                    </a:solidFill>
                  </a:tcPr>
                </a:tc>
              </a:tr>
              <a:tr h="329184">
                <a:tc>
                  <a:txBody>
                    <a:bodyPr/>
                    <a:lstStyle/>
                    <a:p>
                      <a:pPr algn="l"/>
                      <a:r>
                        <a:rPr sz="850" b="1">
                          <a:solidFill>
                            <a:srgbClr val="1F2421"/>
                          </a:solidFill>
                          <a:latin typeface="Arial"/>
                        </a:rPr>
                        <a:t>Substitutes</a:t>
                      </a:r>
                    </a:p>
                  </a:txBody>
                  <a:tcPr marL="45720" marR="45720" marT="13716" marB="13716" anchor="ctr">
                    <a:solidFill>
                      <a:srgbClr val="ECF2ED"/>
                    </a:solidFill>
                  </a:tcPr>
                </a:tc>
                <a:tc>
                  <a:txBody>
                    <a:bodyPr/>
                    <a:lstStyle/>
                    <a:p>
                      <a:pPr algn="l"/>
                      <a:r>
                        <a:rPr sz="850" b="0">
                          <a:solidFill>
                            <a:srgbClr val="1F2421"/>
                          </a:solidFill>
                          <a:latin typeface="Arial"/>
                        </a:rPr>
                        <a:t>Medium</a:t>
                      </a:r>
                    </a:p>
                  </a:txBody>
                  <a:tcPr marL="45720" marR="45720" marT="13716" marB="13716" anchor="ctr">
                    <a:solidFill>
                      <a:srgbClr val="ECF2ED"/>
                    </a:solidFill>
                  </a:tcPr>
                </a:tc>
                <a:tc>
                  <a:txBody>
                    <a:bodyPr/>
                    <a:lstStyle/>
                    <a:p>
                      <a:pPr algn="l"/>
                      <a:r>
                        <a:rPr sz="850" b="0">
                          <a:solidFill>
                            <a:srgbClr val="1F2421"/>
                          </a:solidFill>
                          <a:latin typeface="Arial"/>
                        </a:rPr>
                        <a:t>Public-cloud IaaS vs on-prem inference</a:t>
                      </a:r>
                    </a:p>
                  </a:txBody>
                  <a:tcPr marL="45720" marR="45720" marT="13716" marB="13716" anchor="ctr">
                    <a:solidFill>
                      <a:srgbClr val="ECF2ED"/>
                    </a:solidFill>
                  </a:tcPr>
                </a:tc>
              </a:tr>
              <a:tr h="329184">
                <a:tc>
                  <a:txBody>
                    <a:bodyPr/>
                    <a:lstStyle/>
                    <a:p>
                      <a:pPr algn="l"/>
                      <a:r>
                        <a:rPr sz="850" b="1">
                          <a:solidFill>
                            <a:srgbClr val="1F2421"/>
                          </a:solidFill>
                          <a:latin typeface="Arial"/>
                        </a:rPr>
                        <a:t>New entrants</a:t>
                      </a:r>
                    </a:p>
                  </a:txBody>
                  <a:tcPr marL="45720" marR="45720" marT="13716" marB="13716" anchor="ctr">
                    <a:solidFill>
                      <a:srgbClr val="FFFFFF"/>
                    </a:solidFill>
                  </a:tcPr>
                </a:tc>
                <a:tc>
                  <a:txBody>
                    <a:bodyPr/>
                    <a:lstStyle/>
                    <a:p>
                      <a:pPr algn="l"/>
                      <a:r>
                        <a:rPr sz="850" b="0">
                          <a:solidFill>
                            <a:srgbClr val="1F2421"/>
                          </a:solidFill>
                          <a:latin typeface="Arial"/>
                        </a:rPr>
                        <a:t>Low–med</a:t>
                      </a:r>
                    </a:p>
                  </a:txBody>
                  <a:tcPr marL="45720" marR="45720" marT="13716" marB="13716" anchor="ctr">
                    <a:solidFill>
                      <a:srgbClr val="FFFFFF"/>
                    </a:solidFill>
                  </a:tcPr>
                </a:tc>
                <a:tc>
                  <a:txBody>
                    <a:bodyPr/>
                    <a:lstStyle/>
                    <a:p>
                      <a:pPr algn="l"/>
                      <a:r>
                        <a:rPr sz="850" b="0">
                          <a:solidFill>
                            <a:srgbClr val="1F2421"/>
                          </a:solidFill>
                          <a:latin typeface="Arial"/>
                        </a:rPr>
                        <a:t>Scale and supply allocation barriers</a:t>
                      </a:r>
                    </a:p>
                  </a:txBody>
                  <a:tcPr marL="45720" marR="45720" marT="13716" marB="13716" anchor="ctr">
                    <a:solidFill>
                      <a:srgbClr val="FFFFFF"/>
                    </a:solidFill>
                  </a:tcPr>
                </a:tc>
              </a:tr>
            </a:tbl>
          </a:graphicData>
        </a:graphic>
      </p:graphicFrame>
      <p:graphicFrame>
        <p:nvGraphicFramePr>
          <p:cNvPr id="9" name="Table 134"/>
          <p:cNvGraphicFramePr>
            <a:graphicFrameLocks noGrp="1"/>
          </p:cNvGraphicFramePr>
          <p:nvPr/>
        </p:nvGraphicFramePr>
        <p:xfrm>
          <a:off x="4800600" y="1463040"/>
          <a:ext cx="4023360" cy="1645920"/>
        </p:xfrm>
        <a:graphic>
          <a:graphicData uri="http://schemas.openxmlformats.org/drawingml/2006/table">
            <a:tbl>
              <a:tblPr firstRow="1">
                <a:tableStyleId>{5C22544A-7EE6-4342-B048-85BDC9FD1C3A}</a:tableStyleId>
              </a:tblPr>
              <a:tblGrid>
                <a:gridCol w="1737360"/>
                <a:gridCol w="1005840"/>
                <a:gridCol w="1280160"/>
              </a:tblGrid>
              <a:tr h="329184">
                <a:tc>
                  <a:txBody>
                    <a:bodyPr/>
                    <a:lstStyle/>
                    <a:p>
                      <a:pPr algn="l"/>
                      <a:r>
                        <a:rPr sz="900" b="1">
                          <a:solidFill>
                            <a:srgbClr val="FCC80D"/>
                          </a:solidFill>
                          <a:latin typeface="Arial"/>
                        </a:rPr>
                        <a:t>Business</a:t>
                      </a:r>
                    </a:p>
                  </a:txBody>
                  <a:tcPr marL="45720" marR="45720" marT="13716" marB="13716" anchor="ctr">
                    <a:solidFill>
                      <a:srgbClr val="135927"/>
                    </a:solidFill>
                  </a:tcPr>
                </a:tc>
                <a:tc>
                  <a:txBody>
                    <a:bodyPr/>
                    <a:lstStyle/>
                    <a:p>
                      <a:pPr algn="l"/>
                      <a:r>
                        <a:rPr sz="900" b="1">
                          <a:solidFill>
                            <a:srgbClr val="FCC80D"/>
                          </a:solidFill>
                          <a:latin typeface="Arial"/>
                        </a:rPr>
                        <a:t>Moat</a:t>
                      </a:r>
                    </a:p>
                  </a:txBody>
                  <a:tcPr marL="45720" marR="45720" marT="13716" marB="13716" anchor="ctr">
                    <a:solidFill>
                      <a:srgbClr val="135927"/>
                    </a:solidFill>
                  </a:tcPr>
                </a:tc>
                <a:tc>
                  <a:txBody>
                    <a:bodyPr/>
                    <a:lstStyle/>
                    <a:p>
                      <a:pPr algn="l"/>
                      <a:r>
                        <a:rPr sz="900" b="1">
                          <a:solidFill>
                            <a:srgbClr val="FCC80D"/>
                          </a:solidFill>
                          <a:latin typeface="Arial"/>
                        </a:rPr>
                        <a:t>Durability</a:t>
                      </a:r>
                    </a:p>
                  </a:txBody>
                  <a:tcPr marL="45720" marR="45720" marT="13716" marB="13716" anchor="ctr">
                    <a:solidFill>
                      <a:srgbClr val="135927"/>
                    </a:solidFill>
                  </a:tcPr>
                </a:tc>
              </a:tr>
              <a:tr h="329184">
                <a:tc>
                  <a:txBody>
                    <a:bodyPr/>
                    <a:lstStyle/>
                    <a:p>
                      <a:pPr algn="l"/>
                      <a:r>
                        <a:rPr sz="900" b="1">
                          <a:solidFill>
                            <a:srgbClr val="1F2421"/>
                          </a:solidFill>
                          <a:latin typeface="Arial"/>
                        </a:rPr>
                        <a:t>Networking</a:t>
                      </a:r>
                    </a:p>
                  </a:txBody>
                  <a:tcPr marL="45720" marR="45720" marT="13716" marB="13716" anchor="ctr">
                    <a:solidFill>
                      <a:srgbClr val="FFFFFF"/>
                    </a:solidFill>
                  </a:tcPr>
                </a:tc>
                <a:tc>
                  <a:txBody>
                    <a:bodyPr/>
                    <a:lstStyle/>
                    <a:p>
                      <a:pPr algn="l"/>
                      <a:r>
                        <a:rPr sz="900" b="0">
                          <a:solidFill>
                            <a:srgbClr val="1F2421"/>
                          </a:solidFill>
                          <a:latin typeface="Arial"/>
                        </a:rPr>
                        <a:t>Narrow</a:t>
                      </a:r>
                    </a:p>
                  </a:txBody>
                  <a:tcPr marL="45720" marR="45720" marT="13716" marB="13716" anchor="ctr">
                    <a:solidFill>
                      <a:srgbClr val="FFFFFF"/>
                    </a:solidFill>
                  </a:tcPr>
                </a:tc>
                <a:tc>
                  <a:txBody>
                    <a:bodyPr/>
                    <a:lstStyle/>
                    <a:p>
                      <a:pPr algn="l"/>
                      <a:r>
                        <a:rPr sz="900" b="0">
                          <a:solidFill>
                            <a:srgbClr val="1F2421"/>
                          </a:solidFill>
                          <a:latin typeface="Arial"/>
                        </a:rPr>
                        <a:t>Moderate</a:t>
                      </a:r>
                    </a:p>
                  </a:txBody>
                  <a:tcPr marL="45720" marR="45720" marT="13716" marB="13716" anchor="ctr">
                    <a:solidFill>
                      <a:srgbClr val="FFFFFF"/>
                    </a:solidFill>
                  </a:tcPr>
                </a:tc>
              </a:tr>
              <a:tr h="329184">
                <a:tc>
                  <a:txBody>
                    <a:bodyPr/>
                    <a:lstStyle/>
                    <a:p>
                      <a:pPr algn="l"/>
                      <a:r>
                        <a:rPr sz="900" b="1">
                          <a:solidFill>
                            <a:srgbClr val="1F2421"/>
                          </a:solidFill>
                          <a:latin typeface="Arial"/>
                        </a:rPr>
                        <a:t>Storage / GreenLake</a:t>
                      </a:r>
                    </a:p>
                  </a:txBody>
                  <a:tcPr marL="45720" marR="45720" marT="13716" marB="13716" anchor="ctr">
                    <a:solidFill>
                      <a:srgbClr val="ECF2ED"/>
                    </a:solidFill>
                  </a:tcPr>
                </a:tc>
                <a:tc>
                  <a:txBody>
                    <a:bodyPr/>
                    <a:lstStyle/>
                    <a:p>
                      <a:pPr algn="l"/>
                      <a:r>
                        <a:rPr sz="900" b="0">
                          <a:solidFill>
                            <a:srgbClr val="1F2421"/>
                          </a:solidFill>
                          <a:latin typeface="Arial"/>
                        </a:rPr>
                        <a:t>Narrow</a:t>
                      </a:r>
                    </a:p>
                  </a:txBody>
                  <a:tcPr marL="45720" marR="45720" marT="13716" marB="13716" anchor="ctr">
                    <a:solidFill>
                      <a:srgbClr val="ECF2ED"/>
                    </a:solidFill>
                  </a:tcPr>
                </a:tc>
                <a:tc>
                  <a:txBody>
                    <a:bodyPr/>
                    <a:lstStyle/>
                    <a:p>
                      <a:pPr algn="l"/>
                      <a:r>
                        <a:rPr sz="900" b="0">
                          <a:solidFill>
                            <a:srgbClr val="1F2421"/>
                          </a:solidFill>
                          <a:latin typeface="Arial"/>
                        </a:rPr>
                        <a:t>Moderate</a:t>
                      </a:r>
                    </a:p>
                  </a:txBody>
                  <a:tcPr marL="45720" marR="45720" marT="13716" marB="13716" anchor="ctr">
                    <a:solidFill>
                      <a:srgbClr val="ECF2ED"/>
                    </a:solidFill>
                  </a:tcPr>
                </a:tc>
              </a:tr>
              <a:tr h="329184">
                <a:tc>
                  <a:txBody>
                    <a:bodyPr/>
                    <a:lstStyle/>
                    <a:p>
                      <a:pPr algn="l"/>
                      <a:r>
                        <a:rPr sz="900" b="1">
                          <a:solidFill>
                            <a:srgbClr val="1F2421"/>
                          </a:solidFill>
                          <a:latin typeface="Arial"/>
                        </a:rPr>
                        <a:t>Servers &amp; AI systems</a:t>
                      </a:r>
                    </a:p>
                  </a:txBody>
                  <a:tcPr marL="45720" marR="45720" marT="13716" marB="13716" anchor="ctr">
                    <a:solidFill>
                      <a:srgbClr val="FFFFFF"/>
                    </a:solidFill>
                  </a:tcPr>
                </a:tc>
                <a:tc>
                  <a:txBody>
                    <a:bodyPr/>
                    <a:lstStyle/>
                    <a:p>
                      <a:pPr algn="l"/>
                      <a:r>
                        <a:rPr sz="900" b="0">
                          <a:solidFill>
                            <a:srgbClr val="1F2421"/>
                          </a:solidFill>
                          <a:latin typeface="Arial"/>
                        </a:rPr>
                        <a:t>None</a:t>
                      </a:r>
                    </a:p>
                  </a:txBody>
                  <a:tcPr marL="45720" marR="45720" marT="13716" marB="13716" anchor="ctr">
                    <a:solidFill>
                      <a:srgbClr val="FFFFFF"/>
                    </a:solidFill>
                  </a:tcPr>
                </a:tc>
                <a:tc>
                  <a:txBody>
                    <a:bodyPr/>
                    <a:lstStyle/>
                    <a:p>
                      <a:pPr algn="l"/>
                      <a:r>
                        <a:rPr sz="900" b="0">
                          <a:solidFill>
                            <a:srgbClr val="1F2421"/>
                          </a:solidFill>
                          <a:latin typeface="Arial"/>
                        </a:rPr>
                        <a:t>Low</a:t>
                      </a:r>
                    </a:p>
                  </a:txBody>
                  <a:tcPr marL="45720" marR="45720" marT="13716" marB="13716" anchor="ctr">
                    <a:solidFill>
                      <a:srgbClr val="FFFFFF"/>
                    </a:solidFill>
                  </a:tcPr>
                </a:tc>
              </a:tr>
              <a:tr h="329184">
                <a:tc>
                  <a:txBody>
                    <a:bodyPr/>
                    <a:lstStyle/>
                    <a:p>
                      <a:pPr algn="l"/>
                      <a:r>
                        <a:rPr sz="900" b="1">
                          <a:solidFill>
                            <a:srgbClr val="1F2421"/>
                          </a:solidFill>
                          <a:latin typeface="Arial"/>
                        </a:rPr>
                        <a:t>Financial Services</a:t>
                      </a:r>
                    </a:p>
                  </a:txBody>
                  <a:tcPr marL="45720" marR="45720" marT="13716" marB="13716" anchor="ctr">
                    <a:solidFill>
                      <a:srgbClr val="ECF2ED"/>
                    </a:solidFill>
                  </a:tcPr>
                </a:tc>
                <a:tc>
                  <a:txBody>
                    <a:bodyPr/>
                    <a:lstStyle/>
                    <a:p>
                      <a:pPr algn="l"/>
                      <a:r>
                        <a:rPr sz="900" b="0">
                          <a:solidFill>
                            <a:srgbClr val="1F2421"/>
                          </a:solidFill>
                          <a:latin typeface="Arial"/>
                        </a:rPr>
                        <a:t>None</a:t>
                      </a:r>
                    </a:p>
                  </a:txBody>
                  <a:tcPr marL="45720" marR="45720" marT="13716" marB="13716" anchor="ctr">
                    <a:solidFill>
                      <a:srgbClr val="ECF2ED"/>
                    </a:solidFill>
                  </a:tcPr>
                </a:tc>
                <a:tc>
                  <a:txBody>
                    <a:bodyPr/>
                    <a:lstStyle/>
                    <a:p>
                      <a:pPr algn="l"/>
                      <a:r>
                        <a:rPr sz="900" b="0">
                          <a:solidFill>
                            <a:srgbClr val="1F2421"/>
                          </a:solidFill>
                          <a:latin typeface="Arial"/>
                        </a:rPr>
                        <a:t>Cyclical</a:t>
                      </a:r>
                    </a:p>
                  </a:txBody>
                  <a:tcPr marL="45720" marR="45720" marT="13716" marB="13716" anchor="ctr">
                    <a:solidFill>
                      <a:srgbClr val="ECF2ED"/>
                    </a:solidFill>
                  </a:tcPr>
                </a:tc>
              </a:tr>
            </a:tbl>
          </a:graphicData>
        </a:graphic>
      </p:graphicFrame>
      <p:sp>
        <p:nvSpPr>
          <p:cNvPr id="10" name="TextBox 135"/>
          <p:cNvSpPr txBox="1"/>
          <p:nvPr/>
        </p:nvSpPr>
        <p:spPr>
          <a:xfrm>
            <a:off x="4800600" y="3200400"/>
            <a:ext cx="4023360" cy="1508760"/>
          </a:xfrm>
          <a:prstGeom prst="rect">
            <a:avLst/>
          </a:prstGeom>
          <a:noFill/>
        </p:spPr>
        <p:txBody>
          <a:bodyPr wrap="square" anchor="t" lIns="36576" rIns="36576" tIns="18288" bIns="18288">
            <a:spAutoFit/>
          </a:bodyPr>
          <a:lstStyle/>
          <a:p>
            <a:pPr algn="l">
              <a:spcAft>
                <a:spcPts val="700"/>
              </a:spcAft>
            </a:pPr>
            <a:r>
              <a:rPr sz="600">
                <a:solidFill>
                  <a:srgbClr val="135927"/>
                </a:solidFill>
                <a:latin typeface="Arial"/>
              </a:rPr>
              <a:t>■  </a:t>
            </a:r>
            <a:r>
              <a:rPr sz="1000" b="1">
                <a:solidFill>
                  <a:srgbClr val="1F2421"/>
                </a:solidFill>
                <a:latin typeface="Arial"/>
              </a:rPr>
              <a:t>Technology edge:</a:t>
            </a:r>
            <a:r>
              <a:rPr sz="1000" b="0">
                <a:solidFill>
                  <a:srgbClr val="1F2421"/>
                </a:solidFill>
                <a:latin typeface="Arial"/>
              </a:rPr>
              <a:t> Express 5 routing silicon, liquid cooling (Cray heritage), on-prem inference (PCAI)</a:t>
            </a:r>
          </a:p>
          <a:p>
            <a:pPr algn="l">
              <a:spcAft>
                <a:spcPts val="700"/>
              </a:spcAft>
            </a:pPr>
            <a:r>
              <a:rPr sz="600">
                <a:solidFill>
                  <a:srgbClr val="135927"/>
                </a:solidFill>
                <a:latin typeface="Arial"/>
              </a:rPr>
              <a:t>■  </a:t>
            </a:r>
            <a:r>
              <a:rPr sz="1000" b="1">
                <a:solidFill>
                  <a:srgbClr val="1F2421"/>
                </a:solidFill>
                <a:latin typeface="Arial"/>
              </a:rPr>
              <a:t>Returns test:</a:t>
            </a:r>
            <a:r>
              <a:rPr sz="1000" b="0">
                <a:solidFill>
                  <a:srgbClr val="1F2421"/>
                </a:solidFill>
                <a:latin typeface="Arial"/>
              </a:rPr>
              <a:t> adj. ROIC averaged 8.1% FY20–25, below WACC; 11.2% TTM</a:t>
            </a:r>
          </a:p>
        </p:txBody>
      </p:sp>
      <p:sp>
        <p:nvSpPr>
          <p:cNvPr id="11" name="TextBox 136"/>
          <p:cNvSpPr txBox="1"/>
          <p:nvPr/>
        </p:nvSpPr>
        <p:spPr>
          <a:xfrm>
            <a:off x="320040" y="2971800"/>
            <a:ext cx="4297680" cy="1737360"/>
          </a:xfrm>
          <a:prstGeom prst="rect">
            <a:avLst/>
          </a:prstGeom>
          <a:noFill/>
        </p:spPr>
        <p:txBody>
          <a:bodyPr wrap="square" anchor="t" lIns="36576" rIns="36576" tIns="18288" bIns="18288">
            <a:spAutoFit/>
          </a:bodyPr>
          <a:lstStyle/>
          <a:p>
            <a:pPr algn="l">
              <a:spcAft>
                <a:spcPts val="300"/>
              </a:spcAft>
            </a:pPr>
            <a:r>
              <a:rPr sz="600">
                <a:solidFill>
                  <a:srgbClr val="135927"/>
                </a:solidFill>
                <a:latin typeface="Arial"/>
              </a:rPr>
              <a:t>■  </a:t>
            </a:r>
            <a:r>
              <a:rPr sz="1000" b="0">
                <a:solidFill>
                  <a:srgbClr val="1F2421"/>
                </a:solidFill>
                <a:latin typeface="Arial"/>
              </a:rPr>
              <a:t>Juniper is a deliberate move toward the part of the stack with pricing power; servers remain a scale business losing share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Leverage is back near 1.8x; the preferred drives most dilution</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APPENDIX · BALANCE SHEET, CAPITAL STRUCTURE &amp; DILUTION</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HPE 10-K FY2025, 10-Q Q3 FY26, Q3 FY26 call; Bona Fide analysis.</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23</a:t>
            </a:r>
          </a:p>
        </p:txBody>
      </p:sp>
      <p:pic>
        <p:nvPicPr>
          <p:cNvPr id="8" name="Picture 133" descr="cap_dilution_bridge_deck.png"/>
          <p:cNvPicPr>
            <a:picLocks noChangeAspect="1"/>
          </p:cNvPicPr>
          <p:nvPr/>
        </p:nvPicPr>
        <p:blipFill>
          <a:blip r:embed="rId3"/>
          <a:stretch>
            <a:fillRect/>
          </a:stretch>
        </p:blipFill>
        <p:spPr>
          <a:xfrm>
            <a:off x="274320" y="1463040"/>
            <a:ext cx="4297680" cy="1377524"/>
          </a:xfrm>
          <a:prstGeom prst="rect">
            <a:avLst/>
          </a:prstGeom>
        </p:spPr>
      </p:pic>
      <p:pic>
        <p:nvPicPr>
          <p:cNvPr id="9" name="Picture 134" descr="cap_debt_maturities_deck.png"/>
          <p:cNvPicPr>
            <a:picLocks noChangeAspect="1"/>
          </p:cNvPicPr>
          <p:nvPr/>
        </p:nvPicPr>
        <p:blipFill>
          <a:blip r:embed="rId4"/>
          <a:stretch>
            <a:fillRect/>
          </a:stretch>
        </p:blipFill>
        <p:spPr>
          <a:xfrm>
            <a:off x="4617720" y="1463040"/>
            <a:ext cx="4206240" cy="1365440"/>
          </a:xfrm>
          <a:prstGeom prst="rect">
            <a:avLst/>
          </a:prstGeom>
        </p:spPr>
      </p:pic>
      <p:sp>
        <p:nvSpPr>
          <p:cNvPr id="10" name="Rectangle 135"/>
          <p:cNvSpPr/>
          <p:nvPr/>
        </p:nvSpPr>
        <p:spPr>
          <a:xfrm>
            <a:off x="320040" y="3611880"/>
            <a:ext cx="2039112" cy="1051560"/>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36"/>
          <p:cNvSpPr txBox="1"/>
          <p:nvPr/>
        </p:nvSpPr>
        <p:spPr>
          <a:xfrm>
            <a:off x="393192" y="3657600"/>
            <a:ext cx="1892807"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GROSS DEBT / CASH</a:t>
            </a:r>
          </a:p>
        </p:txBody>
      </p:sp>
      <p:sp>
        <p:nvSpPr>
          <p:cNvPr id="12" name="TextBox 137"/>
          <p:cNvSpPr txBox="1"/>
          <p:nvPr/>
        </p:nvSpPr>
        <p:spPr>
          <a:xfrm>
            <a:off x="393192" y="3831336"/>
            <a:ext cx="1892807" cy="384048"/>
          </a:xfrm>
          <a:prstGeom prst="rect">
            <a:avLst/>
          </a:prstGeom>
          <a:noFill/>
        </p:spPr>
        <p:txBody>
          <a:bodyPr wrap="square" anchor="t" lIns="36576" rIns="36576" tIns="18288" bIns="18288">
            <a:spAutoFit/>
          </a:bodyPr>
          <a:lstStyle/>
          <a:p>
            <a:pPr algn="l">
              <a:spcAft>
                <a:spcPts val="300"/>
              </a:spcAft>
            </a:pPr>
            <a:r>
              <a:rPr sz="1600" b="1">
                <a:solidFill>
                  <a:srgbClr val="135927"/>
                </a:solidFill>
                <a:latin typeface="Twentieth Century"/>
              </a:rPr>
              <a:t>$20.2bn / $6.2bn</a:t>
            </a:r>
          </a:p>
        </p:txBody>
      </p:sp>
      <p:sp>
        <p:nvSpPr>
          <p:cNvPr id="13" name="TextBox 138"/>
          <p:cNvSpPr txBox="1"/>
          <p:nvPr/>
        </p:nvSpPr>
        <p:spPr>
          <a:xfrm>
            <a:off x="393192" y="4389120"/>
            <a:ext cx="1892807"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~$11.5bn funds FS receivables (est.)</a:t>
            </a:r>
          </a:p>
        </p:txBody>
      </p:sp>
      <p:sp>
        <p:nvSpPr>
          <p:cNvPr id="14" name="Rectangle 139"/>
          <p:cNvSpPr/>
          <p:nvPr/>
        </p:nvSpPr>
        <p:spPr>
          <a:xfrm>
            <a:off x="2450592" y="3611880"/>
            <a:ext cx="2039112" cy="1051560"/>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0"/>
          <p:cNvSpPr txBox="1"/>
          <p:nvPr/>
        </p:nvSpPr>
        <p:spPr>
          <a:xfrm>
            <a:off x="2523744" y="3657600"/>
            <a:ext cx="1892807"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FULLY DILUTED SHARES</a:t>
            </a:r>
          </a:p>
        </p:txBody>
      </p:sp>
      <p:sp>
        <p:nvSpPr>
          <p:cNvPr id="16" name="TextBox 141"/>
          <p:cNvSpPr txBox="1"/>
          <p:nvPr/>
        </p:nvSpPr>
        <p:spPr>
          <a:xfrm>
            <a:off x="2523744" y="3831336"/>
            <a:ext cx="1892807" cy="384048"/>
          </a:xfrm>
          <a:prstGeom prst="rect">
            <a:avLst/>
          </a:prstGeom>
          <a:noFill/>
        </p:spPr>
        <p:txBody>
          <a:bodyPr wrap="square" anchor="t" lIns="36576" rIns="36576" tIns="18288" bIns="18288">
            <a:spAutoFit/>
          </a:bodyPr>
          <a:lstStyle/>
          <a:p>
            <a:pPr algn="l">
              <a:spcAft>
                <a:spcPts val="300"/>
              </a:spcAft>
            </a:pPr>
            <a:r>
              <a:rPr sz="1600" b="1">
                <a:solidFill>
                  <a:srgbClr val="135927"/>
                </a:solidFill>
                <a:latin typeface="Twentieth Century"/>
              </a:rPr>
              <a:t>1,445m</a:t>
            </a:r>
          </a:p>
        </p:txBody>
      </p:sp>
      <p:sp>
        <p:nvSpPr>
          <p:cNvPr id="17" name="TextBox 142"/>
          <p:cNvSpPr txBox="1"/>
          <p:nvPr/>
        </p:nvSpPr>
        <p:spPr>
          <a:xfrm>
            <a:off x="2523744" y="4389120"/>
            <a:ext cx="1892807"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+8.8% vs basic</a:t>
            </a:r>
          </a:p>
        </p:txBody>
      </p:sp>
      <p:sp>
        <p:nvSpPr>
          <p:cNvPr id="18" name="Rectangle 143"/>
          <p:cNvSpPr/>
          <p:nvPr/>
        </p:nvSpPr>
        <p:spPr>
          <a:xfrm>
            <a:off x="4581144" y="3611880"/>
            <a:ext cx="2039112" cy="1051560"/>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44"/>
          <p:cNvSpPr txBox="1"/>
          <p:nvPr/>
        </p:nvSpPr>
        <p:spPr>
          <a:xfrm>
            <a:off x="4654296" y="3657600"/>
            <a:ext cx="1892807"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LIQUIDITY</a:t>
            </a:r>
          </a:p>
        </p:txBody>
      </p:sp>
      <p:sp>
        <p:nvSpPr>
          <p:cNvPr id="20" name="TextBox 145"/>
          <p:cNvSpPr txBox="1"/>
          <p:nvPr/>
        </p:nvSpPr>
        <p:spPr>
          <a:xfrm>
            <a:off x="4654296" y="3831336"/>
            <a:ext cx="1892807" cy="384048"/>
          </a:xfrm>
          <a:prstGeom prst="rect">
            <a:avLst/>
          </a:prstGeom>
          <a:noFill/>
        </p:spPr>
        <p:txBody>
          <a:bodyPr wrap="square" anchor="t" lIns="36576" rIns="36576" tIns="18288" bIns="18288">
            <a:spAutoFit/>
          </a:bodyPr>
          <a:lstStyle/>
          <a:p>
            <a:pPr algn="l">
              <a:spcAft>
                <a:spcPts val="300"/>
              </a:spcAft>
            </a:pPr>
            <a:r>
              <a:rPr sz="1600" b="1">
                <a:solidFill>
                  <a:srgbClr val="135927"/>
                </a:solidFill>
                <a:latin typeface="Twentieth Century"/>
              </a:rPr>
              <a:t>$11.5bn</a:t>
            </a:r>
          </a:p>
        </p:txBody>
      </p:sp>
      <p:sp>
        <p:nvSpPr>
          <p:cNvPr id="21" name="TextBox 146"/>
          <p:cNvSpPr txBox="1"/>
          <p:nvPr/>
        </p:nvSpPr>
        <p:spPr>
          <a:xfrm>
            <a:off x="4654296" y="4389120"/>
            <a:ext cx="1892807"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cash + undrawn revolver</a:t>
            </a:r>
          </a:p>
        </p:txBody>
      </p:sp>
      <p:sp>
        <p:nvSpPr>
          <p:cNvPr id="22" name="Rectangle 147"/>
          <p:cNvSpPr/>
          <p:nvPr/>
        </p:nvSpPr>
        <p:spPr>
          <a:xfrm>
            <a:off x="6711696" y="3611880"/>
            <a:ext cx="2039112" cy="1051560"/>
          </a:xfrm>
          <a:prstGeom prst="rect">
            <a:avLst/>
          </a:prstGeom>
          <a:solidFill>
            <a:srgbClr val="EC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148"/>
          <p:cNvSpPr txBox="1"/>
          <p:nvPr/>
        </p:nvSpPr>
        <p:spPr>
          <a:xfrm>
            <a:off x="6784848" y="3657600"/>
            <a:ext cx="1892807" cy="201168"/>
          </a:xfrm>
          <a:prstGeom prst="rect">
            <a:avLst/>
          </a:prstGeom>
          <a:noFill/>
        </p:spPr>
        <p:txBody>
          <a:bodyPr wrap="square" anchor="t" lIns="36576" rIns="36576" tIns="18288" bIns="18288">
            <a:spAutoFit/>
          </a:bodyPr>
          <a:lstStyle/>
          <a:p>
            <a:pPr algn="l">
              <a:spcAft>
                <a:spcPts val="300"/>
              </a:spcAft>
            </a:pPr>
            <a:r>
              <a:rPr sz="750" b="1">
                <a:solidFill>
                  <a:srgbClr val="595959"/>
                </a:solidFill>
                <a:latin typeface="Arial"/>
              </a:rPr>
              <a:t>BUYBACK AUTHORISATION</a:t>
            </a:r>
          </a:p>
        </p:txBody>
      </p:sp>
      <p:sp>
        <p:nvSpPr>
          <p:cNvPr id="24" name="TextBox 149"/>
          <p:cNvSpPr txBox="1"/>
          <p:nvPr/>
        </p:nvSpPr>
        <p:spPr>
          <a:xfrm>
            <a:off x="6784848" y="3831336"/>
            <a:ext cx="1892807" cy="384048"/>
          </a:xfrm>
          <a:prstGeom prst="rect">
            <a:avLst/>
          </a:prstGeom>
          <a:noFill/>
        </p:spPr>
        <p:txBody>
          <a:bodyPr wrap="square" anchor="t" lIns="36576" rIns="36576" tIns="18288" bIns="18288">
            <a:spAutoFit/>
          </a:bodyPr>
          <a:lstStyle/>
          <a:p>
            <a:pPr algn="l">
              <a:spcAft>
                <a:spcPts val="300"/>
              </a:spcAft>
            </a:pPr>
            <a:r>
              <a:rPr sz="1600" b="1">
                <a:solidFill>
                  <a:srgbClr val="135927"/>
                </a:solidFill>
                <a:latin typeface="Twentieth Century"/>
              </a:rPr>
              <a:t>$3.2bn</a:t>
            </a:r>
          </a:p>
        </p:txBody>
      </p:sp>
      <p:sp>
        <p:nvSpPr>
          <p:cNvPr id="25" name="TextBox 150"/>
          <p:cNvSpPr txBox="1"/>
          <p:nvPr/>
        </p:nvSpPr>
        <p:spPr>
          <a:xfrm>
            <a:off x="6784848" y="4389120"/>
            <a:ext cx="1892807" cy="256032"/>
          </a:xfrm>
          <a:prstGeom prst="rect">
            <a:avLst/>
          </a:prstGeom>
          <a:noFill/>
        </p:spPr>
        <p:txBody>
          <a:bodyPr wrap="square" anchor="t" lIns="36576" rIns="36576" tIns="18288" bIns="18288">
            <a:spAutoFit/>
          </a:bodyPr>
          <a:lstStyle/>
          <a:p>
            <a:pPr algn="l">
              <a:spcAft>
                <a:spcPts val="300"/>
              </a:spcAft>
            </a:pPr>
            <a:r>
              <a:rPr sz="750" b="0">
                <a:solidFill>
                  <a:srgbClr val="595959"/>
                </a:solidFill>
                <a:latin typeface="Arial"/>
              </a:rPr>
              <a:t>≥75% of FCF returned from Q4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Consolidating below $63–64 resistance after a blow-off</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APPENDIX · PRICE ACTION &amp; TECHNICALS</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Yahoo Finance daily data; ta library indicators; Bona Fide analysis. 14-Sep intraday move is after the valuation date.</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24</a:t>
            </a:r>
          </a:p>
        </p:txBody>
      </p:sp>
      <p:pic>
        <p:nvPicPr>
          <p:cNvPr id="8" name="Picture 133" descr="stock_2y_technicals_deck.png"/>
          <p:cNvPicPr>
            <a:picLocks noChangeAspect="1"/>
          </p:cNvPicPr>
          <p:nvPr/>
        </p:nvPicPr>
        <p:blipFill>
          <a:blip r:embed="rId3"/>
          <a:stretch>
            <a:fillRect/>
          </a:stretch>
        </p:blipFill>
        <p:spPr>
          <a:xfrm>
            <a:off x="274320" y="914400"/>
            <a:ext cx="4754880" cy="3090672"/>
          </a:xfrm>
          <a:prstGeom prst="rect">
            <a:avLst/>
          </a:prstGeom>
        </p:spPr>
      </p:pic>
      <p:sp>
        <p:nvSpPr>
          <p:cNvPr id="9" name="TextBox 134"/>
          <p:cNvSpPr txBox="1"/>
          <p:nvPr/>
        </p:nvSpPr>
        <p:spPr>
          <a:xfrm>
            <a:off x="5166360" y="1463040"/>
            <a:ext cx="3657600" cy="3246120"/>
          </a:xfrm>
          <a:prstGeom prst="rect">
            <a:avLst/>
          </a:prstGeom>
          <a:noFill/>
        </p:spPr>
        <p:txBody>
          <a:bodyPr wrap="square" anchor="t" lIns="36576" rIns="36576" tIns="18288" bIns="18288">
            <a:spAutoFit/>
          </a:bodyPr>
          <a:lstStyle/>
          <a:p>
            <a:pPr algn="l">
              <a:spcAft>
                <a:spcPts val="400"/>
              </a:spcAft>
            </a:pPr>
            <a:r>
              <a:rPr sz="540">
                <a:solidFill>
                  <a:srgbClr val="135927"/>
                </a:solidFill>
                <a:latin typeface="Arial"/>
              </a:rPr>
              <a:t>■  </a:t>
            </a:r>
            <a:r>
              <a:rPr sz="900" b="1">
                <a:solidFill>
                  <a:srgbClr val="1F2421"/>
                </a:solidFill>
                <a:latin typeface="Arial"/>
              </a:rPr>
              <a:t>Breakout:</a:t>
            </a:r>
            <a:r>
              <a:rPr sz="900" b="0">
                <a:solidFill>
                  <a:srgbClr val="1F2421"/>
                </a:solidFill>
                <a:latin typeface="Arial"/>
              </a:rPr>
              <a:t> first close above the $26.25 decade high on 17-Apr-2026, after a golden cross (15-Apr)</a:t>
            </a:r>
          </a:p>
          <a:p>
            <a:pPr algn="l">
              <a:spcAft>
                <a:spcPts val="400"/>
              </a:spcAft>
            </a:pPr>
            <a:r>
              <a:rPr sz="540">
                <a:solidFill>
                  <a:srgbClr val="135927"/>
                </a:solidFill>
                <a:latin typeface="Arial"/>
              </a:rPr>
              <a:t>■  </a:t>
            </a:r>
            <a:r>
              <a:rPr sz="900" b="1">
                <a:solidFill>
                  <a:srgbClr val="1F2421"/>
                </a:solidFill>
                <a:latin typeface="Arial"/>
              </a:rPr>
              <a:t>Blow-off:</a:t>
            </a:r>
            <a:r>
              <a:rPr sz="900" b="0">
                <a:solidFill>
                  <a:srgbClr val="1F2421"/>
                </a:solidFill>
                <a:latin typeface="Arial"/>
              </a:rPr>
              <a:t> 2-Jun opened +34%, closed +19.5% on 7x volume; −26% drawdown into July</a:t>
            </a:r>
          </a:p>
          <a:p>
            <a:pPr algn="l">
              <a:spcAft>
                <a:spcPts val="400"/>
              </a:spcAft>
            </a:pPr>
            <a:r>
              <a:rPr sz="540">
                <a:solidFill>
                  <a:srgbClr val="135927"/>
                </a:solidFill>
                <a:latin typeface="Arial"/>
              </a:rPr>
              <a:t>■  </a:t>
            </a:r>
            <a:r>
              <a:rPr sz="900" b="1">
                <a:solidFill>
                  <a:srgbClr val="1F2421"/>
                </a:solidFill>
                <a:latin typeface="Arial"/>
              </a:rPr>
              <a:t>Range:</a:t>
            </a:r>
            <a:r>
              <a:rPr sz="900" b="0">
                <a:solidFill>
                  <a:srgbClr val="1F2421"/>
                </a:solidFill>
                <a:latin typeface="Arial"/>
              </a:rPr>
              <a:t> highs $64.25 / $63.44, lows $40.72 / $45.70 — contracting; bandwidth 85% → 18%</a:t>
            </a:r>
          </a:p>
          <a:p>
            <a:pPr algn="l">
              <a:spcAft>
                <a:spcPts val="400"/>
              </a:spcAft>
            </a:pPr>
            <a:r>
              <a:rPr sz="540">
                <a:solidFill>
                  <a:srgbClr val="135927"/>
                </a:solidFill>
                <a:latin typeface="Arial"/>
              </a:rPr>
              <a:t>■  </a:t>
            </a:r>
            <a:r>
              <a:rPr sz="900" b="1">
                <a:solidFill>
                  <a:srgbClr val="1F2421"/>
                </a:solidFill>
                <a:latin typeface="Arial"/>
              </a:rPr>
              <a:t>Test:</a:t>
            </a:r>
            <a:r>
              <a:rPr sz="900" b="0">
                <a:solidFill>
                  <a:srgbClr val="1F2421"/>
                </a:solidFill>
                <a:latin typeface="Arial"/>
              </a:rPr>
              <a:t> record close $62.09 on 2x volume, still below intraday highs; ~9% lower intraday on 14-Sep after a downgrade</a:t>
            </a:r>
          </a:p>
          <a:p>
            <a:pPr algn="l">
              <a:spcAft>
                <a:spcPts val="400"/>
              </a:spcAft>
            </a:pPr>
            <a:r>
              <a:rPr sz="540">
                <a:solidFill>
                  <a:srgbClr val="135927"/>
                </a:solidFill>
                <a:latin typeface="Arial"/>
              </a:rPr>
              <a:t>■  </a:t>
            </a:r>
            <a:r>
              <a:rPr sz="900" b="1">
                <a:solidFill>
                  <a:srgbClr val="1F2421"/>
                </a:solidFill>
                <a:latin typeface="Arial"/>
              </a:rPr>
              <a:t>Read:</a:t>
            </a:r>
            <a:r>
              <a:rPr sz="900" b="0">
                <a:solidFill>
                  <a:srgbClr val="1F2421"/>
                </a:solidFill>
                <a:latin typeface="Arial"/>
              </a:rPr>
              <a:t> trend up but 83% above 200-day SMA; support ~$51 (50-day) and $41–46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Earnings, not deals, move the stock; next test is 30-Sep</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APPENDIX · MAJOR STOCK MOVES &amp; CATALYSTS</a:t>
            </a:r>
          </a:p>
        </p:txBody>
      </p:sp>
      <p:sp>
        <p:nvSpPr>
          <p:cNvPr id="6"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SEC 8-K filing dates; Yahoo Finance; news sources in report/source_log.csv; Bona Fide analysis.</a:t>
            </a:r>
          </a:p>
        </p:txBody>
      </p:sp>
      <p:sp>
        <p:nvSpPr>
          <p:cNvPr id="7"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25</a:t>
            </a:r>
          </a:p>
        </p:txBody>
      </p:sp>
      <p:pic>
        <p:nvPicPr>
          <p:cNvPr id="8" name="Picture 133" descr="events_excess_returns_deck.png"/>
          <p:cNvPicPr>
            <a:picLocks noChangeAspect="1"/>
          </p:cNvPicPr>
          <p:nvPr/>
        </p:nvPicPr>
        <p:blipFill>
          <a:blip r:embed="rId3"/>
          <a:stretch>
            <a:fillRect/>
          </a:stretch>
        </p:blipFill>
        <p:spPr>
          <a:xfrm>
            <a:off x="284618" y="914400"/>
            <a:ext cx="5008602" cy="3794760"/>
          </a:xfrm>
          <a:prstGeom prst="rect">
            <a:avLst/>
          </a:prstGeom>
        </p:spPr>
      </p:pic>
      <p:sp>
        <p:nvSpPr>
          <p:cNvPr id="9" name="TextBox 134"/>
          <p:cNvSpPr txBox="1"/>
          <p:nvPr/>
        </p:nvSpPr>
        <p:spPr>
          <a:xfrm>
            <a:off x="5440680" y="1463040"/>
            <a:ext cx="338328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UPCOMING CATALYSTS</a:t>
            </a:r>
          </a:p>
        </p:txBody>
      </p:sp>
      <p:sp>
        <p:nvSpPr>
          <p:cNvPr id="10" name="TextBox 135"/>
          <p:cNvSpPr txBox="1"/>
          <p:nvPr/>
        </p:nvSpPr>
        <p:spPr>
          <a:xfrm>
            <a:off x="5440680" y="1719072"/>
            <a:ext cx="3383280" cy="1463040"/>
          </a:xfrm>
          <a:prstGeom prst="rect">
            <a:avLst/>
          </a:prstGeom>
          <a:noFill/>
        </p:spPr>
        <p:txBody>
          <a:bodyPr wrap="square" anchor="t" lIns="36576" rIns="36576" tIns="18288" bIns="18288">
            <a:spAutoFit/>
          </a:bodyPr>
          <a:lstStyle/>
          <a:p>
            <a:pPr algn="l">
              <a:spcAft>
                <a:spcPts val="300"/>
              </a:spcAft>
            </a:pPr>
            <a:r>
              <a:rPr sz="540">
                <a:solidFill>
                  <a:srgbClr val="135927"/>
                </a:solidFill>
                <a:latin typeface="Arial"/>
              </a:rPr>
              <a:t>■  </a:t>
            </a:r>
            <a:r>
              <a:rPr sz="900" b="1">
                <a:solidFill>
                  <a:srgbClr val="1F2421"/>
                </a:solidFill>
                <a:latin typeface="Arial"/>
              </a:rPr>
              <a:t>30-Sep-2026:</a:t>
            </a:r>
            <a:r>
              <a:rPr sz="900" b="0">
                <a:solidFill>
                  <a:srgbClr val="1F2421"/>
                </a:solidFill>
                <a:latin typeface="Arial"/>
              </a:rPr>
              <a:t> Networking Investor Day</a:t>
            </a:r>
          </a:p>
          <a:p>
            <a:pPr algn="l">
              <a:spcAft>
                <a:spcPts val="300"/>
              </a:spcAft>
            </a:pPr>
            <a:r>
              <a:rPr sz="540">
                <a:solidFill>
                  <a:srgbClr val="135927"/>
                </a:solidFill>
                <a:latin typeface="Arial"/>
              </a:rPr>
              <a:t>■  </a:t>
            </a:r>
            <a:r>
              <a:rPr sz="900" b="1">
                <a:solidFill>
                  <a:srgbClr val="1F2421"/>
                </a:solidFill>
                <a:latin typeface="Arial"/>
              </a:rPr>
              <a:t>Early Dec-2026:</a:t>
            </a:r>
            <a:r>
              <a:rPr sz="900" b="0">
                <a:solidFill>
                  <a:srgbClr val="1F2421"/>
                </a:solidFill>
                <a:latin typeface="Arial"/>
              </a:rPr>
              <a:t> Q4 FY26 results and full FY27 guidance</a:t>
            </a:r>
          </a:p>
          <a:p>
            <a:pPr algn="l">
              <a:spcAft>
                <a:spcPts val="300"/>
              </a:spcAft>
            </a:pPr>
            <a:r>
              <a:rPr sz="540">
                <a:solidFill>
                  <a:srgbClr val="135927"/>
                </a:solidFill>
                <a:latin typeface="Arial"/>
              </a:rPr>
              <a:t>■  </a:t>
            </a:r>
            <a:r>
              <a:rPr sz="900" b="1">
                <a:solidFill>
                  <a:srgbClr val="1F2421"/>
                </a:solidFill>
                <a:latin typeface="Arial"/>
              </a:rPr>
              <a:t>Ongoing:</a:t>
            </a:r>
            <a:r>
              <a:rPr sz="900" b="0">
                <a:solidFill>
                  <a:srgbClr val="1F2421"/>
                </a:solidFill>
                <a:latin typeface="Arial"/>
              </a:rPr>
              <a:t> Oracle warrant milestones; Helios ramp</a:t>
            </a:r>
          </a:p>
          <a:p>
            <a:pPr algn="l">
              <a:spcAft>
                <a:spcPts val="300"/>
              </a:spcAft>
            </a:pPr>
            <a:r>
              <a:rPr sz="540">
                <a:solidFill>
                  <a:srgbClr val="135927"/>
                </a:solidFill>
                <a:latin typeface="Arial"/>
              </a:rPr>
              <a:t>■  </a:t>
            </a:r>
            <a:r>
              <a:rPr sz="900" b="1">
                <a:solidFill>
                  <a:srgbClr val="1F2421"/>
                </a:solidFill>
                <a:latin typeface="Arial"/>
              </a:rPr>
              <a:t>~1-Sep-2027:</a:t>
            </a:r>
            <a:r>
              <a:rPr sz="900" b="0">
                <a:solidFill>
                  <a:srgbClr val="1F2421"/>
                </a:solidFill>
                <a:latin typeface="Arial"/>
              </a:rPr>
              <a:t> mandatory preferred conversion</a:t>
            </a:r>
          </a:p>
        </p:txBody>
      </p:sp>
      <p:sp>
        <p:nvSpPr>
          <p:cNvPr id="11" name="TextBox 136"/>
          <p:cNvSpPr txBox="1"/>
          <p:nvPr/>
        </p:nvSpPr>
        <p:spPr>
          <a:xfrm>
            <a:off x="5440680" y="3246120"/>
            <a:ext cx="338328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FILINGS &amp; OWNERSHIP</a:t>
            </a:r>
          </a:p>
        </p:txBody>
      </p:sp>
      <p:sp>
        <p:nvSpPr>
          <p:cNvPr id="12" name="TextBox 137"/>
          <p:cNvSpPr txBox="1"/>
          <p:nvPr/>
        </p:nvSpPr>
        <p:spPr>
          <a:xfrm>
            <a:off x="5440680" y="3502152"/>
            <a:ext cx="3383280" cy="1188720"/>
          </a:xfrm>
          <a:prstGeom prst="rect">
            <a:avLst/>
          </a:prstGeom>
          <a:noFill/>
        </p:spPr>
        <p:txBody>
          <a:bodyPr wrap="square" anchor="t" lIns="36576" rIns="36576" tIns="18288" bIns="18288">
            <a:spAutoFit/>
          </a:bodyPr>
          <a:lstStyle/>
          <a:p>
            <a:pPr algn="l">
              <a:spcAft>
                <a:spcPts val="300"/>
              </a:spcAft>
            </a:pPr>
            <a:r>
              <a:rPr sz="540">
                <a:solidFill>
                  <a:srgbClr val="135927"/>
                </a:solidFill>
                <a:latin typeface="Arial"/>
              </a:rPr>
              <a:t>■  </a:t>
            </a:r>
            <a:r>
              <a:rPr sz="900" b="0">
                <a:solidFill>
                  <a:srgbClr val="1F2421"/>
                </a:solidFill>
                <a:latin typeface="Arial"/>
              </a:rPr>
              <a:t>31 insider open-market sales ($49m, 12m), no purchases</a:t>
            </a:r>
          </a:p>
          <a:p>
            <a:pPr algn="l">
              <a:spcAft>
                <a:spcPts val="300"/>
              </a:spcAft>
            </a:pPr>
            <a:r>
              <a:rPr sz="540">
                <a:solidFill>
                  <a:srgbClr val="135927"/>
                </a:solidFill>
                <a:latin typeface="Arial"/>
              </a:rPr>
              <a:t>■  </a:t>
            </a:r>
            <a:r>
              <a:rPr sz="900" b="0">
                <a:solidFill>
                  <a:srgbClr val="1F2421"/>
                </a:solidFill>
                <a:latin typeface="Arial"/>
              </a:rPr>
              <a:t>Elliott raised stake 18% in Q2 (2.4%); board seat</a:t>
            </a:r>
          </a:p>
          <a:p>
            <a:pPr algn="l">
              <a:spcAft>
                <a:spcPts val="300"/>
              </a:spcAft>
            </a:pPr>
            <a:r>
              <a:rPr sz="540">
                <a:solidFill>
                  <a:srgbClr val="135927"/>
                </a:solidFill>
                <a:latin typeface="Arial"/>
              </a:rPr>
              <a:t>■  </a:t>
            </a:r>
            <a:r>
              <a:rPr sz="900" b="0">
                <a:solidFill>
                  <a:srgbClr val="1F2421"/>
                </a:solidFill>
                <a:latin typeface="Arial"/>
              </a:rPr>
              <a:t>Average earnings day-0 move 6.7% vs 1.6% on a normal 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Juniper sign-off: governance, not unique hardware</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APPENDIX · PRACTITIONER Q&amp;A · QUESTION 1</a:t>
            </a:r>
          </a:p>
        </p:txBody>
      </p:sp>
      <p:sp>
        <p:nvSpPr>
          <p:cNvPr id="6"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Revised question: </a:t>
            </a:r>
            <a:r>
              <a:rPr sz="1050" b="0" i="1">
                <a:solidFill>
                  <a:srgbClr val="1F2421"/>
                </a:solidFill>
                <a:latin typeface="Arial"/>
              </a:rPr>
              <a:t>our data-centre SOP requires notifying designated personnel whenever Juniper equipment is installed. Does that imply Juniper devices have technical, security or compliance characteristics that other network equipment lacks?</a:t>
            </a:r>
          </a:p>
        </p:txBody>
      </p:sp>
      <p:sp>
        <p:nvSpPr>
          <p:cNvPr id="7" name="TextBox 135"/>
          <p:cNvSpPr txBox="1"/>
          <p:nvPr/>
        </p:nvSpPr>
        <p:spPr>
          <a:xfrm>
            <a:off x="320040" y="1463040"/>
            <a:ext cx="448056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SHORT ANSWER</a:t>
            </a:r>
          </a:p>
        </p:txBody>
      </p:sp>
      <p:sp>
        <p:nvSpPr>
          <p:cNvPr id="8" name="TextBox 136"/>
          <p:cNvSpPr txBox="1"/>
          <p:nvPr/>
        </p:nvSpPr>
        <p:spPr>
          <a:xfrm>
            <a:off x="320040" y="1682496"/>
            <a:ext cx="4480560" cy="566928"/>
          </a:xfrm>
          <a:prstGeom prst="rect">
            <a:avLst/>
          </a:prstGeom>
          <a:noFill/>
        </p:spPr>
        <p:txBody>
          <a:bodyPr wrap="square" anchor="t" lIns="36576" rIns="36576" tIns="18288" bIns="18288">
            <a:spAutoFit/>
          </a:bodyPr>
          <a:lstStyle/>
          <a:p>
            <a:pPr algn="l">
              <a:spcAft>
                <a:spcPts val="500"/>
              </a:spcAft>
            </a:pPr>
            <a:r>
              <a:rPr sz="950" b="0">
                <a:solidFill>
                  <a:srgbClr val="1F2421"/>
                </a:solidFill>
                <a:latin typeface="Arial"/>
              </a:rPr>
              <a:t>Not unique hardware. Junos OS and Juniper silicon are proprietary, but the devices do the same job as Cisco or Arista kit. A named step signals how the equipment is governed.</a:t>
            </a:r>
          </a:p>
        </p:txBody>
      </p:sp>
      <p:sp>
        <p:nvSpPr>
          <p:cNvPr id="9" name="TextBox 135"/>
          <p:cNvSpPr txBox="1"/>
          <p:nvPr/>
        </p:nvSpPr>
        <p:spPr>
          <a:xfrm>
            <a:off x="320040" y="2286000"/>
            <a:ext cx="448056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LIKELY REASONS THE SOP NAMES JUNIPER</a:t>
            </a:r>
          </a:p>
        </p:txBody>
      </p:sp>
      <p:sp>
        <p:nvSpPr>
          <p:cNvPr id="10" name="TextBox 136"/>
          <p:cNvSpPr txBox="1"/>
          <p:nvPr/>
        </p:nvSpPr>
        <p:spPr>
          <a:xfrm>
            <a:off x="320040" y="2514600"/>
            <a:ext cx="4480560" cy="2194560"/>
          </a:xfrm>
          <a:prstGeom prst="rect">
            <a:avLst/>
          </a:prstGeom>
          <a:noFill/>
        </p:spPr>
        <p:txBody>
          <a:bodyPr wrap="square" anchor="t" lIns="36576" rIns="36576" tIns="18288" bIns="18288">
            <a:spAutoFit/>
          </a:bodyPr>
          <a:lstStyle/>
          <a:p>
            <a:pPr algn="l">
              <a:spcAft>
                <a:spcPts val="300"/>
              </a:spcAft>
            </a:pPr>
            <a:r>
              <a:rPr sz="600">
                <a:solidFill>
                  <a:srgbClr val="135927"/>
                </a:solidFill>
                <a:latin typeface="Arial"/>
              </a:rPr>
              <a:t>■  </a:t>
            </a:r>
            <a:r>
              <a:rPr sz="900" b="1">
                <a:solidFill>
                  <a:srgbClr val="1F2421"/>
                </a:solidFill>
                <a:latin typeface="Arial"/>
              </a:rPr>
              <a:t>Role: </a:t>
            </a:r>
            <a:r>
              <a:rPr sz="900" b="0">
                <a:solidFill>
                  <a:srgbClr val="1F2421"/>
                </a:solidFill>
                <a:latin typeface="Arial"/>
              </a:rPr>
              <a:t>core routers (MX, PTX) and perimeter firewalls (SRX) have a large blast radius; any vendor’s would need change control.</a:t>
            </a:r>
          </a:p>
          <a:p>
            <a:pPr algn="l">
              <a:spcAft>
                <a:spcPts val="300"/>
              </a:spcAft>
            </a:pPr>
            <a:r>
              <a:rPr sz="600">
                <a:solidFill>
                  <a:srgbClr val="135927"/>
                </a:solidFill>
                <a:latin typeface="Arial"/>
              </a:rPr>
              <a:t>■  </a:t>
            </a:r>
            <a:r>
              <a:rPr sz="900" b="1">
                <a:solidFill>
                  <a:srgbClr val="1F2421"/>
                </a:solidFill>
                <a:latin typeface="Arial"/>
              </a:rPr>
              <a:t>Security history: </a:t>
            </a:r>
            <a:r>
              <a:rPr sz="900" b="0">
                <a:solidFill>
                  <a:srgbClr val="1F2421"/>
                </a:solidFill>
                <a:latin typeface="Arial"/>
              </a:rPr>
              <a:t>unauthorised code in ScreenOS (2015), exploited J-Web flaws (2023), China-nexus backdoors on end-of-life MX routers (2025).</a:t>
            </a:r>
          </a:p>
          <a:p>
            <a:pPr algn="l">
              <a:spcAft>
                <a:spcPts val="300"/>
              </a:spcAft>
            </a:pPr>
            <a:r>
              <a:rPr sz="600">
                <a:solidFill>
                  <a:srgbClr val="135927"/>
                </a:solidFill>
                <a:latin typeface="Arial"/>
              </a:rPr>
              <a:t>■  </a:t>
            </a:r>
            <a:r>
              <a:rPr sz="900" b="1">
                <a:solidFill>
                  <a:srgbClr val="1F2421"/>
                </a:solidFill>
                <a:latin typeface="Arial"/>
              </a:rPr>
              <a:t>Speed: </a:t>
            </a:r>
            <a:r>
              <a:rPr sz="900" b="0">
                <a:solidFill>
                  <a:srgbClr val="1F2421"/>
                </a:solidFill>
                <a:latin typeface="Arial"/>
              </a:rPr>
              <a:t>a live inventory lets security teams meet CISA deadlines: 3 weeks for CVE-2025-21590, 4 days for the 2023 J-Web flaws.</a:t>
            </a:r>
          </a:p>
          <a:p>
            <a:pPr algn="l">
              <a:spcAft>
                <a:spcPts val="300"/>
              </a:spcAft>
            </a:pPr>
            <a:r>
              <a:rPr sz="600">
                <a:solidFill>
                  <a:srgbClr val="135927"/>
                </a:solidFill>
                <a:latin typeface="Arial"/>
              </a:rPr>
              <a:t>■  </a:t>
            </a:r>
            <a:r>
              <a:rPr sz="900" b="1">
                <a:solidFill>
                  <a:srgbClr val="1F2421"/>
                </a:solidFill>
                <a:latin typeface="Arial"/>
              </a:rPr>
              <a:t>Cloud management: </a:t>
            </a:r>
            <a:r>
              <a:rPr sz="900" b="0">
                <a:solidFill>
                  <a:srgbClr val="1F2421"/>
                </a:solidFill>
                <a:latin typeface="Arial"/>
              </a:rPr>
              <a:t>Mist-managed devices connect out to the Mist cloud (TCP 443/2200), so firewall and data reviews apply.</a:t>
            </a:r>
          </a:p>
          <a:p>
            <a:pPr algn="l">
              <a:spcAft>
                <a:spcPts val="300"/>
              </a:spcAft>
            </a:pPr>
            <a:r>
              <a:rPr sz="600">
                <a:solidFill>
                  <a:srgbClr val="135927"/>
                </a:solidFill>
                <a:latin typeface="Arial"/>
              </a:rPr>
              <a:t>■  </a:t>
            </a:r>
            <a:r>
              <a:rPr sz="900" b="1">
                <a:solidFill>
                  <a:srgbClr val="1F2421"/>
                </a:solidFill>
                <a:latin typeface="Arial"/>
              </a:rPr>
              <a:t>Ownership: </a:t>
            </a:r>
            <a:r>
              <a:rPr sz="900" b="0">
                <a:solidFill>
                  <a:srgbClr val="1F2421"/>
                </a:solidFill>
                <a:latin typeface="Arial"/>
              </a:rPr>
              <a:t>HPE has owned Juniper since 2-Jul-2025; support contracts and supplier records are changing.</a:t>
            </a:r>
          </a:p>
          <a:p>
            <a:pPr algn="l">
              <a:spcAft>
                <a:spcPts val="300"/>
              </a:spcAft>
            </a:pPr>
            <a:r>
              <a:rPr sz="600">
                <a:solidFill>
                  <a:srgbClr val="135927"/>
                </a:solidFill>
                <a:latin typeface="Arial"/>
              </a:rPr>
              <a:t>■  </a:t>
            </a:r>
            <a:r>
              <a:rPr sz="900" b="1">
                <a:solidFill>
                  <a:srgbClr val="1F2421"/>
                </a:solidFill>
                <a:latin typeface="Arial"/>
              </a:rPr>
              <a:t>Not a legal ban: </a:t>
            </a:r>
            <a:r>
              <a:rPr sz="900" b="0">
                <a:solidFill>
                  <a:srgbClr val="1F2421"/>
                </a:solidFill>
                <a:latin typeface="Arial"/>
              </a:rPr>
              <a:t>Juniper is not on the U.S. Covered List (Huawei, ZTE, Hytera, Hikvision, Dahua).</a:t>
            </a:r>
          </a:p>
        </p:txBody>
      </p:sp>
      <p:sp>
        <p:nvSpPr>
          <p:cNvPr id="11" name="TextBox 135"/>
          <p:cNvSpPr txBox="1"/>
          <p:nvPr/>
        </p:nvSpPr>
        <p:spPr>
          <a:xfrm>
            <a:off x="4983480" y="1463040"/>
            <a:ext cx="384048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CISA KNOWN EXPLOITED VULNERABILITIES, ENTRIES BY VENDOR</a:t>
            </a:r>
          </a:p>
        </p:txBody>
      </p:sp>
      <p:pic>
        <p:nvPicPr>
          <p:cNvPr id="12" name="Picture 137" descr="qa_kev_vendor_exposure_deck.png"/>
          <p:cNvPicPr>
            <a:picLocks noChangeAspect="1"/>
          </p:cNvPicPr>
          <p:nvPr/>
        </p:nvPicPr>
        <p:blipFill>
          <a:blip r:embed="rId3"/>
          <a:stretch>
            <a:fillRect/>
          </a:stretch>
        </p:blipFill>
        <p:spPr>
          <a:xfrm>
            <a:off x="5029200" y="1700784"/>
            <a:ext cx="3749039" cy="2176526"/>
          </a:xfrm>
          <a:prstGeom prst="rect">
            <a:avLst/>
          </a:prstGeom>
        </p:spPr>
      </p:pic>
      <p:sp>
        <p:nvSpPr>
          <p:cNvPr id="13" name="TextBox 135"/>
          <p:cNvSpPr txBox="1"/>
          <p:nvPr/>
        </p:nvSpPr>
        <p:spPr>
          <a:xfrm>
            <a:off x="4983480" y="3923030"/>
            <a:ext cx="384048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WHAT IT MEANS FOR HPE</a:t>
            </a:r>
          </a:p>
        </p:txBody>
      </p:sp>
      <p:sp>
        <p:nvSpPr>
          <p:cNvPr id="14" name="TextBox 136"/>
          <p:cNvSpPr txBox="1"/>
          <p:nvPr/>
        </p:nvSpPr>
        <p:spPr>
          <a:xfrm>
            <a:off x="4983480" y="4151630"/>
            <a:ext cx="3840480" cy="822960"/>
          </a:xfrm>
          <a:prstGeom prst="rect">
            <a:avLst/>
          </a:prstGeom>
          <a:noFill/>
        </p:spPr>
        <p:txBody>
          <a:bodyPr wrap="square" anchor="t" lIns="36576" rIns="36576" tIns="18288" bIns="18288">
            <a:spAutoFit/>
          </a:bodyPr>
          <a:lstStyle/>
          <a:p>
            <a:pPr algn="l">
              <a:spcAft>
                <a:spcPts val="200"/>
              </a:spcAft>
            </a:pPr>
            <a:r>
              <a:rPr sz="600">
                <a:solidFill>
                  <a:srgbClr val="135927"/>
                </a:solidFill>
                <a:latin typeface="Arial"/>
              </a:rPr>
              <a:t>■  </a:t>
            </a:r>
            <a:r>
              <a:rPr sz="850" b="1">
                <a:solidFill>
                  <a:srgbClr val="1F2421"/>
                </a:solidFill>
                <a:latin typeface="Arial"/>
              </a:rPr>
              <a:t>Not an outlier: </a:t>
            </a:r>
            <a:r>
              <a:rPr sz="850" b="0">
                <a:solidFill>
                  <a:srgbClr val="1F2421"/>
                </a:solidFill>
                <a:latin typeface="Arial"/>
              </a:rPr>
              <a:t>8 entries, 8th of 13 vendors (Cisco 97). The risk is a new implant-style incident while HPE cross-sells Juniper.</a:t>
            </a:r>
          </a:p>
          <a:p>
            <a:pPr algn="l">
              <a:spcAft>
                <a:spcPts val="200"/>
              </a:spcAft>
            </a:pPr>
            <a:r>
              <a:rPr sz="600">
                <a:solidFill>
                  <a:srgbClr val="135927"/>
                </a:solidFill>
                <a:latin typeface="Arial"/>
              </a:rPr>
              <a:t>■  </a:t>
            </a:r>
            <a:r>
              <a:rPr sz="850" b="1">
                <a:solidFill>
                  <a:srgbClr val="1F2421"/>
                </a:solidFill>
                <a:latin typeface="Arial"/>
              </a:rPr>
              <a:t>Refresh driver: </a:t>
            </a:r>
            <a:r>
              <a:rPr sz="850" b="0">
                <a:solidFill>
                  <a:srgbClr val="1F2421"/>
                </a:solidFill>
                <a:latin typeface="Arial"/>
              </a:rPr>
              <a:t>end-of-life routers were the target; replacing them is Networking revenue. Watch KEV additions and the 30-Sep Investor Day.</a:t>
            </a:r>
          </a:p>
        </p:txBody>
      </p:sp>
      <p:sp>
        <p:nvSpPr>
          <p:cNvPr id="15"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CISA KEV catalogue 2026.09.11 (not normalised for installed base); Mandiant; Checkoway et al.; Juniper docs; DOJ; FCC. Report section 12.</a:t>
            </a:r>
          </a:p>
        </p:txBody>
      </p:sp>
      <p:sp>
        <p:nvSpPr>
          <p:cNvPr id="16"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Three business models, three financial profiles</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APPENDIX · PRACTITIONER Q&amp;A · QUESTION 2 (1 OF 2)</a:t>
            </a:r>
          </a:p>
        </p:txBody>
      </p:sp>
      <p:sp>
        <p:nvSpPr>
          <p:cNvPr id="6"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Revised question: </a:t>
            </a:r>
            <a:r>
              <a:rPr sz="1050" b="0" i="1">
                <a:solidFill>
                  <a:srgbClr val="1F2421"/>
                </a:solidFill>
                <a:latin typeface="Arial"/>
              </a:rPr>
              <a:t>how do data-centre landlords, neoclouds and server providers differ financially, which gains most from AI spending, and should an investor own one model or several?</a:t>
            </a:r>
          </a:p>
        </p:txBody>
      </p:sp>
      <p:sp>
        <p:nvSpPr>
          <p:cNvPr id="7"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SEC XBRL; company 10-K, 10-Q, 20-F, 6-K and 8-K filings; Bona Fide analysis. TTM to Jun/Jul-2026. DLR operating income excludes real-estate gains; DLR backlog coverage estimated. Report section 12.</a:t>
            </a:r>
          </a:p>
        </p:txBody>
      </p:sp>
      <p:sp>
        <p:nvSpPr>
          <p:cNvPr id="8"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27</a:t>
            </a:r>
          </a:p>
        </p:txBody>
      </p:sp>
      <p:pic>
        <p:nvPicPr>
          <p:cNvPr id="9" name="Picture 133" descr="qa_q2_profile_deck.png"/>
          <p:cNvPicPr>
            <a:picLocks noChangeAspect="1"/>
          </p:cNvPicPr>
          <p:nvPr/>
        </p:nvPicPr>
        <p:blipFill>
          <a:blip r:embed="rId3"/>
          <a:stretch>
            <a:fillRect/>
          </a:stretch>
        </p:blipFill>
        <p:spPr>
          <a:xfrm>
            <a:off x="320040" y="1481328"/>
            <a:ext cx="5257800" cy="2640024"/>
          </a:xfrm>
          <a:prstGeom prst="rect">
            <a:avLst/>
          </a:prstGeom>
        </p:spPr>
      </p:pic>
      <p:sp>
        <p:nvSpPr>
          <p:cNvPr id="10" name="TextBox 135"/>
          <p:cNvSpPr txBox="1"/>
          <p:nvPr/>
        </p:nvSpPr>
        <p:spPr>
          <a:xfrm>
            <a:off x="5760720" y="1463040"/>
            <a:ext cx="306324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WHAT THE NUMBERS SAY</a:t>
            </a:r>
          </a:p>
        </p:txBody>
      </p:sp>
      <p:sp>
        <p:nvSpPr>
          <p:cNvPr id="11" name="TextBox 136"/>
          <p:cNvSpPr txBox="1"/>
          <p:nvPr/>
        </p:nvSpPr>
        <p:spPr>
          <a:xfrm>
            <a:off x="5760720" y="1700784"/>
            <a:ext cx="3063240" cy="3017520"/>
          </a:xfrm>
          <a:prstGeom prst="rect">
            <a:avLst/>
          </a:prstGeom>
          <a:noFill/>
        </p:spPr>
        <p:txBody>
          <a:bodyPr wrap="square" anchor="t" lIns="36576" rIns="36576" tIns="18288" bIns="18288">
            <a:spAutoFit/>
          </a:bodyPr>
          <a:lstStyle/>
          <a:p>
            <a:pPr algn="l">
              <a:spcAft>
                <a:spcPts val="300"/>
              </a:spcAft>
            </a:pPr>
            <a:r>
              <a:rPr sz="600">
                <a:solidFill>
                  <a:srgbClr val="135927"/>
                </a:solidFill>
                <a:latin typeface="Arial"/>
              </a:rPr>
              <a:t>■  </a:t>
            </a:r>
            <a:r>
              <a:rPr sz="850" b="1">
                <a:solidFill>
                  <a:srgbClr val="1F2421"/>
                </a:solidFill>
                <a:latin typeface="Arial"/>
              </a:rPr>
              <a:t>Landlords: </a:t>
            </a:r>
            <a:r>
              <a:rPr sz="850" b="0">
                <a:solidFill>
                  <a:srgbClr val="1F2421"/>
                </a:solidFill>
                <a:latin typeface="Arial"/>
              </a:rPr>
              <a:t>property and leases are 62% of Digital Realty's assets; depreciation cuts a 44% EBITDA margin to 14%; revenue has not fallen year on year since 2018.</a:t>
            </a:r>
          </a:p>
          <a:p>
            <a:pPr algn="l">
              <a:spcAft>
                <a:spcPts val="300"/>
              </a:spcAft>
            </a:pPr>
            <a:r>
              <a:rPr sz="600">
                <a:solidFill>
                  <a:srgbClr val="135927"/>
                </a:solidFill>
                <a:latin typeface="Arial"/>
              </a:rPr>
              <a:t>■  </a:t>
            </a:r>
            <a:r>
              <a:rPr sz="850" b="1">
                <a:solidFill>
                  <a:srgbClr val="1F2421"/>
                </a:solidFill>
                <a:latin typeface="Arial"/>
              </a:rPr>
              <a:t>Neoclouds: </a:t>
            </a:r>
            <a:r>
              <a:rPr sz="850" b="0">
                <a:solidFill>
                  <a:srgbClr val="1F2421"/>
                </a:solidFill>
                <a:latin typeface="Arial"/>
              </a:rPr>
              <a:t>capex 2.7–8.2x revenue; depreciation plus interest 67%–74% of revenue; backlog 14–28x revenue; free cash flow −435% to −127%.</a:t>
            </a:r>
          </a:p>
          <a:p>
            <a:pPr algn="l">
              <a:spcAft>
                <a:spcPts val="300"/>
              </a:spcAft>
            </a:pPr>
            <a:r>
              <a:rPr sz="600">
                <a:solidFill>
                  <a:srgbClr val="135927"/>
                </a:solidFill>
                <a:latin typeface="Arial"/>
              </a:rPr>
              <a:t>■  </a:t>
            </a:r>
            <a:r>
              <a:rPr sz="850" b="1">
                <a:solidFill>
                  <a:srgbClr val="1F2421"/>
                </a:solidFill>
                <a:latin typeface="Arial"/>
              </a:rPr>
              <a:t>Server providers: </a:t>
            </a:r>
            <a:r>
              <a:rPr sz="850" b="0">
                <a:solidFill>
                  <a:srgbClr val="1F2421"/>
                </a:solidFill>
                <a:latin typeface="Arial"/>
              </a:rPr>
              <a:t>capex ≤0.06x revenue, operating margins 6%–9%, positive free cash flow, backlog under a year of revenue.</a:t>
            </a:r>
          </a:p>
          <a:p>
            <a:pPr algn="l">
              <a:spcAft>
                <a:spcPts val="300"/>
              </a:spcAft>
            </a:pPr>
            <a:r>
              <a:rPr sz="600">
                <a:solidFill>
                  <a:srgbClr val="135927"/>
                </a:solidFill>
                <a:latin typeface="Arial"/>
              </a:rPr>
              <a:t>■  </a:t>
            </a:r>
            <a:r>
              <a:rPr sz="850" b="1">
                <a:solidFill>
                  <a:srgbClr val="1F2421"/>
                </a:solidFill>
                <a:latin typeface="Arial"/>
              </a:rPr>
              <a:t>Phase shift: </a:t>
            </a:r>
            <a:r>
              <a:rPr sz="850" b="0">
                <a:solidFill>
                  <a:srgbClr val="1F2421"/>
                </a:solidFill>
                <a:latin typeface="Arial"/>
              </a:rPr>
              <a:t>in a stylised 100 MW build, cash payback takes ~11.5 years for the landlord, ~3.2 for the neocloud (if GPUs stay contracted), two quarters for the server provider.</a:t>
            </a:r>
          </a:p>
          <a:p>
            <a:pPr algn="l">
              <a:spcAft>
                <a:spcPts val="300"/>
              </a:spcAft>
            </a:pPr>
            <a:r>
              <a:rPr sz="600">
                <a:solidFill>
                  <a:srgbClr val="135927"/>
                </a:solidFill>
                <a:latin typeface="Arial"/>
              </a:rPr>
              <a:t>■  </a:t>
            </a:r>
            <a:r>
              <a:rPr sz="850" b="1">
                <a:solidFill>
                  <a:srgbClr val="1F2421"/>
                </a:solidFill>
                <a:latin typeface="Arial"/>
              </a:rPr>
              <a:t>Useful life: </a:t>
            </a:r>
            <a:r>
              <a:rPr sz="850" b="0">
                <a:solidFill>
                  <a:srgbClr val="1F2421"/>
                </a:solidFill>
                <a:latin typeface="Arial"/>
              </a:rPr>
              <a:t>CoreWeave's operating margin is −3% on a 6-year GPU life, −26% on 4 years.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129;p30"/>
          <p:cNvSpPr txBox="1"/>
          <p:nvPr>
            <p:ph type="title"/>
          </p:nvPr>
        </p:nvSpPr>
        <p:spPr>
          <a:xfrm>
            <a:off x="0" y="405000"/>
            <a:ext cx="9144000" cy="378000"/>
          </a:xfrm>
          <a:prstGeom prst="rect">
            <a:avLst/>
          </a:prstGeom>
          <a:solidFill>
            <a:srgbClr val="135927"/>
          </a:solidFill>
          <a:ln>
            <a:noFill/>
          </a:ln>
        </p:spPr>
        <p:txBody>
          <a:bodyPr anchorCtr="0" anchor="ctr" bIns="19050" lIns="19050" spcFirstLastPara="1" rIns="19050" wrap="square" tIns="19050">
            <a:noAutofit/>
          </a:bodyPr>
          <a:lstStyle/>
          <a:p>
            <a:pPr indent="0" lvl="0" marL="0" rtl="0" algn="l">
              <a:lnSpc>
                <a:spcPct val="80000"/>
              </a:lnSpc>
              <a:spcBef>
                <a:spcPts val="0"/>
              </a:spcBef>
              <a:spcAft>
                <a:spcPts val="0"/>
              </a:spcAft>
              <a:buClr>
                <a:srgbClr val="FCC80D"/>
              </a:buClr>
              <a:buSzPts val="2900"/>
              <a:buFont typeface="Twentieth Century"/>
              <a:buNone/>
            </a:pPr>
            <a:r>
              <a:rPr b="0" i="0" lang="nl" sz="1900" u="none" cap="none" strike="noStrike">
                <a:solidFill>
                  <a:srgbClr val="FCC80D"/>
                </a:solidFill>
                <a:latin typeface="Twentieth Century"/>
                <a:ea typeface="Twentieth Century"/>
                <a:cs typeface="Twentieth Century"/>
                <a:sym typeface="Twentieth Century"/>
              </a:rPr>
              <a:t>  </a:t>
            </a:r>
            <a:r>
              <a:rPr b="0" lang="nl" sz="1900">
                <a:solidFill>
                  <a:srgbClr val="FCC80D"/>
                </a:solidFill>
                <a:latin typeface="Twentieth Century"/>
                <a:ea typeface="Twentieth Century"/>
                <a:cs typeface="Twentieth Century"/>
                <a:sym typeface="Twentieth Century"/>
              </a:rPr>
              <a:t>AI elasticity and the one-or-several question</a:t>
            </a:r>
            <a:endParaRPr/>
          </a:p>
        </p:txBody>
      </p:sp>
      <p:pic>
        <p:nvPicPr>
          <p:cNvPr descr="Schermafbeelding 2023-01-19 om 16.44.25.png" id="4" name="Google Shape;130;p30"/>
          <p:cNvPicPr preferRelativeResize="0"/>
          <p:nvPr/>
        </p:nvPicPr>
        <p:blipFill rotWithShape="1">
          <a:blip r:embed="rId2">
            <a:alphaModFix/>
          </a:blip>
          <a:srcRect b="0" l="0" r="0" t="0"/>
          <a:stretch/>
        </p:blipFill>
        <p:spPr>
          <a:xfrm>
            <a:off x="7981149" y="-31578"/>
            <a:ext cx="910634" cy="1410217"/>
          </a:xfrm>
          <a:prstGeom prst="rect">
            <a:avLst/>
          </a:prstGeom>
          <a:noFill/>
          <a:ln>
            <a:noFill/>
          </a:ln>
          <a:effectLst>
            <a:outerShdw blurRad="63500" rotWithShape="0" dir="5400000" dist="25400">
              <a:srgbClr val="000000">
                <a:alpha val="49804"/>
              </a:srgbClr>
            </a:outerShdw>
          </a:effectLst>
        </p:spPr>
      </p:pic>
      <p:sp>
        <p:nvSpPr>
          <p:cNvPr id="5" name="TextBox 130"/>
          <p:cNvSpPr txBox="1"/>
          <p:nvPr/>
        </p:nvSpPr>
        <p:spPr>
          <a:xfrm>
            <a:off x="320040" y="91440"/>
            <a:ext cx="5943600" cy="256032"/>
          </a:xfrm>
          <a:prstGeom prst="rect">
            <a:avLst/>
          </a:prstGeom>
          <a:noFill/>
        </p:spPr>
        <p:txBody>
          <a:bodyPr wrap="square" anchor="t" lIns="36576" rIns="36576" tIns="18288" bIns="18288">
            <a:spAutoFit/>
          </a:bodyPr>
          <a:lstStyle/>
          <a:p>
            <a:pPr algn="l">
              <a:spcAft>
                <a:spcPts val="300"/>
              </a:spcAft>
            </a:pPr>
            <a:r>
              <a:rPr sz="800" b="1">
                <a:solidFill>
                  <a:srgbClr val="595959"/>
                </a:solidFill>
                <a:latin typeface="Arial"/>
              </a:rPr>
              <a:t>APPENDIX · PRACTITIONER Q&amp;A · QUESTION 2 (2 OF 2)</a:t>
            </a:r>
          </a:p>
        </p:txBody>
      </p:sp>
      <p:sp>
        <p:nvSpPr>
          <p:cNvPr id="6" name="TextBox 131"/>
          <p:cNvSpPr txBox="1"/>
          <p:nvPr/>
        </p:nvSpPr>
        <p:spPr>
          <a:xfrm>
            <a:off x="320040" y="850392"/>
            <a:ext cx="7543800" cy="502920"/>
          </a:xfrm>
          <a:prstGeom prst="rect">
            <a:avLst/>
          </a:prstGeom>
          <a:noFill/>
        </p:spPr>
        <p:txBody>
          <a:bodyPr wrap="square" anchor="t" lIns="36576" rIns="36576" tIns="18288" bIns="18288">
            <a:spAutoFit/>
          </a:bodyPr>
          <a:lstStyle/>
          <a:p>
            <a:pPr algn="l">
              <a:spcAft>
                <a:spcPts val="300"/>
              </a:spcAft>
            </a:pPr>
            <a:r>
              <a:rPr sz="1050" b="1">
                <a:solidFill>
                  <a:srgbClr val="135927"/>
                </a:solidFill>
                <a:latin typeface="Arial"/>
              </a:rPr>
              <a:t>Answer: </a:t>
            </a:r>
            <a:r>
              <a:rPr sz="1050" b="0" i="1">
                <a:solidFill>
                  <a:srgbClr val="1F2421"/>
                </a:solidFill>
                <a:latin typeface="Arial"/>
              </a:rPr>
              <a:t>revenue is most elastic at server providers, share prices at neoclouds; a mix of models beats any single one, but the best pair depends on the objective.</a:t>
            </a:r>
          </a:p>
        </p:txBody>
      </p:sp>
      <p:sp>
        <p:nvSpPr>
          <p:cNvPr id="7" name="TextBox 131"/>
          <p:cNvSpPr txBox="1"/>
          <p:nvPr/>
        </p:nvSpPr>
        <p:spPr>
          <a:xfrm>
            <a:off x="320040" y="4773168"/>
            <a:ext cx="7680960" cy="274320"/>
          </a:xfrm>
          <a:prstGeom prst="rect">
            <a:avLst/>
          </a:prstGeom>
          <a:noFill/>
        </p:spPr>
        <p:txBody>
          <a:bodyPr wrap="square" anchor="t" lIns="36576" rIns="36576" tIns="18288" bIns="18288">
            <a:spAutoFit/>
          </a:bodyPr>
          <a:lstStyle/>
          <a:p>
            <a:pPr algn="l">
              <a:spcAft>
                <a:spcPts val="300"/>
              </a:spcAft>
            </a:pPr>
            <a:r>
              <a:rPr sz="700" b="0">
                <a:solidFill>
                  <a:srgbClr val="808682"/>
                </a:solidFill>
                <a:latin typeface="Arial"/>
              </a:rPr>
              <a:t>Source: SEC XBRL; Yahoo Finance; FRED; Bona Fide analysis (code/business_model_analysis.py). Daily returns 31-Mar-2025 to 11-Sep-2026; revenue elasticity 2018Q2–2026Q2. Report section 12.</a:t>
            </a:r>
          </a:p>
        </p:txBody>
      </p:sp>
      <p:sp>
        <p:nvSpPr>
          <p:cNvPr id="8" name="TextBox 132"/>
          <p:cNvSpPr txBox="1"/>
          <p:nvPr/>
        </p:nvSpPr>
        <p:spPr>
          <a:xfrm>
            <a:off x="8275320" y="4773168"/>
            <a:ext cx="548640" cy="274320"/>
          </a:xfrm>
          <a:prstGeom prst="rect">
            <a:avLst/>
          </a:prstGeom>
          <a:noFill/>
        </p:spPr>
        <p:txBody>
          <a:bodyPr wrap="square" anchor="t" lIns="36576" rIns="36576" tIns="18288" bIns="18288">
            <a:spAutoFit/>
          </a:bodyPr>
          <a:lstStyle/>
          <a:p>
            <a:pPr algn="r">
              <a:spcAft>
                <a:spcPts val="300"/>
              </a:spcAft>
            </a:pPr>
            <a:r>
              <a:rPr sz="800" b="0">
                <a:solidFill>
                  <a:srgbClr val="595959"/>
                </a:solidFill>
                <a:latin typeface="Arial"/>
              </a:rPr>
              <a:t>28</a:t>
            </a:r>
          </a:p>
        </p:txBody>
      </p:sp>
      <p:pic>
        <p:nvPicPr>
          <p:cNvPr id="9" name="Picture 133" descr="qa_q2_frontier_deck.png"/>
          <p:cNvPicPr>
            <a:picLocks noChangeAspect="1"/>
          </p:cNvPicPr>
          <p:nvPr/>
        </p:nvPicPr>
        <p:blipFill>
          <a:blip r:embed="rId3"/>
          <a:stretch>
            <a:fillRect/>
          </a:stretch>
        </p:blipFill>
        <p:spPr>
          <a:xfrm>
            <a:off x="320040" y="1481328"/>
            <a:ext cx="5257800" cy="1979530"/>
          </a:xfrm>
          <a:prstGeom prst="rect">
            <a:avLst/>
          </a:prstGeom>
        </p:spPr>
      </p:pic>
      <p:graphicFrame>
        <p:nvGraphicFramePr>
          <p:cNvPr id="10" name="Table 134"/>
          <p:cNvGraphicFramePr>
            <a:graphicFrameLocks noGrp="1"/>
          </p:cNvGraphicFramePr>
          <p:nvPr/>
        </p:nvGraphicFramePr>
        <p:xfrm>
          <a:off x="320040" y="3534010"/>
          <a:ext cx="5257800" cy="804672"/>
        </p:xfrm>
        <a:graphic>
          <a:graphicData uri="http://schemas.openxmlformats.org/drawingml/2006/table">
            <a:tbl>
              <a:tblPr firstRow="1" bandRow="1">
                <a:tableStyleId>{5C22544A-7EE6-4342-B048-85BDC9FD1C3A}</a:tableStyleId>
              </a:tblPr>
              <a:tblGrid>
                <a:gridCol w="1188720"/>
                <a:gridCol w="1143000"/>
                <a:gridCol w="914400"/>
                <a:gridCol w="914400"/>
                <a:gridCol w="1097280"/>
              </a:tblGrid>
              <a:tr h="201168">
                <a:tc>
                  <a:txBody>
                    <a:bodyPr/>
                    <a:lstStyle/>
                    <a:p>
                      <a:r>
                        <a:rPr sz="800" b="1">
                          <a:solidFill>
                            <a:srgbClr val="FCC80D"/>
                          </a:solidFill>
                          <a:latin typeface="Arial"/>
                        </a:rPr>
                        <a:t>Model</a:t>
                      </a:r>
                    </a:p>
                  </a:txBody>
                  <a:tcPr marL="45720" marR="45720" marT="9144" marB="9144">
                    <a:solidFill>
                      <a:srgbClr val="135927"/>
                    </a:solidFill>
                  </a:tcPr>
                </a:tc>
                <a:tc>
                  <a:txBody>
                    <a:bodyPr/>
                    <a:lstStyle/>
                    <a:p>
                      <a:r>
                        <a:rPr sz="800" b="1">
                          <a:solidFill>
                            <a:srgbClr val="FCC80D"/>
                          </a:solidFill>
                          <a:latin typeface="Arial"/>
                        </a:rPr>
                        <a:t>Revenue elasticity</a:t>
                      </a:r>
                    </a:p>
                  </a:txBody>
                  <a:tcPr marL="45720" marR="45720" marT="9144" marB="9144">
                    <a:solidFill>
                      <a:srgbClr val="135927"/>
                    </a:solidFill>
                  </a:tcPr>
                </a:tc>
                <a:tc>
                  <a:txBody>
                    <a:bodyPr/>
                    <a:lstStyle/>
                    <a:p>
                      <a:r>
                        <a:rPr sz="800" b="1">
                          <a:solidFill>
                            <a:srgbClr val="FCC80D"/>
                          </a:solidFill>
                          <a:latin typeface="Arial"/>
                        </a:rPr>
                        <a:t>AI beta</a:t>
                      </a:r>
                    </a:p>
                  </a:txBody>
                  <a:tcPr marL="45720" marR="45720" marT="9144" marB="9144">
                    <a:solidFill>
                      <a:srgbClr val="135927"/>
                    </a:solidFill>
                  </a:tcPr>
                </a:tc>
                <a:tc>
                  <a:txBody>
                    <a:bodyPr/>
                    <a:lstStyle/>
                    <a:p>
                      <a:r>
                        <a:rPr sz="800" b="1">
                          <a:solidFill>
                            <a:srgbClr val="FCC80D"/>
                          </a:solidFill>
                          <a:latin typeface="Arial"/>
                        </a:rPr>
                        <a:t>Market beta</a:t>
                      </a:r>
                    </a:p>
                  </a:txBody>
                  <a:tcPr marL="45720" marR="45720" marT="9144" marB="9144">
                    <a:solidFill>
                      <a:srgbClr val="135927"/>
                    </a:solidFill>
                  </a:tcPr>
                </a:tc>
                <a:tc>
                  <a:txBody>
                    <a:bodyPr/>
                    <a:lstStyle/>
                    <a:p>
                      <a:r>
                        <a:rPr sz="800" b="1">
                          <a:solidFill>
                            <a:srgbClr val="FCC80D"/>
                          </a:solidFill>
                          <a:latin typeface="Arial"/>
                        </a:rPr>
                        <a:t>Per +10bp yield</a:t>
                      </a:r>
                    </a:p>
                  </a:txBody>
                  <a:tcPr marL="45720" marR="45720" marT="9144" marB="9144">
                    <a:solidFill>
                      <a:srgbClr val="135927"/>
                    </a:solidFill>
                  </a:tcPr>
                </a:tc>
              </a:tr>
              <a:tr h="201168">
                <a:tc>
                  <a:txBody>
                    <a:bodyPr/>
                    <a:lstStyle/>
                    <a:p>
                      <a:r>
                        <a:rPr sz="800" b="1">
                          <a:solidFill>
                            <a:srgbClr val="1F2421"/>
                          </a:solidFill>
                          <a:latin typeface="Arial"/>
                        </a:rPr>
                        <a:t>Landlords</a:t>
                      </a:r>
                    </a:p>
                  </a:txBody>
                  <a:tcPr marL="45720" marR="45720" marT="9144" marB="9144">
                    <a:solidFill>
                      <a:srgbClr val="FFFFFF"/>
                    </a:solidFill>
                  </a:tcPr>
                </a:tc>
                <a:tc>
                  <a:txBody>
                    <a:bodyPr/>
                    <a:lstStyle/>
                    <a:p>
                      <a:r>
                        <a:rPr sz="800" b="0">
                          <a:solidFill>
                            <a:srgbClr val="1F2421"/>
                          </a:solidFill>
                          <a:latin typeface="Arial"/>
                        </a:rPr>
                        <a:t>DLR 0.06 (n.s.)</a:t>
                      </a:r>
                    </a:p>
                  </a:txBody>
                  <a:tcPr marL="45720" marR="45720" marT="9144" marB="9144">
                    <a:solidFill>
                      <a:srgbClr val="FFFFFF"/>
                    </a:solidFill>
                  </a:tcPr>
                </a:tc>
                <a:tc>
                  <a:txBody>
                    <a:bodyPr/>
                    <a:lstStyle/>
                    <a:p>
                      <a:r>
                        <a:rPr sz="800" b="0">
                          <a:solidFill>
                            <a:srgbClr val="1F2421"/>
                          </a:solidFill>
                          <a:latin typeface="Arial"/>
                        </a:rPr>
                        <a:t>0.03–0.31</a:t>
                      </a:r>
                    </a:p>
                  </a:txBody>
                  <a:tcPr marL="45720" marR="45720" marT="9144" marB="9144">
                    <a:solidFill>
                      <a:srgbClr val="FFFFFF"/>
                    </a:solidFill>
                  </a:tcPr>
                </a:tc>
                <a:tc>
                  <a:txBody>
                    <a:bodyPr/>
                    <a:lstStyle/>
                    <a:p>
                      <a:r>
                        <a:rPr sz="800" b="0">
                          <a:solidFill>
                            <a:srgbClr val="1F2421"/>
                          </a:solidFill>
                          <a:latin typeface="Arial"/>
                        </a:rPr>
                        <a:t>0.7–2.9</a:t>
                      </a:r>
                    </a:p>
                  </a:txBody>
                  <a:tcPr marL="45720" marR="45720" marT="9144" marB="9144">
                    <a:solidFill>
                      <a:srgbClr val="FFFFFF"/>
                    </a:solidFill>
                  </a:tcPr>
                </a:tc>
                <a:tc>
                  <a:txBody>
                    <a:bodyPr/>
                    <a:lstStyle/>
                    <a:p>
                      <a:r>
                        <a:rPr sz="800" b="0">
                          <a:solidFill>
                            <a:srgbClr val="1F2421"/>
                          </a:solidFill>
                          <a:latin typeface="Arial"/>
                        </a:rPr>
                        <a:t>DLR −0.6%</a:t>
                      </a:r>
                    </a:p>
                  </a:txBody>
                  <a:tcPr marL="45720" marR="45720" marT="9144" marB="9144">
                    <a:solidFill>
                      <a:srgbClr val="FFFFFF"/>
                    </a:solidFill>
                  </a:tcPr>
                </a:tc>
              </a:tr>
              <a:tr h="201168">
                <a:tc>
                  <a:txBody>
                    <a:bodyPr/>
                    <a:lstStyle/>
                    <a:p>
                      <a:r>
                        <a:rPr sz="800" b="1">
                          <a:solidFill>
                            <a:srgbClr val="1F2421"/>
                          </a:solidFill>
                          <a:latin typeface="Arial"/>
                        </a:rPr>
                        <a:t>Neoclouds</a:t>
                      </a:r>
                    </a:p>
                  </a:txBody>
                  <a:tcPr marL="45720" marR="45720" marT="9144" marB="9144">
                    <a:solidFill>
                      <a:srgbClr val="FFFFFF"/>
                    </a:solidFill>
                  </a:tcPr>
                </a:tc>
                <a:tc>
                  <a:txBody>
                    <a:bodyPr/>
                    <a:lstStyle/>
                    <a:p>
                      <a:r>
                        <a:rPr sz="800" b="0">
                          <a:solidFill>
                            <a:srgbClr val="1F2421"/>
                          </a:solidFill>
                          <a:latin typeface="Arial"/>
                        </a:rPr>
                        <a:t>too new</a:t>
                      </a:r>
                    </a:p>
                  </a:txBody>
                  <a:tcPr marL="45720" marR="45720" marT="9144" marB="9144">
                    <a:solidFill>
                      <a:srgbClr val="FFFFFF"/>
                    </a:solidFill>
                  </a:tcPr>
                </a:tc>
                <a:tc>
                  <a:txBody>
                    <a:bodyPr/>
                    <a:lstStyle/>
                    <a:p>
                      <a:r>
                        <a:rPr sz="800" b="0">
                          <a:solidFill>
                            <a:srgbClr val="1F2421"/>
                          </a:solidFill>
                          <a:latin typeface="Arial"/>
                        </a:rPr>
                        <a:t>0.40–0.85</a:t>
                      </a:r>
                    </a:p>
                  </a:txBody>
                  <a:tcPr marL="45720" marR="45720" marT="9144" marB="9144">
                    <a:solidFill>
                      <a:srgbClr val="FFFFFF"/>
                    </a:solidFill>
                  </a:tcPr>
                </a:tc>
                <a:tc>
                  <a:txBody>
                    <a:bodyPr/>
                    <a:lstStyle/>
                    <a:p>
                      <a:r>
                        <a:rPr sz="800" b="0">
                          <a:solidFill>
                            <a:srgbClr val="1F2421"/>
                          </a:solidFill>
                          <a:latin typeface="Arial"/>
                        </a:rPr>
                        <a:t>2.5–2.9</a:t>
                      </a:r>
                    </a:p>
                  </a:txBody>
                  <a:tcPr marL="45720" marR="45720" marT="9144" marB="9144">
                    <a:solidFill>
                      <a:srgbClr val="FFFFFF"/>
                    </a:solidFill>
                  </a:tcPr>
                </a:tc>
                <a:tc>
                  <a:txBody>
                    <a:bodyPr/>
                    <a:lstStyle/>
                    <a:p>
                      <a:r>
                        <a:rPr sz="800" b="0">
                          <a:solidFill>
                            <a:srgbClr val="1F2421"/>
                          </a:solidFill>
                          <a:latin typeface="Arial"/>
                        </a:rPr>
                        <a:t>n.s.</a:t>
                      </a:r>
                    </a:p>
                  </a:txBody>
                  <a:tcPr marL="45720" marR="45720" marT="9144" marB="9144">
                    <a:solidFill>
                      <a:srgbClr val="FFFFFF"/>
                    </a:solidFill>
                  </a:tcPr>
                </a:tc>
              </a:tr>
              <a:tr h="201168">
                <a:tc>
                  <a:txBody>
                    <a:bodyPr/>
                    <a:lstStyle/>
                    <a:p>
                      <a:r>
                        <a:rPr sz="800" b="1">
                          <a:solidFill>
                            <a:srgbClr val="1F2421"/>
                          </a:solidFill>
                          <a:latin typeface="Arial"/>
                        </a:rPr>
                        <a:t>Server providers</a:t>
                      </a:r>
                    </a:p>
                  </a:txBody>
                  <a:tcPr marL="45720" marR="45720" marT="9144" marB="9144">
                    <a:solidFill>
                      <a:srgbClr val="FFFFFF"/>
                    </a:solidFill>
                  </a:tcPr>
                </a:tc>
                <a:tc>
                  <a:txBody>
                    <a:bodyPr/>
                    <a:lstStyle/>
                    <a:p>
                      <a:r>
                        <a:rPr sz="800" b="0">
                          <a:solidFill>
                            <a:srgbClr val="1F2421"/>
                          </a:solidFill>
                          <a:latin typeface="Arial"/>
                        </a:rPr>
                        <a:t>0.41–0.84</a:t>
                      </a:r>
                    </a:p>
                  </a:txBody>
                  <a:tcPr marL="45720" marR="45720" marT="9144" marB="9144">
                    <a:solidFill>
                      <a:srgbClr val="FFFFFF"/>
                    </a:solidFill>
                  </a:tcPr>
                </a:tc>
                <a:tc>
                  <a:txBody>
                    <a:bodyPr/>
                    <a:lstStyle/>
                    <a:p>
                      <a:r>
                        <a:rPr sz="800" b="0">
                          <a:solidFill>
                            <a:srgbClr val="1F2421"/>
                          </a:solidFill>
                          <a:latin typeface="Arial"/>
                        </a:rPr>
                        <a:t>0.02–0.18</a:t>
                      </a:r>
                    </a:p>
                  </a:txBody>
                  <a:tcPr marL="45720" marR="45720" marT="9144" marB="9144">
                    <a:solidFill>
                      <a:srgbClr val="FFFFFF"/>
                    </a:solidFill>
                  </a:tcPr>
                </a:tc>
                <a:tc>
                  <a:txBody>
                    <a:bodyPr/>
                    <a:lstStyle/>
                    <a:p>
                      <a:r>
                        <a:rPr sz="800" b="0">
                          <a:solidFill>
                            <a:srgbClr val="1F2421"/>
                          </a:solidFill>
                          <a:latin typeface="Arial"/>
                        </a:rPr>
                        <a:t>1.7–2.0</a:t>
                      </a:r>
                    </a:p>
                  </a:txBody>
                  <a:tcPr marL="45720" marR="45720" marT="9144" marB="9144">
                    <a:solidFill>
                      <a:srgbClr val="FFFFFF"/>
                    </a:solidFill>
                  </a:tcPr>
                </a:tc>
                <a:tc>
                  <a:txBody>
                    <a:bodyPr/>
                    <a:lstStyle/>
                    <a:p>
                      <a:r>
                        <a:rPr sz="800" b="0">
                          <a:solidFill>
                            <a:srgbClr val="1F2421"/>
                          </a:solidFill>
                          <a:latin typeface="Arial"/>
                        </a:rPr>
                        <a:t>n.s.</a:t>
                      </a:r>
                    </a:p>
                  </a:txBody>
                  <a:tcPr marL="45720" marR="45720" marT="9144" marB="9144">
                    <a:solidFill>
                      <a:srgbClr val="FFFFFF"/>
                    </a:solidFill>
                  </a:tcPr>
                </a:tc>
              </a:tr>
            </a:tbl>
          </a:graphicData>
        </a:graphic>
      </p:graphicFrame>
      <p:sp>
        <p:nvSpPr>
          <p:cNvPr id="11" name="TextBox 135"/>
          <p:cNvSpPr txBox="1"/>
          <p:nvPr/>
        </p:nvSpPr>
        <p:spPr>
          <a:xfrm>
            <a:off x="5760720" y="1463040"/>
            <a:ext cx="306324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WHICH IS MORE ELASTIC?</a:t>
            </a:r>
          </a:p>
        </p:txBody>
      </p:sp>
      <p:sp>
        <p:nvSpPr>
          <p:cNvPr id="12" name="TextBox 136"/>
          <p:cNvSpPr txBox="1"/>
          <p:nvPr/>
        </p:nvSpPr>
        <p:spPr>
          <a:xfrm>
            <a:off x="5760720" y="1700784"/>
            <a:ext cx="3063240" cy="914400"/>
          </a:xfrm>
          <a:prstGeom prst="rect">
            <a:avLst/>
          </a:prstGeom>
          <a:noFill/>
        </p:spPr>
        <p:txBody>
          <a:bodyPr wrap="square" anchor="t" lIns="36576" rIns="36576" tIns="18288" bIns="18288">
            <a:spAutoFit/>
          </a:bodyPr>
          <a:lstStyle/>
          <a:p>
            <a:pPr algn="l">
              <a:spcAft>
                <a:spcPts val="300"/>
              </a:spcAft>
            </a:pPr>
            <a:r>
              <a:rPr sz="600">
                <a:solidFill>
                  <a:srgbClr val="135927"/>
                </a:solidFill>
                <a:latin typeface="Arial"/>
              </a:rPr>
              <a:t>■  </a:t>
            </a:r>
            <a:r>
              <a:rPr sz="850" b="1">
                <a:solidFill>
                  <a:srgbClr val="1F2421"/>
                </a:solidFill>
                <a:latin typeface="Arial"/>
              </a:rPr>
              <a:t>Revenue: </a:t>
            </a:r>
            <a:r>
              <a:rPr sz="850" b="0">
                <a:solidFill>
                  <a:srgbClr val="1F2421"/>
                </a:solidFill>
                <a:latin typeface="Arial"/>
              </a:rPr>
              <a:t>server providers. Dell 0.84 and HPE 0.41 per point of hyperscaler capex growth, same quarter; Digital Realty 0.06, not significant.</a:t>
            </a:r>
          </a:p>
          <a:p>
            <a:pPr algn="l">
              <a:spcAft>
                <a:spcPts val="300"/>
              </a:spcAft>
            </a:pPr>
            <a:r>
              <a:rPr sz="600">
                <a:solidFill>
                  <a:srgbClr val="135927"/>
                </a:solidFill>
                <a:latin typeface="Arial"/>
              </a:rPr>
              <a:t>■  </a:t>
            </a:r>
            <a:r>
              <a:rPr sz="850" b="1">
                <a:solidFill>
                  <a:srgbClr val="1F2421"/>
                </a:solidFill>
                <a:latin typeface="Arial"/>
              </a:rPr>
              <a:t>Share price: </a:t>
            </a:r>
            <a:r>
              <a:rPr sz="850" b="0">
                <a:solidFill>
                  <a:srgbClr val="1F2421"/>
                </a:solidFill>
                <a:latin typeface="Arial"/>
              </a:rPr>
              <a:t>neoclouds. AI beta 0.81–0.85 for Nebius and CoreWeave, against 0.02–0.18 for HPE and Dell.</a:t>
            </a:r>
          </a:p>
        </p:txBody>
      </p:sp>
      <p:sp>
        <p:nvSpPr>
          <p:cNvPr id="13" name="TextBox 135"/>
          <p:cNvSpPr txBox="1"/>
          <p:nvPr/>
        </p:nvSpPr>
        <p:spPr>
          <a:xfrm>
            <a:off x="5760720" y="2743200"/>
            <a:ext cx="3063240" cy="274320"/>
          </a:xfrm>
          <a:prstGeom prst="rect">
            <a:avLst/>
          </a:prstGeom>
          <a:noFill/>
        </p:spPr>
        <p:txBody>
          <a:bodyPr wrap="square" anchor="t" lIns="36576" rIns="36576" tIns="18288" bIns="18288">
            <a:spAutoFit/>
          </a:bodyPr>
          <a:lstStyle/>
          <a:p>
            <a:pPr algn="l">
              <a:spcAft>
                <a:spcPts val="300"/>
              </a:spcAft>
            </a:pPr>
            <a:r>
              <a:rPr sz="800" b="1">
                <a:solidFill>
                  <a:srgbClr val="135927"/>
                </a:solidFill>
                <a:latin typeface="Arial"/>
              </a:rPr>
              <a:t>ONE MODEL OR SEVERAL?</a:t>
            </a:r>
          </a:p>
        </p:txBody>
      </p:sp>
      <p:sp>
        <p:nvSpPr>
          <p:cNvPr id="14" name="TextBox 136"/>
          <p:cNvSpPr txBox="1"/>
          <p:nvPr/>
        </p:nvSpPr>
        <p:spPr>
          <a:xfrm>
            <a:off x="5760720" y="2980944"/>
            <a:ext cx="3063240" cy="1737360"/>
          </a:xfrm>
          <a:prstGeom prst="rect">
            <a:avLst/>
          </a:prstGeom>
          <a:noFill/>
        </p:spPr>
        <p:txBody>
          <a:bodyPr wrap="square" anchor="t" lIns="36576" rIns="36576" tIns="18288" bIns="18288">
            <a:spAutoFit/>
          </a:bodyPr>
          <a:lstStyle/>
          <a:p>
            <a:pPr algn="l">
              <a:spcAft>
                <a:spcPts val="300"/>
              </a:spcAft>
            </a:pPr>
            <a:r>
              <a:rPr sz="600">
                <a:solidFill>
                  <a:srgbClr val="135927"/>
                </a:solidFill>
                <a:latin typeface="Arial"/>
              </a:rPr>
              <a:t>■  </a:t>
            </a:r>
            <a:r>
              <a:rPr sz="850" b="1">
                <a:solidFill>
                  <a:srgbClr val="1F2421"/>
                </a:solidFill>
                <a:latin typeface="Arial"/>
              </a:rPr>
              <a:t>Pareto test: </a:t>
            </a:r>
            <a:r>
              <a:rPr sz="850" b="0">
                <a:solidFill>
                  <a:srgbClr val="1F2421"/>
                </a:solidFill>
                <a:latin typeface="Arial"/>
              </a:rPr>
              <a:t>only the neocloud basket touches the frontier, at its riskiest end; landlord and server baskets sit below it.</a:t>
            </a:r>
          </a:p>
          <a:p>
            <a:pPr algn="l">
              <a:spcAft>
                <a:spcPts val="300"/>
              </a:spcAft>
            </a:pPr>
            <a:r>
              <a:rPr sz="600">
                <a:solidFill>
                  <a:srgbClr val="135927"/>
                </a:solidFill>
                <a:latin typeface="Arial"/>
              </a:rPr>
              <a:t>■  </a:t>
            </a:r>
            <a:r>
              <a:rPr sz="850" b="1">
                <a:solidFill>
                  <a:srgbClr val="1F2421"/>
                </a:solidFill>
                <a:latin typeface="Arial"/>
              </a:rPr>
              <a:t>Lowest risk: </a:t>
            </a:r>
            <a:r>
              <a:rPr sz="850" b="0">
                <a:solidFill>
                  <a:srgbClr val="1F2421"/>
                </a:solidFill>
                <a:latin typeface="Arial"/>
              </a:rPr>
              <a:t>landlords 45% + servers 55%; neoclouds get no weight in 97% of 2,000 bootstraps.</a:t>
            </a:r>
          </a:p>
          <a:p>
            <a:pPr algn="l">
              <a:spcAft>
                <a:spcPts val="300"/>
              </a:spcAft>
            </a:pPr>
            <a:r>
              <a:rPr sz="600">
                <a:solidFill>
                  <a:srgbClr val="135927"/>
                </a:solidFill>
                <a:latin typeface="Arial"/>
              </a:rPr>
              <a:t>■  </a:t>
            </a:r>
            <a:r>
              <a:rPr sz="850" b="1">
                <a:solidFill>
                  <a:srgbClr val="1F2421"/>
                </a:solidFill>
                <a:latin typeface="Arial"/>
              </a:rPr>
              <a:t>Best Sharpe: </a:t>
            </a:r>
            <a:r>
              <a:rPr sz="850" b="0">
                <a:solidFill>
                  <a:srgbClr val="1F2421"/>
                </a:solidFill>
                <a:latin typeface="Arial"/>
              </a:rPr>
              <a:t>servers 72% + neoclouds 28%; servers weighted in 98% of bootstraps.</a:t>
            </a:r>
          </a:p>
          <a:p>
            <a:pPr algn="l">
              <a:spcAft>
                <a:spcPts val="300"/>
              </a:spcAft>
            </a:pPr>
            <a:r>
              <a:rPr sz="600">
                <a:solidFill>
                  <a:srgbClr val="135927"/>
                </a:solidFill>
                <a:latin typeface="Arial"/>
              </a:rPr>
              <a:t>■  </a:t>
            </a:r>
            <a:r>
              <a:rPr sz="850" b="1">
                <a:solidFill>
                  <a:srgbClr val="1F2421"/>
                </a:solidFill>
                <a:latin typeface="Arial"/>
              </a:rPr>
              <a:t>Caveat: </a:t>
            </a:r>
            <a:r>
              <a:rPr sz="850" b="0">
                <a:solidFill>
                  <a:srgbClr val="1F2421"/>
                </a:solidFill>
                <a:latin typeface="Arial"/>
              </a:rPr>
              <a:t>17 months of AI-boom returns. Trust the covariance more than the averages.</a:t>
            </a:r>
          </a:p>
        </p:txBody>
      </p:sp>
    </p:spTree>
  </p:cSld>
  <p:clrMapOvr>
    <a:masterClrMapping/>
  </p:clrMapOvr>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