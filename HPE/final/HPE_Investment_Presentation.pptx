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4"/>
    <p:sldMasterId id="2147483675" r:id="rId5"/>
  </p:sldMasterIdLst>
  <p:notesMasterIdLst>
    <p:notesMasterId r:id="rId6"/>
  </p:notesMasterIdLst>
  <p:sldIdLst>
    <p:sldId id="258" r:id="rId13"/>
    <p:sldId id="259" r:id="rId14"/>
    <p:sldId id="282" r:id="rId35"/>
    <p:sldId id="260" r:id="rId15"/>
    <p:sldId id="283" r:id="rId36"/>
    <p:sldId id="261" r:id="rId16"/>
    <p:sldId id="265" r:id="rId20"/>
    <p:sldId id="286" r:id="rId39"/>
    <p:sldId id="287" r:id="rId40"/>
    <p:sldId id="267" r:id="rId22"/>
    <p:sldId id="284" r:id="rId37"/>
    <p:sldId id="266" r:id="rId21"/>
    <p:sldId id="269" r:id="rId24"/>
    <p:sldId id="271" r:id="rId26"/>
    <p:sldId id="270" r:id="rId25"/>
    <p:sldId id="272" r:id="rId27"/>
    <p:sldId id="273" r:id="rId28"/>
    <p:sldId id="276" r:id="rId31"/>
    <p:sldId id="277" r:id="rId32"/>
    <p:sldId id="285" r:id="rId38"/>
    <p:sldId id="278" r:id="rId8"/>
    <p:sldId id="262" r:id="rId17"/>
    <p:sldId id="263" r:id="rId18"/>
    <p:sldId id="264" r:id="rId19"/>
    <p:sldId id="268" r:id="rId23"/>
    <p:sldId id="274" r:id="rId29"/>
    <p:sldId id="275" r:id="rId30"/>
    <p:sldId id="279" r:id="rId7"/>
    <p:sldId id="280" r:id="rId33"/>
    <p:sldId id="281" r:id="rId34"/>
    <p:sldId id="288" r:id="rId41"/>
  </p:sldIdLst>
  <p:sldSz cy="5143500" cx="9144000"/>
  <p:notesSz cx="6858000" cy="9144000"/>
  <p:embeddedFontLst>
    <p:embeddedFont>
      <p:font typeface="Helvetica Neue"/>
      <p:regular r:id="rId9"/>
      <p:bold r:id="rId10"/>
      <p:italic r:id="rId11"/>
      <p:boldItalic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28.xml"/><Relationship Id="rId8" Type="http://schemas.openxmlformats.org/officeDocument/2006/relationships/slide" Target="slides/slide21.xml"/><Relationship Id="rId9" Type="http://schemas.openxmlformats.org/officeDocument/2006/relationships/font" Target="fonts/HelveticaNeue-regular.fntdata"/><Relationship Id="rId10" Type="http://schemas.openxmlformats.org/officeDocument/2006/relationships/font" Target="fonts/HelveticaNeue-bold.fntdata"/><Relationship Id="rId11" Type="http://schemas.openxmlformats.org/officeDocument/2006/relationships/font" Target="fonts/HelveticaNeue-italic.fntdata"/><Relationship Id="rId12" Type="http://schemas.openxmlformats.org/officeDocument/2006/relationships/font" Target="fonts/HelveticaNeue-boldItalic.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4.xml"/><Relationship Id="rId16" Type="http://schemas.openxmlformats.org/officeDocument/2006/relationships/slide" Target="slides/slide6.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7.xml"/><Relationship Id="rId21" Type="http://schemas.openxmlformats.org/officeDocument/2006/relationships/slide" Target="slides/slide12.xml"/><Relationship Id="rId22" Type="http://schemas.openxmlformats.org/officeDocument/2006/relationships/slide" Target="slides/slide10.xml"/><Relationship Id="rId23" Type="http://schemas.openxmlformats.org/officeDocument/2006/relationships/slide" Target="slides/slide25.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xml"/><Relationship Id="rId36" Type="http://schemas.openxmlformats.org/officeDocument/2006/relationships/slide" Target="slides/slide5.xml"/><Relationship Id="rId37" Type="http://schemas.openxmlformats.org/officeDocument/2006/relationships/slide" Target="slides/slide11.xml"/><Relationship Id="rId38" Type="http://schemas.openxmlformats.org/officeDocument/2006/relationships/slide" Target="slides/slide20.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 per share</c:v>
                </c:pt>
              </c:strCache>
            </c:strRef>
          </c:tx>
          <c:dPt>
            <c:idx val="0"/>
            <c:spPr>
              <a:solidFill>
                <a:srgbClr val="135927"/>
              </a:solidFill>
            </c:spPr>
          </c:dPt>
          <c:dPt>
            <c:idx val="1"/>
            <c:spPr>
              <a:solidFill>
                <a:srgbClr val="135927"/>
              </a:solidFill>
            </c:spPr>
          </c:dPt>
          <c:dPt>
            <c:idx val="2"/>
            <c:spPr>
              <a:solidFill>
                <a:srgbClr val="135927"/>
              </a:solidFill>
            </c:spPr>
          </c:dPt>
          <c:dPt>
            <c:idx val="3"/>
            <c:spPr>
              <a:solidFill>
                <a:srgbClr val="135927"/>
              </a:solidFill>
            </c:spPr>
          </c:dPt>
          <c:dPt>
            <c:idx val="4"/>
            <c:spPr>
              <a:solidFill>
                <a:srgbClr val="FCC80D"/>
              </a:solidFill>
            </c:spPr>
          </c:dPt>
          <c:cat>
            <c:strRef>
              <c:f>Sheet1!$A$2:$A$6</c:f>
              <c:strCache>
                <c:ptCount val="5"/>
                <c:pt idx="0">
                  <c:v>Bear DCF</c:v>
                </c:pt>
                <c:pt idx="1">
                  <c:v>Base DCF</c:v>
                </c:pt>
                <c:pt idx="2">
                  <c:v>Prob.-weighted</c:v>
                </c:pt>
                <c:pt idx="3">
                  <c:v>Bull DCF</c:v>
                </c:pt>
                <c:pt idx="4">
                  <c:v>Share price</c:v>
                </c:pt>
              </c:strCache>
            </c:strRef>
          </c:cat>
          <c:val>
            <c:numRef>
              <c:f>Sheet1!$B$2:$B$6</c:f>
              <c:numCache>
                <c:formatCode>General</c:formatCode>
                <c:ptCount val="5"/>
                <c:pt idx="0">
                  <c:v>22.19</c:v>
                </c:pt>
                <c:pt idx="1">
                  <c:v>38.8</c:v>
                </c:pt>
                <c:pt idx="2">
                  <c:v>38.43</c:v>
                </c:pt>
                <c:pt idx="3">
                  <c:v>53.93</c:v>
                </c:pt>
                <c:pt idx="4">
                  <c:v>62.09</c:v>
                </c:pt>
              </c:numCache>
            </c:numRef>
          </c:val>
        </c:ser>
        <c:dLbls>
          <c:numFmt formatCode="&quot;$&quot;0.00" sourceLinked="0"/>
          <c:txPr>
            <a:bodyPr/>
            <a:lstStyle/>
            <a:p>
              <a:pPr>
                <a:defRPr sz="9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Title</a:t>
            </a:r>
          </a:p>
          <a:p/>
          <a:p>
            <a:r>
              <a:t>Time: 0:20 (cumulative 0:20)</a:t>
            </a:r>
          </a:p>
          <a:p/>
          <a:p>
            <a:r>
              <a:t>Script: Good evening. This is our pitch on Hewlett Packard Enterprise, HPE, priced at the close on 11 September 2026: $62.09. Over the next 24 minutes I won't just show you data. I'll show you how we reasoned from the data to a decision, and which patterns you can reuse on the next company.</a:t>
            </a:r>
          </a:p>
          <a:p/>
          <a:p>
            <a:r>
              <a:t>Transition: Let me start with the answer.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Improved business mix, but the price exceeds our valuation range</a:t>
            </a:r>
          </a:p>
          <a:p/>
          <a:p>
            <a:r>
              <a:t>Time: 1:30 (cumulative 1:50)</a:t>
            </a:r>
          </a:p>
          <a:p/>
          <a:p>
            <a:r>
              <a:t>Goal: Give the conclusion and the four-step argument up front.</a:t>
            </a:r>
          </a:p>
          <a:p/>
          <a:p>
            <a:r>
              <a:t>Script: Here is the whole pitch on one slide.</a:t>
            </a:r>
          </a:p>
          <a:p>
            <a:r>
              <a:t>• Step one: HPE is a genuinely better business than a year ago. After buying Juniper, networking is 26% of revenue but 40% of segment profit, and return on invested capital is above the cost of capital for the first time in the six years we reviewed.</a:t>
            </a:r>
          </a:p>
          <a:p>
            <a:r>
              <a:t>• Step two: most of this year's jump is cyclical. Gross margin hit a record 40.4% on pricing amid memory shortages, and last quarter's EPS beat the top of guidance by 19%, mostly on margin. Management itself says margins will moderate.</a:t>
            </a:r>
          </a:p>
          <a:p>
            <a:r>
              <a:t>• Step three: the cash flow looks great, a record $4.5 billion, but suppliers are funding a $5.5 billion inventory build.</a:t>
            </a:r>
          </a:p>
          <a:p>
            <a:r>
              <a:t>• Step four: the price. At $62.09 the market pays 13.5 times next year's earnings against a 4-to-10-times history, and our reverse DCF says it needs an 18% long-term margin or 11% growth for a decade.</a:t>
            </a:r>
          </a:p>
          <a:p/>
          <a:p>
            <a:r>
              <a:t>Our fundamental range is $35 to $43, and even our bull case is $54. So we are not giving you a rating or a target. We are telling you the price is a bet that peak-cycle economics and sector multiples persist, and we will show you the signposts that would prove us wrong.</a:t>
            </a:r>
          </a:p>
          <a:p/>
          <a:p>
            <a:r>
              <a:t>Numbers to say:</a:t>
            </a:r>
          </a:p>
          <a:p>
            <a:r>
              <a:t>• 26% of revenue, 40% of profit;</a:t>
            </a:r>
          </a:p>
          <a:p>
            <a:r>
              <a:t>• ROIC 11.2% vs WACC 9.3%;</a:t>
            </a:r>
          </a:p>
          <a:p>
            <a:r>
              <a:t>• gross margin 40.4%;</a:t>
            </a:r>
          </a:p>
          <a:p>
            <a:r>
              <a:t>• Q3 EPS +19% vs the top of guidance;</a:t>
            </a:r>
          </a:p>
          <a:p>
            <a:r>
              <a:t>• free cash flow $4.5bn;</a:t>
            </a:r>
          </a:p>
          <a:p>
            <a:r>
              <a:t>• 13.5x vs 4–10x;</a:t>
            </a:r>
          </a:p>
          <a:p>
            <a:r>
              <a:t>• 18% margin / 11% growth;</a:t>
            </a:r>
          </a:p>
          <a:p>
            <a:r>
              <a:t>• range $35–43, bull $54.</a:t>
            </a:r>
          </a:p>
          <a:p/>
          <a:p>
            <a:r>
              <a:t>Slide takeaway: Conclusion: Business improved; price above our range — intrinsic value $35–43 against the $62.09 close; ROIC 11.2% now exceeds the 9.3% WACC.</a:t>
            </a:r>
          </a:p>
          <a:p/>
          <a:p>
            <a:r>
              <a:t>Transition: How did we get there? Five questions.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test questions and the decision rule</a:t>
            </a:r>
          </a:p>
          <a:p/>
          <a:p>
            <a:r>
              <a:t>Time: 0:40 (cumulative 2:30)</a:t>
            </a:r>
          </a:p>
          <a:p/>
          <a:p>
            <a:r>
              <a:t>Goal: Show the reasoning map.</a:t>
            </a:r>
          </a:p>
          <a:p/>
          <a:p>
            <a:r>
              <a:t>Script: We reasoned through five questions, each with a tool that could have proved us wrong:</a:t>
            </a:r>
          </a:p>
          <a:p>
            <a:r>
              <a:t>1. what HPE really sells: its profit mix and place in the value chain;</a:t>
            </a:r>
          </a:p>
          <a:p>
            <a:r>
              <a:t>2. structure or cycle: a counterfactual and a decomposition of the latest quarter;</a:t>
            </a:r>
          </a:p>
          <a:p>
            <a:r>
              <a:t>3. is the cash real: working capital;</a:t>
            </a:r>
          </a:p>
          <a:p>
            <a:r>
              <a:t>4. what the price assumes: a reverse DCF and the strongest opposing case;</a:t>
            </a:r>
          </a:p>
          <a:p>
            <a:r>
              <a:t>5. what would change our mind: scenarios and signposts.</a:t>
            </a:r>
          </a:p>
          <a:p/>
          <a:p>
            <a:r>
              <a:t>The rest of the deck answers them in order.</a:t>
            </a:r>
          </a:p>
          <a:p/>
          <a:p>
            <a:r>
              <a:t>Slide takeaway: Method: Every question has a falsifiable test — five questions, each answered with a measurement whose outcome could contradict the thesis.</a:t>
            </a:r>
          </a:p>
          <a:p/>
          <a:p>
            <a:r>
              <a:t>Transition: Question one: what does HPE sell?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Networking: 26% of revenue, 40% of segment operating profit</a:t>
            </a:r>
          </a:p>
          <a:p/>
          <a:p>
            <a:r>
              <a:t>Time: 1:00 (cumulative 3:30)</a:t>
            </a:r>
          </a:p>
          <a:p/>
          <a:p>
            <a:r>
              <a:t>Goal: Establish the first pattern: profit mix, not revenue mix.</a:t>
            </a:r>
          </a:p>
          <a:p/>
          <a:p>
            <a:r>
              <a:t>Script: HPE sells servers, storage, networking and financing to enterprises, governments and cloud providers. Fully diluted market value is $89.7 billion, enterprise value $103.8 billion, and trailing revenue $41.9 billion, up 31%.</a:t>
            </a:r>
          </a:p>
          <a:p/>
          <a:p>
            <a:r>
              <a:t>The table holds the first pattern: follow profit, not revenue.</a:t>
            </a:r>
          </a:p>
          <a:p>
            <a:r>
              <a:t>• Cloud &amp; AI (servers, storage and financing) is 71% of revenue at a 12.6% segment margin.</a:t>
            </a:r>
          </a:p>
          <a:p>
            <a:r>
              <a:t>• Networking is only 26% of revenue, but at a 22.7% margin it earns 40% of segment profit.</a:t>
            </a:r>
          </a:p>
          <a:p/>
          <a:p>
            <a:r>
              <a:t>So the smaller segment now decides the valuation. About two-thirds of revenue is transactional hardware. GreenLake has 52,000 customers, up 18%, but earns a far lower margin than networking; slide 31 has the detail. We'll come back to the latest quarter in part two.</a:t>
            </a:r>
          </a:p>
          <a:p/>
          <a:p>
            <a:r>
              <a:t>Numbers to say: $89.7bn; $103.8bn; $41.9bn +31%; 71% at 12.6%; 26% at 22.7% = 40% of profit; GreenLake 52,000 customers (+18%).</a:t>
            </a:r>
          </a:p>
          <a:p/>
          <a:p>
            <a:r>
              <a:t>Slide takeaway: Result: Segment profit concentrated in networking — 26% of revenue at a 22.7% segment margin produces 40% of segment operating profit.</a:t>
            </a:r>
          </a:p>
          <a:p/>
          <a:p>
            <a:r>
              <a:t>Transition: What kind of revenue is the 71%? That depends on where HPE sits in the AI stack.</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HPE recognises AI revenue at shipment, with under a year of backlog</a:t>
            </a:r>
          </a:p>
          <a:p/>
          <a:p>
            <a:r>
              <a:t>Time: 1:30 (cumulative 5:00)</a:t>
            </a:r>
          </a:p>
          <a:p/>
          <a:p>
            <a:r>
              <a:t>Goal: Place HPE in the AI value chain and explain why its revenue is cyclical.</a:t>
            </a:r>
          </a:p>
          <a:p/>
          <a:p>
            <a:r>
              <a:t>Script: This comes from our practitioner Q&amp;A work. The AI data centre has three business models:</a:t>
            </a:r>
          </a:p>
          <a:p>
            <a:r>
              <a:t>• landlords like Digital Realty build and lease the building;</a:t>
            </a:r>
          </a:p>
          <a:p>
            <a:r>
              <a:t>• neoclouds like CoreWeave own GPUs and rent compute on multi-year contracts;</a:t>
            </a:r>
          </a:p>
          <a:p>
            <a:r>
              <a:t>• server providers like HPE and Dell sell the equipment.</a:t>
            </a:r>
          </a:p>
          <a:p/>
          <a:p>
            <a:r>
              <a:t>The same capex dollar produces three different financial profiles.</a:t>
            </a:r>
          </a:p>
          <a:p>
            <a:r>
              <a:t>• The chart is our stylised 100-megawatt model, built from company disclosures. The landlord pays first and gets its cash back over about eleven and a half years. The neocloud needs about three years, if its GPUs stay contracted. The server provider is paid at shipment, within two quarters, but earns a thin margin once and needs a new order for every future dollar.</a:t>
            </a:r>
          </a:p>
          <a:p>
            <a:r>
              <a:t>• The table shows the consequence, and its elasticity rows are our own regressions. Server providers have almost no capex and less than a year of revenue in contracted backlog, so their revenue is the most elastic to AI spending: 0.84 at Dell and 0.41 at HPE per point of cloud-capex growth, summed over five quarters. Digital Realty is the opposite; its revenue hasn't fallen year on year since 2018, and its link to capex isn't significant.</a:t>
            </a:r>
          </a:p>
          <a:p/>
          <a:p>
            <a:r>
              <a:t>The investing implication: you can't value a shipment-paid business on its best year; you value it on through-cycle margins. HPE's elasticity is half Dell's, a statistically significant gap, because networking and services dampen the swing. Once you control for Juniper, HPE's link to cloud capex shrinks further and isn't robust.</a:t>
            </a:r>
          </a:p>
          <a:p/>
          <a:p>
            <a:r>
              <a:t>Numbers to say:</a:t>
            </a:r>
          </a:p>
          <a:p>
            <a:r>
              <a:t>• cash payback ~11.5 years (landlord), ~3 years (neocloud), 2 quarters (server provider);</a:t>
            </a:r>
          </a:p>
          <a:p>
            <a:r>
              <a:t>• revenue elasticity: Dell 0.84, HPE 0.41, gap significant (p = 0.004); Digital Realty 0.06, not significant;</a:t>
            </a:r>
          </a:p>
          <a:p>
            <a:r>
              <a:t>• controlling for Juniper, HPE's link shrinks to 0.09–0.19 depending on the lags and isn't robust; share-price AI beta for HPE and Dell isn't significant.</a:t>
            </a:r>
          </a:p>
          <a:p/>
          <a:p>
            <a:r>
              <a:t>Slide takeaway: Result: Highest measured revenue elasticity — server providers 0.41–0.84 per point of hyperscaler capex growth, with backlog of 0.3–0.9x revenue.</a:t>
            </a:r>
          </a:p>
          <a:p/>
          <a:p>
            <a:r>
              <a:t>Transition: So inside HPE, where are the switching costs?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Servers supply the revenue; networking supplies the return on capital</a:t>
            </a:r>
          </a:p>
          <a:p/>
          <a:p>
            <a:r>
              <a:t>Time: 1:30 (cumulative 6:30)</a:t>
            </a:r>
          </a:p>
          <a:p/>
          <a:p>
            <a:r>
              <a:t>Goal: Moat reasoning: returns, not stories.</a:t>
            </a:r>
          </a:p>
          <a:p/>
          <a:p>
            <a:r>
              <a:t>Script: The chart shows HPE's business lines over the last twelve months. Servers are half of revenue, and routing and data-centre networking grow fastest, much of it Juniper being consolidated.</a:t>
            </a:r>
          </a:p>
          <a:p/>
          <a:p>
            <a:r>
              <a:t>The moat table:</a:t>
            </a:r>
          </a:p>
          <a:p>
            <a:r>
              <a:t>• Servers and AI systems: bought competitively, so no moat.</a:t>
            </a:r>
          </a:p>
          <a:p>
            <a:r>
              <a:t>• Networking and storage: narrow moats. Campus networks run through Aruba Central and Juniper Mist and are embedded in security policy, and routing uses HPE's own Express 5 silicon.</a:t>
            </a:r>
          </a:p>
          <a:p>
            <a:r>
              <a:t>• Financial Services: a credit business.</a:t>
            </a:r>
          </a:p>
          <a:p/>
          <a:p>
            <a:r>
              <a:t>A booming market doesn't create a moat either: in the second quarter HPE's server revenue grew 46% while the market grew 52% and Dell 165%.</a:t>
            </a:r>
          </a:p>
          <a:p/>
          <a:p>
            <a:r>
              <a:t>The test that matters most is returns. HPE's adjusted after-tax ROIC averaged 8.1% from FY2020 to FY2025, below any reasonable cost of capital, and reached 11.2% only in this AI-cycle year. Juniper is a deliberate move toward the part of the stack with pricing power. But after $1.6 billion of impairments on earlier deals in FY2025, we want evidence in returns before we pay for the synergies.</a:t>
            </a:r>
          </a:p>
          <a:p/>
          <a:p>
            <a:r>
              <a:t>Numbers to say: ROIC 8.1% average FY20–25; 11.2% TTM; WACC 9.3%; HPE +46% vs market +52% and Dell +165%; impairments $1.6bn.</a:t>
            </a:r>
          </a:p>
          <a:p/>
          <a:p>
            <a:r>
              <a:t>Slide takeaway: Result: Returns, not revenue, locate the moat — adjusted ROIC averaged 8.1% in FY20–25, below WACC; 11.2% TTM, led by networking.</a:t>
            </a:r>
          </a:p>
          <a:p/>
          <a:p>
            <a:r>
              <a:t>Transition: Question two: structure or cycle?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 infrastructure spending is rising faster than HPE's server share</a:t>
            </a:r>
          </a:p>
          <a:p/>
          <a:p>
            <a:r>
              <a:t>When to use: Questions about market growth, market share or the profit pool.</a:t>
            </a:r>
          </a:p>
          <a:p/>
          <a:p>
            <a:r>
              <a:t>Slide takeaway: Result: Growth without share gain — HPE servers +46% against the market's +52% in 2Q26; ODM-direct holds 53.9% of the market.</a:t>
            </a:r>
          </a:p>
          <a:p>
            <a:r>
              <a:t>• Market size: IDC puts AI infrastructure at $497bn in 2026; the server market grew 52% in 2Q26; the five big cloud spenders' capex is $566bn over twelve months, up 81%.</a:t>
            </a:r>
          </a:p>
          <a:p>
            <a:r>
              <a:t>• Share: HPE grew 46% against the market's 52% and Dell's 165%. It has 3.5% of all servers and about 7.7% of the OEM market it competes in, because more than half of servers go ODM-direct to hyperscalers.</a:t>
            </a:r>
          </a:p>
          <a:p>
            <a:r>
              <a:t>• Profit pool: it goes to whoever has bargaining power, here NVIDIA, the memory makers and giant buyers ordering in competitive lots. Market growth does not by itself create pricing power.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flat years, then a step change in revenue and margin</a:t>
            </a:r>
          </a:p>
          <a:p/>
          <a:p>
            <a:r>
              <a:t>Time: 1:10 (cumulative 7:40)</a:t>
            </a:r>
          </a:p>
          <a:p/>
          <a:p>
            <a:r>
              <a:t>Goal: Read both charts and frame the structure-versus-cycle question.</a:t>
            </a:r>
          </a:p>
          <a:p/>
          <a:p>
            <a:r>
              <a:t>Script: Start with the long view, and read the two boxes under the charts.</a:t>
            </a:r>
          </a:p>
          <a:p>
            <a:r>
              <a:t>• Revenue (left): compounded at just 2.8% a year from FY2020 to FY2024, from $27 billion to $30 billion. FY2025 grew 13.8% with part of a Juniper year, and the last twelve months grew 30.8% to $41.9 billion. What changed is a full year of Juniper, AI systems and higher server prices.</a:t>
            </a:r>
          </a:p>
          <a:p>
            <a:r>
              <a:t>• Margins (right): non-GAAP operating margin sat between 8.5 and 10.8% for six years; it is now 13.8% over twelve months and 16.2% in the latest quarter. GAAP gross margin rose to 36.7% from 30.3%, helped by networking mix and pricing. But GAAP operating margin is only 6.2%: the 7.6-point gap is mainly Juniper amortisation and stock-based compensation, which we treat as a real cost.</a:t>
            </a:r>
          </a:p>
          <a:p/>
          <a:p>
            <a:r>
              <a:t>When a company that was flat for four years suddenly steps up, the job isn't to extrapolate; it is to ask what caused the step. Start with the latest quarter.</a:t>
            </a:r>
          </a:p>
          <a:p/>
          <a:p>
            <a:r>
              <a:t>Numbers to say: 2.8% CAGR FY20–24 ($27.0bn → $30.1bn); +13.8% FY25; +30.8% TTM to $41.9bn; non-GAAP margin 8.5–10.8% → 13.8% TTM, 16.2% Q3; GAAP gross margin 36.7% vs 30.3%; GAAP operating margin 6.2%, gap 7.6pp.</a:t>
            </a:r>
          </a:p>
          <a:p/>
          <a:p>
            <a:r>
              <a:t>Slide takeaway: Result: Level shift, not trend extension — revenue +30.8% TTM after a 2.8% CAGR in FY20–24; non-GAAP margin 8.5–10.8% to 13.8%.</a:t>
            </a:r>
          </a:p>
          <a:p/>
          <a:p>
            <a:r>
              <a:t>Transition: Here is the latest quarter.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Juniper accounts for 32–38% of FY26 revenue above baseline</a:t>
            </a:r>
          </a:p>
          <a:p/>
          <a:p>
            <a:r>
              <a:t>Time: 1:30 (cumulative 11:55)</a:t>
            </a:r>
          </a:p>
          <a:p/>
          <a:p>
            <a:r>
              <a:t>Goal: Quantify structure versus cycle with our own counterfactual and regressions.</a:t>
            </a:r>
          </a:p>
          <a:p/>
          <a:p>
            <a:r>
              <a:t>Script: This slide is our own test of structure versus cycle.</a:t>
            </a:r>
          </a:p>
          <a:p>
            <a:r>
              <a:t>• The baseline: we fitted an ARIMA model, a statistical baseline, to HPE's quarterly revenue from FY2018 to mid-FY2025, before Juniper. With no structural change FY26 would be about $29 billion, against guidance of $46.5 billion: $17.4 billion above the baseline. All five quarters since the Juniper close sit above the model's 95% band, so this is a genuine break.</a:t>
            </a:r>
          </a:p>
          <a:p>
            <a:r>
              <a:t>• The attribution: using the company's own normalised growth, Juniper explains about $5.7 billion, roughly a third. The other $11.8 billion is AI systems, pricing and refresh: the cyclical part. On eight alternative baselines Juniper's share stays between 32% and 38%.</a:t>
            </a:r>
          </a:p>
          <a:p>
            <a:r>
              <a:t>• Two regressions test the drivers:</a:t>
            </a:r>
          </a:p>
          <a:p>
            <a:r>
              <a:t>  - once Juniper quarters are accounted for, cloud capex adds only a small lift to revenue growth, and it disappears when we allow longer lags;</a:t>
            </a:r>
          </a:p>
          <a:p>
            <a:r>
              <a:t>  - past memory spikes came with slightly lower HPE margins, yet Q3 FY26 margin was 6.5 points above what that model predicts. HPE priced ahead of memory costs, and that is the part most likely to reverse.</a:t>
            </a:r>
          </a:p>
          <a:p/>
          <a:p>
            <a:r>
              <a:t>Interpretation: the acquisition raised the level of revenue, but 32–38% of the excess is Juniper and the remainder is cyclical demand and pricing.</a:t>
            </a:r>
          </a:p>
          <a:p/>
          <a:p>
            <a:r>
              <a:t>Numbers to say: baseline $29.1bn vs guide $46.5bn; excess $17.4bn; Juniper ≈ $5.7bn (32–38% on eight baselines); AI and pricing ≈ $11.8bn; Q3 FY26 margin 6.5pp above the model.</a:t>
            </a:r>
          </a:p>
          <a:p/>
          <a:p>
            <a:r>
              <a:t>Slide takeaway: Decomposition: Acquisition 32–38%, cycle the remainder — $17.4bn above the pre-Juniper baseline: $5.7bn Juniper consolidation, $11.8bn AI demand and pricing.</a:t>
            </a:r>
          </a:p>
          <a:p/>
          <a:p>
            <a:r>
              <a:t>Transition: If most of the increase is cyclical, does HPE show the indicators of a cycle high? We checked.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Cloud capex and memory pricing are the two external drivers</a:t>
            </a:r>
          </a:p>
          <a:p/>
          <a:p>
            <a:r>
              <a:t>When to use: Questions about cloud capex, memory prices or rates.</a:t>
            </a:r>
          </a:p>
          <a:p/>
          <a:p>
            <a:r>
              <a:t>Slide takeaway: Result: Both drivers are outside HPE's control — hyperscaler capex +81% TTM and DRAM contract prices +13–18% QoQ set volume and price.</a:t>
            </a:r>
          </a:p>
          <a:p>
            <a:r>
              <a:t>• Cloud capex: quarterly capex at Microsoft, Alphabet, Amazon, Meta and Oracle is at a record run-rate. It feeds AI orders and backlog, but AI systems dilute margin and swell inventory.</a:t>
            </a:r>
          </a:p>
          <a:p>
            <a:r>
              <a:t>• Memory prices: Micron's gross margin rose from 38% to 85% in a year, and DRAM contract prices rose 13–18% quarter on quarter in Q3. HPE priced ahead of the cost increase, so Q3 server revenue grew 35% largely on price while units were supply-constrained, and gross margin rose rather than falling as it did in earlier memory spikes.</a:t>
            </a:r>
          </a:p>
          <a:p>
            <a:r>
              <a:t>• Reversibility: both levers are external and at records, and both can reverse. When memory prices fall, server revenue can shrink even if unit demand is flat. Rates (10-year at 4.95%) set the WACC.</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of seven late-cycle indicators present; three structural offsets</a:t>
            </a:r>
          </a:p>
          <a:p/>
          <a:p>
            <a:r>
              <a:t>Time: 1:30 (cumulative 13:25)</a:t>
            </a:r>
          </a:p>
          <a:p/>
          <a:p>
            <a:r>
              <a:t>Goal: Indicator checklist, with the counter-evidence shown.</a:t>
            </a:r>
          </a:p>
          <a:p/>
          <a:p>
            <a:r>
              <a:t>Script: No single indicator identifies a cycle peak; the evidence is the cluster of indicators. We checked HPE against seven:</a:t>
            </a:r>
          </a:p>
          <a:p>
            <a:r>
              <a:t>1. Growth led by price rather than units: present; the latest quarter proved it.</a:t>
            </a:r>
          </a:p>
          <a:p>
            <a:r>
              <a:t>2. Record margins that management guides lower: present, at 40.4%.</a:t>
            </a:r>
          </a:p>
          <a:p>
            <a:r>
              <a:t>3. Inventory financed by suppliers: present. Inventory is up $5.5 billion and payables up $6 billion.</a:t>
            </a:r>
          </a:p>
          <a:p>
            <a:r>
              <a:t>4. Record backlog while supply is the constraint: present, at $7.6 billion. Long lead times inflate orders, and slippage tends to follow when supply eases.</a:t>
            </a:r>
          </a:p>
          <a:p>
            <a:r>
              <a:t>5. Customers' capex at records, partly debt-funded: present, up 81%.</a:t>
            </a:r>
          </a:p>
          <a:p>
            <a:r>
              <a:t>6. A multiple above its own history: present, 13.5 times against 4 to 10.</a:t>
            </a:r>
          </a:p>
          <a:p>
            <a:r>
              <a:t>7. Momentum with insiders selling: only partly. The stock is up 155% in a year with a +19.5% single-day move on 2 June, and insiders made 31 sales and no purchases, though most of those sales came before the re-rating.</a:t>
            </a:r>
          </a:p>
          <a:p/>
          <a:p>
            <a:r>
              <a:t>The discipline is to also list what doesn't fit a pure cycle story: networking earns 40% of profit, ROIC is above WACC, and ARR grew 63%. So our conclusion isn't "HPE is at a cyclical peak". It is "HPE is a better business at a cyclical high", and the price has to tell the two apart.</a:t>
            </a:r>
          </a:p>
          <a:p/>
          <a:p>
            <a:r>
              <a:t>Numbers to say: gross margin 40.4%; inventory +$5.5bn, payables +$6.0bn; backlog $7.6bn; capex +81%; 13.5x vs 4–10x; +155% in a year; 31 insider sales, no purchases.</a:t>
            </a:r>
          </a:p>
          <a:p/>
          <a:p>
            <a:r>
              <a:t>Slide takeaway: Result: Six of seven indicators present — pricing-led growth, record margin guided lower, supplier-funded inventory; networking profit and ROIC are the offsets.</a:t>
            </a:r>
          </a:p>
          <a:p/>
          <a:p>
            <a:r>
              <a:t>Transition: Signal three deserves a closer look: is the cash real?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Record free cash flow with inventory financed by payables</a:t>
            </a:r>
          </a:p>
          <a:p/>
          <a:p>
            <a:r>
              <a:t>Time: 1:15 (cumulative 14:40)</a:t>
            </a:r>
          </a:p>
          <a:p/>
          <a:p>
            <a:r>
              <a:t>Goal: Cash quality, and why the balance sheet is not the issue.</a:t>
            </a:r>
          </a:p>
          <a:p/>
          <a:p>
            <a:r>
              <a:t>Script: Question three: is the cash real?</a:t>
            </a:r>
          </a:p>
          <a:p>
            <a:r>
              <a:t>• The headline: trailing free cash flow is a record $4.5 billion, a 10.7% margin, against about $1 billion in FY2025.</a:t>
            </a:r>
          </a:p>
          <a:p>
            <a:r>
              <a:t>• Working capital (right chart): since October, inventory rose $5.5 billion and payables rose $6 billion. Suppliers are financing the AI backlog.</a:t>
            </a:r>
          </a:p>
          <a:p>
            <a:r>
              <a:t>• Mechanism: when orders grow, payables can grow faster than inventory, so free cash flow peaks before the cycle does. When orders slow the financing unwinds, and free cash flow can swing by billions.</a:t>
            </a:r>
          </a:p>
          <a:p>
            <a:r>
              <a:t>• The balance sheet (bottom row) can absorb that:</a:t>
            </a:r>
          </a:p>
          <a:p>
            <a:r>
              <a:t>  - gross debt is $20.2 billion against $6.2 billion of cash, but about $11.5 billion of the debt funds Financial Services receivables;</a:t>
            </a:r>
          </a:p>
          <a:p>
            <a:r>
              <a:t>  - liquidity is $11.5 billion;</a:t>
            </a:r>
          </a:p>
          <a:p>
            <a:r>
              <a:t>  - dilution from the preferred and employee awards is 8.8%.</a:t>
            </a:r>
          </a:p>
          <a:p/>
          <a:p>
            <a:r>
              <a:t>So the balance sheet isn't the risk; the quality of this year's cash is.</a:t>
            </a:r>
          </a:p>
          <a:p/>
          <a:p>
            <a:r>
              <a:t>Numbers to say: free cash flow $4.5bn (10.7%) vs $986m in FY2025; inventory +$5.5bn; payables +$6.0bn; debt $20.2bn, cash $6.2bn; ~$11.5bn funds FS; dilution 8.8%.</a:t>
            </a:r>
          </a:p>
          <a:p/>
          <a:p>
            <a:r>
              <a:t>Slide takeaway: Result: Free cash flow supported by payables — payables +$6.0bn financed a $5.5bn inventory build; FCF margin 10.7% TTM.</a:t>
            </a:r>
          </a:p>
          <a:p/>
          <a:p>
            <a:r>
              <a:t>Transition: Part three: what does the price assume? First, the best case for the bulls.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peer multiples HPE would be valued at $67–106 per share</a:t>
            </a:r>
          </a:p>
          <a:p/>
          <a:p>
            <a:r>
              <a:t>Time: 1:00 (cumulative 15:40)</a:t>
            </a:r>
          </a:p>
          <a:p/>
          <a:p>
            <a:r>
              <a:t>Goal: State the strongest opposing case before testing it.</a:t>
            </a:r>
          </a:p>
          <a:p/>
          <a:p>
            <a:r>
              <a:t>Script: Before testing the price, state the strongest opposing case. The best bull argument is relative:</a:t>
            </a:r>
          </a:p>
          <a:p>
            <a:r>
              <a:t>• HPE has about twice Dell's gross margin and a networking business that looks more like Cisco;</a:t>
            </a:r>
          </a:p>
          <a:p>
            <a:r>
              <a:t>• yet it trades at 13.5 times next year's earnings, against Dell at 23 and Cisco at 20;</a:t>
            </a:r>
          </a:p>
          <a:p>
            <a:r>
              <a:t>• apply the core peers' multiples and you get $67 to $106, and a sum of the parts using Cisco's multiple for networking gives $67 to $94.</a:t>
            </a:r>
          </a:p>
          <a:p/>
          <a:p>
            <a:r>
              <a:t>Our response: those multiples aren't independent evidence. Dell at 23 times already embeds the same AI-cycle assumptions we are testing. Relative value can tell you HPE is cheap against its sector; it can't tell you the sector is priced right.</a:t>
            </a:r>
          </a:p>
          <a:p/>
          <a:p>
            <a:r>
              <a:t>Numbers to say: gross margin 37% vs Dell 20%; P/E 13.5x vs Dell 23.0x, Cisco 20.0x; peers imply $67–106; sum of the parts $67–94.</a:t>
            </a:r>
          </a:p>
          <a:p/>
          <a:p>
            <a:r>
              <a:t>Slide takeaway: Opposing case: Peer multiples embed the same cycle — relative value of $67–106 assumes sector multiples persist, so it cannot test that assumption.</a:t>
            </a:r>
          </a:p>
          <a:p/>
          <a:p>
            <a:r>
              <a:t>Transition: So we value the cash flows directly, and then run the valuation backwards.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price implies an 18.4% long-term margin or 10.8% growth</a:t>
            </a:r>
          </a:p>
          <a:p/>
          <a:p>
            <a:r>
              <a:t>Time: 1:30 (cumulative 17:10)</a:t>
            </a:r>
          </a:p>
          <a:p/>
          <a:p>
            <a:r>
              <a:t>Goal: Expectations investing with a reverse DCF.</a:t>
            </a:r>
          </a:p>
          <a:p/>
          <a:p>
            <a:r>
              <a:t>Script: Instead of forecasting the price, we treat the price as the forecast and solve for what it requires.</a:t>
            </a:r>
          </a:p>
          <a:p>
            <a:r>
              <a:t>• Our DCF: FY27 to FY36 at a 9.3% WACC (risk-free rate 4.95%, equity risk premium 3.97%, beta 1.35), with stock compensation expensed. It uses FY26 guidance and the FY27 framework, revenue up 15% at a 14.5% non-GAAP margin, fading to 12.5% long term.</a:t>
            </a:r>
          </a:p>
          <a:p>
            <a:r>
              <a:t>• Reversed, one variable at a time, $62.09 needs one of:</a:t>
            </a:r>
          </a:p>
          <a:p>
            <a:r>
              <a:t>  - a long-term non-GAAP margin of 18.4%, when HPE's range from FY2020 to FY2025 was 8.5 to 10.8% and the FY27 guide is 14–15%;</a:t>
            </a:r>
          </a:p>
          <a:p>
            <a:r>
              <a:t>  - revenue growth of 10.8% a year for ten years instead of 5%;</a:t>
            </a:r>
          </a:p>
          <a:p>
            <a:r>
              <a:t>  - a 7% cost of capital, which isn't plausible for a hardware company with a 1.4 beta.</a:t>
            </a:r>
          </a:p>
          <a:p>
            <a:r>
              <a:t>• Even if FY27's 14.5% margin held forever, growth would still need to be 3.5 points faster than our base.</a:t>
            </a:r>
          </a:p>
          <a:p/>
          <a:p>
            <a:r>
              <a:t>The logic: we don't have to be right about next quarter. We only have to ask whether the world the price implies is more likely than not, and here it looks like a stretch.</a:t>
            </a:r>
          </a:p>
          <a:p/>
          <a:p>
            <a:r>
              <a:t>Numbers to say: WACC 9.3%; implied margin 18.4% vs history 8.5–10.8% and guide 14–15%; implied CAGR 10.8% vs 5.0%; implied WACC 7.0%; +3.5pp growth even at a 14.5% margin.</a:t>
            </a:r>
          </a:p>
          <a:p/>
          <a:p>
            <a:r>
              <a:t>Slide takeaway: Reverse DCF: Price implies peak-level margin — $62.09 requires an 18.4% long-term margin against the 16.2% record quarter and the 14–15% FY27 guide.</a:t>
            </a:r>
          </a:p>
          <a:p/>
          <a:p>
            <a:r>
              <a:t>Transition: Here is every method on one scale.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Cash-flow methods give $31–43; peer-multiple methods give $35–106</a:t>
            </a:r>
          </a:p>
          <a:p/>
          <a:p>
            <a:r>
              <a:t>Time: 1:15 (cumulative 18:25)</a:t>
            </a:r>
          </a:p>
          <a:p/>
          <a:p>
            <a:r>
              <a:t>Goal: Show where the methods cluster and why they disagree.</a:t>
            </a:r>
          </a:p>
          <a:p/>
          <a:p>
            <a:r>
              <a:t>Script: The football field puts every method on one scale against the $62.09 price line.</a:t>
            </a:r>
          </a:p>
          <a:p>
            <a:r>
              <a:t>• Methods that value HPE's own cash flows cluster together:</a:t>
            </a:r>
          </a:p>
          <a:p>
            <a:r>
              <a:t>  - base DCF $38.80, with a $35 to $43 range for half a point either way on WACC and a quarter point on terminal growth;</a:t>
            </a:r>
          </a:p>
          <a:p>
            <a:r>
              <a:t>  - probability-weighted scenario value $38.43;</a:t>
            </a:r>
          </a:p>
          <a:p>
            <a:r>
              <a:t>  - an independent Damodaran model at $31.57, using a regional equity risk premium.</a:t>
            </a:r>
          </a:p>
          <a:p>
            <a:r>
              <a:t>• HPE's own forward P/E history gives $20 to $46.</a:t>
            </a:r>
          </a:p>
          <a:p>
            <a:r>
              <a:t>• Only methods that borrow today's peer multiples reach the price: comparables and sum of the parts. An M&amp;A value of $69–74 needs a buyer, which is improbable at an enterprise value above $100 billion.</a:t>
            </a:r>
          </a:p>
          <a:p/>
          <a:p>
            <a:r>
              <a:t>Interpretation: the intrinsic methods agree with each other and disagree with the price, so the price is being set by relative multiples, which are the least stable input in a sector cycle.</a:t>
            </a:r>
          </a:p>
          <a:p/>
          <a:p>
            <a:r>
              <a:t>Numbers to say: DCF $38.80 ($35–43); probability-weighted $38.43; Ginzu $31.57; own history $20–46; M&amp;A $69–74.</a:t>
            </a:r>
          </a:p>
          <a:p/>
          <a:p>
            <a:r>
              <a:t>Slide takeaway: Conclusion: Methods disagree by construction — DCF $38.80, scenarios $22–54 and Ginzu $31.57 sit below $62.09; only peer multiples exceed it.</a:t>
            </a:r>
          </a:p>
          <a:p/>
          <a:p>
            <a:r>
              <a:t>Transition: How lopsided is the risk-reward? Scenarios.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bull-case DCF value of $53.93 remains below the market price</a:t>
            </a:r>
          </a:p>
          <a:p/>
          <a:p>
            <a:r>
              <a:t>Time: 1:15 (cumulative 19:40)</a:t>
            </a:r>
          </a:p>
          <a:p/>
          <a:p>
            <a:r>
              <a:t>Goal: Make the asymmetry explicit.</a:t>
            </a:r>
          </a:p>
          <a:p/>
          <a:p>
            <a:r>
              <a:t>Script: Scenarios make the asymmetry explicit.</a:t>
            </a:r>
          </a:p>
          <a:p>
            <a:r>
              <a:t>• Bear (25%): AI digestion and memory normalisation reverse this year's price gains, FY28 revenue falls 3%, and margin returns to 10.5%. Value: $22.</a:t>
            </a:r>
          </a:p>
          <a:p>
            <a:r>
              <a:t>• Base (50%): the FY27 framework is delivered, growth fades to mid-single digits, and margin settles at 12.5%. Value: $38.80.</a:t>
            </a:r>
          </a:p>
          <a:p>
            <a:r>
              <a:t>• Bull (25%): Oracle and Helios lift networking, and margin holds at 14.5%. Value: $54.</a:t>
            </a:r>
          </a:p>
          <a:p>
            <a:r>
              <a:t>• Probability-weighted: $38.43.</a:t>
            </a:r>
          </a:p>
          <a:p/>
          <a:p>
            <a:r>
              <a:t>The key point: even the bull case sits below today's price, so upside from here needs assumptions beyond what the evidence supports. The tornado on the right shows what matters: the discount rate, growth and long-term margin each swing value by about $12 to $14, while terminal growth and working capital matter much less. Margin is the one where the evidence is genuinely open, which is why margin durability is at the centre of our monitoring.</a:t>
            </a:r>
          </a:p>
          <a:p/>
          <a:p>
            <a:r>
              <a:t>Numbers to say: $22 / $38.80 / $54; probability-weighted $38.43; WACC ±1pp $33–47; growth ±2pp $33–46; margin ±1.5pp $33–45.</a:t>
            </a:r>
          </a:p>
          <a:p/>
          <a:p>
            <a:r>
              <a:t>Slide takeaway: Sensitivity: No margin of safety in any case — bull $53.93 and probability-weighted $38.43 both below $62.09; WACC and long-term margin dominate.</a:t>
            </a:r>
          </a:p>
          <a:p/>
          <a:p>
            <a:r>
              <a:t>Transition: Part four: what the market is doing, the risks, and the decision.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Return correlation has shifted to AI hardware; volatility clusters</a:t>
            </a:r>
          </a:p>
          <a:p/>
          <a:p>
            <a:r>
              <a:t>Time: 1:00 (cumulative 20:40)</a:t>
            </a:r>
          </a:p>
          <a:p/>
          <a:p>
            <a:r>
              <a:t>Goal: Read the market's behaviour and draw the position-sizing lesson.</a:t>
            </a:r>
          </a:p>
          <a:p/>
          <a:p>
            <a:r>
              <a:t>Script: For a decade the stock traded between about $8 and $26, as an ex-growth hardware company. In April 2026 it broke out, and it is up 155% in a year.</a:t>
            </a:r>
          </a:p>
          <a:p/>
          <a:p>
            <a:r>
              <a:t>Two patterns matter for how you act, and we tested both:</a:t>
            </a:r>
          </a:p>
          <a:p>
            <a:r>
              <a:t>• HPE now trades as an AI-hardware name. Over the last year its correlation with Dell (0.66) exceeds its correlation with the S&amp;P 500 (0.47). A bootstrap puts the gap at 0.09–0.28, so it is real; over three years it isn't significant, so this is a recent re-rating.</a:t>
            </a:r>
          </a:p>
          <a:p>
            <a:r>
              <a:t>• Returns show no significant autocorrelation, so past prices don't predict direction, but volatility clusters and three-sigma days happen 6.8 times as often as a normal distribution implies.</a:t>
            </a:r>
          </a:p>
          <a:p/>
          <a:p>
            <a:r>
              <a:t>So use valuation ranges and size positions for the measured tail frequency. Next catalysts: the Networking Investor Day on 30 September and full FY27 guidance in early December.</a:t>
            </a:r>
          </a:p>
          <a:p/>
          <a:p>
            <a:r>
              <a:t>Numbers to say: range $7.83–26.25 for a decade; +155% in a year; correlation with Dell 0.66 vs S&amp;P 500 0.47 (gap 0.19, significant over one year); 3σ days 6.8x normal.</a:t>
            </a:r>
          </a:p>
          <a:p/>
          <a:p>
            <a:r>
              <a:t>Slide takeaway: Result: Correlation regime change — one-year correlation with Dell 0.66 against 0.47 with the S&amp;P 500 (gap 0.19, CI 0.09–0.28); 3σ days at 6.8x normal frequency.</a:t>
            </a:r>
          </a:p>
          <a:p/>
          <a:p>
            <a:r>
              <a:t>Transition: What could go wrong for anyone owning it at $62?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variables that produced the re-rating can reverse it</a:t>
            </a:r>
          </a:p>
          <a:p/>
          <a:p>
            <a:r>
              <a:t>Time: 1:15 (cumulative 21:55)</a:t>
            </a:r>
          </a:p>
          <a:p/>
          <a:p>
            <a:r>
              <a:t>Goal: Trace each risk through the statements to valuation.</a:t>
            </a:r>
          </a:p>
          <a:p/>
          <a:p>
            <a:r>
              <a:t>Script: The risk slide has one idea: the biggest risks are the forces that created the rally, running in reverse. For each one we trace the chain from revenue to margin to cash to balance sheet to valuation, and name the indicator to watch.</a:t>
            </a:r>
          </a:p>
          <a:p/>
          <a:p>
            <a:r>
              <a:t>Company-specific:</a:t>
            </a:r>
          </a:p>
          <a:p>
            <a:r>
              <a:t>• Cloud &amp; AI margin reversal: memory prices fall, prices and gross margin fall together, and inventory bought at peak cost gets written down. Watch TrendForce prices and HPE's gross margin.</a:t>
            </a:r>
          </a:p>
          <a:p>
            <a:r>
              <a:t>• Networking execution: share loss to Cisco and Arista, or missed synergies, hits the highest-margin revenue. Watch normalised growth and the Investor Day.</a:t>
            </a:r>
          </a:p>
          <a:p>
            <a:r>
              <a:t>• Lumpy AI deals and customer credit: slippage swings free cash flow by billions. Watch backlog conversion and inventory days.</a:t>
            </a:r>
          </a:p>
          <a:p/>
          <a:p>
            <a:r>
              <a:t>External:</a:t>
            </a:r>
          </a:p>
          <a:p>
            <a:r>
              <a:t>• AI capex digestion: the largest valuation risk, because it hits both earnings and sector multiples.</a:t>
            </a:r>
          </a:p>
          <a:p>
            <a:r>
              <a:t>• Supply and trade policy.</a:t>
            </a:r>
          </a:p>
          <a:p>
            <a:r>
              <a:t>• Rates: each percentage point of WACC is worth roughly $6 to $8 a share.</a:t>
            </a:r>
          </a:p>
          <a:p/>
          <a:p>
            <a:r>
              <a:t>Notice the asymmetry: most of these risks push value down from $38, and almost none push it toward $62.</a:t>
            </a:r>
          </a:p>
          <a:p/>
          <a:p>
            <a:r>
              <a:t>Numbers to say: peers at 18–23x P/E; ±1pp WACC ≈ ±$6–8 per share.</a:t>
            </a:r>
          </a:p>
          <a:p/>
          <a:p>
            <a:r>
              <a:t>Slide takeaway: Risk map: Same variables, opposite sign — memory pricing, AI capex and sector multiples each transmit to revenue, margin and multiple.</a:t>
            </a:r>
          </a:p>
          <a:p/>
          <a:p>
            <a:r>
              <a:t>Transition: Which brings us to the decision.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Conditions required for $62.09 to equal fair value</a:t>
            </a:r>
          </a:p>
          <a:p/>
          <a:p>
            <a:r>
              <a:t>Time: 1:30 (cumulative 23:25)</a:t>
            </a:r>
          </a:p>
          <a:p/>
          <a:p>
            <a:r>
              <a:t>Goal: Close on the decision logic without a rating.</a:t>
            </a:r>
          </a:p>
          <a:p/>
          <a:p>
            <a:r>
              <a:t>Script: Here is the decision framework.</a:t>
            </a:r>
          </a:p>
          <a:p>
            <a:r>
              <a:t>• Left: our ranges against the price. Intrinsic value is $35 to $43. Relative value is $67 to $106, but only if peer multiples hold.</a:t>
            </a:r>
          </a:p>
          <a:p>
            <a:r>
              <a:t>• Right: for $62.09 to be fair value, one of these must be true:</a:t>
            </a:r>
          </a:p>
          <a:p>
            <a:r>
              <a:t>  - an 18% long-term margin, when FY27 guidance is 14–15%;</a:t>
            </a:r>
          </a:p>
          <a:p>
            <a:r>
              <a:t>  - 11% revenue growth for ten years, when our base is 5%;</a:t>
            </a:r>
          </a:p>
          <a:p>
            <a:r>
              <a:t>  - a 7% cost of capital, or AI-hardware multiples that persist.</a:t>
            </a:r>
          </a:p>
          <a:p/>
          <a:p>
            <a:r>
              <a:t>We don't need to predict which way the cycle turns. We need to know what would change our mind.</a:t>
            </a:r>
          </a:p>
          <a:p>
            <a:r>
              <a:t>• Upward: Cloud &amp; AI margin holding at 13% or more through a memory-price decline, networking growing mid-teens organically at 25%-plus margins, and FY27 free cash flow well above $5 billion with inventory normalising. Together those would lift the long-term margin toward 15% and our range toward $55–60: still below today's price, but close.</a:t>
            </a:r>
          </a:p>
          <a:p>
            <a:r>
              <a:t>• Downward: non-GAAP gross margin back below 33%, a sequential decline in AI backlog, or a sector de-rating.</a:t>
            </a:r>
          </a:p>
          <a:p/>
          <a:p>
            <a:r>
              <a:t>That is the conclusion: a better business, priced as if the cycle never turns, with a clear list of signposts to update on.</a:t>
            </a:r>
          </a:p>
          <a:p/>
          <a:p>
            <a:r>
              <a:t>Numbers to say: $35–43 vs $62.09; peer multiples $67–106; 18% vs 14–15%; 11% vs 5%; 7% WACC. Upward signposts: 13%, 25%, $5bn → $55–60. Downward: gross margin below 33%.</a:t>
            </a:r>
          </a:p>
          <a:p/>
          <a:p>
            <a:r>
              <a:t>Slide takeaway: Conclusion: $62.09 requires peak economics to persist — an 18% long-term margin, or 11% growth for a decade, or a 7.0% cost of capital.</a:t>
            </a:r>
          </a:p>
          <a:p/>
          <a:p>
            <a:r>
              <a:t>Transition: Let me leave you with what carries over to the next company.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transferable analytical methods</a:t>
            </a:r>
          </a:p>
          <a:p/>
          <a:p>
            <a:r>
              <a:t>Time: 0:45 (cumulative 24:10)</a:t>
            </a:r>
          </a:p>
          <a:p/>
          <a:p>
            <a:r>
              <a:t>Goal: Make the reasoning reusable.</a:t>
            </a:r>
          </a:p>
          <a:p/>
          <a:p>
            <a:r>
              <a:t>Slide takeaway: Summary: Five methods that transfer to other companies — profit concentration, break decomposition, revenue timing, working capital, inverted valuation.</a:t>
            </a:r>
          </a:p>
          <a:p/>
          <a:p>
            <a:r>
              <a:t>Script: Five methods transfer to other companies:</a:t>
            </a:r>
          </a:p>
          <a:p>
            <a:r>
              <a:t>1. Measure profit concentration, not revenue share.</a:t>
            </a:r>
          </a:p>
          <a:p>
            <a:r>
              <a:t>2. Decompose a break into acquisition and cycle.</a:t>
            </a:r>
          </a:p>
          <a:p>
            <a:r>
              <a:t>3. Revenue-recognition timing sets cyclicality.</a:t>
            </a:r>
          </a:p>
          <a:p>
            <a:r>
              <a:t>4. Working capital locates the cycle position.</a:t>
            </a:r>
          </a:p>
          <a:p>
            <a:r>
              <a:t>5. Invert the valuation and report ranges, because the return distribution has fat tails.</a:t>
            </a:r>
          </a:p>
          <a:p/>
          <a:p>
            <a:r>
              <a:t>Thank you. I'm happy to take questions; the appendix has backup on industry, macro, moat, capital structure, price action, catalysts and our two practitioner questions.</a:t>
            </a:r>
          </a:p>
          <a:p/>
          <a:p>
            <a:r>
              <a:t>Transition: Open for questions; use the Q&amp;A preparation below.</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divider</a:t>
            </a:r>
          </a:p>
          <a:p/>
          <a:p>
            <a:r>
              <a:t>When to use: Jump here when a question needs detail. Slides 22–31 are not timed.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Moat is narrow and confined to networking</a:t>
            </a:r>
          </a:p>
          <a:p/>
          <a:p>
            <a:r>
              <a:t>When to use: Questions about competition or pricing power.</a:t>
            </a:r>
          </a:p>
          <a:p/>
          <a:p>
            <a:r>
              <a:t>Slide takeaway: Conclusion: Narrow moat, networking only — rivalry and supplier power are high; servers and financing compete on scale and price.</a:t>
            </a:r>
          </a:p>
          <a:p>
            <a:r>
              <a:t>• Porter: rivalry and supplier power are high (NVIDIA, the memory makers, Broadcom); buyers medium-to-high; substitutes medium (public cloud vs on-premises inference); new entrants low-to-medium.</a:t>
            </a:r>
          </a:p>
          <a:p>
            <a:r>
              <a:t>• Moat by business: narrow in networking and storage/GreenLake; none in servers and AI systems or in Financial Services.</a:t>
            </a:r>
          </a:p>
          <a:p>
            <a:r>
              <a:t>• Returns test: adjusted ROIC averaged 8.1% over FY20–25 and is 11.2% TTM. Technology edge: Express 5 routing silicon, liquid cooling (Cray heritage), on-premises inference.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Net leverage 1.75x; the preferred drives 5.7pp of the 8.8% dilution</a:t>
            </a:r>
          </a:p>
          <a:p/>
          <a:p>
            <a:r>
              <a:t>When to use: Questions about leverage, the preferred, buybacks or refinancing.</a:t>
            </a:r>
          </a:p>
          <a:p/>
          <a:p>
            <a:r>
              <a:t>Slide takeaway: Result: Leverage manageable, dilution measurable — 1.75x net leverage and $11.5bn liquidity, with a fully diluted count 8.8% above basic.</a:t>
            </a:r>
          </a:p>
          <a:p>
            <a:r>
              <a:t>• Debt and cash: gross debt $20.2bn and cash $6.2bn; about $11.5bn funds Financial Services receivables (estimate); net debt 1.75x adjusted EBITDA; S&amp;P rating BBB, stable.</a:t>
            </a:r>
          </a:p>
          <a:p>
            <a:r>
              <a:t>• Share count: 1,445m fully diluted shares (+8.8%). Mostly the 7.625% mandatory convertible preferred (76.1m shares at the minimum conversion rate, around 1-Sep-2027), plus RSUs and the Oracle warrant (up to 4.2m).</a:t>
            </a:r>
          </a:p>
          <a:p>
            <a:r>
              <a:t>• Capital returns: $3.2bn buyback authorisation remaining; management intends to return at least 75% of free cash flow from Q4 FY26.</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Price consolidating below $63–64 after the 2-June +19.5% move</a:t>
            </a:r>
          </a:p>
          <a:p/>
          <a:p>
            <a:r>
              <a:t>When to use: Questions about timing or the chart.</a:t>
            </a:r>
          </a:p>
          <a:p/>
          <a:p>
            <a:r>
              <a:t>Slide takeaway: Result: Trend intact, price extended — a $41–64 range since June; 83% above the 200-day average; bandwidth 85% to 18%.</a:t>
            </a:r>
          </a:p>
          <a:p>
            <a:r>
              <a:t>• Breakout: first close above the $26.25 decade high on 17-Apr-2026, after a golden cross on 15-Apr.</a:t>
            </a:r>
          </a:p>
          <a:p>
            <a:r>
              <a:t>• Single-day move: on 2-Jun the stock opened +34% and closed +19.5% on 7.4x average volume, then drew down 26% into July.</a:t>
            </a:r>
          </a:p>
          <a:p>
            <a:r>
              <a:t>• Range: highs $64.25 / $63.44, lows $40.72 / $45.70, with Bollinger bandwidth compressing from 85% to 18%. Support is at the ~$51 50-day average and $41–46; resistance at $63–64.</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Earnings days produce the largest price reactions</a:t>
            </a:r>
          </a:p>
          <a:p/>
          <a:p>
            <a:r>
              <a:t>When to use: Questions about what moves the stock, or upcoming dates.</a:t>
            </a:r>
          </a:p>
          <a:p/>
          <a:p>
            <a:r>
              <a:t>Slide takeaway: Result: Earnings-day moves are 3.4x other days — 6.7% average absolute move against 2.0% (permutation p &lt; 0.001); 31 insider sales, no purchases.</a:t>
            </a:r>
          </a:p>
          <a:p>
            <a:r>
              <a:t>• What moves it: earnings and guidance, not deals. We tested it: across 11 earnings days since March 2024 the average move was 6.7%, against 2.0% on the other 624 trading days (permutation test, p &lt; 0.001); the largest was +19.5% on the Q2 FY26 results.</a:t>
            </a:r>
          </a:p>
          <a:p>
            <a:r>
              <a:t>• Catalysts: 30-Sep-2026 Networking Investor Day; early December Q4 FY26 and FY27 guidance; Oracle warrant milestones and the Helios ramp; ~1-Sep-2027 preferred conversion.</a:t>
            </a:r>
          </a:p>
          <a:p>
            <a:r>
              <a:t>• Ownership: 31 insider open-market sales ($49m) and no purchases in 12 months, mostly at $24–30. Elliott raised its stake 18% in Q2 to 2.4% and holds a board seat.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Juniper's exploited-vulnerability count is below the vendor median</a:t>
            </a:r>
          </a:p>
          <a:p/>
          <a:p>
            <a:r>
              <a:t>When to use: Questions about Juniper's security history or reputation.</a:t>
            </a:r>
          </a:p>
          <a:p/>
          <a:p>
            <a:r>
              <a:t>Slide takeaway: Conclusion: Count indicates governance, not defect — 8 KEV entries, 8th of 13 vendors (Cisco 97); counts are not normalised for installed base.</a:t>
            </a:r>
          </a:p>
          <a:p/>
          <a:p>
            <a:r>
              <a:t>Revised question: our data-centre SOP requires notifying designated personnel whenever Juniper equipment is installed. Does that imply Juniper devices have technical, security or compliance characteristics that other network equipment lacks?</a:t>
            </a:r>
          </a:p>
          <a:p>
            <a:r>
              <a:t>• Why SOPs single out Juniper: mainly governance, not unique hardware. Core-router role, security history (ScreenOS 2015, J-Web 2023, backdoors on end-of-life MX routers in 2025), cloud management and the ownership change.</a:t>
            </a:r>
          </a:p>
          <a:p>
            <a:r>
              <a:t>• Not an outlier: we counted CISA Known Exploited Vulnerabilities entries for 13 network and security vendors. Juniper has 8, 8th of 13 (Cisco 97); the counts aren't normalised for installed base.</a:t>
            </a:r>
          </a:p>
          <a:p>
            <a:r>
              <a:t>• For HPE: the risk is event-driven (a new implant-style incident during cross-selling), and replacing end-of-life routers is also Networking revenue.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business models with measurably different financial structures</a:t>
            </a:r>
          </a:p>
          <a:p/>
          <a:p>
            <a:r>
              <a:t>When to use: Questions about landlords, neoclouds or how HPE compares.</a:t>
            </a:r>
          </a:p>
          <a:p/>
          <a:p>
            <a:r>
              <a:t>Slide takeaway: Result: Structure differs by business model — neoclouds carry capex and depreciation, landlords duration, server providers order timing.</a:t>
            </a:r>
          </a:p>
          <a:p/>
          <a:p>
            <a:r>
              <a:t>Revised question: how do data-centre landlords, neoclouds and server providers differ financially, which gains most from AI spending, and should an investor own one model or several?</a:t>
            </a:r>
          </a:p>
          <a:p>
            <a:r>
              <a:t>• Landlords (Digital Realty): property and leases are 62% of assets; depreciation cuts a 44% EBITDA margin to 14%; revenue has not fallen year on year since 2018.</a:t>
            </a:r>
          </a:p>
          <a:p>
            <a:r>
              <a:t>• Neoclouds: capex 2.7–8.2x revenue; depreciation plus interest 67–74% of revenue; backlog 14–28x revenue; deeply negative free cash flow.</a:t>
            </a:r>
          </a:p>
          <a:p>
            <a:r>
              <a:t>• Server providers: capex at most 0.06x revenue; operating margins 6–9%; positive free cash flow; backlog under a year of revenue. CoreWeave's operating margin would be −26% on a 4-year GPU life instead of −3% on 6 years.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Revenue elasticity is highest for servers; AI beta highest for neoclouds</a:t>
            </a:r>
          </a:p>
          <a:p/>
          <a:p>
            <a:r>
              <a:t>When to use: Questions about which layer benefits most from AI, or whether to own several.</a:t>
            </a:r>
          </a:p>
          <a:p/>
          <a:p>
            <a:r>
              <a:t>Slide takeaway: Conclusion: Exposure differs by layer — minimum-variance mix 45% landlords and 55% servers; maximum-Sharpe 72% servers and 28% neoclouds.</a:t>
            </a:r>
          </a:p>
          <a:p>
            <a:r>
              <a:t>• Revenue elasticity (our regressions on 33 quarters) is highest at server providers: Dell 0.84 and HPE 0.41, a significant gap; Digital Realty's isn't significant. Share-price AI beta (our daily four-factor model) is highest at neoclouds (0.81–0.85 at Nebius and CoreWeave); HPE's and Dell's aren't significant.</a:t>
            </a:r>
          </a:p>
          <a:p>
            <a:r>
              <a:t>• Only the neocloud basket touches the efficient frontier, and only at its riskiest end. The lowest-risk mix was landlords 45% plus servers 55%; neoclouds got no weight in 97% of 2,000 bootstraps.</a:t>
            </a:r>
          </a:p>
          <a:p>
            <a:r>
              <a:t>• Best Sharpe: servers 72% plus neoclouds 28%. This rests on 17 months of AI-boom returns, so trust the covariance more than the averages.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Q3 FY26: record revenue, margin and EPS against guidance</a:t>
            </a:r>
          </a:p>
          <a:p/>
          <a:p>
            <a:r>
              <a:t>Time: 1:30 (cumulative 9:10)</a:t>
            </a:r>
          </a:p>
          <a:p/>
          <a:p>
            <a:r>
              <a:t>Goal: Give the latest results precisely: actual vs guidance vs consensus, segments and the raised outlook.</a:t>
            </a:r>
          </a:p>
          <a:p/>
          <a:p>
            <a:r>
              <a:t>Script: Q3 FY26, reported on 2 September, was a record on every line.</a:t>
            </a:r>
          </a:p>
          <a:p>
            <a:r>
              <a:t>• Revenue: $12.2 billion, up 34%, just above the top of guidance and 1% above consensus.</a:t>
            </a:r>
          </a:p>
          <a:p>
            <a:r>
              <a:t>• Margins: non-GAAP gross margin a record 40.4%, up 10.5 points; operating margin 16.2%, up 7.7 points.</a:t>
            </a:r>
          </a:p>
          <a:p>
            <a:r>
              <a:t>• EPS: $1.11, 19% above the top of guidance and 18% above consensus.</a:t>
            </a:r>
          </a:p>
          <a:p>
            <a:r>
              <a:t>• Cash and demand: free cash flow $958 million; orders up 42% normalised; AI backlog a record $7.6 billion.</a:t>
            </a:r>
          </a:p>
          <a:p>
            <a:r>
              <a:t>• Segments:</a:t>
            </a:r>
          </a:p>
          <a:p>
            <a:r>
              <a:t>  - Networking grew 75% at a 22% margin, but only 10% on a normalised basis, because last year's quarter had just one month of Juniper.</a:t>
            </a:r>
          </a:p>
          <a:p>
            <a:r>
              <a:t>  - Cloud &amp; AI grew 25%, and its margin jumped from 7% to 17%.</a:t>
            </a:r>
          </a:p>
          <a:p>
            <a:r>
              <a:t>• Outlook, raised across the board:</a:t>
            </a:r>
          </a:p>
          <a:p>
            <a:r>
              <a:t>  - Q4 revenue guidance of $13.9 to $14.8 billion implies 44 to 53% growth;</a:t>
            </a:r>
          </a:p>
          <a:p>
            <a:r>
              <a:t>  - FY26 EPS guidance went to $3.75–3.85;</a:t>
            </a:r>
          </a:p>
          <a:p>
            <a:r>
              <a:t>  - the FY27 framework went to 13–17% revenue growth and at least $5 billion of free cash flow.</a:t>
            </a:r>
          </a:p>
          <a:p/>
          <a:p>
            <a:r>
              <a:t>The chart shows how far FY26 EPS guidance has moved since last October, already past the FY2028 target. This is what a strong cycle looks like; the question is which parts repeat.</a:t>
            </a:r>
          </a:p>
          <a:p/>
          <a:p>
            <a:r>
              <a:t>Numbers to say:</a:t>
            </a:r>
          </a:p>
          <a:p>
            <a:r>
              <a:t>• revenue $12.2bn +34% (guide $11.5–12.1bn, consensus $12.1bn);</a:t>
            </a:r>
          </a:p>
          <a:p>
            <a:r>
              <a:t>• gross margin 40.4% (+10.5pp); operating margin 16.2% (+7.7pp);</a:t>
            </a:r>
          </a:p>
          <a:p>
            <a:r>
              <a:t>• EPS $1.11 (guide $0.88–0.93, consensus $0.94);</a:t>
            </a:r>
          </a:p>
          <a:p>
            <a:r>
              <a:t>• free cash flow $958m; orders +42%; AI backlog $7.6bn;</a:t>
            </a:r>
          </a:p>
          <a:p>
            <a:r>
              <a:t>• Networking +75% (+10% normalised) at 22.0%; Cloud &amp; AI +25% at 17.0%;</a:t>
            </a:r>
          </a:p>
          <a:p>
            <a:r>
              <a:t>• Q4 guide $13.9–14.8bn (+44–53%); FY26 EPS $3.75–3.85; FY27 +13–17%, free cash flow ≥$5.0bn.</a:t>
            </a:r>
          </a:p>
          <a:p/>
          <a:p>
            <a:r>
              <a:t>Slide takeaway: Result: Margin-led beat — non-GAAP EPS exceeded consensus by 18% while revenue exceeded it by 1%.</a:t>
            </a:r>
          </a:p>
          <a:p/>
          <a:p>
            <a:r>
              <a:t>Transition: So what actually drove that beat?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Decomposition of the beat: margin contributed about 78%</a:t>
            </a:r>
          </a:p>
          <a:p/>
          <a:p>
            <a:r>
              <a:t>Time: 1:15 (cumulative 10:25)</a:t>
            </a:r>
          </a:p>
          <a:p/>
          <a:p>
            <a:r>
              <a:t>Goal: Decompose the beat and judge its repeatability.</a:t>
            </a:r>
          </a:p>
          <a:p/>
          <a:p>
            <a:r>
              <a:t>Script: Let's decompose the beat.</a:t>
            </a:r>
          </a:p>
          <a:p>
            <a:r>
              <a:t>• Left chart: green bars are EPS, grey bars revenue, each against the top of the guidance range. Over six quarters EPS beat the top of guidance five times, by 44% and 19% in the last two, while revenue beats stayed in single digits. That combination identifies a margin-led beat.</a:t>
            </a:r>
          </a:p>
          <a:p>
            <a:r>
              <a:t>• Operating-profit bridge (our estimate): non-GAAP operating profit rose about $1.2 billion year on year, and roughly 78% of that came from margin rather than volume.</a:t>
            </a:r>
          </a:p>
          <a:p>
            <a:r>
              <a:t>• Where the margin came from: price. Server revenue rose 35% on higher average selling prices while supply was constrained, as memory prices spiked and HPE passed them on. Management itself expects gross margin to moderate back toward historical levels. Cloud capex and memory prices, the two macro levers, lifted both volume and price, and both can reverse.</a:t>
            </a:r>
          </a:p>
          <a:p>
            <a:r>
              <a:t>• Networking's 75% is mostly acquired: organic growth was 10%, although orders grew 36%.</a:t>
            </a:r>
          </a:p>
          <a:p>
            <a:r>
              <a:t>• Cash: free cash flow was 48% of operating profit, with $11.8 billion of inventory on the balance sheet.</a:t>
            </a:r>
          </a:p>
          <a:p>
            <a:r>
              <a:t>• Guidance has ratcheted: the FY26 EPS guide already exceeds the target HPE set for FY28 only last October.</a:t>
            </a:r>
          </a:p>
          <a:p/>
          <a:p>
            <a:r>
              <a:t>Interpretation: margin-led beats with rising guidance are the least repeatable component of a cycle.</a:t>
            </a:r>
          </a:p>
          <a:p/>
          <a:p>
            <a:r>
              <a:t>Numbers to say: EPS beat the top of guidance in 5 of 6 quarters (+44%, +19%); ~78% of the $1.2bn profit rise from margin; server +35%; Networking +10% normalised, orders +36%; free cash flow 48% of operating profit; FY28 EPS target ≥$3.00 vs FY26 guide $3.75–3.85.</a:t>
            </a:r>
          </a:p>
          <a:p/>
          <a:p>
            <a:r>
              <a:t>Slide takeaway: Decomposition: Margin contributed about 78% — of the $1.2bn rise in non-GAAP operating profit; management guides gross margin lower.</a:t>
            </a:r>
          </a:p>
          <a:p/>
          <a:p>
            <a:r>
              <a:t>Transition: Now step back from one quarter: how much of the whole jump is structural?</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GreenLake adds customers and retention, not yet networking-level profit</a:t>
            </a:r>
          </a:p>
          <a:p/>
          <a:p>
            <a:r>
              <a:t>When to use: Questions about GreenLake, recurring revenue or IT-operations software.</a:t>
            </a:r>
          </a:p>
          <a:p/>
          <a:p>
            <a:r>
              <a:t>Slide takeaway: Conclusion: Growing platform, not yet a second Juniper — 52,000 customers (+18%) and net retention near 110%, but a 5.8% FY25 segment margin against networking's 23.3%.</a:t>
            </a:r>
          </a:p>
          <a:p/>
          <a:p>
            <a:r>
              <a:t>Revised question: GreenLake's customer count grew 18% in a year. Could GreenLake become a second structural profit driver for HPE, as the Juniper acquisition has, and does it reduce the effort of running data-centre IT?</a:t>
            </a:r>
          </a:p>
          <a:p>
            <a:r>
              <a:t>• Scale: 52,000 customers (+18%) managing 6.7 million systems, with net retention near 110%. ARR was $3.15bn at FY25, but it also counts Financial Services lease income and, from Q3 FY25, software support and maintenance; HPE has not disclosed GreenLake's own size. The ~$3.5bn FY26 target implies 11% growth.</a:t>
            </a:r>
          </a:p>
          <a:p>
            <a:r>
              <a:t>• Profitability: Hybrid Cloud, the segment that held GreenLake until FY25, earned 4.4–5.8% operating margins in FY2023–FY2025 against 23–25% for networking. At its FY25 margin it would need about $27bn of revenue to earn networking's operating profit, so it is not yet a second Juniper.</a:t>
            </a:r>
          </a:p>
          <a:p>
            <a:r>
              <a:t>• IT operations: one console plus OpsRamp observability, Morpheus orchestration and the VM Essentials hypervisor target tool sprawl and VMware licence cost. Users rate it 4.3 out of 5 on 14 PeerSpot reviews, but there is no independent evidence yet of fewer incidents or faster resolution.</a:t>
            </a:r>
          </a:p>
          <a:p>
            <a:r>
              <a:t>• For investors: today it supports retention and hardware attach; it matters to valuation only if HPE discloses a software line with margins well above 5.8%.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type="title">
  <p:cSld name="TITLE">
    <p:spTree>
      <p:nvGrpSpPr>
        <p:cNvPr id="54" name="Shape 54"/>
        <p:cNvGrpSpPr/>
        <p:nvPr/>
      </p:nvGrpSpPr>
      <p:grpSpPr>
        <a:xfrm>
          <a:off x="0" y="0"/>
          <a:ext cx="0" cy="0"/>
          <a:chOff x="0" y="0"/>
          <a:chExt cx="0" cy="0"/>
        </a:xfrm>
      </p:grpSpPr>
      <p:sp>
        <p:nvSpPr>
          <p:cNvPr id="55" name="Google Shape;55;p14"/>
          <p:cNvSpPr txBox="1"/>
          <p:nvPr>
            <p:ph idx="1" type="body"/>
          </p:nvPr>
        </p:nvSpPr>
        <p:spPr>
          <a:xfrm>
            <a:off x="450503" y="4447448"/>
            <a:ext cx="8239126"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6" name="Google Shape;56;p14"/>
          <p:cNvSpPr txBox="1"/>
          <p:nvPr>
            <p:ph type="title"/>
          </p:nvPr>
        </p:nvSpPr>
        <p:spPr>
          <a:xfrm>
            <a:off x="452436" y="965622"/>
            <a:ext cx="8239127"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57" name="Google Shape;57;p14"/>
          <p:cNvSpPr txBox="1"/>
          <p:nvPr>
            <p:ph idx="2" type="body"/>
          </p:nvPr>
        </p:nvSpPr>
        <p:spPr>
          <a:xfrm>
            <a:off x="450503" y="2708696"/>
            <a:ext cx="8239125" cy="71437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8" name="Google Shape;58;p1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opsomming" type="tx">
  <p:cSld name="TITLE_AND_BODY">
    <p:spTree>
      <p:nvGrpSpPr>
        <p:cNvPr id="59" name="Shape 59"/>
        <p:cNvGrpSpPr/>
        <p:nvPr/>
      </p:nvGrpSpPr>
      <p:grpSpPr>
        <a:xfrm>
          <a:off x="0" y="0"/>
          <a:ext cx="0" cy="0"/>
          <a:chOff x="0" y="0"/>
          <a:chExt cx="0" cy="0"/>
        </a:xfrm>
      </p:grpSpPr>
      <p:sp>
        <p:nvSpPr>
          <p:cNvPr id="60" name="Google Shape;60;p15"/>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1" name="Google Shape;61;p15"/>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2" name="Google Shape;62;p15"/>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3" name="Google Shape;63;p1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p:cSld name="Titel en foto">
    <p:spTree>
      <p:nvGrpSpPr>
        <p:cNvPr id="64" name="Shape 64"/>
        <p:cNvGrpSpPr/>
        <p:nvPr/>
      </p:nvGrpSpPr>
      <p:grpSpPr>
        <a:xfrm>
          <a:off x="0" y="0"/>
          <a:ext cx="0" cy="0"/>
          <a:chOff x="0" y="0"/>
          <a:chExt cx="0" cy="0"/>
        </a:xfrm>
      </p:grpSpPr>
      <p:sp>
        <p:nvSpPr>
          <p:cNvPr id="65" name="Google Shape;65;p16"/>
          <p:cNvSpPr/>
          <p:nvPr>
            <p:ph idx="2" type="pic"/>
          </p:nvPr>
        </p:nvSpPr>
        <p:spPr>
          <a:xfrm>
            <a:off x="-433387" y="-485775"/>
            <a:ext cx="10029825" cy="6007100"/>
          </a:xfrm>
          <a:prstGeom prst="rect">
            <a:avLst/>
          </a:prstGeom>
          <a:noFill/>
          <a:ln>
            <a:noFill/>
          </a:ln>
        </p:spPr>
      </p:sp>
      <p:sp>
        <p:nvSpPr>
          <p:cNvPr id="66" name="Google Shape;66;p16"/>
          <p:cNvSpPr txBox="1"/>
          <p:nvPr>
            <p:ph type="title"/>
          </p:nvPr>
        </p:nvSpPr>
        <p:spPr>
          <a:xfrm>
            <a:off x="452438" y="2671763"/>
            <a:ext cx="8239125"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7" name="Google Shape;67;p16"/>
          <p:cNvSpPr txBox="1"/>
          <p:nvPr>
            <p:ph idx="1" type="body"/>
          </p:nvPr>
        </p:nvSpPr>
        <p:spPr>
          <a:xfrm>
            <a:off x="452884" y="414801"/>
            <a:ext cx="8238233"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8" name="Google Shape;68;p16"/>
          <p:cNvSpPr txBox="1"/>
          <p:nvPr>
            <p:ph idx="3" type="body"/>
          </p:nvPr>
        </p:nvSpPr>
        <p:spPr>
          <a:xfrm>
            <a:off x="452438" y="4353716"/>
            <a:ext cx="8239125" cy="418857"/>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9" name="Google Shape;69;p1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alt">
  <p:cSld name="Titel en foto alt">
    <p:spTree>
      <p:nvGrpSpPr>
        <p:cNvPr id="70" name="Shape 70"/>
        <p:cNvGrpSpPr/>
        <p:nvPr/>
      </p:nvGrpSpPr>
      <p:grpSpPr>
        <a:xfrm>
          <a:off x="0" y="0"/>
          <a:ext cx="0" cy="0"/>
          <a:chOff x="0" y="0"/>
          <a:chExt cx="0" cy="0"/>
        </a:xfrm>
      </p:grpSpPr>
      <p:sp>
        <p:nvSpPr>
          <p:cNvPr id="71" name="Google Shape;71;p17"/>
          <p:cNvSpPr/>
          <p:nvPr>
            <p:ph idx="2" type="pic"/>
          </p:nvPr>
        </p:nvSpPr>
        <p:spPr>
          <a:xfrm>
            <a:off x="4114800" y="-76200"/>
            <a:ext cx="4554314" cy="5300663"/>
          </a:xfrm>
          <a:prstGeom prst="rect">
            <a:avLst/>
          </a:prstGeom>
          <a:noFill/>
          <a:ln>
            <a:noFill/>
          </a:ln>
        </p:spPr>
      </p:sp>
      <p:sp>
        <p:nvSpPr>
          <p:cNvPr id="72" name="Google Shape;72;p17"/>
          <p:cNvSpPr txBox="1"/>
          <p:nvPr>
            <p:ph type="title"/>
          </p:nvPr>
        </p:nvSpPr>
        <p:spPr>
          <a:xfrm>
            <a:off x="452438" y="476250"/>
            <a:ext cx="3667125" cy="2205852"/>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73" name="Google Shape;73;p17"/>
          <p:cNvSpPr txBox="1"/>
          <p:nvPr>
            <p:ph idx="1" type="body"/>
          </p:nvPr>
        </p:nvSpPr>
        <p:spPr>
          <a:xfrm>
            <a:off x="452438" y="2647716"/>
            <a:ext cx="3667125" cy="2019534"/>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4" name="Google Shape;74;p17"/>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psomming">
  <p:cSld name="Opsomming">
    <p:spTree>
      <p:nvGrpSpPr>
        <p:cNvPr id="75" name="Shape 75"/>
        <p:cNvGrpSpPr/>
        <p:nvPr/>
      </p:nvGrpSpPr>
      <p:grpSpPr>
        <a:xfrm>
          <a:off x="0" y="0"/>
          <a:ext cx="0" cy="0"/>
          <a:chOff x="0" y="0"/>
          <a:chExt cx="0" cy="0"/>
        </a:xfrm>
      </p:grpSpPr>
      <p:sp>
        <p:nvSpPr>
          <p:cNvPr id="76" name="Google Shape;76;p18"/>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7" name="Google Shape;77;p1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psomm., foto">
  <p:cSld name="Titel, opsomm., foto">
    <p:spTree>
      <p:nvGrpSpPr>
        <p:cNvPr id="78" name="Shape 78"/>
        <p:cNvGrpSpPr/>
        <p:nvPr/>
      </p:nvGrpSpPr>
      <p:grpSpPr>
        <a:xfrm>
          <a:off x="0" y="0"/>
          <a:ext cx="0" cy="0"/>
          <a:chOff x="0" y="0"/>
          <a:chExt cx="0" cy="0"/>
        </a:xfrm>
      </p:grpSpPr>
      <p:sp>
        <p:nvSpPr>
          <p:cNvPr id="79" name="Google Shape;79;p19"/>
          <p:cNvSpPr txBox="1"/>
          <p:nvPr>
            <p:ph idx="1" type="body"/>
          </p:nvPr>
        </p:nvSpPr>
        <p:spPr>
          <a:xfrm>
            <a:off x="452438" y="889861"/>
            <a:ext cx="3667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0" name="Google Shape;80;p19"/>
          <p:cNvSpPr txBox="1"/>
          <p:nvPr>
            <p:ph idx="2" type="body"/>
          </p:nvPr>
        </p:nvSpPr>
        <p:spPr>
          <a:xfrm>
            <a:off x="452438" y="1593189"/>
            <a:ext cx="3667125" cy="3096236"/>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1" name="Google Shape;81;p19"/>
          <p:cNvSpPr/>
          <p:nvPr>
            <p:ph idx="3" type="pic"/>
          </p:nvPr>
        </p:nvSpPr>
        <p:spPr>
          <a:xfrm>
            <a:off x="4572000" y="-152725"/>
            <a:ext cx="4093828" cy="5458437"/>
          </a:xfrm>
          <a:prstGeom prst="rect">
            <a:avLst/>
          </a:prstGeom>
          <a:noFill/>
          <a:ln>
            <a:noFill/>
          </a:ln>
        </p:spPr>
      </p:sp>
      <p:sp>
        <p:nvSpPr>
          <p:cNvPr id="82" name="Google Shape;82;p19"/>
          <p:cNvSpPr txBox="1"/>
          <p:nvPr>
            <p:ph type="title"/>
          </p:nvPr>
        </p:nvSpPr>
        <p:spPr>
          <a:xfrm>
            <a:off x="452438" y="404813"/>
            <a:ext cx="3667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3" name="Google Shape;83;p19"/>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e">
  <p:cSld name="Sectie">
    <p:spTree>
      <p:nvGrpSpPr>
        <p:cNvPr id="84" name="Shape 84"/>
        <p:cNvGrpSpPr/>
        <p:nvPr/>
      </p:nvGrpSpPr>
      <p:grpSpPr>
        <a:xfrm>
          <a:off x="0" y="0"/>
          <a:ext cx="0" cy="0"/>
          <a:chOff x="0" y="0"/>
          <a:chExt cx="0" cy="0"/>
        </a:xfrm>
      </p:grpSpPr>
      <p:sp>
        <p:nvSpPr>
          <p:cNvPr id="85" name="Google Shape;85;p20"/>
          <p:cNvSpPr txBox="1"/>
          <p:nvPr>
            <p:ph type="title"/>
          </p:nvPr>
        </p:nvSpPr>
        <p:spPr>
          <a:xfrm>
            <a:off x="452436" y="1700213"/>
            <a:ext cx="8239127" cy="1743075"/>
          </a:xfrm>
          <a:prstGeom prst="rect">
            <a:avLst/>
          </a:prstGeom>
          <a:noFill/>
          <a:ln>
            <a:noFill/>
          </a:ln>
        </p:spPr>
        <p:txBody>
          <a:bodyPr anchorCtr="0" anchor="ctr"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b="0" sz="4400">
                <a:latin typeface="Helvetica Neue"/>
                <a:ea typeface="Helvetica Neue"/>
                <a:cs typeface="Helvetica Neue"/>
                <a:sym typeface="Helvetica Neu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6" name="Google Shape;86;p20"/>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lleen titel">
  <p:cSld name="Alleen titel">
    <p:spTree>
      <p:nvGrpSpPr>
        <p:cNvPr id="87" name="Shape 87"/>
        <p:cNvGrpSpPr/>
        <p:nvPr/>
      </p:nvGrpSpPr>
      <p:grpSpPr>
        <a:xfrm>
          <a:off x="0" y="0"/>
          <a:ext cx="0" cy="0"/>
          <a:chOff x="0" y="0"/>
          <a:chExt cx="0" cy="0"/>
        </a:xfrm>
      </p:grpSpPr>
      <p:sp>
        <p:nvSpPr>
          <p:cNvPr id="88" name="Google Shape;88;p21"/>
          <p:cNvSpPr txBox="1"/>
          <p:nvPr>
            <p:ph type="title"/>
          </p:nvPr>
        </p:nvSpPr>
        <p:spPr>
          <a:xfrm>
            <a:off x="452438" y="404813"/>
            <a:ext cx="8239125" cy="53810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9" name="Google Shape;89;p21"/>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0" name="Google Shape;90;p21"/>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91" name="Shape 91"/>
        <p:cNvGrpSpPr/>
        <p:nvPr/>
      </p:nvGrpSpPr>
      <p:grpSpPr>
        <a:xfrm>
          <a:off x="0" y="0"/>
          <a:ext cx="0" cy="0"/>
          <a:chOff x="0" y="0"/>
          <a:chExt cx="0" cy="0"/>
        </a:xfrm>
      </p:grpSpPr>
      <p:sp>
        <p:nvSpPr>
          <p:cNvPr id="92" name="Google Shape;92;p22"/>
          <p:cNvSpPr txBox="1"/>
          <p:nvPr>
            <p:ph type="title"/>
          </p:nvPr>
        </p:nvSpPr>
        <p:spPr>
          <a:xfrm>
            <a:off x="452438" y="404813"/>
            <a:ext cx="8239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93" name="Google Shape;93;p22"/>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4" name="Google Shape;94;p22"/>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700"/>
              </a:spcBef>
              <a:spcAft>
                <a:spcPts val="0"/>
              </a:spcAft>
              <a:buClr>
                <a:srgbClr val="000000"/>
              </a:buClr>
              <a:buSzPts val="2100"/>
              <a:buFont typeface="Helvetica Neue"/>
              <a:buNone/>
              <a:defRPr sz="2100"/>
            </a:lvl1pPr>
            <a:lvl2pPr indent="-228600" lvl="1" marL="914400" algn="l">
              <a:lnSpc>
                <a:spcPct val="100000"/>
              </a:lnSpc>
              <a:spcBef>
                <a:spcPts val="700"/>
              </a:spcBef>
              <a:spcAft>
                <a:spcPts val="0"/>
              </a:spcAft>
              <a:buClr>
                <a:srgbClr val="000000"/>
              </a:buClr>
              <a:buSzPts val="2100"/>
              <a:buFont typeface="Helvetica Neue"/>
              <a:buNone/>
              <a:defRPr sz="2100"/>
            </a:lvl2pPr>
            <a:lvl3pPr indent="-228600" lvl="2" marL="1371600" algn="l">
              <a:lnSpc>
                <a:spcPct val="100000"/>
              </a:lnSpc>
              <a:spcBef>
                <a:spcPts val="700"/>
              </a:spcBef>
              <a:spcAft>
                <a:spcPts val="0"/>
              </a:spcAft>
              <a:buClr>
                <a:srgbClr val="000000"/>
              </a:buClr>
              <a:buSzPts val="2100"/>
              <a:buFont typeface="Helvetica Neue"/>
              <a:buNone/>
              <a:defRPr sz="2100"/>
            </a:lvl3pPr>
            <a:lvl4pPr indent="-228600" lvl="3" marL="1828800" algn="l">
              <a:lnSpc>
                <a:spcPct val="100000"/>
              </a:lnSpc>
              <a:spcBef>
                <a:spcPts val="700"/>
              </a:spcBef>
              <a:spcAft>
                <a:spcPts val="0"/>
              </a:spcAft>
              <a:buClr>
                <a:srgbClr val="000000"/>
              </a:buClr>
              <a:buSzPts val="2100"/>
              <a:buFont typeface="Helvetica Neue"/>
              <a:buNone/>
              <a:defRPr sz="2100"/>
            </a:lvl4pPr>
            <a:lvl5pPr indent="-228600" lvl="4" marL="2286000" algn="l">
              <a:lnSpc>
                <a:spcPct val="100000"/>
              </a:lnSpc>
              <a:spcBef>
                <a:spcPts val="700"/>
              </a:spcBef>
              <a:spcAft>
                <a:spcPts val="0"/>
              </a:spcAft>
              <a:buClr>
                <a:srgbClr val="000000"/>
              </a:buClr>
              <a:buSzPts val="2100"/>
              <a:buFont typeface="Helvetica Neue"/>
              <a:buNone/>
              <a:defRPr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5" name="Google Shape;95;p22"/>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iting">
  <p:cSld name="Uiting">
    <p:spTree>
      <p:nvGrpSpPr>
        <p:cNvPr id="96" name="Shape 96"/>
        <p:cNvGrpSpPr/>
        <p:nvPr/>
      </p:nvGrpSpPr>
      <p:grpSpPr>
        <a:xfrm>
          <a:off x="0" y="0"/>
          <a:ext cx="0" cy="0"/>
          <a:chOff x="0" y="0"/>
          <a:chExt cx="0" cy="0"/>
        </a:xfrm>
      </p:grpSpPr>
      <p:sp>
        <p:nvSpPr>
          <p:cNvPr id="97" name="Google Shape;97;p23"/>
          <p:cNvSpPr txBox="1"/>
          <p:nvPr>
            <p:ph idx="1" type="body"/>
          </p:nvPr>
        </p:nvSpPr>
        <p:spPr>
          <a:xfrm>
            <a:off x="452438" y="1845316"/>
            <a:ext cx="8239125" cy="1452868"/>
          </a:xfrm>
          <a:prstGeom prst="rect">
            <a:avLst/>
          </a:prstGeom>
          <a:noFill/>
          <a:ln>
            <a:noFill/>
          </a:ln>
        </p:spPr>
        <p:txBody>
          <a:bodyPr anchorCtr="0" anchor="ctr"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1pPr>
            <a:lvl2pPr indent="-228600" lvl="1" marL="9144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2pPr>
            <a:lvl3pPr indent="-228600" lvl="2" marL="13716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3pPr>
            <a:lvl4pPr indent="-228600" lvl="3" marL="18288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4pPr>
            <a:lvl5pPr indent="-228600" lvl="4" marL="22860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8" name="Google Shape;98;p2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oot feit">
  <p:cSld name="Groot feit">
    <p:spTree>
      <p:nvGrpSpPr>
        <p:cNvPr id="99" name="Shape 99"/>
        <p:cNvGrpSpPr/>
        <p:nvPr/>
      </p:nvGrpSpPr>
      <p:grpSpPr>
        <a:xfrm>
          <a:off x="0" y="0"/>
          <a:ext cx="0" cy="0"/>
          <a:chOff x="0" y="0"/>
          <a:chExt cx="0" cy="0"/>
        </a:xfrm>
      </p:grpSpPr>
      <p:sp>
        <p:nvSpPr>
          <p:cNvPr id="100" name="Google Shape;100;p24"/>
          <p:cNvSpPr txBox="1"/>
          <p:nvPr>
            <p:ph idx="1" type="body"/>
          </p:nvPr>
        </p:nvSpPr>
        <p:spPr>
          <a:xfrm>
            <a:off x="452438" y="403473"/>
            <a:ext cx="8239125" cy="2715594"/>
          </a:xfrm>
          <a:prstGeom prst="rect">
            <a:avLst/>
          </a:prstGeom>
          <a:noFill/>
          <a:ln>
            <a:noFill/>
          </a:ln>
        </p:spPr>
        <p:txBody>
          <a:bodyPr anchorCtr="0" anchor="b"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9400"/>
              <a:buFont typeface="Helvetica Neue"/>
              <a:buNone/>
              <a:defRPr b="1" sz="9400"/>
            </a:lvl1pPr>
            <a:lvl2pPr indent="-228600" lvl="1" marL="914400" algn="ctr">
              <a:lnSpc>
                <a:spcPct val="80000"/>
              </a:lnSpc>
              <a:spcBef>
                <a:spcPts val="0"/>
              </a:spcBef>
              <a:spcAft>
                <a:spcPts val="0"/>
              </a:spcAft>
              <a:buClr>
                <a:srgbClr val="000000"/>
              </a:buClr>
              <a:buSzPts val="9400"/>
              <a:buFont typeface="Helvetica Neue"/>
              <a:buNone/>
              <a:defRPr b="1" sz="9400"/>
            </a:lvl2pPr>
            <a:lvl3pPr indent="-228600" lvl="2" marL="1371600" algn="ctr">
              <a:lnSpc>
                <a:spcPct val="80000"/>
              </a:lnSpc>
              <a:spcBef>
                <a:spcPts val="0"/>
              </a:spcBef>
              <a:spcAft>
                <a:spcPts val="0"/>
              </a:spcAft>
              <a:buClr>
                <a:srgbClr val="000000"/>
              </a:buClr>
              <a:buSzPts val="9400"/>
              <a:buFont typeface="Helvetica Neue"/>
              <a:buNone/>
              <a:defRPr b="1" sz="9400"/>
            </a:lvl3pPr>
            <a:lvl4pPr indent="-228600" lvl="3" marL="1828800" algn="ctr">
              <a:lnSpc>
                <a:spcPct val="80000"/>
              </a:lnSpc>
              <a:spcBef>
                <a:spcPts val="0"/>
              </a:spcBef>
              <a:spcAft>
                <a:spcPts val="0"/>
              </a:spcAft>
              <a:buClr>
                <a:srgbClr val="000000"/>
              </a:buClr>
              <a:buSzPts val="9400"/>
              <a:buFont typeface="Helvetica Neue"/>
              <a:buNone/>
              <a:defRPr b="1" sz="9400"/>
            </a:lvl4pPr>
            <a:lvl5pPr indent="-228600" lvl="4" marL="2286000" algn="ctr">
              <a:lnSpc>
                <a:spcPct val="80000"/>
              </a:lnSpc>
              <a:spcBef>
                <a:spcPts val="0"/>
              </a:spcBef>
              <a:spcAft>
                <a:spcPts val="0"/>
              </a:spcAft>
              <a:buClr>
                <a:srgbClr val="000000"/>
              </a:buClr>
              <a:buSzPts val="9400"/>
              <a:buFont typeface="Helvetica Neue"/>
              <a:buNone/>
              <a:defRPr b="1" sz="94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1" name="Google Shape;101;p24"/>
          <p:cNvSpPr txBox="1"/>
          <p:nvPr>
            <p:ph idx="2" type="body"/>
          </p:nvPr>
        </p:nvSpPr>
        <p:spPr>
          <a:xfrm>
            <a:off x="452438" y="3098318"/>
            <a:ext cx="8239125" cy="350543"/>
          </a:xfrm>
          <a:prstGeom prst="rect">
            <a:avLst/>
          </a:prstGeom>
          <a:noFill/>
          <a:ln>
            <a:noFill/>
          </a:ln>
        </p:spPr>
        <p:txBody>
          <a:bodyPr anchorCtr="0" anchor="t" bIns="17150" lIns="17150" spcFirstLastPara="1" rIns="17150" wrap="square" tIns="17150">
            <a:normAutofit/>
          </a:bodyPr>
          <a:lstStyle>
            <a:lvl1pPr indent="-228600" lvl="0" marL="457200" algn="ctr">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2" name="Google Shape;102;p2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at">
  <p:cSld name="Citaat">
    <p:spTree>
      <p:nvGrpSpPr>
        <p:cNvPr id="103" name="Shape 103"/>
        <p:cNvGrpSpPr/>
        <p:nvPr/>
      </p:nvGrpSpPr>
      <p:grpSpPr>
        <a:xfrm>
          <a:off x="0" y="0"/>
          <a:ext cx="0" cy="0"/>
          <a:chOff x="0" y="0"/>
          <a:chExt cx="0" cy="0"/>
        </a:xfrm>
      </p:grpSpPr>
      <p:sp>
        <p:nvSpPr>
          <p:cNvPr id="104" name="Google Shape;104;p25"/>
          <p:cNvSpPr txBox="1"/>
          <p:nvPr>
            <p:ph idx="1" type="body"/>
          </p:nvPr>
        </p:nvSpPr>
        <p:spPr>
          <a:xfrm>
            <a:off x="911259" y="4003295"/>
            <a:ext cx="7575020"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5" name="Google Shape;105;p25"/>
          <p:cNvSpPr txBox="1"/>
          <p:nvPr>
            <p:ph idx="2" type="body"/>
          </p:nvPr>
        </p:nvSpPr>
        <p:spPr>
          <a:xfrm>
            <a:off x="657721" y="1852447"/>
            <a:ext cx="7828558" cy="1438605"/>
          </a:xfrm>
          <a:prstGeom prst="rect">
            <a:avLst/>
          </a:prstGeom>
          <a:noFill/>
          <a:ln>
            <a:noFill/>
          </a:ln>
        </p:spPr>
        <p:txBody>
          <a:bodyPr anchorCtr="0" anchor="t" bIns="19050" lIns="19050" spcFirstLastPara="1" rIns="19050" wrap="square" tIns="19050">
            <a:normAutofit/>
          </a:bodyPr>
          <a:lstStyle>
            <a:lvl1pPr indent="-228600" lvl="0" marL="4572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1pPr>
            <a:lvl2pPr indent="-228600" lvl="1" marL="9144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2pPr>
            <a:lvl3pPr indent="-228600" lvl="2" marL="13716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3pPr>
            <a:lvl4pPr indent="-228600" lvl="3" marL="18288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4pPr>
            <a:lvl5pPr indent="-228600" lvl="4" marL="22860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6" name="Google Shape;106;p2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 driemaal">
  <p:cSld name="Foto - driemaal">
    <p:spTree>
      <p:nvGrpSpPr>
        <p:cNvPr id="107" name="Shape 107"/>
        <p:cNvGrpSpPr/>
        <p:nvPr/>
      </p:nvGrpSpPr>
      <p:grpSpPr>
        <a:xfrm>
          <a:off x="0" y="0"/>
          <a:ext cx="0" cy="0"/>
          <a:chOff x="0" y="0"/>
          <a:chExt cx="0" cy="0"/>
        </a:xfrm>
      </p:grpSpPr>
      <p:sp>
        <p:nvSpPr>
          <p:cNvPr id="108" name="Google Shape;108;p26"/>
          <p:cNvSpPr/>
          <p:nvPr>
            <p:ph idx="2" type="pic"/>
          </p:nvPr>
        </p:nvSpPr>
        <p:spPr>
          <a:xfrm>
            <a:off x="5910263" y="381000"/>
            <a:ext cx="2789662" cy="2231129"/>
          </a:xfrm>
          <a:prstGeom prst="rect">
            <a:avLst/>
          </a:prstGeom>
          <a:noFill/>
          <a:ln>
            <a:noFill/>
          </a:ln>
        </p:spPr>
      </p:sp>
      <p:sp>
        <p:nvSpPr>
          <p:cNvPr id="109" name="Google Shape;109;p26"/>
          <p:cNvSpPr/>
          <p:nvPr>
            <p:ph idx="3" type="pic"/>
          </p:nvPr>
        </p:nvSpPr>
        <p:spPr>
          <a:xfrm>
            <a:off x="5062538" y="1491853"/>
            <a:ext cx="3914775" cy="4556318"/>
          </a:xfrm>
          <a:prstGeom prst="rect">
            <a:avLst/>
          </a:prstGeom>
          <a:noFill/>
          <a:ln>
            <a:noFill/>
          </a:ln>
        </p:spPr>
      </p:sp>
      <p:sp>
        <p:nvSpPr>
          <p:cNvPr id="110" name="Google Shape;110;p26"/>
          <p:cNvSpPr/>
          <p:nvPr>
            <p:ph idx="4" type="pic"/>
          </p:nvPr>
        </p:nvSpPr>
        <p:spPr>
          <a:xfrm>
            <a:off x="-52387" y="185738"/>
            <a:ext cx="6229350" cy="4672013"/>
          </a:xfrm>
          <a:prstGeom prst="rect">
            <a:avLst/>
          </a:prstGeom>
          <a:noFill/>
          <a:ln>
            <a:noFill/>
          </a:ln>
        </p:spPr>
      </p:sp>
      <p:sp>
        <p:nvSpPr>
          <p:cNvPr id="111" name="Google Shape;111;p2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p:cSld name="Foto">
    <p:spTree>
      <p:nvGrpSpPr>
        <p:cNvPr id="112" name="Shape 112"/>
        <p:cNvGrpSpPr/>
        <p:nvPr/>
      </p:nvGrpSpPr>
      <p:grpSpPr>
        <a:xfrm>
          <a:off x="0" y="0"/>
          <a:ext cx="0" cy="0"/>
          <a:chOff x="0" y="0"/>
          <a:chExt cx="0" cy="0"/>
        </a:xfrm>
      </p:grpSpPr>
      <p:sp>
        <p:nvSpPr>
          <p:cNvPr id="113" name="Google Shape;113;p27"/>
          <p:cNvSpPr/>
          <p:nvPr>
            <p:ph idx="2" type="pic"/>
          </p:nvPr>
        </p:nvSpPr>
        <p:spPr>
          <a:xfrm>
            <a:off x="-500062" y="-2071687"/>
            <a:ext cx="10144125" cy="8115300"/>
          </a:xfrm>
          <a:prstGeom prst="rect">
            <a:avLst/>
          </a:prstGeom>
          <a:noFill/>
          <a:ln>
            <a:noFill/>
          </a:ln>
        </p:spPr>
      </p:sp>
      <p:sp>
        <p:nvSpPr>
          <p:cNvPr id="114" name="Google Shape;114;p27"/>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FFFFFF"/>
              </a:buClr>
              <a:buSzPts val="700"/>
              <a:buFont typeface="Helvetica Neue"/>
              <a:buNone/>
              <a:defRPr>
                <a:solidFill>
                  <a:srgbClr val="FFFFFF"/>
                </a:solidFill>
              </a:defRPr>
            </a:lvl1pPr>
            <a:lvl2pPr indent="0" lvl="1" marL="0" algn="ctr">
              <a:lnSpc>
                <a:spcPct val="100000"/>
              </a:lnSpc>
              <a:spcBef>
                <a:spcPts val="0"/>
              </a:spcBef>
              <a:spcAft>
                <a:spcPts val="0"/>
              </a:spcAft>
              <a:buClr>
                <a:srgbClr val="FFFFFF"/>
              </a:buClr>
              <a:buSzPts val="700"/>
              <a:buFont typeface="Helvetica Neue"/>
              <a:buNone/>
              <a:defRPr>
                <a:solidFill>
                  <a:srgbClr val="FFFFFF"/>
                </a:solidFill>
              </a:defRPr>
            </a:lvl2pPr>
            <a:lvl3pPr indent="0" lvl="2" marL="0" algn="ctr">
              <a:lnSpc>
                <a:spcPct val="100000"/>
              </a:lnSpc>
              <a:spcBef>
                <a:spcPts val="0"/>
              </a:spcBef>
              <a:spcAft>
                <a:spcPts val="0"/>
              </a:spcAft>
              <a:buClr>
                <a:srgbClr val="FFFFFF"/>
              </a:buClr>
              <a:buSzPts val="700"/>
              <a:buFont typeface="Helvetica Neue"/>
              <a:buNone/>
              <a:defRPr>
                <a:solidFill>
                  <a:srgbClr val="FFFFFF"/>
                </a:solidFill>
              </a:defRPr>
            </a:lvl3pPr>
            <a:lvl4pPr indent="0" lvl="3" marL="0" algn="ctr">
              <a:lnSpc>
                <a:spcPct val="100000"/>
              </a:lnSpc>
              <a:spcBef>
                <a:spcPts val="0"/>
              </a:spcBef>
              <a:spcAft>
                <a:spcPts val="0"/>
              </a:spcAft>
              <a:buClr>
                <a:srgbClr val="FFFFFF"/>
              </a:buClr>
              <a:buSzPts val="700"/>
              <a:buFont typeface="Helvetica Neue"/>
              <a:buNone/>
              <a:defRPr>
                <a:solidFill>
                  <a:srgbClr val="FFFFFF"/>
                </a:solidFill>
              </a:defRPr>
            </a:lvl4pPr>
            <a:lvl5pPr indent="0" lvl="4" marL="0" algn="ctr">
              <a:lnSpc>
                <a:spcPct val="100000"/>
              </a:lnSpc>
              <a:spcBef>
                <a:spcPts val="0"/>
              </a:spcBef>
              <a:spcAft>
                <a:spcPts val="0"/>
              </a:spcAft>
              <a:buClr>
                <a:srgbClr val="FFFFFF"/>
              </a:buClr>
              <a:buSzPts val="700"/>
              <a:buFont typeface="Helvetica Neue"/>
              <a:buNone/>
              <a:defRPr>
                <a:solidFill>
                  <a:srgbClr val="FFFFFF"/>
                </a:solidFill>
              </a:defRPr>
            </a:lvl5pPr>
            <a:lvl6pPr indent="0" lvl="5" marL="0" algn="ctr">
              <a:lnSpc>
                <a:spcPct val="100000"/>
              </a:lnSpc>
              <a:spcBef>
                <a:spcPts val="0"/>
              </a:spcBef>
              <a:spcAft>
                <a:spcPts val="0"/>
              </a:spcAft>
              <a:buClr>
                <a:srgbClr val="FFFFFF"/>
              </a:buClr>
              <a:buSzPts val="700"/>
              <a:buFont typeface="Helvetica Neue"/>
              <a:buNone/>
              <a:defRPr>
                <a:solidFill>
                  <a:srgbClr val="FFFFFF"/>
                </a:solidFill>
              </a:defRPr>
            </a:lvl6pPr>
            <a:lvl7pPr indent="0" lvl="6" marL="0" algn="ctr">
              <a:lnSpc>
                <a:spcPct val="100000"/>
              </a:lnSpc>
              <a:spcBef>
                <a:spcPts val="0"/>
              </a:spcBef>
              <a:spcAft>
                <a:spcPts val="0"/>
              </a:spcAft>
              <a:buClr>
                <a:srgbClr val="FFFFFF"/>
              </a:buClr>
              <a:buSzPts val="700"/>
              <a:buFont typeface="Helvetica Neue"/>
              <a:buNone/>
              <a:defRPr>
                <a:solidFill>
                  <a:srgbClr val="FFFFFF"/>
                </a:solidFill>
              </a:defRPr>
            </a:lvl7pPr>
            <a:lvl8pPr indent="0" lvl="7" marL="0" algn="ctr">
              <a:lnSpc>
                <a:spcPct val="100000"/>
              </a:lnSpc>
              <a:spcBef>
                <a:spcPts val="0"/>
              </a:spcBef>
              <a:spcAft>
                <a:spcPts val="0"/>
              </a:spcAft>
              <a:buClr>
                <a:srgbClr val="FFFFFF"/>
              </a:buClr>
              <a:buSzPts val="700"/>
              <a:buFont typeface="Helvetica Neue"/>
              <a:buNone/>
              <a:defRPr>
                <a:solidFill>
                  <a:srgbClr val="FFFFFF"/>
                </a:solidFill>
              </a:defRPr>
            </a:lvl8pPr>
            <a:lvl9pPr indent="0" lvl="8" marL="0" algn="ctr">
              <a:lnSpc>
                <a:spcPct val="100000"/>
              </a:lnSpc>
              <a:spcBef>
                <a:spcPts val="0"/>
              </a:spcBef>
              <a:spcAft>
                <a:spcPts val="0"/>
              </a:spcAft>
              <a:buClr>
                <a:srgbClr val="FFFFFF"/>
              </a:buClr>
              <a:buSzPts val="700"/>
              <a:buFont typeface="Helvetica Neue"/>
              <a:buNone/>
              <a:defRPr>
                <a:solidFill>
                  <a:srgbClr val="FFFFFF"/>
                </a:solidFill>
              </a:defRPr>
            </a:lvl9pPr>
          </a:lstStyle>
          <a:p>
            <a:pPr indent="0" lvl="0" marL="0" rtl="0" algn="ctr">
              <a:spcBef>
                <a:spcPts val="0"/>
              </a:spcBef>
              <a:spcAft>
                <a:spcPts val="0"/>
              </a:spcAft>
              <a:buNone/>
            </a:pPr>
            <a:fld id="{00000000-1234-1234-1234-123412341234}" type="slidenum">
              <a:rPr lang="nl"/>
              <a:t>‹#›</a:t>
            </a:fld>
            <a:endParaRPr b="0" i="0" sz="700" u="none" cap="none" strike="noStrike">
              <a:latin typeface="Helvetica Neue"/>
              <a:ea typeface="Helvetica Neue"/>
              <a:cs typeface="Helvetica Neue"/>
              <a:sym typeface="Helvetica Neue"/>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eg">
  <p:cSld name="Leeg">
    <p:spTree>
      <p:nvGrpSpPr>
        <p:cNvPr id="115" name="Shape 115"/>
        <p:cNvGrpSpPr/>
        <p:nvPr/>
      </p:nvGrpSpPr>
      <p:grpSpPr>
        <a:xfrm>
          <a:off x="0" y="0"/>
          <a:ext cx="0" cy="0"/>
          <a:chOff x="0" y="0"/>
          <a:chExt cx="0" cy="0"/>
        </a:xfrm>
      </p:grpSpPr>
      <p:sp>
        <p:nvSpPr>
          <p:cNvPr id="116" name="Google Shape;116;p2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1pPr>
            <a:lvl2pPr lvl="1"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2pPr>
            <a:lvl3pPr lvl="2"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3pPr>
            <a:lvl4pPr lvl="3"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4pPr>
            <a:lvl5pPr lvl="4"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5pPr>
            <a:lvl6pPr lvl="5"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6pPr>
            <a:lvl7pPr lvl="6"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7pPr>
            <a:lvl8pPr lvl="7"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8pPr>
            <a:lvl9pPr lvl="8"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9pPr>
          </a:lstStyle>
          <a:p/>
        </p:txBody>
      </p:sp>
      <p:sp>
        <p:nvSpPr>
          <p:cNvPr id="52" name="Google Shape;52;p13"/>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368300" lvl="0" marL="457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1pPr>
            <a:lvl2pPr indent="-368300" lvl="1" marL="914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2pPr>
            <a:lvl3pPr indent="-368300" lvl="2" marL="1371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3pPr>
            <a:lvl4pPr indent="-368300" lvl="3" marL="1828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4pPr>
            <a:lvl5pPr indent="-368300" lvl="4" marL="22860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5pPr>
            <a:lvl6pPr indent="-368300" lvl="5" marL="2743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6pPr>
            <a:lvl7pPr indent="-368300" lvl="6" marL="3200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7pPr>
            <a:lvl8pPr indent="-368300" lvl="7" marL="3657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8pPr>
            <a:lvl9pPr indent="-368300" lvl="8" marL="4114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9pPr>
          </a:lstStyle>
          <a:p/>
        </p:txBody>
      </p:sp>
      <p:sp>
        <p:nvSpPr>
          <p:cNvPr id="53" name="Google Shape;53;p1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7.png"/><Relationship Id="rId5" Type="http://schemas.openxmlformats.org/officeDocument/2006/relationships/notesSlide" Target="../notesSlides/notesSlide8.xml"/><Relationship Id="rId6"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5.png"/><Relationship Id="rId4" Type="http://schemas.openxmlformats.org/officeDocument/2006/relationships/notesSlide" Target="../notesSlides/notesSlide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9.png"/><Relationship Id="rId5" Type="http://schemas.openxmlformats.org/officeDocument/2006/relationships/notesSlide" Target="../notesSlides/notesSlide12.xml"/><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5.png"/><Relationship Id="rId5" Type="http://schemas.openxmlformats.org/officeDocument/2006/relationships/notesSlide" Target="../notesSlides/notesSlide10.xml"/><Relationship Id="rId6"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12.png"/><Relationship Id="rId5" Type="http://schemas.openxmlformats.org/officeDocument/2006/relationships/notesSlide" Target="../notesSlides/notesSlide23.xml"/><Relationship Id="rId6"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6.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
        <p:nvSpPr>
          <p:cNvPr id="4" name="Google Shape;123;p29"/>
          <p:cNvSpPr txBox="1"/>
          <p:nvPr>
            <p:ph idx="4294967295" type="ctrTitle"/>
          </p:nvPr>
        </p:nvSpPr>
        <p:spPr>
          <a:xfrm>
            <a:off x="452437" y="2139890"/>
            <a:ext cx="8239127"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r>
              <a:rPr b="1" i="0" lang="nl" sz="4400" u="none" cap="none" strike="noStrike">
                <a:solidFill>
                  <a:srgbClr val="FCC80D"/>
                </a:solidFill>
                <a:latin typeface="Twentieth Century"/>
                <a:ea typeface="Twentieth Century"/>
                <a:cs typeface="Twentieth Century"/>
                <a:sym typeface="Twentieth Century"/>
              </a:rPr>
              <a:t>HPE</a:t>
            </a:r>
            <a:endParaRPr/>
          </a:p>
        </p:txBody>
      </p:sp>
      <p:sp>
        <p:nvSpPr>
          <p:cNvPr id="5" name="Google Shape;124;p29"/>
          <p:cNvSpPr txBox="1"/>
          <p:nvPr>
            <p:ph idx="4294967295" type="subTitle"/>
          </p:nvPr>
        </p:nvSpPr>
        <p:spPr>
          <a:xfrm>
            <a:off x="478206" y="3761037"/>
            <a:ext cx="36576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Hewlett Packard Enterprise · NYSE: HPE</a:t>
            </a:r>
            <a:endParaRPr/>
          </a:p>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Investment pitch · 14 September 2026</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Improved business mix, but the price exceeds our valuation range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INVESTMENT THESIS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HPE filings; Yahoo Finance.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a:t>
            </a:r>
          </a:p>
        </p:txBody>
      </p:sp>
      <p:sp>
        <p:nvSpPr>
          <p:cNvPr id="7" name="TextBox 133"/>
          <p:cNvSpPr txBox="1"/>
          <p:nvPr/>
        </p:nvSpPr>
        <p:spPr>
          <a:xfrm>
            <a:off x="320040" y="1481328"/>
            <a:ext cx="4663440" cy="320040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1 · Mix: </a:t>
            </a:r>
            <a:r>
              <a:rPr sz="1000" b="0">
                <a:solidFill>
                  <a:srgbClr val="1F2421"/>
                </a:solidFill>
                <a:latin typeface="Helvetica Neue"/>
              </a:rPr>
              <a:t>networking is 26% of revenue but 40% of segment profit; ROIC of 11.2% now exceeds the 9.3% WACC.</a:t>
            </a:r>
          </a:p>
          <a:p>
            <a:pPr algn="l" marL="155448" indent="-155448">
              <a:spcAft>
                <a:spcPts val="700"/>
              </a:spcAft>
              <a:buClr>
                <a:srgbClr val="135927"/>
              </a:buClr>
              <a:buSzPct val="100000"/>
              <a:buFont typeface="Helvetica Neue"/>
              <a:buChar char="•"/>
            </a:pPr>
            <a:r>
              <a:rPr sz="1000" b="1">
                <a:solidFill>
                  <a:srgbClr val="1F2421"/>
                </a:solidFill>
                <a:latin typeface="Helvetica Neue"/>
              </a:rPr>
              <a:t>2 · Cycle: </a:t>
            </a:r>
            <a:r>
              <a:rPr sz="1000" b="0">
                <a:solidFill>
                  <a:srgbClr val="1F2421"/>
                </a:solidFill>
                <a:latin typeface="Helvetica Neue"/>
              </a:rPr>
              <a:t>record 40.4% non-GAAP gross margin on pricing amid memory shortages; Q3 EPS beat guidance by 19%, mostly on margin; about two-thirds of FY26's jump above baseline is AI and pricing.</a:t>
            </a:r>
          </a:p>
          <a:p>
            <a:pPr algn="l" marL="155448" indent="-155448">
              <a:spcAft>
                <a:spcPts val="700"/>
              </a:spcAft>
              <a:buClr>
                <a:srgbClr val="135927"/>
              </a:buClr>
              <a:buSzPct val="100000"/>
              <a:buFont typeface="Helvetica Neue"/>
              <a:buChar char="•"/>
            </a:pPr>
            <a:r>
              <a:rPr sz="1000" b="1">
                <a:solidFill>
                  <a:srgbClr val="1F2421"/>
                </a:solidFill>
                <a:latin typeface="Helvetica Neue"/>
              </a:rPr>
              <a:t>3 · Cash quality: </a:t>
            </a:r>
            <a:r>
              <a:rPr sz="1000" b="0">
                <a:solidFill>
                  <a:srgbClr val="1F2421"/>
                </a:solidFill>
                <a:latin typeface="Helvetica Neue"/>
              </a:rPr>
              <a:t>record $4.5bn free cash flow, but a $5.5bn inventory build is funded by $6.0bn of extra payables.</a:t>
            </a:r>
          </a:p>
          <a:p>
            <a:pPr algn="l" marL="155448" indent="-155448">
              <a:spcAft>
                <a:spcPts val="700"/>
              </a:spcAft>
              <a:buClr>
                <a:srgbClr val="135927"/>
              </a:buClr>
              <a:buSzPct val="100000"/>
              <a:buFont typeface="Helvetica Neue"/>
              <a:buChar char="•"/>
            </a:pPr>
            <a:r>
              <a:rPr sz="1000" b="1">
                <a:solidFill>
                  <a:srgbClr val="1F2421"/>
                </a:solidFill>
                <a:latin typeface="Helvetica Neue"/>
              </a:rPr>
              <a:t>4 · Valuation: </a:t>
            </a:r>
            <a:r>
              <a:rPr sz="1000" b="0">
                <a:solidFill>
                  <a:srgbClr val="1F2421"/>
                </a:solidFill>
                <a:latin typeface="Helvetica Neue"/>
              </a:rPr>
              <a:t>13.5x FY27 EPS against a 4–10x history; the reverse DCF needs an 18% margin or 11% growth for a decade.</a:t>
            </a:r>
          </a:p>
          <a:p>
            <a:pPr algn="l" marL="155448" indent="-155448">
              <a:spcAft>
                <a:spcPts val="700"/>
              </a:spcAft>
              <a:buClr>
                <a:srgbClr val="135927"/>
              </a:buClr>
              <a:buSzPct val="100000"/>
              <a:buFont typeface="Helvetica Neue"/>
              <a:buChar char="•"/>
            </a:pPr>
            <a:r>
              <a:rPr sz="1000" b="1">
                <a:solidFill>
                  <a:srgbClr val="1F2421"/>
                </a:solidFill>
                <a:latin typeface="Helvetica Neue"/>
              </a:rPr>
              <a:t>Summary: </a:t>
            </a:r>
            <a:r>
              <a:rPr sz="1000" b="0">
                <a:solidFill>
                  <a:srgbClr val="1F2421"/>
                </a:solidFill>
                <a:latin typeface="Helvetica Neue"/>
              </a:rPr>
              <a:t>the mix improvement is measurable; the remaining gap to $62.09 depends on peer multiples persisting.</a:t>
            </a:r>
          </a:p>
        </p:txBody>
      </p:sp>
      <p:sp>
        <p:nvSpPr>
          <p:cNvPr id="8" name="Rectangle 134"/>
          <p:cNvSpPr/>
          <p:nvPr/>
        </p:nvSpPr>
        <p:spPr>
          <a:xfrm>
            <a:off x="5212080" y="1481328"/>
            <a:ext cx="3611880" cy="1536192"/>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5349240" y="1554480"/>
            <a:ext cx="3383280" cy="228600"/>
          </a:xfrm>
          <a:prstGeom prst="rect">
            <a:avLst/>
          </a:prstGeom>
          <a:noFill/>
        </p:spPr>
        <p:txBody>
          <a:bodyPr wrap="square" anchor="t" lIns="36576" rIns="36576" tIns="18288" bIns="18288">
            <a:spAutoFit/>
          </a:bodyPr>
          <a:lstStyle/>
          <a:p>
            <a:pPr algn="l">
              <a:spcAft>
                <a:spcPts val="300"/>
              </a:spcAft>
            </a:pPr>
            <a:r>
              <a:rPr sz="800" b="1">
                <a:solidFill>
                  <a:srgbClr val="FCC80D"/>
                </a:solidFill>
                <a:latin typeface="Helvetica Neue"/>
              </a:rPr>
              <a:t>WHAT THE MARKET PRICES IN</a:t>
            </a:r>
          </a:p>
        </p:txBody>
      </p:sp>
      <p:sp>
        <p:nvSpPr>
          <p:cNvPr id="10" name="TextBox 136"/>
          <p:cNvSpPr txBox="1"/>
          <p:nvPr/>
        </p:nvSpPr>
        <p:spPr>
          <a:xfrm>
            <a:off x="5349240" y="1764792"/>
            <a:ext cx="3383280" cy="457200"/>
          </a:xfrm>
          <a:prstGeom prst="rect">
            <a:avLst/>
          </a:prstGeom>
          <a:noFill/>
        </p:spPr>
        <p:txBody>
          <a:bodyPr wrap="square" anchor="t" lIns="36576" rIns="36576" tIns="18288" bIns="18288">
            <a:spAutoFit/>
          </a:bodyPr>
          <a:lstStyle/>
          <a:p>
            <a:pPr algn="l">
              <a:spcAft>
                <a:spcPts val="300"/>
              </a:spcAft>
            </a:pPr>
            <a:r>
              <a:rPr sz="2600" b="1">
                <a:solidFill>
                  <a:srgbClr val="FFFFFF"/>
                </a:solidFill>
                <a:latin typeface="Twentieth Century"/>
              </a:rPr>
              <a:t>$62.09</a:t>
            </a:r>
          </a:p>
        </p:txBody>
      </p:sp>
      <p:sp>
        <p:nvSpPr>
          <p:cNvPr id="11" name="TextBox 137"/>
          <p:cNvSpPr txBox="1"/>
          <p:nvPr/>
        </p:nvSpPr>
        <p:spPr>
          <a:xfrm>
            <a:off x="5349240" y="2267712"/>
            <a:ext cx="3383280" cy="731520"/>
          </a:xfrm>
          <a:prstGeom prst="rect">
            <a:avLst/>
          </a:prstGeom>
          <a:noFill/>
        </p:spPr>
        <p:txBody>
          <a:bodyPr wrap="square" anchor="t" lIns="36576" rIns="36576" tIns="18288" bIns="18288">
            <a:spAutoFit/>
          </a:bodyPr>
          <a:lstStyle/>
          <a:p>
            <a:pPr algn="l">
              <a:spcAft>
                <a:spcPts val="200"/>
              </a:spcAft>
            </a:pPr>
            <a:r>
              <a:rPr sz="950" b="0">
                <a:solidFill>
                  <a:srgbClr val="FFFFFF"/>
                </a:solidFill>
                <a:latin typeface="Helvetica Neue"/>
              </a:rPr>
              <a:t>13.5x FY27 EPS (history 4–10x)</a:t>
            </a:r>
          </a:p>
          <a:p>
            <a:pPr algn="l">
              <a:spcAft>
                <a:spcPts val="200"/>
              </a:spcAft>
            </a:pPr>
            <a:r>
              <a:rPr sz="950" b="0">
                <a:solidFill>
                  <a:srgbClr val="FFFFFF"/>
                </a:solidFill>
                <a:latin typeface="Helvetica Neue"/>
              </a:rPr>
              <a:t>Reverse DCF: 18% LT margin or 11% growth to FY36</a:t>
            </a:r>
          </a:p>
        </p:txBody>
      </p:sp>
      <p:sp>
        <p:nvSpPr>
          <p:cNvPr id="12" name="Rectangle 138"/>
          <p:cNvSpPr/>
          <p:nvPr/>
        </p:nvSpPr>
        <p:spPr>
          <a:xfrm>
            <a:off x="5212080" y="3127248"/>
            <a:ext cx="3611880" cy="1536192"/>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5349240" y="3200400"/>
            <a:ext cx="3383280" cy="22860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FUNDAMENTALS SUGGEST</a:t>
            </a:r>
          </a:p>
        </p:txBody>
      </p:sp>
      <p:sp>
        <p:nvSpPr>
          <p:cNvPr id="14" name="TextBox 140"/>
          <p:cNvSpPr txBox="1"/>
          <p:nvPr/>
        </p:nvSpPr>
        <p:spPr>
          <a:xfrm>
            <a:off x="5349240" y="3410712"/>
            <a:ext cx="3383280" cy="457200"/>
          </a:xfrm>
          <a:prstGeom prst="rect">
            <a:avLst/>
          </a:prstGeom>
          <a:noFill/>
        </p:spPr>
        <p:txBody>
          <a:bodyPr wrap="square" anchor="t" lIns="36576" rIns="36576" tIns="18288" bIns="18288">
            <a:spAutoFit/>
          </a:bodyPr>
          <a:lstStyle/>
          <a:p>
            <a:pPr algn="l">
              <a:spcAft>
                <a:spcPts val="300"/>
              </a:spcAft>
            </a:pPr>
            <a:r>
              <a:rPr sz="2600" b="1">
                <a:solidFill>
                  <a:srgbClr val="135927"/>
                </a:solidFill>
                <a:latin typeface="Twentieth Century"/>
              </a:rPr>
              <a:t>$35–$43</a:t>
            </a:r>
          </a:p>
        </p:txBody>
      </p:sp>
      <p:sp>
        <p:nvSpPr>
          <p:cNvPr id="15" name="TextBox 141"/>
          <p:cNvSpPr txBox="1"/>
          <p:nvPr/>
        </p:nvSpPr>
        <p:spPr>
          <a:xfrm>
            <a:off x="5349240" y="3913632"/>
            <a:ext cx="3383280" cy="731520"/>
          </a:xfrm>
          <a:prstGeom prst="rect">
            <a:avLst/>
          </a:prstGeom>
          <a:noFill/>
        </p:spPr>
        <p:txBody>
          <a:bodyPr wrap="square" anchor="t" lIns="36576" rIns="36576" tIns="18288" bIns="18288">
            <a:spAutoFit/>
          </a:bodyPr>
          <a:lstStyle/>
          <a:p>
            <a:pPr algn="l">
              <a:spcAft>
                <a:spcPts val="200"/>
              </a:spcAft>
            </a:pPr>
            <a:r>
              <a:rPr sz="950" b="0">
                <a:solidFill>
                  <a:srgbClr val="1F2421"/>
                </a:solidFill>
                <a:latin typeface="Helvetica Neue"/>
              </a:rPr>
              <a:t>Base DCF $38.80; bear $22 – bull $54</a:t>
            </a:r>
          </a:p>
          <a:p>
            <a:pPr algn="l">
              <a:spcAft>
                <a:spcPts val="200"/>
              </a:spcAft>
            </a:pPr>
            <a:r>
              <a:rPr sz="950" b="0">
                <a:solidFill>
                  <a:srgbClr val="1F2421"/>
                </a:solidFill>
                <a:latin typeface="Helvetica Neue"/>
              </a:rPr>
              <a:t>Damodaran Ginzu $31.57; no rating or target</a:t>
            </a:r>
          </a:p>
        </p:txBody>
      </p:sp>
      <p:sp>
        <p:nvSpPr>
          <p:cNvPr id="16"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Business improved; price above our range</a:t>
            </a:r>
            <a:r>
              <a:rPr sz="1050" b="0">
                <a:solidFill>
                  <a:srgbClr val="404040"/>
                </a:solidFill>
                <a:latin typeface="Helvetica Neue"/>
              </a:rPr>
              <a:t> — intrinsic value $35–43 against the $62.09 close; ROIC 11.2% now exceeds the 9.3% WACC.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Five test questions and the decision rule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METHOD</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Each question maps to one part of this pitch and to sections 1–11 of the HTML report.</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Method: </a:t>
            </a:r>
            <a:r>
              <a:rPr sz="1050" b="1">
                <a:solidFill>
                  <a:srgbClr val="1F2421"/>
                </a:solidFill>
                <a:latin typeface="Helvetica Neue"/>
              </a:rPr>
              <a:t>Every question has a falsifiable test</a:t>
            </a:r>
            <a:r>
              <a:rPr sz="1050" b="0">
                <a:solidFill>
                  <a:srgbClr val="404040"/>
                </a:solidFill>
                <a:latin typeface="Helvetica Neue"/>
              </a:rPr>
              <a:t> — five questions, each answered with a measurement whose outcome could contradict the thesis.</a:t>
            </a:r>
          </a:p>
        </p:txBody>
      </p:sp>
      <p:sp>
        <p:nvSpPr>
          <p:cNvPr id="8" name="Rectangle 133"/>
          <p:cNvSpPr/>
          <p:nvPr/>
        </p:nvSpPr>
        <p:spPr>
          <a:xfrm>
            <a:off x="320040"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1</a:t>
            </a:r>
          </a:p>
          <a:p>
            <a:pPr>
              <a:spcAft>
                <a:spcPts val="800"/>
              </a:spcAft>
            </a:pPr>
            <a:r>
              <a:rPr sz="1050" b="1" i="0">
                <a:solidFill>
                  <a:srgbClr val="135927"/>
                </a:solidFill>
                <a:latin typeface="Helvetica Neue"/>
              </a:rPr>
              <a:t>What does HPE really sell?</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Segment profit mix; revenue-recognition timing in the value chain</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 volume server business with a higher-margin networking segment</a:t>
            </a:r>
          </a:p>
        </p:txBody>
      </p:sp>
      <p:sp>
        <p:nvSpPr>
          <p:cNvPr id="9" name="Chevron 134"/>
          <p:cNvSpPr/>
          <p:nvPr/>
        </p:nvSpPr>
        <p:spPr>
          <a:xfrm>
            <a:off x="1901951"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135"/>
          <p:cNvSpPr/>
          <p:nvPr/>
        </p:nvSpPr>
        <p:spPr>
          <a:xfrm>
            <a:off x="2066543"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2</a:t>
            </a:r>
          </a:p>
          <a:p>
            <a:pPr>
              <a:spcAft>
                <a:spcPts val="800"/>
              </a:spcAft>
            </a:pPr>
            <a:r>
              <a:rPr sz="1050" b="1" i="0">
                <a:solidFill>
                  <a:srgbClr val="135927"/>
                </a:solidFill>
                <a:latin typeface="Helvetica Neue"/>
              </a:rPr>
              <a:t>Structure or cycle?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SARIMA baseline; latest-quarter decomposition; late-cycle indicators</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About a third of the break is Juniper; the rest is AI and pricing</a:t>
            </a:r>
          </a:p>
        </p:txBody>
      </p:sp>
      <p:sp>
        <p:nvSpPr>
          <p:cNvPr id="11" name="Chevron 136"/>
          <p:cNvSpPr/>
          <p:nvPr/>
        </p:nvSpPr>
        <p:spPr>
          <a:xfrm>
            <a:off x="3648456"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37"/>
          <p:cNvSpPr/>
          <p:nvPr/>
        </p:nvSpPr>
        <p:spPr>
          <a:xfrm>
            <a:off x="3813048"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3</a:t>
            </a:r>
          </a:p>
          <a:p>
            <a:pPr>
              <a:spcAft>
                <a:spcPts val="800"/>
              </a:spcAft>
            </a:pPr>
            <a:r>
              <a:rPr sz="1050" b="1" i="0">
                <a:solidFill>
                  <a:srgbClr val="135927"/>
                </a:solidFill>
                <a:latin typeface="Helvetica Neue"/>
              </a:rPr>
              <a:t>Is the cash flow repeatable?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Working-capital pattern; balance sheet</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Record free cash flow; payables finance the inventory</a:t>
            </a:r>
          </a:p>
        </p:txBody>
      </p:sp>
      <p:sp>
        <p:nvSpPr>
          <p:cNvPr id="13" name="Chevron 138"/>
          <p:cNvSpPr/>
          <p:nvPr/>
        </p:nvSpPr>
        <p:spPr>
          <a:xfrm>
            <a:off x="5394960"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9"/>
          <p:cNvSpPr/>
          <p:nvPr/>
        </p:nvSpPr>
        <p:spPr>
          <a:xfrm>
            <a:off x="5559551"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4</a:t>
            </a:r>
          </a:p>
          <a:p>
            <a:pPr>
              <a:spcAft>
                <a:spcPts val="800"/>
              </a:spcAft>
            </a:pPr>
            <a:r>
              <a:rPr sz="1050" b="1" i="0">
                <a:solidFill>
                  <a:srgbClr val="135927"/>
                </a:solidFill>
                <a:latin typeface="Helvetica Neue"/>
              </a:rPr>
              <a:t>What does the price assume?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Reverse DCF; peer-multiple comparison; valuation range</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An 18% margin or 11% growth for a decade</a:t>
            </a:r>
          </a:p>
        </p:txBody>
      </p:sp>
      <p:sp>
        <p:nvSpPr>
          <p:cNvPr id="15" name="Chevron 140"/>
          <p:cNvSpPr/>
          <p:nvPr/>
        </p:nvSpPr>
        <p:spPr>
          <a:xfrm>
            <a:off x="7141464"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41"/>
          <p:cNvSpPr/>
          <p:nvPr/>
        </p:nvSpPr>
        <p:spPr>
          <a:xfrm>
            <a:off x="7306055"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5</a:t>
            </a:r>
          </a:p>
          <a:p>
            <a:pPr>
              <a:spcAft>
                <a:spcPts val="800"/>
              </a:spcAft>
            </a:pPr>
            <a:r>
              <a:rPr sz="1050" b="1" i="0">
                <a:solidFill>
                  <a:srgbClr val="135927"/>
                </a:solidFill>
                <a:latin typeface="Helvetica Neue"/>
              </a:rPr>
              <a:t>What would change our mind?</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Scenarios; risk transmission; monitoring indicators</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Margins through a memory downturn; networking growth</a:t>
            </a:r>
          </a:p>
        </p:txBody>
      </p:sp>
      <p:sp>
        <p:nvSpPr>
          <p:cNvPr id="17" name="Rectangle 142"/>
          <p:cNvSpPr/>
          <p:nvPr/>
        </p:nvSpPr>
        <p:spPr>
          <a:xfrm>
            <a:off x="320040" y="4160520"/>
            <a:ext cx="8503920" cy="502920"/>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r>
              <a:rPr sz="1050" b="1" i="0">
                <a:solidFill>
                  <a:srgbClr val="FFFFFF"/>
                </a:solidFill>
                <a:latin typeface="Helvetica Neue"/>
              </a:rPr>
              <a:t>Result: valuation range $35–43 per share (bull case $54) against $62.09; the difference requires peak-cycle margins and sector multiples to persist.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Networking: 26% of revenue, 40% of segment operating profit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SNAPSHOT</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Segment profit concentrated in networking</a:t>
            </a:r>
            <a:r>
              <a:rPr sz="1050" b="0">
                <a:solidFill>
                  <a:srgbClr val="404040"/>
                </a:solidFill>
                <a:latin typeface="Helvetica Neue"/>
              </a:rPr>
              <a:t> — 26% of revenue at a 22.7% segment margin produces 40% of segment operating profit.</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10-Q Q3 FY26 and earnings releases; Yahoo Finance prices; Bona Fide calculations.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4</a:t>
            </a:r>
          </a:p>
        </p:txBody>
      </p:sp>
      <p:sp>
        <p:nvSpPr>
          <p:cNvPr id="8" name="Rectangle 134"/>
          <p:cNvSpPr/>
          <p:nvPr/>
        </p:nvSpPr>
        <p:spPr>
          <a:xfrm>
            <a:off x="32004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39319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 11-SEP-26</a:t>
            </a:r>
          </a:p>
        </p:txBody>
      </p:sp>
      <p:sp>
        <p:nvSpPr>
          <p:cNvPr id="10" name="TextBox 136"/>
          <p:cNvSpPr txBox="1"/>
          <p:nvPr/>
        </p:nvSpPr>
        <p:spPr>
          <a:xfrm>
            <a:off x="39319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$62.09</a:t>
            </a:r>
          </a:p>
        </p:txBody>
      </p:sp>
      <p:sp>
        <p:nvSpPr>
          <p:cNvPr id="11" name="Rectangle 137"/>
          <p:cNvSpPr/>
          <p:nvPr/>
        </p:nvSpPr>
        <p:spPr>
          <a:xfrm>
            <a:off x="219456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38"/>
          <p:cNvSpPr txBox="1"/>
          <p:nvPr/>
        </p:nvSpPr>
        <p:spPr>
          <a:xfrm>
            <a:off x="226771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MKT CAP</a:t>
            </a:r>
          </a:p>
        </p:txBody>
      </p:sp>
      <p:sp>
        <p:nvSpPr>
          <p:cNvPr id="13" name="TextBox 139"/>
          <p:cNvSpPr txBox="1"/>
          <p:nvPr/>
        </p:nvSpPr>
        <p:spPr>
          <a:xfrm>
            <a:off x="226771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$89.7bn</a:t>
            </a:r>
          </a:p>
        </p:txBody>
      </p:sp>
      <p:sp>
        <p:nvSpPr>
          <p:cNvPr id="14" name="Rectangle 140"/>
          <p:cNvSpPr/>
          <p:nvPr/>
        </p:nvSpPr>
        <p:spPr>
          <a:xfrm>
            <a:off x="32004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1"/>
          <p:cNvSpPr txBox="1"/>
          <p:nvPr/>
        </p:nvSpPr>
        <p:spPr>
          <a:xfrm>
            <a:off x="39319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ENTERPRISE VALUE</a:t>
            </a:r>
          </a:p>
        </p:txBody>
      </p:sp>
      <p:sp>
        <p:nvSpPr>
          <p:cNvPr id="16" name="TextBox 142"/>
          <p:cNvSpPr txBox="1"/>
          <p:nvPr/>
        </p:nvSpPr>
        <p:spPr>
          <a:xfrm>
            <a:off x="39319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$103.8bn</a:t>
            </a:r>
          </a:p>
        </p:txBody>
      </p:sp>
      <p:sp>
        <p:nvSpPr>
          <p:cNvPr id="17" name="Rectangle 143"/>
          <p:cNvSpPr/>
          <p:nvPr/>
        </p:nvSpPr>
        <p:spPr>
          <a:xfrm>
            <a:off x="219456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226771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REVENUE</a:t>
            </a:r>
          </a:p>
        </p:txBody>
      </p:sp>
      <p:sp>
        <p:nvSpPr>
          <p:cNvPr id="19" name="TextBox 145"/>
          <p:cNvSpPr txBox="1"/>
          <p:nvPr/>
        </p:nvSpPr>
        <p:spPr>
          <a:xfrm>
            <a:off x="226771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$41.9bn</a:t>
            </a:r>
          </a:p>
        </p:txBody>
      </p:sp>
      <p:sp>
        <p:nvSpPr>
          <p:cNvPr id="20" name="TextBox 146"/>
          <p:cNvSpPr txBox="1"/>
          <p:nvPr/>
        </p:nvSpPr>
        <p:spPr>
          <a:xfrm>
            <a:off x="2267712" y="3255264"/>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+31% vs prior TTM</a:t>
            </a:r>
          </a:p>
        </p:txBody>
      </p:sp>
      <p:sp>
        <p:nvSpPr>
          <p:cNvPr id="21" name="Rectangle 147"/>
          <p:cNvSpPr/>
          <p:nvPr/>
        </p:nvSpPr>
        <p:spPr>
          <a:xfrm>
            <a:off x="32004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39319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FREE CASH FLOW</a:t>
            </a:r>
          </a:p>
        </p:txBody>
      </p:sp>
      <p:sp>
        <p:nvSpPr>
          <p:cNvPr id="23" name="TextBox 149"/>
          <p:cNvSpPr txBox="1"/>
          <p:nvPr/>
        </p:nvSpPr>
        <p:spPr>
          <a:xfrm>
            <a:off x="39319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$4.5bn</a:t>
            </a:r>
          </a:p>
        </p:txBody>
      </p:sp>
      <p:sp>
        <p:nvSpPr>
          <p:cNvPr id="24" name="TextBox 150"/>
          <p:cNvSpPr txBox="1"/>
          <p:nvPr/>
        </p:nvSpPr>
        <p:spPr>
          <a:xfrm>
            <a:off x="39319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HPE definition</a:t>
            </a:r>
          </a:p>
        </p:txBody>
      </p:sp>
      <p:sp>
        <p:nvSpPr>
          <p:cNvPr id="25" name="Rectangle 151"/>
          <p:cNvSpPr/>
          <p:nvPr/>
        </p:nvSpPr>
        <p:spPr>
          <a:xfrm>
            <a:off x="219456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152"/>
          <p:cNvSpPr txBox="1"/>
          <p:nvPr/>
        </p:nvSpPr>
        <p:spPr>
          <a:xfrm>
            <a:off x="226771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NET DEBT / ADJ. EBITDA</a:t>
            </a:r>
          </a:p>
        </p:txBody>
      </p:sp>
      <p:sp>
        <p:nvSpPr>
          <p:cNvPr id="27" name="TextBox 153"/>
          <p:cNvSpPr txBox="1"/>
          <p:nvPr/>
        </p:nvSpPr>
        <p:spPr>
          <a:xfrm>
            <a:off x="226771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1.75x</a:t>
            </a:r>
          </a:p>
        </p:txBody>
      </p:sp>
      <p:sp>
        <p:nvSpPr>
          <p:cNvPr id="28" name="TextBox 154"/>
          <p:cNvSpPr txBox="1"/>
          <p:nvPr/>
        </p:nvSpPr>
        <p:spPr>
          <a:xfrm>
            <a:off x="226771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company: 1.8x</a:t>
            </a:r>
          </a:p>
        </p:txBody>
      </p:sp>
      <p:graphicFrame>
        <p:nvGraphicFramePr>
          <p:cNvPr id="29" name="Table 155"/>
          <p:cNvGraphicFramePr>
            <a:graphicFrameLocks noGrp="1"/>
          </p:cNvGraphicFramePr>
          <p:nvPr/>
        </p:nvGraphicFramePr>
        <p:xfrm>
          <a:off x="4251960" y="1481328"/>
          <a:ext cx="4572000" cy="1170432"/>
        </p:xfrm>
        <a:graphic>
          <a:graphicData uri="http://schemas.openxmlformats.org/drawingml/2006/table">
            <a:tbl>
              <a:tblPr firstRow="1">
                <a:tableStyleId>{5C22544A-7EE6-4342-B048-85BDC9FD1C3A}</a:tableStyleId>
              </a:tblPr>
              <a:tblGrid>
                <a:gridCol w="1463040"/>
                <a:gridCol w="822960"/>
                <a:gridCol w="640080"/>
                <a:gridCol w="822960"/>
                <a:gridCol w="822960"/>
              </a:tblGrid>
              <a:tr h="292608">
                <a:tc>
                  <a:txBody>
                    <a:bodyPr/>
                    <a:lstStyle/>
                    <a:p>
                      <a:pPr algn="l"/>
                      <a:r>
                        <a:rPr sz="900" b="1">
                          <a:solidFill>
                            <a:srgbClr val="FCC80D"/>
                          </a:solidFill>
                          <a:latin typeface="Helvetica Neue"/>
                        </a:rPr>
                        <a:t>Segment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Revenue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Profit 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Cloud &amp; AI</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$29.8bn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$11.0bn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92608">
                <a:tc>
                  <a:txBody>
                    <a:bodyPr/>
                    <a:lstStyle/>
                    <a:p>
                      <a:pPr algn="l"/>
                      <a:r>
                        <a:rPr sz="900" b="1">
                          <a:solidFill>
                            <a:srgbClr val="1F2421"/>
                          </a:solidFill>
                          <a:latin typeface="Helvetica Neue"/>
                        </a:rPr>
                        <a:t>Corp. Inv. &amp; Other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30" name="TextBox 156"/>
          <p:cNvSpPr txBox="1"/>
          <p:nvPr/>
        </p:nvSpPr>
        <p:spPr>
          <a:xfrm>
            <a:off x="4251960" y="2788920"/>
            <a:ext cx="4572000" cy="1828800"/>
          </a:xfrm>
          <a:prstGeom prst="rect">
            <a:avLst/>
          </a:prstGeom>
          <a:noFill/>
        </p:spPr>
        <p:txBody>
          <a:bodyPr wrap="square" anchor="t" lIns="36576" rIns="36576" tIns="18288" bIns="18288">
            <a:spAutoFit/>
          </a:bodyPr>
          <a:lstStyle/>
          <a:p>
            <a:pPr algn="l" marL="155448" indent="-155448">
              <a:spcAft>
                <a:spcPts val="600"/>
              </a:spcAft>
              <a:buClr>
                <a:srgbClr val="135927"/>
              </a:buClr>
              <a:buSzPct val="100000"/>
              <a:buFont typeface="Helvetica Neue"/>
              <a:buChar char="•"/>
            </a:pPr>
            <a:r>
              <a:rPr sz="1000" b="0">
                <a:solidFill>
                  <a:srgbClr val="1F2421"/>
                </a:solidFill>
                <a:latin typeface="Helvetica Neue"/>
              </a:rPr>
              <a:t>Products 64% · services 34% · financing 2% of FY25 revenue</a:t>
            </a:r>
          </a:p>
          <a:p>
            <a:pPr algn="l" marL="155448" indent="-155448">
              <a:spcAft>
                <a:spcPts val="600"/>
              </a:spcAft>
              <a:buClr>
                <a:srgbClr val="135927"/>
              </a:buClr>
              <a:buSzPct val="100000"/>
              <a:buFont typeface="Helvetica Neue"/>
              <a:buChar char="•"/>
            </a:pPr>
            <a:r>
              <a:rPr sz="1000" b="0">
                <a:solidFill>
                  <a:srgbClr val="1F2421"/>
                </a:solidFill>
                <a:latin typeface="Helvetica Neue"/>
              </a:rPr>
              <a:t>61% of revenue outside the US; no customer disclosed above 10%</a:t>
            </a:r>
          </a:p>
          <a:p>
            <a:pPr algn="l" marL="155448" indent="-155448">
              <a:spcAft>
                <a:spcPts val="600"/>
              </a:spcAft>
              <a:buClr>
                <a:srgbClr val="135927"/>
              </a:buClr>
              <a:buSzPct val="100000"/>
              <a:buFont typeface="Helvetica Neue"/>
              <a:buChar char="•"/>
            </a:pPr>
            <a:r>
              <a:rPr sz="1000" b="0">
                <a:solidFill>
                  <a:srgbClr val="1F2421"/>
                </a:solidFill>
                <a:latin typeface="Helvetica Neue"/>
              </a:rPr>
              <a:t>GreenLake: 52,000 customers (+18%), ~110% net retention; FY25 segment margin 5.8% vs networking 23.3% (slide 31)</a:t>
            </a:r>
          </a:p>
          <a:p>
            <a:pPr algn="l" marL="155448" indent="-155448">
              <a:spcAft>
                <a:spcPts val="600"/>
              </a:spcAft>
              <a:buClr>
                <a:srgbClr val="135927"/>
              </a:buClr>
              <a:buSzPct val="100000"/>
              <a:buFont typeface="Helvetica Neue"/>
              <a:buChar char="•"/>
            </a:pPr>
            <a:r>
              <a:rPr sz="1000" b="0">
                <a:solidFill>
                  <a:srgbClr val="1F2421"/>
                </a:solidFill>
                <a:latin typeface="Helvetica Neue"/>
              </a:rPr>
              <a:t>Q3 FY26: revenue $12.2bn (+34%), non-GAAP EPS $1.11, FCF $958m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HPE recognises AI revenue at shipment, with under a year of backlog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VALUE CHAIN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filings; Yahoo Finance; Bona Fide analysis (code/business_model_analysis.py). † Digital Realty. Elasticity: revenue growth per point of capex growth, lags 0–4 summed, 2018Q2–2026Q2; n.s. = not significant at 5%. Table rows are measured TTM ratios or regression coefficients. Report §12.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5</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Highest measured revenue elasticity</a:t>
            </a:r>
            <a:r>
              <a:rPr sz="1050" b="0">
                <a:solidFill>
                  <a:srgbClr val="404040"/>
                </a:solidFill>
                <a:latin typeface="Helvetica Neue"/>
              </a:rPr>
              <a:t> — server providers 0.41–0.84 per point of hyperscaler capex growth, with backlog of 0.3–0.9x revenue.</a:t>
            </a:r>
          </a:p>
        </p:txBody>
      </p:sp>
      <p:sp>
        <p:nvSpPr>
          <p:cNvPr id="8" name="TextBox 135"/>
          <p:cNvSpPr txBox="1"/>
          <p:nvPr/>
        </p:nvSpPr>
        <p:spPr>
          <a:xfrm>
            <a:off x="320040" y="1463040"/>
            <a:ext cx="4572000" cy="20574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8 · STYLISED 100 MW UNIT ECONOMICS</a:t>
            </a:r>
          </a:p>
        </p:txBody>
      </p:sp>
      <p:pic>
        <p:nvPicPr>
          <p:cNvPr id="9" name="Picture 136" descr="qa_q2_phase_shift_deck.png"/>
          <p:cNvPicPr>
            <a:picLocks noChangeAspect="1"/>
          </p:cNvPicPr>
          <p:nvPr/>
        </p:nvPicPr>
        <p:blipFill>
          <a:blip r:embed="rId5"/>
          <a:stretch>
            <a:fillRect/>
          </a:stretch>
        </p:blipFill>
        <p:spPr>
          <a:xfrm>
            <a:off x="500159" y="1700784"/>
            <a:ext cx="4211762" cy="2453640"/>
          </a:xfrm>
          <a:prstGeom prst="rect">
            <a:avLst/>
          </a:prstGeom>
        </p:spPr>
      </p:pic>
      <p:graphicFrame>
        <p:nvGraphicFramePr>
          <p:cNvPr id="10" name="Table 137"/>
          <p:cNvGraphicFramePr>
            <a:graphicFrameLocks noGrp="1"/>
          </p:cNvGraphicFramePr>
          <p:nvPr/>
        </p:nvGraphicFramePr>
        <p:xfrm>
          <a:off x="5074920" y="1856231"/>
          <a:ext cx="3749040" cy="1600200"/>
        </p:xfrm>
        <a:graphic>
          <a:graphicData uri="http://schemas.openxmlformats.org/drawingml/2006/table">
            <a:tbl>
              <a:tblPr firstRow="1" bandRow="1">
                <a:tableStyleId>{5C22544A-7EE6-4342-B048-85BDC9FD1C3A}</a:tableStyleId>
              </a:tblPr>
              <a:tblGrid>
                <a:gridCol w="1280160"/>
                <a:gridCol w="822960"/>
                <a:gridCol w="822960"/>
                <a:gridCol w="822960"/>
              </a:tblGrid>
              <a:tr h="228600">
                <a:tc>
                  <a:txBody>
                    <a:bodyPr wrap="square"/>
                    <a:lstStyle/>
                    <a:p>
                      <a:r>
                        <a:rPr sz="800" b="1" i="0">
                          <a:solidFill>
                            <a:srgbClr val="FCC80D"/>
                          </a:solidFill>
                          <a:latin typeface="Helvetica Neue"/>
                        </a:rPr>
                        <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Landlords†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Neoclouds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Servers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28600">
                <a:tc>
                  <a:txBody>
                    <a:bodyPr wrap="square"/>
                    <a:lstStyle/>
                    <a:p>
                      <a:r>
                        <a:rPr sz="800" b="1" i="0">
                          <a:solidFill>
                            <a:srgbClr val="1F2421"/>
                          </a:solidFill>
                          <a:latin typeface="Helvetica Neue"/>
                        </a:rPr>
                        <a:t>Capex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0.5x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2.7x–8.2x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≤0.06x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D&amp;A + interest / rev.</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67%–74%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3%–10%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wrap="square"/>
                    <a:lstStyle/>
                    <a:p>
                      <a:r>
                        <a:rPr sz="800" b="1" i="0">
                          <a:solidFill>
                            <a:srgbClr val="1F2421"/>
                          </a:solidFill>
                          <a:latin typeface="Helvetica Neue"/>
                        </a:rPr>
                        <a:t>Backlog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5.3x est.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14x–28x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0.3x–0.9x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Revenue elasticity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0.06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too new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0.41–0.84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wrap="square"/>
                    <a:lstStyle/>
                    <a:p>
                      <a:r>
                        <a:rPr sz="800" b="1" i="0">
                          <a:solidFill>
                            <a:srgbClr val="1F2421"/>
                          </a:solidFill>
                          <a:latin typeface="Helvetica Neue"/>
                        </a:rPr>
                        <a:t>AI beta (share price)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0.03</a:t>
                      </a:r>
                      <a:r>
                        <a:rPr sz="650" b="0" i="0">
                          <a:solidFill>
                            <a:srgbClr val="6B6B6B"/>
                          </a:solidFill>
                          <a:latin typeface="Helvetica Neue"/>
                        </a:rPr>
                        <a:t>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0.40–0.85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0.02–0.18</a:t>
                      </a:r>
                      <a:r>
                        <a:rPr sz="650" b="0" i="0">
                          <a:solidFill>
                            <a:srgbClr val="6B6B6B"/>
                          </a:solidFill>
                          <a:latin typeface="Helvetica Neue"/>
                        </a:rPr>
                        <a:t>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Cash payback (model)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~11.5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~3.2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2 qtrs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1" name="TextBox 135"/>
          <p:cNvSpPr txBox="1"/>
          <p:nvPr/>
        </p:nvSpPr>
        <p:spPr>
          <a:xfrm>
            <a:off x="5074920" y="3547871"/>
            <a:ext cx="3749039"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IMPLICATIONS FOR HPE</a:t>
            </a:r>
          </a:p>
        </p:txBody>
      </p:sp>
      <p:sp>
        <p:nvSpPr>
          <p:cNvPr id="12" name="TextBox 136"/>
          <p:cNvSpPr txBox="1"/>
          <p:nvPr/>
        </p:nvSpPr>
        <p:spPr>
          <a:xfrm>
            <a:off x="5074920" y="3776470"/>
            <a:ext cx="3749039" cy="101498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Valuation basis: through-cycle margins, </a:t>
            </a:r>
            <a:r>
              <a:rPr sz="850" b="0">
                <a:solidFill>
                  <a:srgbClr val="1F2421"/>
                </a:solidFill>
                <a:latin typeface="Helvetica Neue"/>
              </a:rPr>
              <a:t>not the FY26 level.</a:t>
            </a:r>
          </a:p>
          <a:p>
            <a:pPr algn="l" marL="155448" indent="-155448">
              <a:spcAft>
                <a:spcPts val="200"/>
              </a:spcAft>
              <a:buClr>
                <a:srgbClr val="135927"/>
              </a:buClr>
              <a:buSzPct val="100000"/>
              <a:buFont typeface="Helvetica Neue"/>
              <a:buChar char="•"/>
            </a:pPr>
            <a:r>
              <a:rPr sz="850" b="1">
                <a:solidFill>
                  <a:srgbClr val="1F2421"/>
                </a:solidFill>
                <a:latin typeface="Helvetica Neue"/>
              </a:rPr>
              <a:t>Lower measured elasticity than Dell: </a:t>
            </a:r>
            <a:r>
              <a:rPr sz="850" b="0">
                <a:solidFill>
                  <a:srgbClr val="1F2421"/>
                </a:solidFill>
                <a:latin typeface="Helvetica Neue"/>
              </a:rPr>
              <a:t>0.41 against 0.84 (difference significant, p = 0.004); with a Juniper control HPE's estimate falls to 0.09 and is not significant.</a:t>
            </a:r>
          </a:p>
          <a:p>
            <a:pPr algn="l" marL="155448" indent="-155448">
              <a:spcAft>
                <a:spcPts val="200"/>
              </a:spcAft>
              <a:buClr>
                <a:srgbClr val="135927"/>
              </a:buClr>
              <a:buSzPct val="100000"/>
              <a:buFont typeface="Helvetica Neue"/>
              <a:buChar char="•"/>
            </a:pPr>
            <a:r>
              <a:rPr sz="850" b="1">
                <a:solidFill>
                  <a:srgbClr val="1F2421"/>
                </a:solidFill>
                <a:latin typeface="Helvetica Neue"/>
              </a:rPr>
              <a:t>Second-order exposure: </a:t>
            </a:r>
            <a:r>
              <a:rPr sz="850" b="0">
                <a:solidFill>
                  <a:srgbClr val="1F2421"/>
                </a:solidFill>
                <a:latin typeface="Helvetica Neue"/>
              </a:rPr>
              <a:t>neoclouds run negative free cash flow, so vendors that finance them assume part of that credit risk.</a:t>
            </a:r>
          </a:p>
        </p:txBody>
      </p:sp>
      <p:sp>
        <p:nvSpPr>
          <p:cNvPr id="13" name="Our test"/>
          <p:cNvSpPr txBox="1"/>
          <p:nvPr/>
        </p:nvSpPr>
        <p:spPr>
          <a:xfrm>
            <a:off x="5074920" y="1417320"/>
            <a:ext cx="3749039" cy="411479"/>
          </a:xfrm>
          <a:prstGeom prst="rect">
            <a:avLst/>
          </a:prstGeom>
          <a:noFill/>
        </p:spPr>
        <p:txBody>
          <a:bodyPr wrap="square" anchor="t" lIns="36576" rIns="36576" tIns="18288" bIns="18288">
            <a:spAutoFit/>
          </a:bodyPr>
          <a:lstStyle/>
          <a:p>
            <a:r>
              <a:rPr sz="800" b="1">
                <a:solidFill>
                  <a:srgbClr val="135927"/>
                </a:solidFill>
                <a:latin typeface="Helvetica Neue"/>
              </a:rPr>
              <a:t>EXPERIMENT 9  </a:t>
            </a:r>
            <a:r>
              <a:rPr sz="800" b="0">
                <a:solidFill>
                  <a:srgbClr val="404040"/>
                </a:solidFill>
                <a:latin typeface="Helvetica Neue"/>
              </a:rPr>
              <a:t>Elasticity of revenue and share price to AI demand: revenue on hyperscaler capex growth (33 quarters); daily returns on four factors (365 days)</a:t>
            </a:r>
          </a:p>
        </p:txBody>
      </p:sp>
      <p:sp>
        <p:nvSpPr>
          <p:cNvPr id="14" name="axis note qa_q2_phase_shift"/>
          <p:cNvSpPr txBox="1"/>
          <p:nvPr/>
        </p:nvSpPr>
        <p:spPr>
          <a:xfrm>
            <a:off x="320040" y="4191001"/>
            <a:ext cx="45720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Years from the start of construction, 0 to 12, in quarterly steps.</a:t>
            </a:r>
          </a:p>
          <a:p>
            <a:r>
              <a:rPr sz="700" b="1">
                <a:solidFill>
                  <a:srgbClr val="135927"/>
                </a:solidFill>
                <a:latin typeface="Helvetica Neue"/>
              </a:rPr>
              <a:t>Behaviour  </a:t>
            </a:r>
            <a:r>
              <a:rPr sz="700" b="0">
                <a:solidFill>
                  <a:srgbClr val="404040"/>
                </a:solidFill>
                <a:latin typeface="Helvetica Neue"/>
              </a:rPr>
              <a:t>the server line is flat between shipments because the model contains one delivery per six-year refresh: −1.0x when inventory is funded, +0.18x two quarters later, then no further flows until the…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Servers supply the revenue; networking supplies the return on capital</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Q1–Q3 FY26; Bona Fide analysis. Routing/DCN growth largely reflects Juniper consolidation.</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6</a:t>
            </a:r>
          </a:p>
        </p:txBody>
      </p:sp>
      <p:pic>
        <p:nvPicPr>
          <p:cNvPr id="7" name="Picture 133" descr="seg_lines_ttm_deck.png"/>
          <p:cNvPicPr>
            <a:picLocks noChangeAspect="1"/>
          </p:cNvPicPr>
          <p:nvPr/>
        </p:nvPicPr>
        <p:blipFill>
          <a:blip r:embed="rId5"/>
          <a:stretch>
            <a:fillRect/>
          </a:stretch>
        </p:blipFill>
        <p:spPr>
          <a:xfrm>
            <a:off x="827814" y="1463040"/>
            <a:ext cx="4287971" cy="1591055"/>
          </a:xfrm>
          <a:prstGeom prst="rect">
            <a:avLst/>
          </a:prstGeom>
        </p:spPr>
      </p:pic>
      <p:sp>
        <p:nvSpPr>
          <p:cNvPr id="8" name="TextBox 134"/>
          <p:cNvSpPr txBox="1"/>
          <p:nvPr/>
        </p:nvSpPr>
        <p:spPr>
          <a:xfrm>
            <a:off x="5806440" y="1481328"/>
            <a:ext cx="3017520" cy="32004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Transactional core: </a:t>
            </a:r>
            <a:r>
              <a:rPr sz="950" b="0">
                <a:solidFill>
                  <a:srgbClr val="1F2421"/>
                </a:solidFill>
                <a:latin typeface="Helvetica Neue"/>
              </a:rPr>
              <a:t>servers and AI systems bought competitively; lowest switching costs.</a:t>
            </a:r>
          </a:p>
          <a:p>
            <a:pPr algn="l" marL="155448" indent="-155448">
              <a:spcAft>
                <a:spcPts val="500"/>
              </a:spcAft>
              <a:buClr>
                <a:srgbClr val="135927"/>
              </a:buClr>
              <a:buSzPct val="100000"/>
              <a:buFont typeface="Helvetica Neue"/>
              <a:buChar char="•"/>
            </a:pPr>
            <a:r>
              <a:rPr sz="950" b="1">
                <a:solidFill>
                  <a:srgbClr val="1F2421"/>
                </a:solidFill>
                <a:latin typeface="Helvetica Neue"/>
              </a:rPr>
              <a:t>Switching costs: </a:t>
            </a:r>
            <a:r>
              <a:rPr sz="950" b="0">
                <a:solidFill>
                  <a:srgbClr val="1F2421"/>
                </a:solidFill>
                <a:latin typeface="Helvetica Neue"/>
              </a:rPr>
              <a:t>Aruba Central and Juniper Mist management, security policy, own Express 5 routing silicon.</a:t>
            </a:r>
          </a:p>
          <a:p>
            <a:pPr algn="l" marL="155448" indent="-155448">
              <a:spcAft>
                <a:spcPts val="500"/>
              </a:spcAft>
              <a:buClr>
                <a:srgbClr val="135927"/>
              </a:buClr>
              <a:buSzPct val="100000"/>
              <a:buFont typeface="Helvetica Neue"/>
              <a:buChar char="•"/>
            </a:pPr>
            <a:r>
              <a:rPr sz="950" b="1">
                <a:solidFill>
                  <a:srgbClr val="1F2421"/>
                </a:solidFill>
                <a:latin typeface="Helvetica Neue"/>
              </a:rPr>
              <a:t>Recurring revenue: </a:t>
            </a:r>
            <a:r>
              <a:rPr sz="950" b="0">
                <a:solidFill>
                  <a:srgbClr val="1F2421"/>
                </a:solidFill>
                <a:latin typeface="Helvetica Neue"/>
              </a:rPr>
              <a:t>services, Financial Services leases and GreenLake contracts; ARR $3.15bn.</a:t>
            </a:r>
          </a:p>
          <a:p>
            <a:pPr algn="l" marL="155448" indent="-155448">
              <a:spcAft>
                <a:spcPts val="500"/>
              </a:spcAft>
              <a:buClr>
                <a:srgbClr val="135927"/>
              </a:buClr>
              <a:buSzPct val="100000"/>
              <a:buFont typeface="Helvetica Neue"/>
              <a:buChar char="•"/>
            </a:pPr>
            <a:r>
              <a:rPr sz="950" b="1">
                <a:solidFill>
                  <a:srgbClr val="1F2421"/>
                </a:solidFill>
                <a:latin typeface="Helvetica Neue"/>
              </a:rPr>
              <a:t>Returns test: </a:t>
            </a:r>
            <a:r>
              <a:rPr sz="950" b="0">
                <a:solidFill>
                  <a:srgbClr val="1F2421"/>
                </a:solidFill>
                <a:latin typeface="Helvetica Neue"/>
              </a:rPr>
              <a:t>adjusted ROIC averaged 8.1% over FY20–25, below WACC; 11.2% TTM.</a:t>
            </a:r>
          </a:p>
          <a:p>
            <a:pPr algn="l" marL="155448" indent="-155448">
              <a:spcAft>
                <a:spcPts val="500"/>
              </a:spcAft>
              <a:buClr>
                <a:srgbClr val="135927"/>
              </a:buClr>
              <a:buSzPct val="100000"/>
              <a:buFont typeface="Helvetica Neue"/>
              <a:buChar char="•"/>
            </a:pPr>
            <a:r>
              <a:rPr sz="950" b="1">
                <a:solidFill>
                  <a:srgbClr val="1F2421"/>
                </a:solidFill>
                <a:latin typeface="Helvetica Neue"/>
              </a:rPr>
              <a:t>Read: </a:t>
            </a:r>
            <a:r>
              <a:rPr sz="950" b="0">
                <a:solidFill>
                  <a:srgbClr val="1F2421"/>
                </a:solidFill>
                <a:latin typeface="Helvetica Neue"/>
              </a:rPr>
              <a:t>Juniper raises the weight of the higher-margin segment; confirm the effect in ROIC before capitalising it.</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Returns, not revenue, locate the moat</a:t>
            </a:r>
            <a:r>
              <a:rPr sz="1050" b="0">
                <a:solidFill>
                  <a:srgbClr val="404040"/>
                </a:solidFill>
                <a:latin typeface="Helvetica Neue"/>
              </a:rPr>
              <a:t> — adjusted ROIC averaged 8.1% in FY20–25, below WACC; 11.2% TTM, led by networking.</a:t>
            </a:r>
          </a:p>
        </p:txBody>
      </p:sp>
      <p:graphicFrame>
        <p:nvGraphicFramePr>
          <p:cNvPr id="10" name="Table 134"/>
          <p:cNvGraphicFramePr>
            <a:graphicFrameLocks noGrp="1"/>
          </p:cNvGraphicFramePr>
          <p:nvPr/>
        </p:nvGraphicFramePr>
        <p:xfrm>
          <a:off x="274320" y="3566160"/>
          <a:ext cx="5394960" cy="1645920"/>
        </p:xfrm>
        <a:graphic>
          <a:graphicData uri="http://schemas.openxmlformats.org/drawingml/2006/table">
            <a:tbl>
              <a:tblPr firstRow="1">
                <a:tableStyleId>{5C22544A-7EE6-4342-B048-85BDC9FD1C3A}</a:tableStyleId>
              </a:tblPr>
              <a:tblGrid>
                <a:gridCol w="2329641"/>
                <a:gridCol w="1348740"/>
                <a:gridCol w="1716578"/>
              </a:tblGrid>
              <a:tr h="2148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148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148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1" name="axis note seg_lines_ttm"/>
          <p:cNvSpPr txBox="1"/>
          <p:nvPr/>
        </p:nvSpPr>
        <p:spPr>
          <a:xfrm>
            <a:off x="274320" y="3090672"/>
            <a:ext cx="5394960" cy="36576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Trailing-twelve-month revenue, US$bn (0–21); a longer bar is a larger business line.</a:t>
            </a:r>
          </a:p>
          <a:p>
            <a:r>
              <a:rPr sz="700" b="1">
                <a:solidFill>
                  <a:srgbClr val="135927"/>
                </a:solidFill>
                <a:latin typeface="Helvetica Neue"/>
              </a:rPr>
              <a:t>Behaviour  </a:t>
            </a:r>
            <a:r>
              <a:rPr sz="700" b="0">
                <a:solidFill>
                  <a:srgbClr val="404040"/>
                </a:solidFill>
                <a:latin typeface="Helvetica Neue"/>
              </a:rPr>
              <a:t>Server is $21.0bn, half of group revenue; the fastest lines are small — Routing +270% at $3.2bn and data-centre networking +112% at $1.5bn, both Juniper-driven.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Four flat years, then a step change in revenue and margin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FINANCIALS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Level shift, not trend extension</a:t>
            </a:r>
            <a:r>
              <a:rPr sz="1050" b="0">
                <a:solidFill>
                  <a:srgbClr val="404040"/>
                </a:solidFill>
                <a:latin typeface="Helvetica Neue"/>
              </a:rPr>
              <a:t> — revenue +30.8% TTM after a 2.8% CAGR in FY20–24; non-GAAP margin 8.5–10.8% to 13.8%.</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FY2020–FY2025, 10-Q Q3 FY26, earnings releases;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7</a:t>
            </a:r>
          </a:p>
        </p:txBody>
      </p:sp>
      <p:pic>
        <p:nvPicPr>
          <p:cNvPr id="8" name="Picture 134" descr="fin_revenue_deck.png"/>
          <p:cNvPicPr>
            <a:picLocks noChangeAspect="1"/>
          </p:cNvPicPr>
          <p:nvPr/>
        </p:nvPicPr>
        <p:blipFill>
          <a:blip r:embed="rId6"/>
          <a:stretch>
            <a:fillRect/>
          </a:stretch>
        </p:blipFill>
        <p:spPr>
          <a:xfrm>
            <a:off x="935702" y="1417320"/>
            <a:ext cx="2929196" cy="1086690"/>
          </a:xfrm>
          <a:prstGeom prst="rect">
            <a:avLst/>
          </a:prstGeom>
        </p:spPr>
      </p:pic>
      <p:pic>
        <p:nvPicPr>
          <p:cNvPr id="9" name="Picture 135" descr="fin_margins_deck.png"/>
          <p:cNvPicPr>
            <a:picLocks noChangeAspect="1"/>
          </p:cNvPicPr>
          <p:nvPr/>
        </p:nvPicPr>
        <p:blipFill>
          <a:blip r:embed="rId3"/>
          <a:stretch>
            <a:fillRect/>
          </a:stretch>
        </p:blipFill>
        <p:spPr>
          <a:xfrm>
            <a:off x="5407596" y="1417320"/>
            <a:ext cx="2626487" cy="980010"/>
          </a:xfrm>
          <a:prstGeom prst="rect">
            <a:avLst/>
          </a:prstGeom>
        </p:spPr>
      </p:pic>
      <p:sp>
        <p:nvSpPr>
          <p:cNvPr id="10" name="TextBox 135"/>
          <p:cNvSpPr txBox="1"/>
          <p:nvPr/>
        </p:nvSpPr>
        <p:spPr>
          <a:xfrm>
            <a:off x="320040" y="3122754"/>
            <a:ext cx="41605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REVENUE CHART SHOWS</a:t>
            </a:r>
          </a:p>
        </p:txBody>
      </p:sp>
      <p:sp>
        <p:nvSpPr>
          <p:cNvPr id="11" name="TextBox 135"/>
          <p:cNvSpPr txBox="1"/>
          <p:nvPr/>
        </p:nvSpPr>
        <p:spPr>
          <a:xfrm>
            <a:off x="4617720" y="3122754"/>
            <a:ext cx="4206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MARGIN CHART SHOWS</a:t>
            </a:r>
          </a:p>
        </p:txBody>
      </p:sp>
      <p:sp>
        <p:nvSpPr>
          <p:cNvPr id="12" name="TextBox 136"/>
          <p:cNvSpPr txBox="1"/>
          <p:nvPr/>
        </p:nvSpPr>
        <p:spPr>
          <a:xfrm>
            <a:off x="320040" y="3360498"/>
            <a:ext cx="416052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Flat for four years: </a:t>
            </a:r>
            <a:r>
              <a:rPr sz="950" b="0">
                <a:solidFill>
                  <a:srgbClr val="1F2421"/>
                </a:solidFill>
                <a:latin typeface="Helvetica Neue"/>
              </a:rPr>
              <a:t>revenue went from $27.0bn in FY2020 to $30.1bn in FY2024, a 2.8% CAGR.</a:t>
            </a:r>
          </a:p>
          <a:p>
            <a:pPr algn="l" marL="155448" indent="-155448">
              <a:spcAft>
                <a:spcPts val="300"/>
              </a:spcAft>
              <a:buClr>
                <a:srgbClr val="135927"/>
              </a:buClr>
              <a:buSzPct val="100000"/>
              <a:buFont typeface="Helvetica Neue"/>
              <a:buChar char="•"/>
            </a:pPr>
            <a:r>
              <a:rPr sz="950" b="1">
                <a:solidFill>
                  <a:srgbClr val="1F2421"/>
                </a:solidFill>
                <a:latin typeface="Helvetica Neue"/>
              </a:rPr>
              <a:t>Step up: </a:t>
            </a:r>
            <a:r>
              <a:rPr sz="950" b="0">
                <a:solidFill>
                  <a:srgbClr val="1F2421"/>
                </a:solidFill>
                <a:latin typeface="Helvetica Neue"/>
              </a:rPr>
              <a:t>FY2025 +13.8% with part-year Juniper; TTM +30.8% to $41.9bn.</a:t>
            </a:r>
          </a:p>
          <a:p>
            <a:pPr algn="l" marL="155448" indent="-155448">
              <a:spcAft>
                <a:spcPts val="300"/>
              </a:spcAft>
              <a:buClr>
                <a:srgbClr val="135927"/>
              </a:buClr>
              <a:buSzPct val="100000"/>
              <a:buFont typeface="Helvetica Neue"/>
              <a:buChar char="•"/>
            </a:pPr>
            <a:r>
              <a:rPr sz="950" b="1">
                <a:solidFill>
                  <a:srgbClr val="1F2421"/>
                </a:solidFill>
                <a:latin typeface="Helvetica Neue"/>
              </a:rPr>
              <a:t>What changed: </a:t>
            </a:r>
            <a:r>
              <a:rPr sz="950" b="0">
                <a:solidFill>
                  <a:srgbClr val="1F2421"/>
                </a:solidFill>
                <a:latin typeface="Helvetica Neue"/>
              </a:rPr>
              <a:t>a full year of Juniper, AI systems and higher server prices.</a:t>
            </a:r>
          </a:p>
        </p:txBody>
      </p:sp>
      <p:sp>
        <p:nvSpPr>
          <p:cNvPr id="13" name="TextBox 136"/>
          <p:cNvSpPr txBox="1"/>
          <p:nvPr/>
        </p:nvSpPr>
        <p:spPr>
          <a:xfrm>
            <a:off x="4617720" y="3360498"/>
            <a:ext cx="420624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Adjusted margin: </a:t>
            </a:r>
            <a:r>
              <a:rPr sz="950" b="0">
                <a:solidFill>
                  <a:srgbClr val="1F2421"/>
                </a:solidFill>
                <a:latin typeface="Helvetica Neue"/>
              </a:rPr>
              <a:t>non-GAAP operating margin held at 8.5–10.8% in FY2020–25; now 13.8% TTM and 16.2% in Q3 FY26.</a:t>
            </a:r>
          </a:p>
          <a:p>
            <a:pPr algn="l" marL="155448" indent="-155448">
              <a:spcAft>
                <a:spcPts val="300"/>
              </a:spcAft>
              <a:buClr>
                <a:srgbClr val="135927"/>
              </a:buClr>
              <a:buSzPct val="100000"/>
              <a:buFont typeface="Helvetica Neue"/>
              <a:buChar char="•"/>
            </a:pPr>
            <a:r>
              <a:rPr sz="950" b="1">
                <a:solidFill>
                  <a:srgbClr val="1F2421"/>
                </a:solidFill>
                <a:latin typeface="Helvetica Neue"/>
              </a:rPr>
              <a:t>Gross margin: </a:t>
            </a:r>
            <a:r>
              <a:rPr sz="950" b="0">
                <a:solidFill>
                  <a:srgbClr val="1F2421"/>
                </a:solidFill>
                <a:latin typeface="Helvetica Neue"/>
              </a:rPr>
              <a:t>GAAP 36.7% TTM vs 30.3% in FY2025, from networking mix and pricing.</a:t>
            </a:r>
          </a:p>
          <a:p>
            <a:pPr algn="l" marL="155448" indent="-155448">
              <a:spcAft>
                <a:spcPts val="300"/>
              </a:spcAft>
              <a:buClr>
                <a:srgbClr val="135927"/>
              </a:buClr>
              <a:buSzPct val="100000"/>
              <a:buFont typeface="Helvetica Neue"/>
              <a:buChar char="•"/>
            </a:pPr>
            <a:r>
              <a:rPr sz="950" b="1">
                <a:solidFill>
                  <a:srgbClr val="1F2421"/>
                </a:solidFill>
                <a:latin typeface="Helvetica Neue"/>
              </a:rPr>
              <a:t>GAAP gap: </a:t>
            </a:r>
            <a:r>
              <a:rPr sz="950" b="0">
                <a:solidFill>
                  <a:srgbClr val="1F2421"/>
                </a:solidFill>
                <a:latin typeface="Helvetica Neue"/>
              </a:rPr>
              <a:t>GAAP operating margin is 6.2%; the 7.6pp gap is mainly Juniper amortisation ($1.26bn) and SBC ($0.80bn).</a:t>
            </a:r>
          </a:p>
        </p:txBody>
      </p:sp>
      <p:sp>
        <p:nvSpPr>
          <p:cNvPr id="14" name="axis note fin_revenue"/>
          <p:cNvSpPr txBox="1"/>
          <p:nvPr/>
        </p:nvSpPr>
        <p:spPr>
          <a:xfrm>
            <a:off x="274320" y="2540586"/>
            <a:ext cx="4251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to 31-Jul-2026 (years end 31 October); moving right is a later period.</a:t>
            </a:r>
          </a:p>
          <a:p>
            <a:r>
              <a:rPr sz="700" b="1">
                <a:solidFill>
                  <a:srgbClr val="135927"/>
                </a:solidFill>
                <a:latin typeface="Helvetica Neue"/>
              </a:rPr>
              <a:t>Behaviour  </a:t>
            </a:r>
            <a:r>
              <a:rPr sz="700" b="0">
                <a:solidFill>
                  <a:srgbClr val="404040"/>
                </a:solidFill>
                <a:latin typeface="Helvetica Neue"/>
              </a:rPr>
              <a:t>revenue rises $27.0bn to $30.1bn over four years (2.8% CAGR), then +13.8% in FY2025 and +30.8% TTM to $41.9bn — a level shift concentrated in the last five quarters.</a:t>
            </a:r>
          </a:p>
        </p:txBody>
      </p:sp>
      <p:sp>
        <p:nvSpPr>
          <p:cNvPr id="15" name="axis note fin_margins"/>
          <p:cNvSpPr txBox="1"/>
          <p:nvPr/>
        </p:nvSpPr>
        <p:spPr>
          <a:xfrm>
            <a:off x="4617720" y="2433906"/>
            <a:ext cx="4206240"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a:t>
            </a:r>
          </a:p>
          <a:p>
            <a:r>
              <a:rPr sz="700" b="1">
                <a:solidFill>
                  <a:srgbClr val="135927"/>
                </a:solidFill>
                <a:latin typeface="Helvetica Neue"/>
              </a:rPr>
              <a:t>Behaviour  </a:t>
            </a:r>
            <a:r>
              <a:rPr sz="700" b="0">
                <a:solidFill>
                  <a:srgbClr val="404040"/>
                </a:solidFill>
                <a:latin typeface="Helvetica Neue"/>
              </a:rPr>
              <a:t>GAAP gross margin is range-bound 30.3–35.1% until FY25 and then rises to 36.7%; GAAP operating margin is negative in FY20 and FY25 on impairments; the non-GAAP line stays 8.2–10.8% until FY25.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Q3 FY26: record revenue, margin and EPS against guidance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Margin-led beat</a:t>
            </a:r>
            <a:r>
              <a:rPr sz="1050" b="0">
                <a:solidFill>
                  <a:srgbClr val="404040"/>
                </a:solidFill>
                <a:latin typeface="Helvetica Neue"/>
              </a:rPr>
              <a:t> — non-GAAP EPS exceeded consensus by 18% while revenue exceeded it by 1%.</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press release, presentation and call (2-Sep-2026); Zacks consensus via Yahoo Finance (28-Aug-2026); Bona Fide analysis (code/earnings_analysis.py). Normalised = including Juniper in the prior year.</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8</a:t>
            </a:r>
          </a:p>
        </p:txBody>
      </p:sp>
      <p:graphicFrame>
        <p:nvGraphicFramePr>
          <p:cNvPr id="8" name="Table 14"/>
          <p:cNvGraphicFramePr>
            <a:graphicFrameLocks noGrp="1"/>
          </p:cNvGraphicFramePr>
          <p:nvPr/>
        </p:nvGraphicFramePr>
        <p:xfrm>
          <a:off x="320040" y="1463040"/>
          <a:ext cx="4846320" cy="2286000"/>
        </p:xfrm>
        <a:graphic>
          <a:graphicData uri="http://schemas.openxmlformats.org/drawingml/2006/table">
            <a:tbl>
              <a:tblPr firstRow="1" bandRow="1">
                <a:tableStyleId>{5C22544A-7EE6-4342-B048-85BDC9FD1C3A}</a:tableStyleId>
              </a:tblPr>
              <a:tblGrid>
                <a:gridCol w="1417320"/>
                <a:gridCol w="960120"/>
                <a:gridCol w="868680"/>
                <a:gridCol w="685800"/>
                <a:gridCol w="914400"/>
              </a:tblGrid>
              <a:tr h="228600">
                <a:tc>
                  <a:txBody>
                    <a:bodyPr/>
                    <a:lstStyle/>
                    <a:p>
                      <a:r>
                        <a:rPr sz="800" b="1">
                          <a:solidFill>
                            <a:srgbClr val="FCC80D"/>
                          </a:solidFill>
                          <a:latin typeface="Helvetica Neue"/>
                        </a:rPr>
                        <a:t>Q3 FY26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Reported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Guidance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Consensus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YoY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28600">
                <a:tc>
                  <a:txBody>
                    <a:bodyPr/>
                    <a:lstStyle/>
                    <a:p>
                      <a:r>
                        <a:rPr sz="800" b="1">
                          <a:solidFill>
                            <a:srgbClr val="1F2421"/>
                          </a:solidFill>
                          <a:latin typeface="Helvetica Neue"/>
                        </a:rPr>
                        <a:t>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$12.2bn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$11.5–12.1bn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+34%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gross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40.4%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+10.5pp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Non-GAAP operating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+7.7pp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EPS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$1.11</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$0.88–0.93</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$0.94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+152%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Free cash flow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$958m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Orders (normalised)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AI backlog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$7.6bn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Networking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$2.9bn · 22.0%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+75% (+10% norm.)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Cloud &amp; AI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$9.0bn · 17.0%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6"/>
          <p:cNvSpPr txBox="1"/>
          <p:nvPr/>
        </p:nvSpPr>
        <p:spPr>
          <a:xfrm>
            <a:off x="320040" y="4224528"/>
            <a:ext cx="4846320" cy="45720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every line exceeded guidance; the EPS surprise against consensus (+18%) was about 20 times the revenue surprise (+1%).</a:t>
            </a:r>
          </a:p>
        </p:txBody>
      </p:sp>
      <p:sp>
        <p:nvSpPr>
          <p:cNvPr id="10" name="TextBox 135"/>
          <p:cNvSpPr txBox="1"/>
          <p:nvPr/>
        </p:nvSpPr>
        <p:spPr>
          <a:xfrm>
            <a:off x="5349240" y="1463040"/>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FY26 NON-GAAP EPS GUIDANCE SINCE OCTOBER 2025</a:t>
            </a:r>
          </a:p>
        </p:txBody>
      </p:sp>
      <p:pic>
        <p:nvPicPr>
          <p:cNvPr id="11" name="Picture 15" descr="earn_eps_guidance_ladder_deck.png"/>
          <p:cNvPicPr>
            <a:picLocks noChangeAspect="1"/>
          </p:cNvPicPr>
          <p:nvPr/>
        </p:nvPicPr>
        <p:blipFill>
          <a:blip r:embed="rId3"/>
          <a:stretch>
            <a:fillRect/>
          </a:stretch>
        </p:blipFill>
        <p:spPr>
          <a:xfrm>
            <a:off x="5933558" y="1700784"/>
            <a:ext cx="2306084" cy="914400"/>
          </a:xfrm>
          <a:prstGeom prst="rect">
            <a:avLst/>
          </a:prstGeom>
        </p:spPr>
      </p:pic>
      <p:sp>
        <p:nvSpPr>
          <p:cNvPr id="12" name="TextBox 135"/>
          <p:cNvSpPr txBox="1"/>
          <p:nvPr/>
        </p:nvSpPr>
        <p:spPr>
          <a:xfrm>
            <a:off x="5349240" y="3151719"/>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RAISED OUTLOOK (PREVIOUS → NEW)</a:t>
            </a:r>
          </a:p>
        </p:txBody>
      </p:sp>
      <p:sp>
        <p:nvSpPr>
          <p:cNvPr id="13" name="TextBox 136"/>
          <p:cNvSpPr txBox="1"/>
          <p:nvPr/>
        </p:nvSpPr>
        <p:spPr>
          <a:xfrm>
            <a:off x="5349240" y="3380319"/>
            <a:ext cx="3474720" cy="132884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Q4 FY26: </a:t>
            </a:r>
            <a:r>
              <a:rPr sz="850" b="0">
                <a:solidFill>
                  <a:srgbClr val="1F2421"/>
                </a:solidFill>
                <a:latin typeface="Helvetica Neue"/>
              </a:rPr>
              <a:t>revenue $13.9–14.8bn (+44% to +53% YoY); EPS $1.20–1.30.</a:t>
            </a:r>
          </a:p>
          <a:p>
            <a:pPr algn="l" marL="155448" indent="-155448">
              <a:spcAft>
                <a:spcPts val="250"/>
              </a:spcAft>
              <a:buClr>
                <a:srgbClr val="135927"/>
              </a:buClr>
              <a:buSzPct val="100000"/>
              <a:buFont typeface="Helvetica Neue"/>
              <a:buChar char="•"/>
            </a:pPr>
            <a:r>
              <a:rPr sz="850" b="1">
                <a:solidFill>
                  <a:srgbClr val="1F2421"/>
                </a:solidFill>
                <a:latin typeface="Helvetica Neue"/>
              </a:rPr>
              <a:t>FY26: </a:t>
            </a:r>
            <a:r>
              <a:rPr sz="850" b="0">
                <a:solidFill>
                  <a:srgbClr val="1F2421"/>
                </a:solidFill>
                <a:latin typeface="Helvetica Neue"/>
              </a:rPr>
              <a:t>revenue +29–33% → +34–37%; EPS $3.35–3.45 → $3.75–3.85; FCF ≥$3.5bn → ≥$3.75bn.</a:t>
            </a:r>
          </a:p>
          <a:p>
            <a:pPr algn="l" marL="155448" indent="-155448">
              <a:spcAft>
                <a:spcPts val="250"/>
              </a:spcAft>
              <a:buClr>
                <a:srgbClr val="135927"/>
              </a:buClr>
              <a:buSzPct val="100000"/>
              <a:buFont typeface="Helvetica Neue"/>
              <a:buChar char="•"/>
            </a:pPr>
            <a:r>
              <a:rPr sz="850" b="1">
                <a:solidFill>
                  <a:srgbClr val="1F2421"/>
                </a:solidFill>
                <a:latin typeface="Helvetica Neue"/>
              </a:rPr>
              <a:t>FY27: </a:t>
            </a:r>
            <a:r>
              <a:rPr sz="850" b="0">
                <a:solidFill>
                  <a:srgbClr val="1F2421"/>
                </a:solidFill>
                <a:latin typeface="Helvetica Neue"/>
              </a:rPr>
              <a:t>revenue +8–12% → +13–17%; EPS growth +12–16% → +16–20%; FCF ≥$4.5bn → ≥$5.0bn.</a:t>
            </a:r>
          </a:p>
        </p:txBody>
      </p:sp>
      <p:sp>
        <p:nvSpPr>
          <p:cNvPr id="14" name="axis note earn_eps_guidance_ladder"/>
          <p:cNvSpPr txBox="1"/>
          <p:nvPr/>
        </p:nvSpPr>
        <p:spPr>
          <a:xfrm>
            <a:off x="5349240" y="2651760"/>
            <a:ext cx="3474720" cy="441960"/>
          </a:xfrm>
          <a:prstGeom prst="rect">
            <a:avLst/>
          </a:prstGeom>
          <a:noFill/>
        </p:spPr>
        <p:txBody>
          <a:bodyPr wrap="square" anchor="t" lIns="36576" rIns="36576" tIns="9144" bIns="9144">
            <a:spAutoFit/>
          </a:bodyPr>
          <a:lstStyle/>
          <a:p>
            <a:r>
              <a:rPr sz="650" b="1">
                <a:solidFill>
                  <a:srgbClr val="135927"/>
                </a:solidFill>
                <a:latin typeface="Helvetica Neue"/>
              </a:rPr>
              <a:t>X-axis  </a:t>
            </a:r>
            <a:r>
              <a:rPr sz="650" b="0">
                <a:solidFill>
                  <a:srgbClr val="404040"/>
                </a:solidFill>
                <a:latin typeface="Helvetica Neue"/>
              </a:rPr>
              <a:t>Guidance vintage in date order: the October 2025 analyst meeting, then the Q4 FY25, Q1 FY26,…</a:t>
            </a:r>
          </a:p>
          <a:p>
            <a:r>
              <a:rPr sz="650" b="1">
                <a:solidFill>
                  <a:srgbClr val="135927"/>
                </a:solidFill>
                <a:latin typeface="Helvetica Neue"/>
              </a:rPr>
              <a:t>Behaviour  </a:t>
            </a:r>
            <a:r>
              <a:rPr sz="650" b="0">
                <a:solidFill>
                  <a:srgbClr val="404040"/>
                </a:solidFill>
                <a:latin typeface="Helvetica Neue"/>
              </a:rPr>
              <a:t>FY26 EPS guidance moves 2.20–2.40 → 2.25–2.45 → 2.30–2.50 → 3.35–3.45 → 3.75–3.85: two small increments,…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Decomposition of the beat: margin contributed about 78%</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Decomposition: </a:t>
            </a:r>
            <a:r>
              <a:rPr sz="1050" b="1">
                <a:solidFill>
                  <a:srgbClr val="1F2421"/>
                </a:solidFill>
                <a:latin typeface="Helvetica Neue"/>
              </a:rPr>
              <a:t>Margin contributed about 78%</a:t>
            </a:r>
            <a:r>
              <a:rPr sz="1050" b="0">
                <a:solidFill>
                  <a:srgbClr val="404040"/>
                </a:solidFill>
                <a:latin typeface="Helvetica Neue"/>
              </a:rPr>
              <a:t> — of the $1.2bn rise in non-GAAP operating profit; management guides gross margin lower.</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Q2 FY25–Q3 FY26, Q3 FY26 presentation and call; SAM 2025; TrendForce; SEC capex filings; Bona Fide analysis. Operating-profit bridge is an estimate from reported margins.</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9</a:t>
            </a:r>
          </a:p>
        </p:txBody>
      </p:sp>
      <p:sp>
        <p:nvSpPr>
          <p:cNvPr id="8" name="TextBox 135"/>
          <p:cNvSpPr txBox="1"/>
          <p:nvPr/>
        </p:nvSpPr>
        <p:spPr>
          <a:xfrm>
            <a:off x="320040" y="1463040"/>
            <a:ext cx="49377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HOW FAR RESULTS BEAT THE TOP OF GUIDANCE: EPS VS REVENUE</a:t>
            </a:r>
          </a:p>
        </p:txBody>
      </p:sp>
      <p:pic>
        <p:nvPicPr>
          <p:cNvPr id="9" name="Picture 14" descr="earn_beat_gap_deck.png"/>
          <p:cNvPicPr>
            <a:picLocks noChangeAspect="1"/>
          </p:cNvPicPr>
          <p:nvPr/>
        </p:nvPicPr>
        <p:blipFill>
          <a:blip r:embed="rId3"/>
          <a:stretch>
            <a:fillRect/>
          </a:stretch>
        </p:blipFill>
        <p:spPr>
          <a:xfrm>
            <a:off x="1008583" y="1700784"/>
            <a:ext cx="3560673" cy="1316137"/>
          </a:xfrm>
          <a:prstGeom prst="rect">
            <a:avLst/>
          </a:prstGeom>
        </p:spPr>
      </p:pic>
      <p:sp>
        <p:nvSpPr>
          <p:cNvPr id="10" name="TextBox 136"/>
          <p:cNvSpPr txBox="1"/>
          <p:nvPr/>
        </p:nvSpPr>
        <p:spPr>
          <a:xfrm>
            <a:off x="320040" y="3635665"/>
            <a:ext cx="4937760" cy="107349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EPS beat the top of guidance in 5 of the last 6 quarters, by +44% and +19% in the last two, while revenue beats stayed in single digits.</a:t>
            </a:r>
          </a:p>
        </p:txBody>
      </p:sp>
      <p:sp>
        <p:nvSpPr>
          <p:cNvPr id="11" name="TextBox 135"/>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DROVE THE QUARTER</a:t>
            </a:r>
          </a:p>
        </p:txBody>
      </p:sp>
      <p:sp>
        <p:nvSpPr>
          <p:cNvPr id="12" name="TextBox 136"/>
          <p:cNvSpPr txBox="1"/>
          <p:nvPr/>
        </p:nvSpPr>
        <p:spPr>
          <a:xfrm>
            <a:off x="5440680" y="1700784"/>
            <a:ext cx="3383280" cy="3008376"/>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Margin, not volume: </a:t>
            </a:r>
            <a:r>
              <a:rPr sz="850" b="0">
                <a:solidFill>
                  <a:srgbClr val="1F2421"/>
                </a:solidFill>
                <a:latin typeface="Helvetica Neue"/>
              </a:rPr>
              <a:t>~78% of the $1.2bn rise in non-GAAP operating profit came from margin (est.).</a:t>
            </a:r>
          </a:p>
          <a:p>
            <a:pPr algn="l" marL="155448" indent="-155448">
              <a:spcAft>
                <a:spcPts val="300"/>
              </a:spcAft>
              <a:buClr>
                <a:srgbClr val="135927"/>
              </a:buClr>
              <a:buSzPct val="100000"/>
              <a:buFont typeface="Helvetica Neue"/>
              <a:buChar char="•"/>
            </a:pPr>
            <a:r>
              <a:rPr sz="850" b="1">
                <a:solidFill>
                  <a:srgbClr val="1F2421"/>
                </a:solidFill>
                <a:latin typeface="Helvetica Neue"/>
              </a:rPr>
              <a:t>Price, not units: </a:t>
            </a:r>
            <a:r>
              <a:rPr sz="850" b="0">
                <a:solidFill>
                  <a:srgbClr val="1F2421"/>
                </a:solidFill>
                <a:latin typeface="Helvetica Neue"/>
              </a:rPr>
              <a:t>server revenue +35% on higher ASPs while supply was constrained; management expects gross margin to moderate toward historical levels.</a:t>
            </a:r>
          </a:p>
          <a:p>
            <a:pPr algn="l" marL="155448" indent="-155448">
              <a:spcAft>
                <a:spcPts val="300"/>
              </a:spcAft>
              <a:buClr>
                <a:srgbClr val="135927"/>
              </a:buClr>
              <a:buSzPct val="100000"/>
              <a:buFont typeface="Helvetica Neue"/>
              <a:buChar char="•"/>
            </a:pPr>
            <a:r>
              <a:rPr sz="850" b="1">
                <a:solidFill>
                  <a:srgbClr val="1F2421"/>
                </a:solidFill>
                <a:latin typeface="Helvetica Neue"/>
              </a:rPr>
              <a:t>Acquired vs organic: </a:t>
            </a:r>
            <a:r>
              <a:rPr sz="850" b="0">
                <a:solidFill>
                  <a:srgbClr val="1F2421"/>
                </a:solidFill>
                <a:latin typeface="Helvetica Neue"/>
              </a:rPr>
              <a:t>Networking +75% reported but +10% normalised; orders +36%.</a:t>
            </a:r>
          </a:p>
          <a:p>
            <a:pPr algn="l" marL="155448" indent="-155448">
              <a:spcAft>
                <a:spcPts val="300"/>
              </a:spcAft>
              <a:buClr>
                <a:srgbClr val="135927"/>
              </a:buClr>
              <a:buSzPct val="100000"/>
              <a:buFont typeface="Helvetica Neue"/>
              <a:buChar char="•"/>
            </a:pPr>
            <a:r>
              <a:rPr sz="850" b="1">
                <a:solidFill>
                  <a:srgbClr val="1F2421"/>
                </a:solidFill>
                <a:latin typeface="Helvetica Neue"/>
              </a:rPr>
              <a:t>External drivers: </a:t>
            </a:r>
            <a:r>
              <a:rPr sz="850" b="0">
                <a:solidFill>
                  <a:srgbClr val="1F2421"/>
                </a:solidFill>
                <a:latin typeface="Helvetica Neue"/>
              </a:rPr>
              <a:t>cloud capex +81% and memory prices (DRAM +13–18% QoQ) lifted both volume and price, and both can reverse.</a:t>
            </a:r>
          </a:p>
          <a:p>
            <a:pPr algn="l" marL="155448" indent="-155448">
              <a:spcAft>
                <a:spcPts val="300"/>
              </a:spcAft>
              <a:buClr>
                <a:srgbClr val="135927"/>
              </a:buClr>
              <a:buSzPct val="100000"/>
              <a:buFont typeface="Helvetica Neue"/>
              <a:buChar char="•"/>
            </a:pPr>
            <a:r>
              <a:rPr sz="850" b="1">
                <a:solidFill>
                  <a:srgbClr val="1F2421"/>
                </a:solidFill>
                <a:latin typeface="Helvetica Neue"/>
              </a:rPr>
              <a:t>Cash: </a:t>
            </a:r>
            <a:r>
              <a:rPr sz="850" b="0">
                <a:solidFill>
                  <a:srgbClr val="1F2421"/>
                </a:solidFill>
                <a:latin typeface="Helvetica Neue"/>
              </a:rPr>
              <a:t>free cash flow $958m, 48% of non-GAAP operating profit, with $11.8bn of inventory.</a:t>
            </a:r>
          </a:p>
          <a:p>
            <a:pPr algn="l" marL="155448" indent="-155448">
              <a:spcAft>
                <a:spcPts val="300"/>
              </a:spcAft>
              <a:buClr>
                <a:srgbClr val="135927"/>
              </a:buClr>
              <a:buSzPct val="100000"/>
              <a:buFont typeface="Helvetica Neue"/>
              <a:buChar char="•"/>
            </a:pPr>
            <a:r>
              <a:rPr sz="850" b="1">
                <a:solidFill>
                  <a:srgbClr val="1F2421"/>
                </a:solidFill>
                <a:latin typeface="Helvetica Neue"/>
              </a:rPr>
              <a:t>Guidance revisions: </a:t>
            </a:r>
            <a:r>
              <a:rPr sz="850" b="0">
                <a:solidFill>
                  <a:srgbClr val="1F2421"/>
                </a:solidFill>
                <a:latin typeface="Helvetica Neue"/>
              </a:rPr>
              <a:t>FY26 revenue guide 17–22% → 34–37% since October 2025; the FY26 EPS guide already beats the FY28 target (≥$3.00).</a:t>
            </a:r>
          </a:p>
        </p:txBody>
      </p:sp>
      <p:sp>
        <p:nvSpPr>
          <p:cNvPr id="13" name="axis note earn_beat_gap"/>
          <p:cNvSpPr txBox="1"/>
          <p:nvPr/>
        </p:nvSpPr>
        <p:spPr>
          <a:xfrm>
            <a:off x="320040" y="3053497"/>
            <a:ext cx="49377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quarter, Q2 FY25 to Q3 FY26; moving right is a later quarter. Bars measure the result against the top of the guidance range given for that quarter.</a:t>
            </a:r>
          </a:p>
          <a:p>
            <a:r>
              <a:rPr sz="700" b="1">
                <a:solidFill>
                  <a:srgbClr val="135927"/>
                </a:solidFill>
                <a:latin typeface="Helvetica Neue"/>
              </a:rPr>
              <a:t>Behaviour  </a:t>
            </a:r>
            <a:r>
              <a:rPr sz="700" b="0">
                <a:solidFill>
                  <a:srgbClr val="404040"/>
                </a:solidFill>
                <a:latin typeface="Helvetica Neue"/>
              </a:rPr>
              <a:t>the EPS bar exceeds the revenue bar in every quarter and the gap widens sharply in the last two (+44% and +19% EPS against +7% and +1% revenue) — upside from margin, not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Juniper accounts for 32–38% of FY26 revenue above baseline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COUNTERFACTUAL</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Decomposition: </a:t>
            </a:r>
            <a:r>
              <a:rPr sz="1050" b="1">
                <a:solidFill>
                  <a:srgbClr val="1F2421"/>
                </a:solidFill>
                <a:latin typeface="Helvetica Neue"/>
              </a:rPr>
              <a:t>Acquisition 32–38%, cycle the remainder</a:t>
            </a:r>
            <a:r>
              <a:rPr sz="1050" b="0">
                <a:solidFill>
                  <a:srgbClr val="404040"/>
                </a:solidFill>
                <a:latin typeface="Helvetica Neue"/>
              </a:rPr>
              <a:t> — $17.4bn above the pre-Juniper baseline: $5.7bn Juniper consolidation, $11.8bn AI demand and pricing.</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XBRL and 10-Q/10-K statements; hyperscaler and Micron XBRL; Bona Fide analysis (statsmodels; Newey-West errors, t-distribution p-values).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10</a:t>
            </a:r>
          </a:p>
        </p:txBody>
      </p:sp>
      <p:pic>
        <p:nvPicPr>
          <p:cNvPr id="8" name="Picture 134" descr="stat_arima_counterfactual_deck.png"/>
          <p:cNvPicPr>
            <a:picLocks noChangeAspect="1"/>
          </p:cNvPicPr>
          <p:nvPr/>
        </p:nvPicPr>
        <p:blipFill>
          <a:blip r:embed="rId5"/>
          <a:stretch>
            <a:fillRect/>
          </a:stretch>
        </p:blipFill>
        <p:spPr>
          <a:xfrm>
            <a:off x="274320" y="1856231"/>
            <a:ext cx="4846320" cy="1920187"/>
          </a:xfrm>
          <a:prstGeom prst="rect">
            <a:avLst/>
          </a:prstGeom>
        </p:spPr>
      </p:pic>
      <p:graphicFrame>
        <p:nvGraphicFramePr>
          <p:cNvPr id="9" name="Table 135"/>
          <p:cNvGraphicFramePr>
            <a:graphicFrameLocks noGrp="1"/>
          </p:cNvGraphicFramePr>
          <p:nvPr/>
        </p:nvGraphicFramePr>
        <p:xfrm>
          <a:off x="5257800" y="1856231"/>
          <a:ext cx="3566160" cy="1728216"/>
        </p:xfrm>
        <a:graphic>
          <a:graphicData uri="http://schemas.openxmlformats.org/drawingml/2006/table">
            <a:tbl>
              <a:tblPr firstRow="1">
                <a:tableStyleId>{5C22544A-7EE6-4342-B048-85BDC9FD1C3A}</a:tableStyleId>
              </a:tblPr>
              <a:tblGrid>
                <a:gridCol w="2331720"/>
                <a:gridCol w="685800"/>
                <a:gridCol w="548640"/>
              </a:tblGrid>
              <a:tr h="246888">
                <a:tc>
                  <a:txBody>
                    <a:bodyPr/>
                    <a:lstStyle/>
                    <a:p>
                      <a:pPr algn="l"/>
                      <a:r>
                        <a:rPr sz="800" b="1">
                          <a:solidFill>
                            <a:srgbClr val="FCC80D"/>
                          </a:solidFill>
                          <a:latin typeface="Helvetica Neue"/>
                        </a:rPr>
                        <a:t>Test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Coef.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46888">
                <a:tc>
                  <a:txBody>
                    <a:bodyPr/>
                    <a:lstStyle/>
                    <a:p>
                      <a:pPr algn="l"/>
                      <a:r>
                        <a:rPr sz="800" b="1">
                          <a:solidFill>
                            <a:srgbClr val="1F2421"/>
                          </a:solidFill>
                          <a:latin typeface="Helvetica Neue"/>
                        </a:rPr>
                        <a:t>Revenue ~ capex, lags 0–2 summed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Robustness: lags 0–4 summed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0.45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a:lstStyle/>
                    <a:p>
                      <a:pPr algn="l"/>
                      <a:r>
                        <a:rPr sz="800" b="1">
                          <a:solidFill>
                            <a:srgbClr val="1F2421"/>
                          </a:solidFill>
                          <a:latin typeface="Helvetica Neue"/>
                        </a:rPr>
                        <a:t>Juniper quarters, revenue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+15pp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0.002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Gross margin ~ Micron margin (pp)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−0.046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a:lstStyle/>
                    <a:p>
                      <a:pPr algn="l"/>
                      <a:r>
                        <a:rPr sz="800" b="1">
                          <a:solidFill>
                            <a:srgbClr val="1F2421"/>
                          </a:solidFill>
                          <a:latin typeface="Helvetica Neue"/>
                        </a:rPr>
                        <a:t>Robustness: without Juniper dummy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−0.007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0.88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Juniper quarters, gross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+6.8pp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0" name="TextBox 136"/>
          <p:cNvSpPr txBox="1"/>
          <p:nvPr/>
        </p:nvSpPr>
        <p:spPr>
          <a:xfrm>
            <a:off x="5257800" y="3657600"/>
            <a:ext cx="3566160" cy="109728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Attribution: </a:t>
            </a:r>
            <a:r>
              <a:rPr sz="900" b="0">
                <a:solidFill>
                  <a:srgbClr val="1F2421"/>
                </a:solidFill>
                <a:latin typeface="Helvetica Neue"/>
              </a:rPr>
              <a:t>FY26 guide $46.5bn vs $29.1bn baseline = $17.4bn excess; Juniper ≈ $5.7bn, AI and pricing ≈ $11.8bn (est.); Juniper is 32–38% on 8 baselines.</a:t>
            </a:r>
          </a:p>
          <a:p>
            <a:pPr algn="l" marL="155448" indent="-155448">
              <a:spcAft>
                <a:spcPts val="300"/>
              </a:spcAft>
              <a:buClr>
                <a:srgbClr val="135927"/>
              </a:buClr>
              <a:buSzPct val="100000"/>
              <a:buFont typeface="Helvetica Neue"/>
              <a:buChar char="•"/>
            </a:pPr>
            <a:r>
              <a:rPr sz="900" b="1">
                <a:solidFill>
                  <a:srgbClr val="1F2421"/>
                </a:solidFill>
                <a:latin typeface="Helvetica Neue"/>
              </a:rPr>
              <a:t>Margin: </a:t>
            </a:r>
            <a:r>
              <a:rPr sz="900" b="0">
                <a:solidFill>
                  <a:srgbClr val="1F2421"/>
                </a:solidFill>
                <a:latin typeface="Helvetica Neue"/>
              </a:rPr>
              <a:t>Q3 FY26 gross margin is 6.5pp above the value fitted from memory pricing and Juniper mix — a non-recurring pricing gain, the component most exposed to reversal.</a:t>
            </a:r>
          </a:p>
        </p:txBody>
      </p:sp>
      <p:sp>
        <p:nvSpPr>
          <p:cNvPr id="11" name="Our test"/>
          <p:cNvSpPr txBox="1"/>
          <p:nvPr/>
        </p:nvSpPr>
        <p:spPr>
          <a:xfrm>
            <a:off x="320040" y="1417320"/>
            <a:ext cx="48006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3  </a:t>
            </a:r>
            <a:r>
              <a:rPr sz="800" b="0">
                <a:solidFill>
                  <a:srgbClr val="404040"/>
                </a:solidFill>
                <a:latin typeface="Helvetica Neue"/>
              </a:rPr>
              <a:t>Pre-Juniper revenue baseline: SARIMA fitted to 30 quarters to Q2 FY25; test is whether actual revenue leaves its 95% band</a:t>
            </a:r>
          </a:p>
        </p:txBody>
      </p:sp>
      <p:sp>
        <p:nvSpPr>
          <p:cNvPr id="12" name="Our test"/>
          <p:cNvSpPr txBox="1"/>
          <p:nvPr/>
        </p:nvSpPr>
        <p:spPr>
          <a:xfrm>
            <a:off x="5257800" y="1417320"/>
            <a:ext cx="3566160" cy="411479"/>
          </a:xfrm>
          <a:prstGeom prst="rect">
            <a:avLst/>
          </a:prstGeom>
          <a:noFill/>
        </p:spPr>
        <p:txBody>
          <a:bodyPr wrap="square" anchor="t" lIns="36576" rIns="36576" tIns="18288" bIns="18288">
            <a:spAutoFit/>
          </a:bodyPr>
          <a:lstStyle/>
          <a:p>
            <a:r>
              <a:rPr sz="800" b="1">
                <a:solidFill>
                  <a:srgbClr val="135927"/>
                </a:solidFill>
                <a:latin typeface="Helvetica Neue"/>
              </a:rPr>
              <a:t>EXPERIMENTS 1–2  </a:t>
            </a:r>
            <a:r>
              <a:rPr sz="800" b="0">
                <a:solidFill>
                  <a:srgbClr val="404040"/>
                </a:solidFill>
                <a:latin typeface="Helvetica Neue"/>
              </a:rPr>
              <a:t>Driver regressions: revenue growth on cloud capex, gross-margin change on memory pricing; 31–34 quarters, Newey-West errors, t p-values</a:t>
            </a:r>
          </a:p>
        </p:txBody>
      </p:sp>
      <p:sp>
        <p:nvSpPr>
          <p:cNvPr id="13" name="axis note stat_arima_counterfactual"/>
          <p:cNvSpPr txBox="1"/>
          <p:nvPr/>
        </p:nvSpPr>
        <p:spPr>
          <a:xfrm>
            <a:off x="274320" y="3812994"/>
            <a:ext cx="484632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quarter end, FY2018 to FY2027; moving right is a later quarter. The vertical line marks the Juniper close on 2-Jul-2025, after which the gold line is a forecast, not an observation.</a:t>
            </a:r>
          </a:p>
          <a:p>
            <a:r>
              <a:rPr sz="700" b="1">
                <a:solidFill>
                  <a:srgbClr val="135927"/>
                </a:solidFill>
                <a:latin typeface="Helvetica Neue"/>
              </a:rPr>
              <a:t>Behaviour  </a:t>
            </a:r>
            <a:r>
              <a:rPr sz="700" b="0">
                <a:solidFill>
                  <a:srgbClr val="404040"/>
                </a:solidFill>
                <a:latin typeface="Helvetica Neue"/>
              </a:rPr>
              <a:t>actual revenue holds $6.0–8.5bn for seven years, then rises to $12.2bn; the baseline stays flat at $7.26bn and all five post-close quarters sit above its 95% band, the gap widening from +22% to +68%.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Six of seven late-cycle indicators present; three structural offsets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LATE-CYCLE INDICATORS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materials and 10-Q; TrendForce; SEC capex filings; Form 4 filings;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11</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Six of seven indicators present</a:t>
            </a:r>
            <a:r>
              <a:rPr sz="1050" b="0">
                <a:solidFill>
                  <a:srgbClr val="404040"/>
                </a:solidFill>
                <a:latin typeface="Helvetica Neue"/>
              </a:rPr>
              <a:t> — pricing-led growth, record margin guided lower, supplier-funded inventory; networking profit and ROIC are the offsets.</a:t>
            </a:r>
          </a:p>
        </p:txBody>
      </p:sp>
      <p:graphicFrame>
        <p:nvGraphicFramePr>
          <p:cNvPr id="8" name="Table 133"/>
          <p:cNvGraphicFramePr>
            <a:graphicFrameLocks noGrp="1"/>
          </p:cNvGraphicFramePr>
          <p:nvPr/>
        </p:nvGraphicFramePr>
        <p:xfrm>
          <a:off x="320040" y="1463040"/>
          <a:ext cx="8503919" cy="2487168"/>
        </p:xfrm>
        <a:graphic>
          <a:graphicData uri="http://schemas.openxmlformats.org/drawingml/2006/table">
            <a:tbl>
              <a:tblPr firstRow="1" bandRow="1">
                <a:tableStyleId>{5C22544A-7EE6-4342-B048-85BDC9FD1C3A}</a:tableStyleId>
              </a:tblPr>
              <a:tblGrid>
                <a:gridCol w="1874519"/>
                <a:gridCol w="2743200"/>
                <a:gridCol w="3154680"/>
                <a:gridCol w="731520"/>
              </a:tblGrid>
              <a:tr h="310896">
                <a:tc>
                  <a:txBody>
                    <a:bodyPr wrap="square"/>
                    <a:lstStyle/>
                    <a:p>
                      <a:r>
                        <a:rPr sz="800" b="1" i="0">
                          <a:solidFill>
                            <a:srgbClr val="FCC80D"/>
                          </a:solidFill>
                          <a:latin typeface="Helvetica Neue"/>
                        </a:rPr>
                        <a:t>Late-cycle signal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Mechanism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HPE today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Read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wrap="square"/>
                    <a:lstStyle/>
                    <a:p>
                      <a:r>
                        <a:rPr sz="800" b="1" i="0">
                          <a:solidFill>
                            <a:srgbClr val="1F2421"/>
                          </a:solidFill>
                          <a:latin typeface="Helvetica Neue"/>
                        </a:rPr>
                        <a:t>Growth led by price, not units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Pass-through pricing reverses when component costs fall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Q3 server growth ASP-led; DRAM contract prices +13–18% QoQ</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margin, guided lower</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Management guides margin down before it falls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Record 40.4% non-GAAP gross margin; guided to “moderate”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Inventory funded by suppliers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Payables-funded inventory supports FCF, then reverses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Inventory +$5.5bn, payables +$6.0bn since Oct-2025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backlog, supply-constrained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Long lead times inflate orders; slippage follows when supply eases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AI backlog $7.6bn; supply is the binding constraint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Customers' capex at records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Capex cycles overshoot, then pause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Hyperscaler + Oracle capex $566bn TTM, +81%, partly debt-funded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Multiple above its own history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Peak earnings × peak multiple = double exposure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13.5x FY27 EPS vs 4–10x FY20–24; peers 18–23x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Momentum and insider selling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Insider selling with no offsetting purchases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+155% in a year; 2-Jun +19.5% on 7.4x volume; 31 insider sales, no buys (mostly pre-rally)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Partly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320040" y="4023360"/>
            <a:ext cx="85039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STRUCTURAL OFFSETS: EVIDENCE AGAINST A PURE CYCLE READING</a:t>
            </a:r>
          </a:p>
        </p:txBody>
      </p:sp>
      <p:sp>
        <p:nvSpPr>
          <p:cNvPr id="10" name="TextBox 136"/>
          <p:cNvSpPr txBox="1"/>
          <p:nvPr/>
        </p:nvSpPr>
        <p:spPr>
          <a:xfrm>
            <a:off x="320040" y="4242816"/>
            <a:ext cx="8503920" cy="320040"/>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Networking earns 40% of segment profit  ·  ROIC 11.2% above the 9.3% WACC  ·  ARR $3.15bn, +63%  ·  FY27 framework raised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Record free cash flow with inventory financed by payables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CASH QUALITY</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Free cash flow supported by payables</a:t>
            </a:r>
            <a:r>
              <a:rPr sz="1050" b="0">
                <a:solidFill>
                  <a:srgbClr val="404040"/>
                </a:solidFill>
                <a:latin typeface="Helvetica Neue"/>
              </a:rPr>
              <a:t> — payables +$6.0bn financed a $5.5bn inventory build; FCF margin 10.7% TTM.</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10-K/10-Q; Q3 FY26 press release;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12</a:t>
            </a:r>
          </a:p>
        </p:txBody>
      </p:sp>
      <p:pic>
        <p:nvPicPr>
          <p:cNvPr id="8" name="Picture 134" descr="fin_fcf_deck.png"/>
          <p:cNvPicPr>
            <a:picLocks noChangeAspect="1"/>
          </p:cNvPicPr>
          <p:nvPr/>
        </p:nvPicPr>
        <p:blipFill>
          <a:blip r:embed="rId6"/>
          <a:stretch>
            <a:fillRect/>
          </a:stretch>
        </p:blipFill>
        <p:spPr>
          <a:xfrm>
            <a:off x="274320" y="1417320"/>
            <a:ext cx="4251960" cy="1477458"/>
          </a:xfrm>
          <a:prstGeom prst="rect">
            <a:avLst/>
          </a:prstGeom>
        </p:spPr>
      </p:pic>
      <p:pic>
        <p:nvPicPr>
          <p:cNvPr id="9" name="Picture 135" descr="fin_working_capital_deck.png"/>
          <p:cNvPicPr>
            <a:picLocks noChangeAspect="1"/>
          </p:cNvPicPr>
          <p:nvPr/>
        </p:nvPicPr>
        <p:blipFill>
          <a:blip r:embed="rId3"/>
          <a:stretch>
            <a:fillRect/>
          </a:stretch>
        </p:blipFill>
        <p:spPr>
          <a:xfrm>
            <a:off x="4704860" y="1417320"/>
            <a:ext cx="4031958" cy="1292353"/>
          </a:xfrm>
          <a:prstGeom prst="rect">
            <a:avLst/>
          </a:prstGeom>
        </p:spPr>
      </p:pic>
      <p:sp>
        <p:nvSpPr>
          <p:cNvPr id="10"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2"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3"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4"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6"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7"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8"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20"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1"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2"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4"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5"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
        <p:nvSpPr>
          <p:cNvPr id="26" name="axis note fin_fcf"/>
          <p:cNvSpPr txBox="1"/>
          <p:nvPr/>
        </p:nvSpPr>
        <p:spPr>
          <a:xfrm>
            <a:off x="274320" y="2931354"/>
            <a:ext cx="4251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 Bars are free cash flow in US$bn, the line is free cash flow as a share of revenue.</a:t>
            </a:r>
          </a:p>
          <a:p>
            <a:r>
              <a:rPr sz="700" b="1">
                <a:solidFill>
                  <a:srgbClr val="135927"/>
                </a:solidFill>
                <a:latin typeface="Helvetica Neue"/>
              </a:rPr>
              <a:t>Behaviour  </a:t>
            </a:r>
            <a:r>
              <a:rPr sz="700" b="0">
                <a:solidFill>
                  <a:srgbClr val="404040"/>
                </a:solidFill>
                <a:latin typeface="Helvetica Neue"/>
              </a:rPr>
              <a:t>free cash flow oscillates without trend — $0.6bn (2.1%) FY20, $3.7bn (13.4%) FY21, about $2.2bn FY22–24, $1.0bn (2.9%) FY25 and $4.5bn (10.7%) TTM.</a:t>
            </a:r>
          </a:p>
        </p:txBody>
      </p:sp>
      <p:sp>
        <p:nvSpPr>
          <p:cNvPr id="27" name="axis note fin_working_capital"/>
          <p:cNvSpPr txBox="1"/>
          <p:nvPr/>
        </p:nvSpPr>
        <p:spPr>
          <a:xfrm>
            <a:off x="4617720" y="2746249"/>
            <a:ext cx="4206240" cy="79247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 Values are days of revenue (receivables) or of cost of sales (inventory, payables).</a:t>
            </a:r>
          </a:p>
          <a:p>
            <a:r>
              <a:rPr sz="700" b="1">
                <a:solidFill>
                  <a:srgbClr val="135927"/>
                </a:solidFill>
                <a:latin typeface="Helvetica Neue"/>
              </a:rPr>
              <a:t>Behaviour  </a:t>
            </a:r>
            <a:r>
              <a:rPr sz="700" b="0">
                <a:solidFill>
                  <a:srgbClr val="404040"/>
                </a:solidFill>
                <a:latin typeface="Helvetica Neue"/>
              </a:rPr>
              <a:t>inventory days rise 52.7 to 162.9 while payable days rise 106 to 189; receivable days are stable at 44–56, so the cash conversion cycle turns positive at +27.6 days.</a:t>
            </a:r>
          </a:p>
          <a:p>
            <a:r>
              <a:rPr sz="700" b="1">
                <a:solidFill>
                  <a:srgbClr val="135927"/>
                </a:solidFill>
                <a:latin typeface="Helvetica Neue"/>
              </a:rPr>
              <a:t>Reversal  </a:t>
            </a:r>
            <a:r>
              <a:rPr sz="700" b="0">
                <a:solidFill>
                  <a:srgbClr val="404040"/>
                </a:solidFill>
                <a:latin typeface="Helvetica Neue"/>
              </a:rPr>
              <a:t>If orders slow and payable days return to 118 (FY2025) while inventory days stay at 163, about $5.2bn of cash flows out; falling memory prices add write-down risk on $11.8bn of inventory.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peer multiples HPE would be valued at $67–106 per share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PEER-MULTIPLE CASE</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TTM fundamentals; prices 11-Sep-2026; consensus EPS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13</a:t>
            </a:r>
          </a:p>
        </p:txBody>
      </p:sp>
      <p:graphicFrame>
        <p:nvGraphicFramePr>
          <p:cNvPr id="7" name="Table 133"/>
          <p:cNvGraphicFramePr>
            <a:graphicFrameLocks noGrp="1"/>
          </p:cNvGraphicFramePr>
          <p:nvPr/>
        </p:nvGraphicFramePr>
        <p:xfrm>
          <a:off x="320040" y="1463040"/>
          <a:ext cx="5120640" cy="2112264"/>
        </p:xfrm>
        <a:graphic>
          <a:graphicData uri="http://schemas.openxmlformats.org/drawingml/2006/table">
            <a:tbl>
              <a:tblPr firstRow="1">
                <a:tableStyleId>{5C22544A-7EE6-4342-B048-85BDC9FD1C3A}</a:tableStyleId>
              </a:tblPr>
              <a:tblGrid>
                <a:gridCol w="1097280"/>
                <a:gridCol w="658368"/>
                <a:gridCol w="566928"/>
                <a:gridCol w="731520"/>
                <a:gridCol w="658368"/>
                <a:gridCol w="731520"/>
                <a:gridCol w="676656"/>
              </a:tblGrid>
              <a:tr h="301752">
                <a:tc>
                  <a:txBody>
                    <a:bodyPr/>
                    <a:lstStyle/>
                    <a:p>
                      <a:pPr algn="l"/>
                      <a:r>
                        <a:rPr sz="850" b="1">
                          <a:solidFill>
                            <a:srgbClr val="FCC80D"/>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Rev $bn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FCF mgn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P/E NFY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EV/Rev</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01752">
                <a:tc>
                  <a:txBody>
                    <a:bodyPr/>
                    <a:lstStyle/>
                    <a:p>
                      <a:pPr algn="l"/>
                      <a:r>
                        <a:rPr sz="85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41.9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37%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13.5x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2.3x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301752">
                <a:tc>
                  <a:txBody>
                    <a:bodyPr/>
                    <a:lstStyle/>
                    <a:p>
                      <a:pPr algn="l"/>
                      <a:r>
                        <a:rPr sz="85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151.2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23.0x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Supermicro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0.5x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63.3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Arista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63%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n/a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38.7x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22.6x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NetApp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18.0x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666744"/>
            <a:ext cx="5120640" cy="1042416"/>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Opposing case: </a:t>
            </a:r>
            <a:r>
              <a:rPr sz="900" b="0">
                <a:solidFill>
                  <a:srgbClr val="1F2421"/>
                </a:solidFill>
                <a:latin typeface="Helvetica Neue"/>
              </a:rPr>
              <a:t>twice Dell's gross margin and a Cisco-like networking arm, yet 13.5x vs Dell 23.0x and Cisco 20.0x; sum of the parts $67–94.</a:t>
            </a:r>
          </a:p>
          <a:p>
            <a:pPr algn="l" marL="155448" indent="-155448">
              <a:spcAft>
                <a:spcPts val="250"/>
              </a:spcAft>
              <a:buClr>
                <a:srgbClr val="135927"/>
              </a:buClr>
              <a:buSzPct val="100000"/>
              <a:buFont typeface="Helvetica Neue"/>
              <a:buChar char="•"/>
            </a:pPr>
            <a:r>
              <a:rPr sz="900" b="1">
                <a:solidFill>
                  <a:srgbClr val="1F2421"/>
                </a:solidFill>
                <a:latin typeface="Helvetica Neue"/>
              </a:rPr>
              <a:t>Our response: </a:t>
            </a:r>
            <a:r>
              <a:rPr sz="900" b="0">
                <a:solidFill>
                  <a:srgbClr val="1F2421"/>
                </a:solidFill>
                <a:latin typeface="Helvetica Neue"/>
              </a:rPr>
              <a:t>peer multiples embed the same AI-cycle assumptions; relative value cannot show the sector is right.</a:t>
            </a:r>
          </a:p>
          <a:p>
            <a:pPr algn="l" marL="155448" indent="-155448">
              <a:spcAft>
                <a:spcPts val="250"/>
              </a:spcAft>
              <a:buClr>
                <a:srgbClr val="135927"/>
              </a:buClr>
              <a:buSzPct val="100000"/>
              <a:buFont typeface="Helvetica Neue"/>
              <a:buChar char="•"/>
            </a:pPr>
            <a:r>
              <a:rPr sz="900" b="1">
                <a:solidFill>
                  <a:srgbClr val="1F2421"/>
                </a:solidFill>
                <a:latin typeface="Helvetica Neue"/>
              </a:rPr>
              <a:t>Counter-evidence: </a:t>
            </a:r>
            <a:r>
              <a:rPr sz="900" b="0">
                <a:solidFill>
                  <a:srgbClr val="1F2421"/>
                </a:solidFill>
                <a:latin typeface="Helvetica Neue"/>
              </a:rPr>
              <a:t>HPE's GAAP operating margin is 6% and it is losing server share.</a:t>
            </a:r>
          </a:p>
        </p:txBody>
      </p:sp>
      <p:pic>
        <p:nvPicPr>
          <p:cNvPr id="9" name="Picture 135" descr="peers_margin_vs_multiple_deck.png"/>
          <p:cNvPicPr>
            <a:picLocks noChangeAspect="1"/>
          </p:cNvPicPr>
          <p:nvPr/>
        </p:nvPicPr>
        <p:blipFill>
          <a:blip r:embed="rId5"/>
          <a:stretch>
            <a:fillRect/>
          </a:stretch>
        </p:blipFill>
        <p:spPr>
          <a:xfrm>
            <a:off x="5532120" y="1463040"/>
            <a:ext cx="3291840" cy="1388420"/>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Opposing case: </a:t>
            </a:r>
            <a:r>
              <a:rPr sz="1050" b="1">
                <a:solidFill>
                  <a:srgbClr val="1F2421"/>
                </a:solidFill>
                <a:latin typeface="Helvetica Neue"/>
              </a:rPr>
              <a:t>Peer multiples embed the same cycle</a:t>
            </a:r>
            <a:r>
              <a:rPr sz="1050" b="0">
                <a:solidFill>
                  <a:srgbClr val="404040"/>
                </a:solidFill>
                <a:latin typeface="Helvetica Neue"/>
              </a:rPr>
              <a:t> — relative value of $67–106 assumes sector multiples persist, so it cannot test that assumption.</a:t>
            </a:r>
          </a:p>
        </p:txBody>
      </p:sp>
      <p:sp>
        <p:nvSpPr>
          <p:cNvPr id="11" name="axis note peers_margin_vs_multiple"/>
          <p:cNvSpPr txBox="1"/>
          <p:nvPr/>
        </p:nvSpPr>
        <p:spPr>
          <a:xfrm>
            <a:off x="5532120" y="2888036"/>
            <a:ext cx="3291840"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Trailing-twelve-month GAAP operating margin, per cent (0–45%); further right is a structurally more profitable company.</a:t>
            </a:r>
          </a:p>
          <a:p>
            <a:r>
              <a:rPr sz="700" b="1">
                <a:solidFill>
                  <a:srgbClr val="135927"/>
                </a:solidFill>
                <a:latin typeface="Helvetica Neue"/>
              </a:rPr>
              <a:t>Behaviour  </a:t>
            </a:r>
            <a:r>
              <a:rPr sz="700" b="0">
                <a:solidFill>
                  <a:srgbClr val="404040"/>
                </a:solidFill>
                <a:latin typeface="Helvetica Neue"/>
              </a:rPr>
              <a:t>EV/revenue rises with operating margin across the peer set; HPE (6.2%, 2.3x) sits with Dell (9.4%, 2.5x) in the low-margin corner, against Cisco (24.3%, 7.1x) and Arista (43.1%, 22.6x).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price implies an 18.4% long-term margin or 10.8% growth</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REVERSE DCF</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FRED DGS10; Damodaran ERP and betas (Jan-2026); Bona Fide DCF (FY27E–FY36E, SBC expensed, mid-year discounting).</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14</a:t>
            </a:r>
          </a:p>
        </p:txBody>
      </p:sp>
      <p:graphicFrame>
        <p:nvGraphicFramePr>
          <p:cNvPr id="7" name="Table 133"/>
          <p:cNvGraphicFramePr>
            <a:graphicFrameLocks noGrp="1"/>
          </p:cNvGraphicFramePr>
          <p:nvPr/>
        </p:nvGraphicFramePr>
        <p:xfrm>
          <a:off x="320040" y="1463040"/>
          <a:ext cx="2651760" cy="1920240"/>
        </p:xfrm>
        <a:graphic>
          <a:graphicData uri="http://schemas.openxmlformats.org/drawingml/2006/table">
            <a:tbl>
              <a:tblPr firstRow="1">
                <a:tableStyleId>{5C22544A-7EE6-4342-B048-85BDC9FD1C3A}</a:tableStyleId>
              </a:tblPr>
              <a:tblGrid>
                <a:gridCol w="1737360"/>
                <a:gridCol w="914400"/>
              </a:tblGrid>
              <a:tr h="274320">
                <a:tc>
                  <a:txBody>
                    <a:bodyPr/>
                    <a:lstStyle/>
                    <a:p>
                      <a:pPr algn="l"/>
                      <a:r>
                        <a:rPr sz="900" b="1">
                          <a:solidFill>
                            <a:srgbClr val="FCC80D"/>
                          </a:solidFill>
                          <a:latin typeface="Helvetica Neue"/>
                        </a:rPr>
                        <a:t>Cost of capital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Risk-free (10Y UST)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4.95%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Equity risk premium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3.97%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Levered beta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1.35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Cost of equity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10.32%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After-tax cost of debt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WACC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graphicFrame>
        <p:nvGraphicFramePr>
          <p:cNvPr id="8" name="Table 134"/>
          <p:cNvGraphicFramePr>
            <a:graphicFrameLocks noGrp="1"/>
          </p:cNvGraphicFramePr>
          <p:nvPr/>
        </p:nvGraphicFramePr>
        <p:xfrm>
          <a:off x="3154680" y="1463040"/>
          <a:ext cx="5669280" cy="1097280"/>
        </p:xfrm>
        <a:graphic>
          <a:graphicData uri="http://schemas.openxmlformats.org/drawingml/2006/table">
            <a:tbl>
              <a:tblPr firstRow="1">
                <a:tableStyleId>{5C22544A-7EE6-4342-B048-85BDC9FD1C3A}</a:tableStyleId>
              </a:tblPr>
              <a:tblGrid>
                <a:gridCol w="3291840"/>
                <a:gridCol w="1097280"/>
                <a:gridCol w="1280160"/>
              </a:tblGrid>
              <a:tr h="274320">
                <a:tc>
                  <a:txBody>
                    <a:bodyPr/>
                    <a:lstStyle/>
                    <a:p>
                      <a:pPr algn="l"/>
                      <a:r>
                        <a:rPr sz="900" b="1">
                          <a:solidFill>
                            <a:srgbClr val="FCC80D"/>
                          </a:solidFill>
                          <a:latin typeface="Helvetica Neue"/>
                        </a:rPr>
                        <a:t>What $62.09 implies (one variable at a time)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Implied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Our 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LT non-GAAP margin (base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base 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Revenue CAGR FY27–36 (base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base 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WACC (base 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ours 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9" name="Table 135"/>
          <p:cNvGraphicFramePr>
            <a:graphicFrameLocks noGrp="1"/>
          </p:cNvGraphicFramePr>
          <p:nvPr/>
        </p:nvGraphicFramePr>
        <p:xfrm>
          <a:off x="3154680" y="2697480"/>
          <a:ext cx="5669280" cy="1536192"/>
        </p:xfrm>
        <a:graphic>
          <a:graphicData uri="http://schemas.openxmlformats.org/drawingml/2006/table">
            <a:tbl>
              <a:tblPr firstRow="1">
                <a:tableStyleId>{5C22544A-7EE6-4342-B048-85BDC9FD1C3A}</a:tableStyleId>
              </a:tblPr>
              <a:tblGrid>
                <a:gridCol w="1133856"/>
                <a:gridCol w="1133856"/>
                <a:gridCol w="1133856"/>
                <a:gridCol w="1133856"/>
                <a:gridCol w="1133856"/>
              </a:tblGrid>
              <a:tr h="256032">
                <a:tc>
                  <a:txBody>
                    <a:bodyPr/>
                    <a:lstStyle/>
                    <a:p>
                      <a:pPr algn="l"/>
                      <a:r>
                        <a:rPr sz="900" b="1">
                          <a:solidFill>
                            <a:srgbClr val="FCC80D"/>
                          </a:solidFill>
                          <a:latin typeface="Helvetica Neue"/>
                        </a:rPr>
                        <a:t>WACC \ terminal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56032">
                <a:tc>
                  <a:txBody>
                    <a:bodyPr/>
                    <a:lstStyle/>
                    <a:p>
                      <a:pPr algn="l"/>
                      <a:r>
                        <a:rPr sz="900" b="1">
                          <a:solidFill>
                            <a:srgbClr val="1F2421"/>
                          </a:solidFill>
                          <a:latin typeface="Helvetica Neue"/>
                        </a:rPr>
                        <a:t>8.30%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56032">
                <a:tc>
                  <a:txBody>
                    <a:bodyPr/>
                    <a:lstStyle/>
                    <a:p>
                      <a:pPr algn="l"/>
                      <a:r>
                        <a:rPr sz="900" b="1">
                          <a:solidFill>
                            <a:srgbClr val="1F2421"/>
                          </a:solidFill>
                          <a:latin typeface="Helvetica Neue"/>
                        </a:rPr>
                        <a:t>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$41.6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56032">
                <a:tc>
                  <a:txBody>
                    <a:bodyPr/>
                    <a:lstStyle/>
                    <a:p>
                      <a:pPr algn="l"/>
                      <a:r>
                        <a:rPr sz="900" b="1">
                          <a:solidFill>
                            <a:srgbClr val="1F2421"/>
                          </a:solidFill>
                          <a:latin typeface="Helvetica Neue"/>
                        </a:rPr>
                        <a:t>9.80%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10.30%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6"/>
          <p:cNvSpPr txBox="1"/>
          <p:nvPr/>
        </p:nvSpPr>
        <p:spPr>
          <a:xfrm>
            <a:off x="320040" y="3474720"/>
            <a:ext cx="2651760" cy="1234440"/>
          </a:xfrm>
          <a:prstGeom prst="rect">
            <a:avLst/>
          </a:prstGeom>
          <a:noFill/>
        </p:spPr>
        <p:txBody>
          <a:bodyPr wrap="square" anchor="t" lIns="36576" rIns="36576" tIns="18288" bIns="18288">
            <a:spAutoFit/>
          </a:bodyPr>
          <a:lstStyle/>
          <a:p>
            <a:pPr algn="l" marL="155448" indent="-155448">
              <a:spcAft>
                <a:spcPts val="150"/>
              </a:spcAft>
              <a:buClr>
                <a:srgbClr val="135927"/>
              </a:buClr>
              <a:buSzPct val="100000"/>
              <a:buFont typeface="Helvetica Neue"/>
              <a:buChar char="•"/>
            </a:pPr>
            <a:r>
              <a:rPr sz="850" b="0">
                <a:solidFill>
                  <a:srgbClr val="1F2421"/>
                </a:solidFill>
                <a:latin typeface="Helvetica Neue"/>
              </a:rPr>
              <a:t>FY26E revenue $46.5bn (guidance midpoint)</a:t>
            </a:r>
          </a:p>
          <a:p>
            <a:pPr algn="l" marL="155448" indent="-155448">
              <a:spcAft>
                <a:spcPts val="150"/>
              </a:spcAft>
              <a:buClr>
                <a:srgbClr val="135927"/>
              </a:buClr>
              <a:buSzPct val="100000"/>
              <a:buFont typeface="Helvetica Neue"/>
              <a:buChar char="•"/>
            </a:pPr>
            <a:r>
              <a:rPr sz="850" b="0">
                <a:solidFill>
                  <a:srgbClr val="1F2421"/>
                </a:solidFill>
                <a:latin typeface="Helvetica Neue"/>
              </a:rPr>
              <a:t>FY27E +15%, 14.5% non-GAAP margin (framework)</a:t>
            </a:r>
          </a:p>
          <a:p>
            <a:pPr algn="l" marL="155448" indent="-155448">
              <a:spcAft>
                <a:spcPts val="150"/>
              </a:spcAft>
              <a:buClr>
                <a:srgbClr val="135927"/>
              </a:buClr>
              <a:buSzPct val="100000"/>
              <a:buFont typeface="Helvetica Neue"/>
              <a:buChar char="•"/>
            </a:pPr>
            <a:r>
              <a:rPr sz="850" b="0">
                <a:solidFill>
                  <a:srgbClr val="1F2421"/>
                </a:solidFill>
                <a:latin typeface="Helvetica Neue"/>
              </a:rPr>
              <a:t>LT margin 12.5%, terminal growth 2.75%, SBC expensed</a:t>
            </a:r>
          </a:p>
          <a:p>
            <a:pPr algn="l" marL="155448" indent="-155448">
              <a:spcAft>
                <a:spcPts val="150"/>
              </a:spcAft>
              <a:buClr>
                <a:srgbClr val="135927"/>
              </a:buClr>
              <a:buSzPct val="100000"/>
              <a:buFont typeface="Helvetica Neue"/>
              <a:buChar char="•"/>
            </a:pPr>
            <a:r>
              <a:rPr sz="850" b="0">
                <a:solidFill>
                  <a:srgbClr val="1F2421"/>
                </a:solidFill>
                <a:latin typeface="Helvetica Neue"/>
              </a:rPr>
              <a:t>Equity = EV − debt $20.2bn + cash $6.2bn</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Reverse DCF: </a:t>
            </a:r>
            <a:r>
              <a:rPr sz="1050" b="1">
                <a:solidFill>
                  <a:srgbClr val="1F2421"/>
                </a:solidFill>
                <a:latin typeface="Helvetica Neue"/>
              </a:rPr>
              <a:t>Price implies peak-level margin</a:t>
            </a:r>
            <a:r>
              <a:rPr sz="1050" b="0">
                <a:solidFill>
                  <a:srgbClr val="404040"/>
                </a:solidFill>
                <a:latin typeface="Helvetica Neue"/>
              </a:rPr>
              <a:t> — $62.09 requires an 18.4% long-term margin against the 16.2% record quarter and the 14–15% FY27 guide.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Cash-flow methods give $31–43; peer-multiple methods give $35–106</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VALUATION RANGE</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comps and M&amp;A analysis; Yahoo Finance targets; excel/HPE_valuation_model.xlsx.</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15</a:t>
            </a:r>
          </a:p>
        </p:txBody>
      </p:sp>
      <p:pic>
        <p:nvPicPr>
          <p:cNvPr id="7" name="Picture 133" descr="val_football_field_deck.png"/>
          <p:cNvPicPr>
            <a:picLocks noChangeAspect="1"/>
          </p:cNvPicPr>
          <p:nvPr/>
        </p:nvPicPr>
        <p:blipFill>
          <a:blip r:embed="rId5"/>
          <a:stretch>
            <a:fillRect/>
          </a:stretch>
        </p:blipFill>
        <p:spPr>
          <a:xfrm>
            <a:off x="274320" y="1463040"/>
            <a:ext cx="5760720" cy="2314220"/>
          </a:xfrm>
          <a:prstGeom prst="rect">
            <a:avLst/>
          </a:prstGeom>
        </p:spPr>
      </p:pic>
      <p:sp>
        <p:nvSpPr>
          <p:cNvPr id="8" name="Rectangle 134"/>
          <p:cNvSpPr/>
          <p:nvPr/>
        </p:nvSpPr>
        <p:spPr>
          <a:xfrm>
            <a:off x="6217920" y="1463040"/>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6291072" y="1508760"/>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a:t>
            </a:r>
          </a:p>
        </p:txBody>
      </p:sp>
      <p:sp>
        <p:nvSpPr>
          <p:cNvPr id="10" name="TextBox 136"/>
          <p:cNvSpPr txBox="1"/>
          <p:nvPr/>
        </p:nvSpPr>
        <p:spPr>
          <a:xfrm>
            <a:off x="6291072" y="1682496"/>
            <a:ext cx="2459736" cy="384048"/>
          </a:xfrm>
          <a:prstGeom prst="rect">
            <a:avLst/>
          </a:prstGeom>
          <a:noFill/>
        </p:spPr>
        <p:txBody>
          <a:bodyPr wrap="square" anchor="t" lIns="36576" rIns="36576" tIns="18288" bIns="18288">
            <a:spAutoFit/>
          </a:bodyPr>
          <a:lstStyle/>
          <a:p>
            <a:pPr algn="l">
              <a:spcAft>
                <a:spcPts val="300"/>
              </a:spcAft>
            </a:pPr>
            <a:r>
              <a:rPr sz="1500" b="1">
                <a:solidFill>
                  <a:srgbClr val="B8860B"/>
                </a:solidFill>
                <a:latin typeface="Twentieth Century"/>
              </a:rPr>
              <a:t>$62.09</a:t>
            </a:r>
          </a:p>
        </p:txBody>
      </p:sp>
      <p:sp>
        <p:nvSpPr>
          <p:cNvPr id="11" name="TextBox 137"/>
          <p:cNvSpPr txBox="1"/>
          <p:nvPr/>
        </p:nvSpPr>
        <p:spPr>
          <a:xfrm>
            <a:off x="7543800" y="1517904"/>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11-Sep-2026 close</a:t>
            </a:r>
          </a:p>
        </p:txBody>
      </p:sp>
      <p:sp>
        <p:nvSpPr>
          <p:cNvPr id="12" name="Rectangle 138"/>
          <p:cNvSpPr/>
          <p:nvPr/>
        </p:nvSpPr>
        <p:spPr>
          <a:xfrm>
            <a:off x="6217920" y="2112264"/>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6291072" y="2157984"/>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BASE-CASE DCF</a:t>
            </a:r>
          </a:p>
        </p:txBody>
      </p:sp>
      <p:sp>
        <p:nvSpPr>
          <p:cNvPr id="14" name="TextBox 140"/>
          <p:cNvSpPr txBox="1"/>
          <p:nvPr/>
        </p:nvSpPr>
        <p:spPr>
          <a:xfrm>
            <a:off x="6291072" y="2331720"/>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$38.80</a:t>
            </a:r>
          </a:p>
        </p:txBody>
      </p:sp>
      <p:sp>
        <p:nvSpPr>
          <p:cNvPr id="15" name="TextBox 141"/>
          <p:cNvSpPr txBox="1"/>
          <p:nvPr/>
        </p:nvSpPr>
        <p:spPr>
          <a:xfrm>
            <a:off x="7543800" y="2167128"/>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WACC 9.30%</a:t>
            </a:r>
          </a:p>
        </p:txBody>
      </p:sp>
      <p:sp>
        <p:nvSpPr>
          <p:cNvPr id="16" name="Rectangle 142"/>
          <p:cNvSpPr/>
          <p:nvPr/>
        </p:nvSpPr>
        <p:spPr>
          <a:xfrm>
            <a:off x="6217920" y="2761488"/>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3"/>
          <p:cNvSpPr txBox="1"/>
          <p:nvPr/>
        </p:nvSpPr>
        <p:spPr>
          <a:xfrm>
            <a:off x="6291072" y="2807208"/>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PROBABILITY-WEIGHTED</a:t>
            </a:r>
          </a:p>
        </p:txBody>
      </p:sp>
      <p:sp>
        <p:nvSpPr>
          <p:cNvPr id="18" name="TextBox 144"/>
          <p:cNvSpPr txBox="1"/>
          <p:nvPr/>
        </p:nvSpPr>
        <p:spPr>
          <a:xfrm>
            <a:off x="6291072" y="2980944"/>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$38.43</a:t>
            </a:r>
          </a:p>
        </p:txBody>
      </p:sp>
      <p:sp>
        <p:nvSpPr>
          <p:cNvPr id="19" name="TextBox 145"/>
          <p:cNvSpPr txBox="1"/>
          <p:nvPr/>
        </p:nvSpPr>
        <p:spPr>
          <a:xfrm>
            <a:off x="7543800" y="2816352"/>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25 / 50 / 25</a:t>
            </a:r>
          </a:p>
        </p:txBody>
      </p:sp>
      <p:sp>
        <p:nvSpPr>
          <p:cNvPr id="20" name="Rectangle 146"/>
          <p:cNvSpPr/>
          <p:nvPr/>
        </p:nvSpPr>
        <p:spPr>
          <a:xfrm>
            <a:off x="6217920" y="3410712"/>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7"/>
          <p:cNvSpPr txBox="1"/>
          <p:nvPr/>
        </p:nvSpPr>
        <p:spPr>
          <a:xfrm>
            <a:off x="6291072" y="3456432"/>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DAMODARAN GINZU</a:t>
            </a:r>
          </a:p>
        </p:txBody>
      </p:sp>
      <p:sp>
        <p:nvSpPr>
          <p:cNvPr id="22" name="TextBox 148"/>
          <p:cNvSpPr txBox="1"/>
          <p:nvPr/>
        </p:nvSpPr>
        <p:spPr>
          <a:xfrm>
            <a:off x="6291072" y="3630168"/>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$31.57</a:t>
            </a:r>
          </a:p>
        </p:txBody>
      </p:sp>
      <p:sp>
        <p:nvSpPr>
          <p:cNvPr id="23" name="TextBox 149"/>
          <p:cNvSpPr txBox="1"/>
          <p:nvPr/>
        </p:nvSpPr>
        <p:spPr>
          <a:xfrm>
            <a:off x="7543800" y="3465576"/>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independent model</a:t>
            </a:r>
          </a:p>
        </p:txBody>
      </p:sp>
      <p:sp>
        <p:nvSpPr>
          <p:cNvPr id="24" name="Rectangle 150"/>
          <p:cNvSpPr/>
          <p:nvPr/>
        </p:nvSpPr>
        <p:spPr>
          <a:xfrm>
            <a:off x="6217920" y="4059935"/>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151"/>
          <p:cNvSpPr txBox="1"/>
          <p:nvPr/>
        </p:nvSpPr>
        <p:spPr>
          <a:xfrm>
            <a:off x="6291072" y="4105655"/>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CORE-PEER P/E RANGE</a:t>
            </a:r>
          </a:p>
        </p:txBody>
      </p:sp>
      <p:sp>
        <p:nvSpPr>
          <p:cNvPr id="26" name="TextBox 152"/>
          <p:cNvSpPr txBox="1"/>
          <p:nvPr/>
        </p:nvSpPr>
        <p:spPr>
          <a:xfrm>
            <a:off x="6291072" y="4279392"/>
            <a:ext cx="2459736" cy="384048"/>
          </a:xfrm>
          <a:prstGeom prst="rect">
            <a:avLst/>
          </a:prstGeom>
          <a:noFill/>
        </p:spPr>
        <p:txBody>
          <a:bodyPr wrap="square" anchor="t" lIns="36576" rIns="36576" tIns="18288" bIns="18288">
            <a:spAutoFit/>
          </a:bodyPr>
          <a:lstStyle/>
          <a:p>
            <a:pPr algn="l">
              <a:spcAft>
                <a:spcPts val="300"/>
              </a:spcAft>
            </a:pPr>
            <a:r>
              <a:rPr sz="1500" b="1">
                <a:solidFill>
                  <a:srgbClr val="595959"/>
                </a:solidFill>
                <a:latin typeface="Twentieth Century"/>
              </a:rPr>
              <a:t>$35–$106</a:t>
            </a:r>
          </a:p>
        </p:txBody>
      </p:sp>
      <p:sp>
        <p:nvSpPr>
          <p:cNvPr id="27" name="TextBox 153"/>
          <p:cNvSpPr txBox="1"/>
          <p:nvPr/>
        </p:nvSpPr>
        <p:spPr>
          <a:xfrm>
            <a:off x="7543800" y="4114800"/>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if sector multiples hold</a:t>
            </a:r>
          </a:p>
        </p:txBody>
      </p:sp>
      <p:sp>
        <p:nvSpPr>
          <p:cNvPr id="28"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Methods disagree by construction</a:t>
            </a:r>
            <a:r>
              <a:rPr sz="1050" b="0">
                <a:solidFill>
                  <a:srgbClr val="404040"/>
                </a:solidFill>
                <a:latin typeface="Helvetica Neue"/>
              </a:rPr>
              <a:t> — DCF $38.80, scenarios $22–54 and Ginzu $31.57 sit below $62.09; only peer multiples exceed it.</a:t>
            </a:r>
          </a:p>
        </p:txBody>
      </p:sp>
      <p:sp>
        <p:nvSpPr>
          <p:cNvPr id="29" name="axis note val_football_field"/>
          <p:cNvSpPr txBox="1"/>
          <p:nvPr/>
        </p:nvSpPr>
        <p:spPr>
          <a:xfrm>
            <a:off x="274320" y="3813836"/>
            <a:ext cx="576072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Value per fully diluted share, US$ (0–110); each bar spans the low-to-high value of one method, so bars further right imply a higher valuation.</a:t>
            </a:r>
          </a:p>
          <a:p>
            <a:r>
              <a:rPr sz="700" b="1">
                <a:solidFill>
                  <a:srgbClr val="135927"/>
                </a:solidFill>
                <a:latin typeface="Helvetica Neue"/>
              </a:rPr>
              <a:t>Behaviour  </a:t>
            </a:r>
            <a:r>
              <a:rPr sz="700" b="0">
                <a:solidFill>
                  <a:srgbClr val="404040"/>
                </a:solidFill>
                <a:latin typeface="Helvetica Neue"/>
              </a:rPr>
              <a:t>the two cash-flow bars ($22–54 scenarios, $35–43 base) end left of the $62.09 line; only peer-multiple and control-premium methods cross it, and they are the widest because peer P/Es range 7.5x–38.7x.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bull-case DCF value of $53.93 remains below the market price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SCENARIOS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scenarios; drivers flexed one at a time around the base case.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16</a:t>
            </a:r>
          </a:p>
        </p:txBody>
      </p:sp>
      <p:graphicFrame>
        <p:nvGraphicFramePr>
          <p:cNvPr id="7" name="Table 133"/>
          <p:cNvGraphicFramePr>
            <a:graphicFrameLocks noGrp="1"/>
          </p:cNvGraphicFramePr>
          <p:nvPr/>
        </p:nvGraphicFramePr>
        <p:xfrm>
          <a:off x="320040" y="1463040"/>
          <a:ext cx="4572000" cy="1463040"/>
        </p:xfrm>
        <a:graphic>
          <a:graphicData uri="http://schemas.openxmlformats.org/drawingml/2006/table">
            <a:tbl>
              <a:tblPr firstRow="1">
                <a:tableStyleId>{5C22544A-7EE6-4342-B048-85BDC9FD1C3A}</a:tableStyleId>
              </a:tblPr>
              <a:tblGrid>
                <a:gridCol w="1005840"/>
                <a:gridCol w="502920"/>
                <a:gridCol w="594360"/>
                <a:gridCol w="594360"/>
                <a:gridCol w="685800"/>
                <a:gridCol w="594360"/>
                <a:gridCol w="594360"/>
              </a:tblGrid>
              <a:tr h="292608">
                <a:tc>
                  <a:txBody>
                    <a:bodyPr/>
                    <a:lstStyle/>
                    <a:p>
                      <a:pPr algn="l"/>
                      <a:r>
                        <a:rPr sz="900" b="1">
                          <a:solidFill>
                            <a:srgbClr val="FCC80D"/>
                          </a:solidFill>
                          <a:latin typeface="Helvetica Neue"/>
                        </a:rPr>
                        <a:t>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Prob.</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FY27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FY28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LT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Term.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Value/sh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Bear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92608">
                <a:tc>
                  <a:txBody>
                    <a:bodyPr/>
                    <a:lstStyle/>
                    <a:p>
                      <a:pPr algn="l"/>
                      <a:r>
                        <a:rPr sz="900" b="1">
                          <a:solidFill>
                            <a:srgbClr val="1F2421"/>
                          </a:solidFill>
                          <a:latin typeface="Helvetica Neue"/>
                        </a:rPr>
                        <a:t>Bull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$53.93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Prob.-weighted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$38.43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035808"/>
            <a:ext cx="4572000" cy="1673352"/>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Bear: </a:t>
            </a:r>
            <a:r>
              <a:rPr sz="900" b="0">
                <a:solidFill>
                  <a:srgbClr val="1F2421"/>
                </a:solidFill>
                <a:latin typeface="Helvetica Neue"/>
              </a:rPr>
              <a:t>AI digestion and memory normalisation reverse FY26 price gains; margin back to ~10.5%.</a:t>
            </a:r>
          </a:p>
          <a:p>
            <a:pPr algn="l" marL="155448" indent="-155448">
              <a:spcAft>
                <a:spcPts val="250"/>
              </a:spcAft>
              <a:buClr>
                <a:srgbClr val="135927"/>
              </a:buClr>
              <a:buSzPct val="100000"/>
              <a:buFont typeface="Helvetica Neue"/>
              <a:buChar char="•"/>
            </a:pPr>
            <a:r>
              <a:rPr sz="900" b="1">
                <a:solidFill>
                  <a:srgbClr val="1F2421"/>
                </a:solidFill>
                <a:latin typeface="Helvetica Neue"/>
              </a:rPr>
              <a:t>Base: </a:t>
            </a:r>
            <a:r>
              <a:rPr sz="900" b="0">
                <a:solidFill>
                  <a:srgbClr val="1F2421"/>
                </a:solidFill>
                <a:latin typeface="Helvetica Neue"/>
              </a:rPr>
              <a:t>FY27 framework delivered; growth fades to mid-single digits; margin 12.5%.</a:t>
            </a:r>
          </a:p>
          <a:p>
            <a:pPr algn="l" marL="155448" indent="-155448">
              <a:spcAft>
                <a:spcPts val="250"/>
              </a:spcAft>
              <a:buClr>
                <a:srgbClr val="135927"/>
              </a:buClr>
              <a:buSzPct val="100000"/>
              <a:buFont typeface="Helvetica Neue"/>
              <a:buChar char="•"/>
            </a:pPr>
            <a:r>
              <a:rPr sz="900" b="1">
                <a:solidFill>
                  <a:srgbClr val="1F2421"/>
                </a:solidFill>
                <a:latin typeface="Helvetica Neue"/>
              </a:rPr>
              <a:t>Bull: </a:t>
            </a:r>
            <a:r>
              <a:rPr sz="900" b="0">
                <a:solidFill>
                  <a:srgbClr val="1F2421"/>
                </a:solidFill>
                <a:latin typeface="Helvetica Neue"/>
              </a:rPr>
              <a:t>Oracle and Helios lift networking mix; margin holds ~14.5%.</a:t>
            </a:r>
          </a:p>
          <a:p>
            <a:pPr algn="l" marL="155448" indent="-155448">
              <a:spcAft>
                <a:spcPts val="250"/>
              </a:spcAft>
              <a:buClr>
                <a:srgbClr val="135927"/>
              </a:buClr>
              <a:buSzPct val="100000"/>
              <a:buFont typeface="Helvetica Neue"/>
              <a:buChar char="•"/>
            </a:pPr>
            <a:r>
              <a:rPr sz="900" b="1">
                <a:solidFill>
                  <a:srgbClr val="1F2421"/>
                </a:solidFill>
                <a:latin typeface="Helvetica Neue"/>
              </a:rPr>
              <a:t>Largest sensitivities: </a:t>
            </a:r>
            <a:r>
              <a:rPr sz="900" b="0">
                <a:solidFill>
                  <a:srgbClr val="1F2421"/>
                </a:solidFill>
                <a:latin typeface="Helvetica Neue"/>
              </a:rPr>
              <a:t>WACC, growth and long-term margin; margin is the open question.</a:t>
            </a:r>
          </a:p>
        </p:txBody>
      </p:sp>
      <p:pic>
        <p:nvPicPr>
          <p:cNvPr id="9" name="Picture 135" descr="val_driver_sensitivity_deck.png"/>
          <p:cNvPicPr>
            <a:picLocks noChangeAspect="1"/>
          </p:cNvPicPr>
          <p:nvPr/>
        </p:nvPicPr>
        <p:blipFill>
          <a:blip r:embed="rId5"/>
          <a:stretch>
            <a:fillRect/>
          </a:stretch>
        </p:blipFill>
        <p:spPr>
          <a:xfrm>
            <a:off x="5029200" y="1463040"/>
            <a:ext cx="3794760" cy="116845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Sensitivity: </a:t>
            </a:r>
            <a:r>
              <a:rPr sz="1050" b="1">
                <a:solidFill>
                  <a:srgbClr val="1F2421"/>
                </a:solidFill>
                <a:latin typeface="Helvetica Neue"/>
              </a:rPr>
              <a:t>No margin of safety in any case</a:t>
            </a:r>
            <a:r>
              <a:rPr sz="1050" b="0">
                <a:solidFill>
                  <a:srgbClr val="404040"/>
                </a:solidFill>
                <a:latin typeface="Helvetica Neue"/>
              </a:rPr>
              <a:t> — bull $53.93 and probability-weighted $38.43 both below $62.09; WACC and long-term margin dominate.</a:t>
            </a:r>
          </a:p>
        </p:txBody>
      </p:sp>
      <p:sp>
        <p:nvSpPr>
          <p:cNvPr id="11" name="axis note val_driver_sensitivity"/>
          <p:cNvSpPr txBox="1"/>
          <p:nvPr/>
        </p:nvSpPr>
        <p:spPr>
          <a:xfrm>
            <a:off x="5029200" y="2668071"/>
            <a:ext cx="3794760" cy="68580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Base-case DCF value per fully diluted share, US$ (~$25–55); the black line marks the $38.80 base case, and bars extend left for the adverse flex and right for the favourable flex.</a:t>
            </a:r>
          </a:p>
          <a:p>
            <a:r>
              <a:rPr sz="700" b="1">
                <a:solidFill>
                  <a:srgbClr val="135927"/>
                </a:solidFill>
                <a:latin typeface="Helvetica Neue"/>
              </a:rPr>
              <a:t>Behaviour  </a:t>
            </a:r>
            <a:r>
              <a:rPr sz="700" b="0">
                <a:solidFill>
                  <a:srgbClr val="404040"/>
                </a:solidFill>
                <a:latin typeface="Helvetica Neue"/>
              </a:rPr>
              <a:t>WACC ±1pp spans $33–47 and growth ±2pp $33–46; terminal growth ±0.5pp and working-capital intensity ±3pp move value about $1, so discount rate and sustained margin dominate.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Return correlation has shifted to AI hardware; volatility clusters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STOCK</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(spin-off and dividend adjusted); Bona Fide analysis (statsmodels tests; stationary block bootstrap).</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17</a:t>
            </a:r>
          </a:p>
        </p:txBody>
      </p:sp>
      <p:pic>
        <p:nvPicPr>
          <p:cNvPr id="7" name="Picture 133" descr="stock_long_term_weekly_deck.png"/>
          <p:cNvPicPr>
            <a:picLocks noChangeAspect="1"/>
          </p:cNvPicPr>
          <p:nvPr/>
        </p:nvPicPr>
        <p:blipFill>
          <a:blip r:embed="rId5"/>
          <a:stretch>
            <a:fillRect/>
          </a:stretch>
        </p:blipFill>
        <p:spPr>
          <a:xfrm>
            <a:off x="960137" y="1463040"/>
            <a:ext cx="4023325" cy="1594104"/>
          </a:xfrm>
          <a:prstGeom prst="rect">
            <a:avLst/>
          </a:prstGeom>
        </p:spPr>
      </p:pic>
      <p:graphicFrame>
        <p:nvGraphicFramePr>
          <p:cNvPr id="8" name="Table 134"/>
          <p:cNvGraphicFramePr>
            <a:graphicFrameLocks noGrp="1"/>
          </p:cNvGraphicFramePr>
          <p:nvPr/>
        </p:nvGraphicFramePr>
        <p:xfrm>
          <a:off x="5806440" y="1463040"/>
          <a:ext cx="3017520" cy="1645920"/>
        </p:xfrm>
        <a:graphic>
          <a:graphicData uri="http://schemas.openxmlformats.org/drawingml/2006/table">
            <a:tbl>
              <a:tblPr firstRow="1">
                <a:tableStyleId>{5C22544A-7EE6-4342-B048-85BDC9FD1C3A}</a:tableStyleId>
              </a:tblPr>
              <a:tblGrid>
                <a:gridCol w="1097280"/>
                <a:gridCol w="640080"/>
                <a:gridCol w="640080"/>
                <a:gridCol w="640080"/>
              </a:tblGrid>
              <a:tr h="274320">
                <a:tc>
                  <a:txBody>
                    <a:bodyPr/>
                    <a:lstStyle/>
                    <a:p>
                      <a:pPr algn="l"/>
                      <a:r>
                        <a:rPr sz="900" b="1">
                          <a:solidFill>
                            <a:srgbClr val="FCC80D"/>
                          </a:solidFill>
                          <a:latin typeface="Helvetica Neue"/>
                        </a:rPr>
                        <a:t>Total return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1Y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5Y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+289%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74320">
                <a:tc>
                  <a:txBody>
                    <a:bodyPr/>
                    <a:lstStyle/>
                    <a:p>
                      <a:pPr algn="l"/>
                      <a:r>
                        <a:rPr sz="900" b="1">
                          <a:solidFill>
                            <a:srgbClr val="1F2421"/>
                          </a:solidFill>
                          <a:latin typeface="Helvetica Neue"/>
                        </a:rPr>
                        <a:t>S&amp;P 500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Tech (XLK)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+1194%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5806440" y="3639312"/>
            <a:ext cx="3017520" cy="150876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Correlation regime: </a:t>
            </a:r>
            <a:r>
              <a:rPr sz="850" b="0">
                <a:solidFill>
                  <a:srgbClr val="1F2421"/>
                </a:solidFill>
                <a:latin typeface="Helvetica Neue"/>
              </a:rPr>
              <a:t>correlation with Dell 0.66 vs S&amp;P 500 0.47, a gap of 0.19 (95% CI 0.09–0.28; not significant over 3 years); beta 1.40.</a:t>
            </a:r>
          </a:p>
          <a:p>
            <a:pPr algn="l" marL="155448" indent="-155448">
              <a:spcAft>
                <a:spcPts val="250"/>
              </a:spcAft>
              <a:buClr>
                <a:srgbClr val="135927"/>
              </a:buClr>
              <a:buSzPct val="100000"/>
              <a:buFont typeface="Helvetica Neue"/>
              <a:buChar char="•"/>
            </a:pPr>
            <a:r>
              <a:rPr sz="850" b="1">
                <a:solidFill>
                  <a:srgbClr val="1F2421"/>
                </a:solidFill>
                <a:latin typeface="Helvetica Neue"/>
              </a:rPr>
              <a:t>Catalysts: </a:t>
            </a:r>
            <a:r>
              <a:rPr sz="850" b="0">
                <a:solidFill>
                  <a:srgbClr val="1F2421"/>
                </a:solidFill>
                <a:latin typeface="Helvetica Neue"/>
              </a:rPr>
              <a:t>30-Sep Networking Investor Day; early Dec Q4 FY26 and FY27 guide; ~Sep-2027 preferred conversion.</a:t>
            </a:r>
          </a:p>
        </p:txBody>
      </p:sp>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Correlation regime change</a:t>
            </a:r>
            <a:r>
              <a:rPr sz="1050" b="0">
                <a:solidFill>
                  <a:srgbClr val="404040"/>
                </a:solidFill>
                <a:latin typeface="Helvetica Neue"/>
              </a:rPr>
              <a:t> — one-year correlation with Dell 0.66 against 0.47 with the S&amp;P 500 (gap 0.19, CI 0.09–0.28); 3σ days at 6.8x normal frequency.</a:t>
            </a:r>
          </a:p>
        </p:txBody>
      </p:sp>
      <p:sp>
        <p:nvSpPr>
          <p:cNvPr id="11" name="TextBox 135"/>
          <p:cNvSpPr txBox="1"/>
          <p:nvPr/>
        </p:nvSpPr>
        <p:spPr>
          <a:xfrm>
            <a:off x="320040" y="3675887"/>
            <a:ext cx="5349240" cy="32766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4  </a:t>
            </a:r>
            <a:r>
              <a:rPr sz="800" b="0">
                <a:solidFill>
                  <a:srgbClr val="404040"/>
                </a:solidFill>
                <a:latin typeface="Helvetica Neue"/>
              </a:rPr>
              <a:t>Return diagnostics: Ljung-Box, ARCH-LM and tail-frequency tests on 2,729 daily returns since 2015</a:t>
            </a:r>
          </a:p>
        </p:txBody>
      </p:sp>
      <p:sp>
        <p:nvSpPr>
          <p:cNvPr id="12" name="TextBox 136"/>
          <p:cNvSpPr txBox="1"/>
          <p:nvPr/>
        </p:nvSpPr>
        <p:spPr>
          <a:xfrm>
            <a:off x="320040" y="4076699"/>
            <a:ext cx="5349240" cy="804672"/>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Direction: </a:t>
            </a:r>
            <a:r>
              <a:rPr sz="850" b="0">
                <a:solidFill>
                  <a:srgbClr val="1F2421"/>
                </a:solidFill>
                <a:latin typeface="Helvetica Neue"/>
              </a:rPr>
              <a:t>no significant autocorrelation (Ljung-Box p = 0.06); past prices don't predict the next move.</a:t>
            </a:r>
          </a:p>
          <a:p>
            <a:pPr algn="l" marL="155448" indent="-155448">
              <a:spcAft>
                <a:spcPts val="200"/>
              </a:spcAft>
              <a:buClr>
                <a:srgbClr val="135927"/>
              </a:buClr>
              <a:buSzPct val="100000"/>
              <a:buFont typeface="Helvetica Neue"/>
              <a:buChar char="•"/>
            </a:pPr>
            <a:r>
              <a:rPr sz="850" b="1">
                <a:solidFill>
                  <a:srgbClr val="1F2421"/>
                </a:solidFill>
                <a:latin typeface="Helvetica Neue"/>
              </a:rPr>
              <a:t>Volatility clustering: </a:t>
            </a:r>
            <a:r>
              <a:rPr sz="850" b="0">
                <a:solidFill>
                  <a:srgbClr val="1F2421"/>
                </a:solidFill>
                <a:latin typeface="Helvetica Neue"/>
              </a:rPr>
              <a:t>volatility clusters (ARCH-LM p &lt; 0.001); 3σ days occur 6.8x as often as a normal distribution implies.</a:t>
            </a:r>
          </a:p>
        </p:txBody>
      </p:sp>
      <p:sp>
        <p:nvSpPr>
          <p:cNvPr id="13" name="Our test"/>
          <p:cNvSpPr txBox="1"/>
          <p:nvPr/>
        </p:nvSpPr>
        <p:spPr>
          <a:xfrm>
            <a:off x="5806440" y="3154680"/>
            <a:ext cx="3017520" cy="411479"/>
          </a:xfrm>
          <a:prstGeom prst="rect">
            <a:avLst/>
          </a:prstGeom>
          <a:noFill/>
        </p:spPr>
        <p:txBody>
          <a:bodyPr wrap="square" anchor="t" lIns="36576" rIns="36576" tIns="18288" bIns="18288">
            <a:spAutoFit/>
          </a:bodyPr>
          <a:lstStyle/>
          <a:p>
            <a:r>
              <a:rPr sz="800" b="1">
                <a:solidFill>
                  <a:srgbClr val="135927"/>
                </a:solidFill>
                <a:latin typeface="Helvetica Neue"/>
              </a:rPr>
              <a:t>EXPERIMENT 5  </a:t>
            </a:r>
            <a:r>
              <a:rPr sz="800" b="0">
                <a:solidFill>
                  <a:srgbClr val="404040"/>
                </a:solidFill>
                <a:latin typeface="Helvetica Neue"/>
              </a:rPr>
              <a:t>Correlation-gap bootstrap: 5,000 stationary block resamples of the one-year correlation difference</a:t>
            </a:r>
          </a:p>
        </p:txBody>
      </p:sp>
      <p:sp>
        <p:nvSpPr>
          <p:cNvPr id="14" name="axis note stock_long_term_weekly"/>
          <p:cNvSpPr txBox="1"/>
          <p:nvPr/>
        </p:nvSpPr>
        <p:spPr>
          <a:xfrm>
            <a:off x="274320" y="3093720"/>
            <a:ext cx="5394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week from the November 2015 listing to 11-Sep-2026, on a logarithmic price scale; moving right is a later week.</a:t>
            </a:r>
          </a:p>
          <a:p>
            <a:r>
              <a:rPr sz="700" b="1">
                <a:solidFill>
                  <a:srgbClr val="135927"/>
                </a:solidFill>
                <a:latin typeface="Helvetica Neue"/>
              </a:rPr>
              <a:t>Behaviour  </a:t>
            </a:r>
            <a:r>
              <a:rPr sz="700" b="0">
                <a:solidFill>
                  <a:srgbClr val="404040"/>
                </a:solidFill>
                <a:latin typeface="Helvetica Neue"/>
              </a:rPr>
              <a:t>the price stays within $5.4–24.6 for a decade, then breaks above the decade high in April 2026 and reaches $62.09 — a level shift, with the 40-week average turning up sharply.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variables that produced the re-rating can reverse it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RISKS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Risk map: </a:t>
            </a:r>
            <a:r>
              <a:rPr sz="1050" b="1">
                <a:solidFill>
                  <a:srgbClr val="1F2421"/>
                </a:solidFill>
                <a:latin typeface="Helvetica Neue"/>
              </a:rPr>
              <a:t>Same variables, opposite sign</a:t>
            </a:r>
            <a:r>
              <a:rPr sz="1050" b="0">
                <a:solidFill>
                  <a:srgbClr val="404040"/>
                </a:solidFill>
                <a:latin typeface="Helvetica Neue"/>
              </a:rPr>
              <a:t> — memory pricing, AI capex and sector multiples each transmit to revenue, margin and multiple.</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IDC, TrendForce, Dell'Oro, SEC capex filings, HPE Q3 FY26 materials.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18</a:t>
            </a:r>
          </a:p>
        </p:txBody>
      </p:sp>
      <p:graphicFrame>
        <p:nvGraphicFramePr>
          <p:cNvPr id="8" name="Table 134"/>
          <p:cNvGraphicFramePr>
            <a:graphicFrameLocks noGrp="1"/>
          </p:cNvGraphicFramePr>
          <p:nvPr/>
        </p:nvGraphicFramePr>
        <p:xfrm>
          <a:off x="320040" y="1463040"/>
          <a:ext cx="8503920" cy="3200400"/>
        </p:xfrm>
        <a:graphic>
          <a:graphicData uri="http://schemas.openxmlformats.org/drawingml/2006/table">
            <a:tbl>
              <a:tblPr firstRow="1">
                <a:tableStyleId>{5C22544A-7EE6-4342-B048-85BDC9FD1C3A}</a:tableStyleId>
              </a:tblPr>
              <a:tblGrid>
                <a:gridCol w="1691640"/>
                <a:gridCol w="731520"/>
                <a:gridCol w="3840480"/>
                <a:gridCol w="2240280"/>
              </a:tblGrid>
              <a:tr h="457200">
                <a:tc>
                  <a:txBody>
                    <a:bodyPr/>
                    <a:lstStyle/>
                    <a:p>
                      <a:pPr algn="l"/>
                      <a:r>
                        <a:rPr sz="850" b="1">
                          <a:solidFill>
                            <a:srgbClr val="FCC80D"/>
                          </a:solidFill>
                          <a:latin typeface="Helvetica Neue"/>
                        </a:rPr>
                        <a:t>Risk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Type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Transmission: revenue → margin → cash flow → balance sheet → valuation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Monitor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457200">
                <a:tc>
                  <a:txBody>
                    <a:bodyPr/>
                    <a:lstStyle/>
                    <a:p>
                      <a:pPr algn="l"/>
                      <a:r>
                        <a:rPr sz="850" b="1">
                          <a:solidFill>
                            <a:srgbClr val="1F2421"/>
                          </a:solidFill>
                          <a:latin typeface="Helvetica Neue"/>
                        </a:rPr>
                        <a:t>Cloud &amp; AI margin reversal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Memory prices fall → ASPs and GM ↓ → FCF ↓, inventory write-downs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TrendForce prices; HPE non-GAAP 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Networking execution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Share loss / synergy miss → highest-margin revenue ↓ → multiple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Normalised growth; Dell'Oro share; Investor Day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AI deal lumpiness &amp; credit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Slips/cancellations → FCF swings of $bn → leverage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Backlog conversion; DIO/DPO; FS reserves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AI capex digestion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Orders ↓ → revenue ↓ → sector de-rating (peers 18–23x 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Hyperscaler capex guides; IDC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Supply &amp; trade policy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Shortages/tariffs → unfilled orders, COGS ↑ → FCF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Lead times; USTR/BIS actions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Rates &amp; enterprise budgets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WACC ↑, refresh delayed → ±1pp WACC ≈ ±$6–8/share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10Y yield; BBB spreads; Gartner IT spend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Conditions required for $62.09 to equal fair value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CONCLUSION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and comps; no rating or price target is expressed.</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19</a:t>
            </a:r>
          </a:p>
        </p:txBody>
      </p:sp>
      <p:graphicFrame>
        <p:nvGraphicFramePr>
          <p:cNvPr id="7" name="Chart 133"/>
          <p:cNvGraphicFramePr>
            <a:graphicFrameLocks noGrp="1"/>
          </p:cNvGraphicFramePr>
          <p:nvPr/>
        </p:nvGraphicFramePr>
        <p:xfrm>
          <a:off x="320040" y="1463040"/>
          <a:ext cx="4206240" cy="2606040"/>
        </p:xfrm>
        <a:graphic>
          <a:graphicData uri="http://schemas.openxmlformats.org/drawingml/2006/chart">
            <c:chart xmlns:c="http://schemas.openxmlformats.org/drawingml/2006/chart" r:id="rId3"/>
          </a:graphicData>
        </a:graphic>
      </p:graphicFrame>
      <p:sp>
        <p:nvSpPr>
          <p:cNvPr id="8" name="TextBox 134"/>
          <p:cNvSpPr txBox="1"/>
          <p:nvPr/>
        </p:nvSpPr>
        <p:spPr>
          <a:xfrm>
            <a:off x="320040" y="4114800"/>
            <a:ext cx="4206240" cy="594360"/>
          </a:xfrm>
          <a:prstGeom prst="rect">
            <a:avLst/>
          </a:prstGeom>
          <a:noFill/>
        </p:spPr>
        <p:txBody>
          <a:bodyPr wrap="square" anchor="t" lIns="36576" rIns="36576" tIns="18288" bIns="18288">
            <a:spAutoFit/>
          </a:bodyPr>
          <a:lstStyle/>
          <a:p>
            <a:pPr algn="l">
              <a:spcAft>
                <a:spcPts val="300"/>
              </a:spcAft>
            </a:pPr>
            <a:r>
              <a:rPr sz="950" b="0">
                <a:solidFill>
                  <a:srgbClr val="595959"/>
                </a:solidFill>
                <a:latin typeface="Helvetica Neue"/>
              </a:rPr>
              <a:t>Relative value if peer multiples hold: $67–$106 per share</a:t>
            </a:r>
          </a:p>
        </p:txBody>
      </p:sp>
      <p:sp>
        <p:nvSpPr>
          <p:cNvPr id="9" name="TextBox 135"/>
          <p:cNvSpPr txBox="1"/>
          <p:nvPr/>
        </p:nvSpPr>
        <p:spPr>
          <a:xfrm>
            <a:off x="4709160" y="14630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FOR $62.09 TO BE FAIR VALUE, ONE OF THESE MUST HOLD</a:t>
            </a:r>
          </a:p>
        </p:txBody>
      </p:sp>
      <p:sp>
        <p:nvSpPr>
          <p:cNvPr id="10" name="TextBox 136"/>
          <p:cNvSpPr txBox="1"/>
          <p:nvPr/>
        </p:nvSpPr>
        <p:spPr>
          <a:xfrm>
            <a:off x="4709160" y="1737360"/>
            <a:ext cx="4114800" cy="123444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1000" b="0">
                <a:solidFill>
                  <a:srgbClr val="1F2421"/>
                </a:solidFill>
                <a:latin typeface="Helvetica Neue"/>
              </a:rPr>
              <a:t>Long-term non-GAAP margin ≈ 18% (FY27 guide 14–15%)</a:t>
            </a:r>
          </a:p>
          <a:p>
            <a:pPr algn="l" marL="155448" indent="-155448">
              <a:spcAft>
                <a:spcPts val="500"/>
              </a:spcAft>
              <a:buClr>
                <a:srgbClr val="135927"/>
              </a:buClr>
              <a:buSzPct val="100000"/>
              <a:buFont typeface="Helvetica Neue"/>
              <a:buChar char="•"/>
            </a:pPr>
            <a:r>
              <a:rPr sz="1000" b="0">
                <a:solidFill>
                  <a:srgbClr val="1F2421"/>
                </a:solidFill>
                <a:latin typeface="Helvetica Neue"/>
              </a:rPr>
              <a:t>Revenue CAGR ≈ 11% for ten years (base 5%)</a:t>
            </a:r>
          </a:p>
          <a:p>
            <a:pPr algn="l" marL="155448" indent="-155448">
              <a:spcAft>
                <a:spcPts val="500"/>
              </a:spcAft>
              <a:buClr>
                <a:srgbClr val="135927"/>
              </a:buClr>
              <a:buSzPct val="100000"/>
              <a:buFont typeface="Helvetica Neue"/>
              <a:buChar char="•"/>
            </a:pPr>
            <a:r>
              <a:rPr sz="1000" b="0">
                <a:solidFill>
                  <a:srgbClr val="1F2421"/>
                </a:solidFill>
                <a:latin typeface="Helvetica Neue"/>
              </a:rPr>
              <a:t>Cost of capital ≈ 7.0%, or AI-hardware peer multiples persist</a:t>
            </a:r>
          </a:p>
        </p:txBody>
      </p:sp>
      <p:sp>
        <p:nvSpPr>
          <p:cNvPr id="11" name="TextBox 137"/>
          <p:cNvSpPr txBox="1"/>
          <p:nvPr/>
        </p:nvSpPr>
        <p:spPr>
          <a:xfrm>
            <a:off x="4709160" y="30632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WOULD CHANGE THE VIEW</a:t>
            </a:r>
          </a:p>
        </p:txBody>
      </p:sp>
      <p:sp>
        <p:nvSpPr>
          <p:cNvPr id="12" name="TextBox 138"/>
          <p:cNvSpPr txBox="1"/>
          <p:nvPr/>
        </p:nvSpPr>
        <p:spPr>
          <a:xfrm>
            <a:off x="4709160" y="3337560"/>
            <a:ext cx="4114800" cy="13716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Up:</a:t>
            </a:r>
            <a:r>
              <a:rPr sz="950" b="0">
                <a:solidFill>
                  <a:srgbClr val="1F2421"/>
                </a:solidFill>
                <a:latin typeface="Helvetica Neue"/>
              </a:rPr>
              <a:t> Cloud &amp; AI margin ≥13% through a memory-price decline; networking mid-teens organic growth; FY27 FCF well above $5bn</a:t>
            </a:r>
          </a:p>
          <a:p>
            <a:pPr algn="l" marL="155448" indent="-155448">
              <a:spcAft>
                <a:spcPts val="500"/>
              </a:spcAft>
              <a:buClr>
                <a:srgbClr val="135927"/>
              </a:buClr>
              <a:buSzPct val="100000"/>
              <a:buFont typeface="Helvetica Neue"/>
              <a:buChar char="•"/>
            </a:pPr>
            <a:r>
              <a:rPr sz="950" b="1">
                <a:solidFill>
                  <a:srgbClr val="1F2421"/>
                </a:solidFill>
                <a:latin typeface="Helvetica Neue"/>
              </a:rPr>
              <a:t>Down:</a:t>
            </a:r>
            <a:r>
              <a:rPr sz="950" b="0">
                <a:solidFill>
                  <a:srgbClr val="1F2421"/>
                </a:solidFill>
                <a:latin typeface="Helvetica Neue"/>
              </a:rPr>
              <a:t> non-GAAP GM &lt;33%, AI backlog declines, sector de-rating</a:t>
            </a:r>
          </a:p>
        </p:txBody>
      </p:sp>
      <p:sp>
        <p:nvSpPr>
          <p:cNvPr id="13"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$62.09 requires peak economics to persist</a:t>
            </a:r>
            <a:r>
              <a:rPr sz="1050" b="0">
                <a:solidFill>
                  <a:srgbClr val="404040"/>
                </a:solidFill>
                <a:latin typeface="Helvetica Neue"/>
              </a:rPr>
              <a:t> — an 18% long-term margin, or 11% growth for a decade, or a 7.0% cost of capital.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Five transferable analytical methods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CLOSING</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HTML report sections 1–12.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20</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Summary: </a:t>
            </a:r>
            <a:r>
              <a:rPr sz="1050" b="1">
                <a:solidFill>
                  <a:srgbClr val="1F2421"/>
                </a:solidFill>
                <a:latin typeface="Helvetica Neue"/>
              </a:rPr>
              <a:t>Five methods that transfer to other companies</a:t>
            </a:r>
            <a:r>
              <a:rPr sz="1050" b="0">
                <a:solidFill>
                  <a:srgbClr val="404040"/>
                </a:solidFill>
                <a:latin typeface="Helvetica Neue"/>
              </a:rPr>
              <a:t> — profit concentration, break decomposition, revenue timing, working capital, inverted valuation.</a:t>
            </a:r>
          </a:p>
        </p:txBody>
      </p:sp>
      <p:graphicFrame>
        <p:nvGraphicFramePr>
          <p:cNvPr id="8" name="Table 133"/>
          <p:cNvGraphicFramePr>
            <a:graphicFrameLocks noGrp="1"/>
          </p:cNvGraphicFramePr>
          <p:nvPr/>
        </p:nvGraphicFramePr>
        <p:xfrm>
          <a:off x="320040" y="1463040"/>
          <a:ext cx="8503920" cy="2304288"/>
        </p:xfrm>
        <a:graphic>
          <a:graphicData uri="http://schemas.openxmlformats.org/drawingml/2006/table">
            <a:tbl>
              <a:tblPr firstRow="1" bandRow="1">
                <a:tableStyleId>{5C22544A-7EE6-4342-B048-85BDC9FD1C3A}</a:tableStyleId>
              </a:tblPr>
              <a:tblGrid>
                <a:gridCol w="2514600"/>
                <a:gridCol w="3429000"/>
                <a:gridCol w="2560320"/>
              </a:tblGrid>
              <a:tr h="384048">
                <a:tc>
                  <a:txBody>
                    <a:bodyPr wrap="square"/>
                    <a:lstStyle/>
                    <a:p>
                      <a:r>
                        <a:rPr sz="900" b="1" i="0">
                          <a:solidFill>
                            <a:srgbClr val="FCC80D"/>
                          </a:solidFill>
                          <a:latin typeface="Helvetica Neue"/>
                        </a:rPr>
                        <a:t>Pattern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What we saw at HPE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Where else to use 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84048">
                <a:tc>
                  <a:txBody>
                    <a:bodyPr wrap="square"/>
                    <a:lstStyle/>
                    <a:p>
                      <a:r>
                        <a:rPr sz="900" b="1" i="0">
                          <a:solidFill>
                            <a:srgbClr val="1F2421"/>
                          </a:solidFill>
                          <a:latin typeface="Helvetica Neue"/>
                        </a:rPr>
                        <a:t>1 · Measure profit concentration, not revenue share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Networking: 26% of revenue, 40% of segment profit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Any company that reports segments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2 · Decompose a break into acquisition and cycle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FY26 $17.4bn above baseline: 32–38% Juniper, the remainder AI demand and pricing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Acquirers in booming markets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3 · Revenue-recognition timing sets cyclicality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Revenue at shipment: elasticity 0.41, thin margins, backlog under one year</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Semiconductor equipment, memory, contract manufacturers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4 · Working capital locates the cycle position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Record free cash flow while payables fund a $5.5bn inventory build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Hardware and distribution businesses near peaks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5 · Invert the valuation and report ranges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$62.09 implies an 18% long-term margin; 3σ days occur 6.8x normal frequency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Momentum stocks and re-ratings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4"/>
          <p:cNvSpPr txBox="1"/>
          <p:nvPr/>
        </p:nvSpPr>
        <p:spPr>
          <a:xfrm>
            <a:off x="320040" y="3950208"/>
            <a:ext cx="8503920" cy="457200"/>
          </a:xfrm>
          <a:prstGeom prst="rect">
            <a:avLst/>
          </a:prstGeom>
          <a:noFill/>
        </p:spPr>
        <p:txBody>
          <a:bodyPr wrap="square">
            <a:spAutoFit/>
          </a:bodyPr>
          <a:lstStyle/>
          <a:p>
            <a:r>
              <a:rPr sz="1800" b="1" i="0">
                <a:solidFill>
                  <a:srgbClr val="135927"/>
                </a:solidFill>
                <a:latin typeface="Helvetica Neue"/>
              </a:rPr>
              <a:t>Thank you.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3;p29"/>
          <p:cNvSpPr txBox="1"/>
          <p:nvPr>
            <p:ph idx="4294967295" type="ctrTitle"/>
          </p:nvPr>
        </p:nvSpPr>
        <p:spPr>
          <a:xfrm>
            <a:off x="452437" y="2139890"/>
            <a:ext cx="3657600"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endParaRPr/>
            <a:r>
              <a:rPr b="1" i="0" lang="nl" sz="2600" u="none" cap="none" strike="noStrike">
                <a:solidFill>
                  <a:srgbClr val="FCC80D"/>
                </a:solidFill>
                <a:latin typeface="Twentieth Century"/>
                <a:ea typeface="Twentieth Century"/>
                <a:cs typeface="Twentieth Century"/>
                <a:sym typeface="Twentieth Century"/>
              </a:rPr>
              <a:t>Appendix</a:t>
            </a:r>
          </a:p>
        </p:txBody>
      </p:sp>
      <p:sp>
        <p:nvSpPr>
          <p:cNvPr id="4" name="Google Shape;124;p29"/>
          <p:cNvSpPr txBox="1"/>
          <p:nvPr>
            <p:ph idx="4294967295" type="subTitle"/>
          </p:nvPr>
        </p:nvSpPr>
        <p:spPr>
          <a:xfrm>
            <a:off x="478206" y="3895344"/>
            <a:ext cx="34290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Backup slides for questions</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Industry · macro · moat · capital structure</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Price action · catalysts · practitioner Q&amp;A</a:t>
            </a:r>
          </a:p>
        </p:txBody>
      </p:sp>
      <p:sp>
        <p:nvSpPr>
          <p:cNvPr id="5"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AI infrastructure spending is rising faster than HPE's server share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INDUSTRY &amp; TAM</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IDC (Jul/Sep-2026), Gartner (Jul-2026, via press coverage), Dell'Oro (2026), SEC capex filings;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22</a:t>
            </a:r>
          </a:p>
        </p:txBody>
      </p:sp>
      <p:graphicFrame>
        <p:nvGraphicFramePr>
          <p:cNvPr id="7" name="Table 133"/>
          <p:cNvGraphicFramePr>
            <a:graphicFrameLocks noGrp="1"/>
          </p:cNvGraphicFramePr>
          <p:nvPr/>
        </p:nvGraphicFramePr>
        <p:xfrm>
          <a:off x="320040" y="1463040"/>
          <a:ext cx="4251959" cy="1554480"/>
        </p:xfrm>
        <a:graphic>
          <a:graphicData uri="http://schemas.openxmlformats.org/drawingml/2006/table">
            <a:tbl>
              <a:tblPr firstRow="1">
                <a:tableStyleId>{5C22544A-7EE6-4342-B048-85BDC9FD1C3A}</a:tableStyleId>
              </a:tblPr>
              <a:tblGrid>
                <a:gridCol w="1874519"/>
                <a:gridCol w="1234440"/>
                <a:gridCol w="1143000"/>
              </a:tblGrid>
              <a:tr h="310896">
                <a:tc>
                  <a:txBody>
                    <a:bodyPr/>
                    <a:lstStyle/>
                    <a:p>
                      <a:pPr algn="l"/>
                      <a:r>
                        <a:rPr sz="850" b="1">
                          <a:solidFill>
                            <a:srgbClr val="FCC80D"/>
                          </a:solidFill>
                          <a:latin typeface="Helvetica Neue"/>
                        </a:rPr>
                        <a:t>Market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Size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a:lstStyle/>
                    <a:p>
                      <a:pPr algn="l"/>
                      <a:r>
                        <a:rPr sz="850" b="1">
                          <a:solidFill>
                            <a:srgbClr val="1F2421"/>
                          </a:solidFill>
                          <a:latin typeface="Helvetica Neue"/>
                        </a:rPr>
                        <a:t>AI infrastructure (IDC)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$497bn 2026F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~30% CAGR to 2030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Servers (IDC,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$166bn / quarter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+52%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a:lstStyle/>
                    <a:p>
                      <a:pPr algn="l"/>
                      <a:r>
                        <a:rPr sz="850" b="1">
                          <a:solidFill>
                            <a:srgbClr val="1F2421"/>
                          </a:solidFill>
                          <a:latin typeface="Helvetica Neue"/>
                        </a:rPr>
                        <a:t>Campus switching (Dell'Oro)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&gt;$20bn 2025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ASP +19%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Hyperscaler + Oracle capex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$566bn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+81%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127248"/>
            <a:ext cx="4251960" cy="158191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Definitions differ: </a:t>
            </a:r>
            <a:r>
              <a:rPr sz="900" b="0">
                <a:solidFill>
                  <a:srgbClr val="1F2421"/>
                </a:solidFill>
                <a:latin typeface="Helvetica Neue"/>
              </a:rPr>
              <a:t>IDC counts AI servers and storage, Gartner adds networking; all include ODM-direct, where HPE barely competes.</a:t>
            </a:r>
          </a:p>
          <a:p>
            <a:pPr algn="l" marL="155448" indent="-155448">
              <a:spcAft>
                <a:spcPts val="300"/>
              </a:spcAft>
              <a:buClr>
                <a:srgbClr val="135927"/>
              </a:buClr>
              <a:buSzPct val="100000"/>
              <a:buFont typeface="Helvetica Neue"/>
              <a:buChar char="•"/>
            </a:pPr>
            <a:r>
              <a:rPr sz="900" b="1">
                <a:solidFill>
                  <a:srgbClr val="1F2421"/>
                </a:solidFill>
                <a:latin typeface="Helvetica Neue"/>
              </a:rPr>
              <a:t>Share: </a:t>
            </a:r>
            <a:r>
              <a:rPr sz="900" b="0">
                <a:solidFill>
                  <a:srgbClr val="1F2421"/>
                </a:solidFill>
                <a:latin typeface="Helvetica Neue"/>
              </a:rPr>
              <a:t>HPE has 3.5% of all servers, ~7.7% of the OEM market; grew 46% vs the market's 52% and Dell's 165%.</a:t>
            </a:r>
          </a:p>
          <a:p>
            <a:pPr algn="l" marL="155448" indent="-155448">
              <a:spcAft>
                <a:spcPts val="300"/>
              </a:spcAft>
              <a:buClr>
                <a:srgbClr val="135927"/>
              </a:buClr>
              <a:buSzPct val="100000"/>
              <a:buFont typeface="Helvetica Neue"/>
              <a:buChar char="•"/>
            </a:pPr>
            <a:r>
              <a:rPr sz="900" b="1">
                <a:solidFill>
                  <a:srgbClr val="1F2421"/>
                </a:solidFill>
                <a:latin typeface="Helvetica Neue"/>
              </a:rPr>
              <a:t>Profit pool: </a:t>
            </a:r>
            <a:r>
              <a:rPr sz="900" b="0">
                <a:solidFill>
                  <a:srgbClr val="1F2421"/>
                </a:solidFill>
                <a:latin typeface="Helvetica Neue"/>
              </a:rPr>
              <a:t>suppliers (NVIDIA, memory) and giant buyers hold the bargaining power.</a:t>
            </a:r>
          </a:p>
        </p:txBody>
      </p:sp>
      <p:pic>
        <p:nvPicPr>
          <p:cNvPr id="9" name="Picture 135" descr="industry_idc_server_share_deck.png"/>
          <p:cNvPicPr>
            <a:picLocks noChangeAspect="1"/>
          </p:cNvPicPr>
          <p:nvPr/>
        </p:nvPicPr>
        <p:blipFill>
          <a:blip r:embed="rId5"/>
          <a:stretch>
            <a:fillRect/>
          </a:stretch>
        </p:blipFill>
        <p:spPr>
          <a:xfrm>
            <a:off x="4709160" y="1463040"/>
            <a:ext cx="4114800" cy="126536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Growth without share gain</a:t>
            </a:r>
            <a:r>
              <a:rPr sz="1050" b="0">
                <a:solidFill>
                  <a:srgbClr val="404040"/>
                </a:solidFill>
                <a:latin typeface="Helvetica Neue"/>
              </a:rPr>
              <a:t> — HPE servers +46% against the market's +52% in 2Q26; ODM-direct holds 53.9% of the market.</a:t>
            </a:r>
          </a:p>
        </p:txBody>
      </p:sp>
      <p:sp>
        <p:nvSpPr>
          <p:cNvPr id="11" name="axis note industry_idc_server_share"/>
          <p:cNvSpPr txBox="1"/>
          <p:nvPr/>
        </p:nvSpPr>
        <p:spPr>
          <a:xfrm>
            <a:off x="4709160" y="2764981"/>
            <a:ext cx="41148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2Q26 server revenue, US$bn (0–90); a longer bar is a larger vendor by quarterly revenue.</a:t>
            </a:r>
          </a:p>
          <a:p>
            <a:r>
              <a:rPr sz="700" b="1">
                <a:solidFill>
                  <a:srgbClr val="135927"/>
                </a:solidFill>
                <a:latin typeface="Helvetica Neue"/>
              </a:rPr>
              <a:t>Behaviour  </a:t>
            </a:r>
            <a:r>
              <a:rPr sz="700" b="0">
                <a:solidFill>
                  <a:srgbClr val="404040"/>
                </a:solidFill>
                <a:latin typeface="Helvetica Neue"/>
              </a:rPr>
              <a:t>ODM-direct is $89.7bn, 53.9% of the market and larger than all named OEMs combined; HPE at $5.9bn grew 46% against the market's 52%, so its share declined.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Cloud capex and memory pricing are the two external drivers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MACRO LEVERS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Company 10-Q/10-K XBRL via SEC EDGAR; TrendForce (9-Jul-2026); FRED;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23</a:t>
            </a:r>
          </a:p>
        </p:txBody>
      </p:sp>
      <p:pic>
        <p:nvPicPr>
          <p:cNvPr id="7" name="Picture 133" descr="macro_hyperscaler_capex_deck.png"/>
          <p:cNvPicPr>
            <a:picLocks noChangeAspect="1"/>
          </p:cNvPicPr>
          <p:nvPr/>
        </p:nvPicPr>
        <p:blipFill>
          <a:blip r:embed="rId6"/>
          <a:stretch>
            <a:fillRect/>
          </a:stretch>
        </p:blipFill>
        <p:spPr>
          <a:xfrm>
            <a:off x="351351" y="1463040"/>
            <a:ext cx="4143617" cy="1530097"/>
          </a:xfrm>
          <a:prstGeom prst="rect">
            <a:avLst/>
          </a:prstGeom>
        </p:spPr>
      </p:pic>
      <p:pic>
        <p:nvPicPr>
          <p:cNvPr id="8" name="Picture 134" descr="macro_memory_cycle_deck.png"/>
          <p:cNvPicPr>
            <a:picLocks noChangeAspect="1"/>
          </p:cNvPicPr>
          <p:nvPr/>
        </p:nvPicPr>
        <p:blipFill>
          <a:blip r:embed="rId3"/>
          <a:stretch>
            <a:fillRect/>
          </a:stretch>
        </p:blipFill>
        <p:spPr>
          <a:xfrm>
            <a:off x="4617720" y="1463040"/>
            <a:ext cx="4206240" cy="1247100"/>
          </a:xfrm>
          <a:prstGeom prst="rect">
            <a:avLst/>
          </a:prstGeom>
        </p:spPr>
      </p:pic>
      <p:sp>
        <p:nvSpPr>
          <p:cNvPr id="9" name="TextBox 135"/>
          <p:cNvSpPr txBox="1"/>
          <p:nvPr/>
        </p:nvSpPr>
        <p:spPr>
          <a:xfrm>
            <a:off x="3200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Capex → orders:</a:t>
            </a:r>
            <a:r>
              <a:rPr sz="1000" b="0">
                <a:solidFill>
                  <a:srgbClr val="1F2421"/>
                </a:solidFill>
                <a:latin typeface="Helvetica Neue"/>
              </a:rPr>
              <a:t> 5 cloud spenders at a record run-rate feed AI backlog; AI systems dilute margin and swell inventory.</a:t>
            </a:r>
          </a:p>
        </p:txBody>
      </p:sp>
      <p:sp>
        <p:nvSpPr>
          <p:cNvPr id="10" name="TextBox 136"/>
          <p:cNvSpPr txBox="1"/>
          <p:nvPr/>
        </p:nvSpPr>
        <p:spPr>
          <a:xfrm>
            <a:off x="46634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Memory → pricing:</a:t>
            </a:r>
            <a:r>
              <a:rPr sz="1000" b="0">
                <a:solidFill>
                  <a:srgbClr val="1F2421"/>
                </a:solidFill>
                <a:latin typeface="Helvetica Neue"/>
              </a:rPr>
              <a:t> DRAM contract prices +13–18% QoQ in 3Q26; HPE priced ahead of the cost increase, which reverses when contract prices fall. The 10-year yield (4.95%) sets the WACC.</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Both drivers are outside HPE's control</a:t>
            </a:r>
            <a:r>
              <a:rPr sz="1050" b="0">
                <a:solidFill>
                  <a:srgbClr val="404040"/>
                </a:solidFill>
                <a:latin typeface="Helvetica Neue"/>
              </a:rPr>
              <a:t> — hyperscaler capex +81% TTM and DRAM contract prices +13–18% QoQ set volume and price.</a:t>
            </a:r>
          </a:p>
        </p:txBody>
      </p:sp>
      <p:sp>
        <p:nvSpPr>
          <p:cNvPr id="12" name="axis note macro_hyperscaler_capex"/>
          <p:cNvSpPr txBox="1"/>
          <p:nvPr/>
        </p:nvSpPr>
        <p:spPr>
          <a:xfrm>
            <a:off x="274320" y="3029713"/>
            <a:ext cx="42976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quarter, 2023Q1 to 2026Q2; moving right is a later quarter. Bars stack the five spenders, so bar height is combined quarterly capital expenditure in US$bn.</a:t>
            </a:r>
          </a:p>
          <a:p>
            <a:r>
              <a:rPr sz="700" b="1">
                <a:solidFill>
                  <a:srgbClr val="135927"/>
                </a:solidFill>
                <a:latin typeface="Helvetica Neue"/>
              </a:rPr>
              <a:t>Behaviour  </a:t>
            </a:r>
            <a:r>
              <a:rPr sz="700" b="0">
                <a:solidFill>
                  <a:srgbClr val="404040"/>
                </a:solidFill>
                <a:latin typeface="Helvetica Neue"/>
              </a:rPr>
              <a:t>combined quarterly capex rises from $36.6bn to $181.5bn, a 5x increase with no flattening; the slope steepens from 2024Q4 and TTM growth peaks at +81%.</a:t>
            </a:r>
          </a:p>
        </p:txBody>
      </p:sp>
      <p:sp>
        <p:nvSpPr>
          <p:cNvPr id="13" name="axis note macro_memory_cycle"/>
          <p:cNvSpPr txBox="1"/>
          <p:nvPr/>
        </p:nvSpPr>
        <p:spPr>
          <a:xfrm>
            <a:off x="4617720" y="2746716"/>
            <a:ext cx="420624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Micron fiscal quarter end, 2021 to mid-2026; moving right is a later quarter. Micron's gross margin is used as a proxy for memory contract pricing.</a:t>
            </a:r>
          </a:p>
          <a:p>
            <a:r>
              <a:rPr sz="700" b="1">
                <a:solidFill>
                  <a:srgbClr val="135927"/>
                </a:solidFill>
                <a:latin typeface="Helvetica Neue"/>
              </a:rPr>
              <a:t>Behaviour  </a:t>
            </a:r>
            <a:r>
              <a:rPr sz="700" b="0">
                <a:solidFill>
                  <a:srgbClr val="404040"/>
                </a:solidFill>
                <a:latin typeface="Helvetica Neue"/>
              </a:rPr>
              <a:t>margin falls from 47% to −33% at the Feb-2023 trough, recovers through 2024, then rises steeply to 84.6% — the largest and fastest upswing in the series.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Moat is narrow and confined to networking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COMPETITIVE POSITION &amp;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using IDC, Dell'Oro, HPE filings and peer financials.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24</a:t>
            </a:r>
          </a:p>
        </p:txBody>
      </p:sp>
      <p:graphicFrame>
        <p:nvGraphicFramePr>
          <p:cNvPr id="7" name="Table 133"/>
          <p:cNvGraphicFramePr>
            <a:graphicFrameLocks noGrp="1"/>
          </p:cNvGraphicFramePr>
          <p:nvPr/>
        </p:nvGraphicFramePr>
        <p:xfrm>
          <a:off x="320040" y="1463040"/>
          <a:ext cx="4297680" cy="1975104"/>
        </p:xfrm>
        <a:graphic>
          <a:graphicData uri="http://schemas.openxmlformats.org/drawingml/2006/table">
            <a:tbl>
              <a:tblPr firstRow="1">
                <a:tableStyleId>{5C22544A-7EE6-4342-B048-85BDC9FD1C3A}</a:tableStyleId>
              </a:tblPr>
              <a:tblGrid>
                <a:gridCol w="960120"/>
                <a:gridCol w="731520"/>
                <a:gridCol w="2606040"/>
              </a:tblGrid>
              <a:tr h="329184">
                <a:tc>
                  <a:txBody>
                    <a:bodyPr/>
                    <a:lstStyle/>
                    <a:p>
                      <a:pPr algn="l"/>
                      <a:r>
                        <a:rPr sz="850" b="1">
                          <a:solidFill>
                            <a:srgbClr val="FCC80D"/>
                          </a:solidFill>
                          <a:latin typeface="Helvetica Neue"/>
                        </a:rPr>
                        <a:t>Porter force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Intensity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Evidence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850" b="1">
                          <a:solidFill>
                            <a:srgbClr val="1F2421"/>
                          </a:solidFill>
                          <a:latin typeface="Helvetica Neue"/>
                        </a:rPr>
                        <a:t>Rivalry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Dell, Supermicro, Lenovo, Cisco, Arista, ODMs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Suppliers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NVIDIA, memory triopoly, Broadcom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Buyers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Med–high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Hyperscalers and sovereigns buy in huge lots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Substitutes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Medium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Public-cloud IaaS vs on-prem inference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New entrants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Low–med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Scale and supply allocation barriers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8" name="Table 134"/>
          <p:cNvGraphicFramePr>
            <a:graphicFrameLocks noGrp="1"/>
          </p:cNvGraphicFramePr>
          <p:nvPr/>
        </p:nvGraphicFramePr>
        <p:xfrm>
          <a:off x="4800600" y="1463040"/>
          <a:ext cx="4023360" cy="1645920"/>
        </p:xfrm>
        <a:graphic>
          <a:graphicData uri="http://schemas.openxmlformats.org/drawingml/2006/table">
            <a:tbl>
              <a:tblPr firstRow="1">
                <a:tableStyleId>{5C22544A-7EE6-4342-B048-85BDC9FD1C3A}</a:tableStyleId>
              </a:tblPr>
              <a:tblGrid>
                <a:gridCol w="1737360"/>
                <a:gridCol w="1005840"/>
                <a:gridCol w="1280160"/>
              </a:tblGrid>
              <a:tr h="3291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9" name="TextBox 135"/>
          <p:cNvSpPr txBox="1"/>
          <p:nvPr/>
        </p:nvSpPr>
        <p:spPr>
          <a:xfrm>
            <a:off x="4800600" y="3200400"/>
            <a:ext cx="4023360" cy="150876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Technology edge:</a:t>
            </a:r>
            <a:r>
              <a:rPr sz="1000" b="0">
                <a:solidFill>
                  <a:srgbClr val="1F2421"/>
                </a:solidFill>
                <a:latin typeface="Helvetica Neue"/>
              </a:rPr>
              <a:t> Express 5 routing silicon, liquid cooling (Cray heritage), on-prem inference (PCAI)</a:t>
            </a:r>
          </a:p>
          <a:p>
            <a:pPr algn="l" marL="155448" indent="-155448">
              <a:spcAft>
                <a:spcPts val="700"/>
              </a:spcAft>
              <a:buClr>
                <a:srgbClr val="135927"/>
              </a:buClr>
              <a:buSzPct val="100000"/>
              <a:buFont typeface="Helvetica Neue"/>
              <a:buChar char="•"/>
            </a:pPr>
            <a:r>
              <a:rPr sz="1000" b="1">
                <a:solidFill>
                  <a:srgbClr val="1F2421"/>
                </a:solidFill>
                <a:latin typeface="Helvetica Neue"/>
              </a:rPr>
              <a:t>Returns test:</a:t>
            </a:r>
            <a:r>
              <a:rPr sz="1000" b="0">
                <a:solidFill>
                  <a:srgbClr val="1F2421"/>
                </a:solidFill>
                <a:latin typeface="Helvetica Neue"/>
              </a:rPr>
              <a:t> adj. ROIC averaged 8.1% FY20–25, below WACC; 11.2% TTM</a:t>
            </a:r>
          </a:p>
        </p:txBody>
      </p:sp>
      <p:sp>
        <p:nvSpPr>
          <p:cNvPr id="10" name="TextBox 136"/>
          <p:cNvSpPr txBox="1"/>
          <p:nvPr/>
        </p:nvSpPr>
        <p:spPr>
          <a:xfrm>
            <a:off x="320040" y="3566160"/>
            <a:ext cx="4297680" cy="11430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1000" b="0">
                <a:solidFill>
                  <a:srgbClr val="1F2421"/>
                </a:solidFill>
                <a:latin typeface="Helvetica Neue"/>
              </a:rPr>
              <a:t>Juniper shifts mix toward the segment with the higher measured margin; servers remain a scale business with declining share</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Narrow moat, networking only</a:t>
            </a:r>
            <a:r>
              <a:rPr sz="1050" b="0">
                <a:solidFill>
                  <a:srgbClr val="404040"/>
                </a:solidFill>
                <a:latin typeface="Helvetica Neue"/>
              </a:rPr>
              <a:t> — rivalry and supplier power are high; servers and financing compete on scale and price.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Net leverage 1.75x; the preferred drives 5.7pp of the 8.8% dilution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BALANCE SHEET, CAPITAL STRUCTURE &amp; DILUTION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FY2025, 10-Q Q3 FY26, Q3 FY26 call;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25</a:t>
            </a:r>
          </a:p>
        </p:txBody>
      </p:sp>
      <p:pic>
        <p:nvPicPr>
          <p:cNvPr id="7" name="Picture 133" descr="cap_dilution_bridge_deck.png"/>
          <p:cNvPicPr>
            <a:picLocks noChangeAspect="1"/>
          </p:cNvPicPr>
          <p:nvPr/>
        </p:nvPicPr>
        <p:blipFill>
          <a:blip r:embed="rId6"/>
          <a:stretch>
            <a:fillRect/>
          </a:stretch>
        </p:blipFill>
        <p:spPr>
          <a:xfrm>
            <a:off x="274320" y="1463040"/>
            <a:ext cx="4297680" cy="1382453"/>
          </a:xfrm>
          <a:prstGeom prst="rect">
            <a:avLst/>
          </a:prstGeom>
        </p:spPr>
      </p:pic>
      <p:pic>
        <p:nvPicPr>
          <p:cNvPr id="8" name="Picture 134" descr="cap_debt_maturities_deck.png"/>
          <p:cNvPicPr>
            <a:picLocks noChangeAspect="1"/>
          </p:cNvPicPr>
          <p:nvPr/>
        </p:nvPicPr>
        <p:blipFill>
          <a:blip r:embed="rId3"/>
          <a:stretch>
            <a:fillRect/>
          </a:stretch>
        </p:blipFill>
        <p:spPr>
          <a:xfrm>
            <a:off x="4617720" y="1463040"/>
            <a:ext cx="4206240" cy="1348215"/>
          </a:xfrm>
          <a:prstGeom prst="rect">
            <a:avLst/>
          </a:prstGeom>
        </p:spPr>
      </p:pic>
      <p:sp>
        <p:nvSpPr>
          <p:cNvPr id="9"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1"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2"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3"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5"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6"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7"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19"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0"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1"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3"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4"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
        <p:nvSpPr>
          <p:cNvPr id="2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Leverage manageable, dilution measurable</a:t>
            </a:r>
            <a:r>
              <a:rPr sz="1050" b="0">
                <a:solidFill>
                  <a:srgbClr val="404040"/>
                </a:solidFill>
                <a:latin typeface="Helvetica Neue"/>
              </a:rPr>
              <a:t> — 1.75x net leverage and $11.5bn liquidity, with a fully diluted count 8.8% above basic.</a:t>
            </a:r>
          </a:p>
        </p:txBody>
      </p:sp>
      <p:sp>
        <p:nvSpPr>
          <p:cNvPr id="26" name="axis note cap_dilution_bridge"/>
          <p:cNvSpPr txBox="1"/>
          <p:nvPr/>
        </p:nvSpPr>
        <p:spPr>
          <a:xfrm>
            <a:off x="274320" y="2882069"/>
            <a:ext cx="42976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Bridge steps from basic to fully diluted share count, left to right: basic shares, RSUs and PRSUs, mandatory convertible preferred, Oracle warrant, fully diluted. The axis starts at 1,250m.</a:t>
            </a:r>
          </a:p>
          <a:p>
            <a:r>
              <a:rPr sz="700" b="1">
                <a:solidFill>
                  <a:srgbClr val="135927"/>
                </a:solidFill>
                <a:latin typeface="Helvetica Neue"/>
              </a:rPr>
              <a:t>Behaviour  </a:t>
            </a:r>
            <a:r>
              <a:rPr sz="700" b="0">
                <a:solidFill>
                  <a:srgbClr val="404040"/>
                </a:solidFill>
                <a:latin typeface="Helvetica Neue"/>
              </a:rPr>
              <a:t>the preferred contributes the largest step, +76.1m shares (5.7% of basic), against +37.0m from employee awards and +4.2m from the warrant: 1,445m fully diluted, +8.8%.</a:t>
            </a:r>
          </a:p>
        </p:txBody>
      </p:sp>
      <p:sp>
        <p:nvSpPr>
          <p:cNvPr id="27" name="axis note cap_debt_maturities"/>
          <p:cNvSpPr txBox="1"/>
          <p:nvPr/>
        </p:nvSpPr>
        <p:spPr>
          <a:xfrm>
            <a:off x="4617720" y="2847831"/>
            <a:ext cx="420624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in which the debt matures, FY2026 to FY2030 and a combined 'Thereafter' column; moving right is a later maturity.</a:t>
            </a:r>
          </a:p>
          <a:p>
            <a:r>
              <a:rPr sz="700" b="1">
                <a:solidFill>
                  <a:srgbClr val="135927"/>
                </a:solidFill>
                <a:latin typeface="Helvetica Neue"/>
              </a:rPr>
              <a:t>Behaviour  </a:t>
            </a:r>
            <a:r>
              <a:rPr sz="700" b="0">
                <a:solidFill>
                  <a:srgbClr val="404040"/>
                </a:solidFill>
                <a:latin typeface="Helvetica Neue"/>
              </a:rPr>
              <a:t>$3.8bn, $3.1bn and $4.6bn mature in FY26–FY28, then the profile drops to $0.4bn in FY2030 with $8.9bn beyond — a three-year concentration followed by a long tail.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Price consolidating below $63–64 after the 2-June +19.5% move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PRICE ACTION &amp; TECHNICALS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daily data; ta library indicators; Bona Fide analysis. 14-Sep intraday move is after the valuation date.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26</a:t>
            </a:r>
          </a:p>
        </p:txBody>
      </p:sp>
      <p:pic>
        <p:nvPicPr>
          <p:cNvPr id="7" name="Picture 133" descr="stock_2y_technicals_deck.png"/>
          <p:cNvPicPr>
            <a:picLocks noChangeAspect="1"/>
          </p:cNvPicPr>
          <p:nvPr/>
        </p:nvPicPr>
        <p:blipFill>
          <a:blip r:embed="rId5"/>
          <a:stretch>
            <a:fillRect/>
          </a:stretch>
        </p:blipFill>
        <p:spPr>
          <a:xfrm>
            <a:off x="581464" y="1463040"/>
            <a:ext cx="4140592" cy="2691384"/>
          </a:xfrm>
          <a:prstGeom prst="rect">
            <a:avLst/>
          </a:prstGeom>
        </p:spPr>
      </p:pic>
      <p:sp>
        <p:nvSpPr>
          <p:cNvPr id="8" name="TextBox 134"/>
          <p:cNvSpPr txBox="1"/>
          <p:nvPr/>
        </p:nvSpPr>
        <p:spPr>
          <a:xfrm>
            <a:off x="5166360" y="1463040"/>
            <a:ext cx="3657600" cy="3246120"/>
          </a:xfrm>
          <a:prstGeom prst="rect">
            <a:avLst/>
          </a:prstGeom>
          <a:noFill/>
        </p:spPr>
        <p:txBody>
          <a:bodyPr wrap="square" anchor="t" lIns="36576" rIns="36576" tIns="18288" bIns="18288">
            <a:spAutoFit/>
          </a:bodyPr>
          <a:lstStyle/>
          <a:p>
            <a:pPr algn="l" marL="155448" indent="-155448">
              <a:spcAft>
                <a:spcPts val="400"/>
              </a:spcAft>
              <a:buClr>
                <a:srgbClr val="135927"/>
              </a:buClr>
              <a:buSzPct val="100000"/>
              <a:buFont typeface="Helvetica Neue"/>
              <a:buChar char="•"/>
            </a:pPr>
            <a:r>
              <a:rPr sz="900" b="1">
                <a:solidFill>
                  <a:srgbClr val="1F2421"/>
                </a:solidFill>
                <a:latin typeface="Helvetica Neue"/>
              </a:rPr>
              <a:t>Breakout:</a:t>
            </a:r>
            <a:r>
              <a:rPr sz="900" b="0">
                <a:solidFill>
                  <a:srgbClr val="1F2421"/>
                </a:solidFill>
                <a:latin typeface="Helvetica Neue"/>
              </a:rPr>
              <a:t> first close above the $26.25 decade high on 17-Apr-2026, after a golden cross (15-Apr)</a:t>
            </a:r>
          </a:p>
          <a:p>
            <a:pPr algn="l" marL="155448" indent="-155448">
              <a:spcAft>
                <a:spcPts val="400"/>
              </a:spcAft>
              <a:buClr>
                <a:srgbClr val="135927"/>
              </a:buClr>
              <a:buSzPct val="100000"/>
              <a:buFont typeface="Helvetica Neue"/>
              <a:buChar char="•"/>
            </a:pPr>
            <a:r>
              <a:rPr sz="900" b="1">
                <a:solidFill>
                  <a:srgbClr val="1F2421"/>
                </a:solidFill>
                <a:latin typeface="Helvetica Neue"/>
              </a:rPr>
              <a:t>Single-day move:</a:t>
            </a:r>
            <a:r>
              <a:rPr sz="900" b="0">
                <a:solidFill>
                  <a:srgbClr val="1F2421"/>
                </a:solidFill>
                <a:latin typeface="Helvetica Neue"/>
              </a:rPr>
              <a:t> 2-Jun opened +34%, closed +19.5% on 7.4x average volume; −26% drawdown into July</a:t>
            </a:r>
          </a:p>
          <a:p>
            <a:pPr algn="l" marL="155448" indent="-155448">
              <a:spcAft>
                <a:spcPts val="400"/>
              </a:spcAft>
              <a:buClr>
                <a:srgbClr val="135927"/>
              </a:buClr>
              <a:buSzPct val="100000"/>
              <a:buFont typeface="Helvetica Neue"/>
              <a:buChar char="•"/>
            </a:pPr>
            <a:r>
              <a:rPr sz="900" b="1">
                <a:solidFill>
                  <a:srgbClr val="1F2421"/>
                </a:solidFill>
                <a:latin typeface="Helvetica Neue"/>
              </a:rPr>
              <a:t>Range:</a:t>
            </a:r>
            <a:r>
              <a:rPr sz="900" b="0">
                <a:solidFill>
                  <a:srgbClr val="1F2421"/>
                </a:solidFill>
                <a:latin typeface="Helvetica Neue"/>
              </a:rPr>
              <a:t> highs $64.25 / $63.44, lows $40.72 / $45.70 — contracting; bandwidth 85% → 18%</a:t>
            </a:r>
          </a:p>
          <a:p>
            <a:pPr algn="l" marL="155448" indent="-155448">
              <a:spcAft>
                <a:spcPts val="400"/>
              </a:spcAft>
              <a:buClr>
                <a:srgbClr val="135927"/>
              </a:buClr>
              <a:buSzPct val="100000"/>
              <a:buFont typeface="Helvetica Neue"/>
              <a:buChar char="•"/>
            </a:pPr>
            <a:r>
              <a:rPr sz="900" b="1">
                <a:solidFill>
                  <a:srgbClr val="1F2421"/>
                </a:solidFill>
                <a:latin typeface="Helvetica Neue"/>
              </a:rPr>
              <a:t>Test:</a:t>
            </a:r>
            <a:r>
              <a:rPr sz="900" b="0">
                <a:solidFill>
                  <a:srgbClr val="1F2421"/>
                </a:solidFill>
                <a:latin typeface="Helvetica Neue"/>
              </a:rPr>
              <a:t> record close $62.09 on 2x volume, still below intraday highs; ~9% lower intraday on 14-Sep after a downgrade</a:t>
            </a:r>
          </a:p>
          <a:p>
            <a:pPr algn="l" marL="155448" indent="-155448">
              <a:spcAft>
                <a:spcPts val="400"/>
              </a:spcAft>
              <a:buClr>
                <a:srgbClr val="135927"/>
              </a:buClr>
              <a:buSzPct val="100000"/>
              <a:buFont typeface="Helvetica Neue"/>
              <a:buChar char="•"/>
            </a:pPr>
            <a:r>
              <a:rPr sz="900" b="1">
                <a:solidFill>
                  <a:srgbClr val="1F2421"/>
                </a:solidFill>
                <a:latin typeface="Helvetica Neue"/>
              </a:rPr>
              <a:t>Read:</a:t>
            </a:r>
            <a:r>
              <a:rPr sz="900" b="0">
                <a:solidFill>
                  <a:srgbClr val="1F2421"/>
                </a:solidFill>
                <a:latin typeface="Helvetica Neue"/>
              </a:rPr>
              <a:t> uptrend intact, price 83% above the 200-day average; nearest support ~$51 (50-day) and $41–46</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Trend intact, price extended</a:t>
            </a:r>
            <a:r>
              <a:rPr sz="1050" b="0">
                <a:solidFill>
                  <a:srgbClr val="404040"/>
                </a:solidFill>
                <a:latin typeface="Helvetica Neue"/>
              </a:rPr>
              <a:t> — a $41–64 range since June; 83% above the 200-day average; bandwidth 85% to 18%.</a:t>
            </a:r>
          </a:p>
        </p:txBody>
      </p:sp>
      <p:sp>
        <p:nvSpPr>
          <p:cNvPr id="10" name="axis note stock_2y_technicals"/>
          <p:cNvSpPr txBox="1"/>
          <p:nvPr/>
        </p:nvSpPr>
        <p:spPr>
          <a:xfrm>
            <a:off x="274320" y="4191000"/>
            <a:ext cx="47548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Trading date from September 2024 to 11-Sep-2026, shared by all three panels: price with moving averages, volume against its 50-day average, and RSI(14).</a:t>
            </a:r>
          </a:p>
          <a:p>
            <a:r>
              <a:rPr sz="700" b="1">
                <a:solidFill>
                  <a:srgbClr val="135927"/>
                </a:solidFill>
                <a:latin typeface="Helvetica Neue"/>
              </a:rPr>
              <a:t>Behaviour  </a:t>
            </a:r>
            <a:r>
              <a:rPr sz="700" b="0">
                <a:solidFill>
                  <a:srgbClr val="404040"/>
                </a:solidFill>
                <a:latin typeface="Helvetica Neue"/>
              </a:rPr>
              <a:t>price is range-bound $12.5–26 until April 2026 and then rises to $62.09, 83% above the 200-day average; volume spikes above 2x cluster on earnings dates.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Earnings days produce the largest price reactions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MAJOR STOCK MOVES &amp; CATALYSTS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8-K filing dates; Yahoo Finance; news sources in report/source_log.csv; Bona Fide analysis (permutation test).</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27</a:t>
            </a:r>
          </a:p>
        </p:txBody>
      </p:sp>
      <p:pic>
        <p:nvPicPr>
          <p:cNvPr id="7" name="Picture 133" descr="events_excess_returns_deck.png"/>
          <p:cNvPicPr>
            <a:picLocks noChangeAspect="1"/>
          </p:cNvPicPr>
          <p:nvPr/>
        </p:nvPicPr>
        <p:blipFill>
          <a:blip r:embed="rId5"/>
          <a:stretch>
            <a:fillRect/>
          </a:stretch>
        </p:blipFill>
        <p:spPr>
          <a:xfrm>
            <a:off x="648887" y="1463040"/>
            <a:ext cx="3718500" cy="2691384"/>
          </a:xfrm>
          <a:prstGeom prst="rect">
            <a:avLst/>
          </a:prstGeom>
        </p:spPr>
      </p:pic>
      <p:sp>
        <p:nvSpPr>
          <p:cNvPr id="8" name="TextBox 134"/>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UPCOMING CATALYSTS</a:t>
            </a:r>
          </a:p>
        </p:txBody>
      </p:sp>
      <p:sp>
        <p:nvSpPr>
          <p:cNvPr id="9" name="TextBox 135"/>
          <p:cNvSpPr txBox="1"/>
          <p:nvPr/>
        </p:nvSpPr>
        <p:spPr>
          <a:xfrm>
            <a:off x="5440680" y="1719072"/>
            <a:ext cx="3383280" cy="146304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30-Sep-2026:</a:t>
            </a:r>
            <a:r>
              <a:rPr sz="900" b="0">
                <a:solidFill>
                  <a:srgbClr val="1F2421"/>
                </a:solidFill>
                <a:latin typeface="Helvetica Neue"/>
              </a:rPr>
              <a:t> Networking Investor Day</a:t>
            </a:r>
          </a:p>
          <a:p>
            <a:pPr algn="l" marL="155448" indent="-155448">
              <a:spcAft>
                <a:spcPts val="300"/>
              </a:spcAft>
              <a:buClr>
                <a:srgbClr val="135927"/>
              </a:buClr>
              <a:buSzPct val="100000"/>
              <a:buFont typeface="Helvetica Neue"/>
              <a:buChar char="•"/>
            </a:pPr>
            <a:r>
              <a:rPr sz="900" b="1">
                <a:solidFill>
                  <a:srgbClr val="1F2421"/>
                </a:solidFill>
                <a:latin typeface="Helvetica Neue"/>
              </a:rPr>
              <a:t>Early Dec-2026:</a:t>
            </a:r>
            <a:r>
              <a:rPr sz="900" b="0">
                <a:solidFill>
                  <a:srgbClr val="1F2421"/>
                </a:solidFill>
                <a:latin typeface="Helvetica Neue"/>
              </a:rPr>
              <a:t> Q4 FY26 results and full FY27 guidance</a:t>
            </a:r>
          </a:p>
          <a:p>
            <a:pPr algn="l" marL="155448" indent="-155448">
              <a:spcAft>
                <a:spcPts val="300"/>
              </a:spcAft>
              <a:buClr>
                <a:srgbClr val="135927"/>
              </a:buClr>
              <a:buSzPct val="100000"/>
              <a:buFont typeface="Helvetica Neue"/>
              <a:buChar char="•"/>
            </a:pPr>
            <a:r>
              <a:rPr sz="900" b="1">
                <a:solidFill>
                  <a:srgbClr val="1F2421"/>
                </a:solidFill>
                <a:latin typeface="Helvetica Neue"/>
              </a:rPr>
              <a:t>Ongoing:</a:t>
            </a:r>
            <a:r>
              <a:rPr sz="900" b="0">
                <a:solidFill>
                  <a:srgbClr val="1F2421"/>
                </a:solidFill>
                <a:latin typeface="Helvetica Neue"/>
              </a:rPr>
              <a:t> Oracle warrant milestones; Helios ramp</a:t>
            </a:r>
          </a:p>
          <a:p>
            <a:pPr algn="l" marL="155448" indent="-155448">
              <a:spcAft>
                <a:spcPts val="300"/>
              </a:spcAft>
              <a:buClr>
                <a:srgbClr val="135927"/>
              </a:buClr>
              <a:buSzPct val="100000"/>
              <a:buFont typeface="Helvetica Neue"/>
              <a:buChar char="•"/>
            </a:pPr>
            <a:r>
              <a:rPr sz="900" b="1">
                <a:solidFill>
                  <a:srgbClr val="1F2421"/>
                </a:solidFill>
                <a:latin typeface="Helvetica Neue"/>
              </a:rPr>
              <a:t>~1-Sep-2027:</a:t>
            </a:r>
            <a:r>
              <a:rPr sz="900" b="0">
                <a:solidFill>
                  <a:srgbClr val="1F2421"/>
                </a:solidFill>
                <a:latin typeface="Helvetica Neue"/>
              </a:rPr>
              <a:t> mandatory preferred conversion</a:t>
            </a:r>
          </a:p>
        </p:txBody>
      </p:sp>
      <p:sp>
        <p:nvSpPr>
          <p:cNvPr id="10" name="TextBox 136"/>
          <p:cNvSpPr txBox="1"/>
          <p:nvPr/>
        </p:nvSpPr>
        <p:spPr>
          <a:xfrm>
            <a:off x="5440680" y="324612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FILINGS &amp; OWNERSHIP</a:t>
            </a:r>
          </a:p>
        </p:txBody>
      </p:sp>
      <p:sp>
        <p:nvSpPr>
          <p:cNvPr id="11" name="TextBox 137"/>
          <p:cNvSpPr txBox="1"/>
          <p:nvPr/>
        </p:nvSpPr>
        <p:spPr>
          <a:xfrm>
            <a:off x="5440680" y="3502152"/>
            <a:ext cx="3383280" cy="11887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0">
                <a:solidFill>
                  <a:srgbClr val="1F2421"/>
                </a:solidFill>
                <a:latin typeface="Helvetica Neue"/>
              </a:rPr>
              <a:t>31 insider open-market sales ($49m, 12m), no purchases</a:t>
            </a:r>
          </a:p>
          <a:p>
            <a:pPr algn="l" marL="155448" indent="-155448">
              <a:spcAft>
                <a:spcPts val="300"/>
              </a:spcAft>
              <a:buClr>
                <a:srgbClr val="135927"/>
              </a:buClr>
              <a:buSzPct val="100000"/>
              <a:buFont typeface="Helvetica Neue"/>
              <a:buChar char="•"/>
            </a:pPr>
            <a:r>
              <a:rPr sz="900" b="0">
                <a:solidFill>
                  <a:srgbClr val="1F2421"/>
                </a:solidFill>
                <a:latin typeface="Helvetica Neue"/>
              </a:rPr>
              <a:t>Elliott raised stake 18% in Q2 (2.4%); board seat</a:t>
            </a:r>
          </a:p>
          <a:p>
            <a:pPr algn="l" marL="155448" indent="-155448">
              <a:spcAft>
                <a:spcPts val="300"/>
              </a:spcAft>
              <a:buClr>
                <a:srgbClr val="135927"/>
              </a:buClr>
              <a:buSzPct val="100000"/>
              <a:buFont typeface="Helvetica Neue"/>
              <a:buChar char="•"/>
            </a:pPr>
            <a:r>
              <a:rPr sz="900" b="1">
                <a:solidFill>
                  <a:srgbClr val="135927"/>
                </a:solidFill>
                <a:latin typeface="Helvetica Neue"/>
              </a:rPr>
              <a:t>EXPERIMENT 6  </a:t>
            </a:r>
            <a:r>
              <a:rPr sz="900" b="0">
                <a:solidFill>
                  <a:srgbClr val="1F2421"/>
                </a:solidFill>
                <a:latin typeface="Helvetica Neue"/>
              </a:rPr>
              <a:t>Earnings-day permutation test: 11 earnings days against 624 other days, 20,000 resamples — mean absolute move 6.7% vs 2.0% (p &lt; 0.001)</a:t>
            </a:r>
          </a:p>
        </p:txBody>
      </p:sp>
      <p:sp>
        <p:nvSpPr>
          <p:cNvPr id="12"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Earnings-day moves are 3.4x other days</a:t>
            </a:r>
            <a:r>
              <a:rPr sz="1050" b="0">
                <a:solidFill>
                  <a:srgbClr val="404040"/>
                </a:solidFill>
                <a:latin typeface="Helvetica Neue"/>
              </a:rPr>
              <a:t> — 6.7% average absolute move against 2.0% (permutation p &lt; 0.001); 31 insider sales, no purchases.</a:t>
            </a:r>
          </a:p>
        </p:txBody>
      </p:sp>
      <p:sp>
        <p:nvSpPr>
          <p:cNvPr id="13" name="axis note events_excess_returns"/>
          <p:cNvSpPr txBox="1"/>
          <p:nvPr/>
        </p:nvSpPr>
        <p:spPr>
          <a:xfrm>
            <a:off x="284618" y="4191000"/>
            <a:ext cx="4447039"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Return in excess of the S&amp;P 500 over the event window, per cent (−15% to +20%); bars to the right are outperformance, bars to the left underperformance.</a:t>
            </a:r>
          </a:p>
          <a:p>
            <a:r>
              <a:rPr sz="700" b="1">
                <a:solidFill>
                  <a:srgbClr val="135927"/>
                </a:solidFill>
                <a:latin typeface="Helvetica Neue"/>
              </a:rPr>
              <a:t>Behaviour  </a:t>
            </a:r>
            <a:r>
              <a:rPr sz="700" b="0">
                <a:solidFill>
                  <a:srgbClr val="404040"/>
                </a:solidFill>
                <a:latin typeface="Helvetica Neue"/>
              </a:rPr>
              <a:t>the widest bars in both directions are earnings and guidance events (+19.0%, −11.7%, −9.6%); the Juniper milestones cluster near zero (−8.0% on the leak, +1.6% on closing).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Juniper's exploited-vulnerability count is below the vendor median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1</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Count indicates governance, not defect</a:t>
            </a:r>
            <a:r>
              <a:rPr sz="1050" b="0">
                <a:solidFill>
                  <a:srgbClr val="404040"/>
                </a:solidFill>
                <a:latin typeface="Helvetica Neue"/>
              </a:rPr>
              <a:t> — 8 KEV entries, 8th of 13 vendors (Cisco 97); counts are not normalised for installed base.</a:t>
            </a:r>
          </a:p>
        </p:txBody>
      </p:sp>
      <p:sp>
        <p:nvSpPr>
          <p:cNvPr id="6" name="TextBox 135"/>
          <p:cNvSpPr txBox="1"/>
          <p:nvPr/>
        </p:nvSpPr>
        <p:spPr>
          <a:xfrm>
            <a:off x="320040" y="146304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SHORT ANSWER</a:t>
            </a:r>
          </a:p>
        </p:txBody>
      </p:sp>
      <p:sp>
        <p:nvSpPr>
          <p:cNvPr id="7" name="TextBox 136"/>
          <p:cNvSpPr txBox="1"/>
          <p:nvPr/>
        </p:nvSpPr>
        <p:spPr>
          <a:xfrm>
            <a:off x="320040" y="1682496"/>
            <a:ext cx="4480560" cy="566928"/>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Not unique hardware. Junos OS and Juniper silicon are proprietary, but the devices do the same job as Cisco or Arista kit. A named step signals how the equipment is governed.</a:t>
            </a:r>
          </a:p>
        </p:txBody>
      </p:sp>
      <p:sp>
        <p:nvSpPr>
          <p:cNvPr id="8" name="TextBox 135"/>
          <p:cNvSpPr txBox="1"/>
          <p:nvPr/>
        </p:nvSpPr>
        <p:spPr>
          <a:xfrm>
            <a:off x="320040" y="228600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LIKELY REASONS THE SOP NAMES JUNIPER</a:t>
            </a:r>
          </a:p>
        </p:txBody>
      </p:sp>
      <p:sp>
        <p:nvSpPr>
          <p:cNvPr id="9" name="TextBox 136"/>
          <p:cNvSpPr txBox="1"/>
          <p:nvPr/>
        </p:nvSpPr>
        <p:spPr>
          <a:xfrm>
            <a:off x="320040" y="2514600"/>
            <a:ext cx="4480560" cy="21945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Role: </a:t>
            </a:r>
            <a:r>
              <a:rPr sz="900" b="0">
                <a:solidFill>
                  <a:srgbClr val="1F2421"/>
                </a:solidFill>
                <a:latin typeface="Helvetica Neue"/>
              </a:rPr>
              <a:t>core routers (MX, PTX) and perimeter firewalls (SRX) have a large blast radius; any vendor’s would need change control.</a:t>
            </a:r>
          </a:p>
          <a:p>
            <a:pPr algn="l" marL="155448" indent="-155448">
              <a:spcAft>
                <a:spcPts val="300"/>
              </a:spcAft>
              <a:buClr>
                <a:srgbClr val="135927"/>
              </a:buClr>
              <a:buSzPct val="100000"/>
              <a:buFont typeface="Helvetica Neue"/>
              <a:buChar char="•"/>
            </a:pPr>
            <a:r>
              <a:rPr sz="900" b="1">
                <a:solidFill>
                  <a:srgbClr val="1F2421"/>
                </a:solidFill>
                <a:latin typeface="Helvetica Neue"/>
              </a:rPr>
              <a:t>Security history: </a:t>
            </a:r>
            <a:r>
              <a:rPr sz="900" b="0">
                <a:solidFill>
                  <a:srgbClr val="1F2421"/>
                </a:solidFill>
                <a:latin typeface="Helvetica Neue"/>
              </a:rPr>
              <a:t>unauthorised code in ScreenOS (2015), exploited J-Web flaws (2023), China-nexus backdoors on end-of-life MX routers (2025).</a:t>
            </a:r>
          </a:p>
          <a:p>
            <a:pPr algn="l" marL="155448" indent="-155448">
              <a:spcAft>
                <a:spcPts val="300"/>
              </a:spcAft>
              <a:buClr>
                <a:srgbClr val="135927"/>
              </a:buClr>
              <a:buSzPct val="100000"/>
              <a:buFont typeface="Helvetica Neue"/>
              <a:buChar char="•"/>
            </a:pPr>
            <a:r>
              <a:rPr sz="900" b="1">
                <a:solidFill>
                  <a:srgbClr val="1F2421"/>
                </a:solidFill>
                <a:latin typeface="Helvetica Neue"/>
              </a:rPr>
              <a:t>Speed: </a:t>
            </a:r>
            <a:r>
              <a:rPr sz="900" b="0">
                <a:solidFill>
                  <a:srgbClr val="1F2421"/>
                </a:solidFill>
                <a:latin typeface="Helvetica Neue"/>
              </a:rPr>
              <a:t>a live inventory lets security teams meet CISA deadlines: 3 weeks for CVE-2025-21590, 4 days for the 2023 J-Web flaws.</a:t>
            </a:r>
          </a:p>
          <a:p>
            <a:pPr algn="l" marL="155448" indent="-155448">
              <a:spcAft>
                <a:spcPts val="300"/>
              </a:spcAft>
              <a:buClr>
                <a:srgbClr val="135927"/>
              </a:buClr>
              <a:buSzPct val="100000"/>
              <a:buFont typeface="Helvetica Neue"/>
              <a:buChar char="•"/>
            </a:pPr>
            <a:r>
              <a:rPr sz="900" b="1">
                <a:solidFill>
                  <a:srgbClr val="1F2421"/>
                </a:solidFill>
                <a:latin typeface="Helvetica Neue"/>
              </a:rPr>
              <a:t>Cloud management: </a:t>
            </a:r>
            <a:r>
              <a:rPr sz="900" b="0">
                <a:solidFill>
                  <a:srgbClr val="1F2421"/>
                </a:solidFill>
                <a:latin typeface="Helvetica Neue"/>
              </a:rPr>
              <a:t>Mist-managed devices connect out to the Mist cloud (TCP 443/2200), so firewall and data reviews apply.</a:t>
            </a:r>
          </a:p>
          <a:p>
            <a:pPr algn="l" marL="155448" indent="-155448">
              <a:spcAft>
                <a:spcPts val="300"/>
              </a:spcAft>
              <a:buClr>
                <a:srgbClr val="135927"/>
              </a:buClr>
              <a:buSzPct val="100000"/>
              <a:buFont typeface="Helvetica Neue"/>
              <a:buChar char="•"/>
            </a:pPr>
            <a:r>
              <a:rPr sz="900" b="1">
                <a:solidFill>
                  <a:srgbClr val="1F2421"/>
                </a:solidFill>
                <a:latin typeface="Helvetica Neue"/>
              </a:rPr>
              <a:t>Ownership: </a:t>
            </a:r>
            <a:r>
              <a:rPr sz="900" b="0">
                <a:solidFill>
                  <a:srgbClr val="1F2421"/>
                </a:solidFill>
                <a:latin typeface="Helvetica Neue"/>
              </a:rPr>
              <a:t>HPE has owned Juniper since 2-Jul-2025; support contracts and supplier records are changing.</a:t>
            </a:r>
          </a:p>
          <a:p>
            <a:pPr algn="l" marL="155448" indent="-155448">
              <a:spcAft>
                <a:spcPts val="300"/>
              </a:spcAft>
              <a:buClr>
                <a:srgbClr val="135927"/>
              </a:buClr>
              <a:buSzPct val="100000"/>
              <a:buFont typeface="Helvetica Neue"/>
              <a:buChar char="•"/>
            </a:pPr>
            <a:r>
              <a:rPr sz="900" b="1">
                <a:solidFill>
                  <a:srgbClr val="1F2421"/>
                </a:solidFill>
                <a:latin typeface="Helvetica Neue"/>
              </a:rPr>
              <a:t>Not a legal ban: </a:t>
            </a:r>
            <a:r>
              <a:rPr sz="900" b="0">
                <a:solidFill>
                  <a:srgbClr val="1F2421"/>
                </a:solidFill>
                <a:latin typeface="Helvetica Neue"/>
              </a:rPr>
              <a:t>Juniper is not on the U.S. Covered List (Huawei, ZTE, Hytera, Hikvision, Dahua).</a:t>
            </a:r>
          </a:p>
        </p:txBody>
      </p:sp>
      <p:sp>
        <p:nvSpPr>
          <p:cNvPr id="10" name="TextBox 135"/>
          <p:cNvSpPr txBox="1"/>
          <p:nvPr/>
        </p:nvSpPr>
        <p:spPr>
          <a:xfrm>
            <a:off x="4983480" y="1463040"/>
            <a:ext cx="3840480" cy="32766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7  </a:t>
            </a:r>
            <a:r>
              <a:rPr sz="800" b="0">
                <a:solidFill>
                  <a:srgbClr val="404040"/>
                </a:solidFill>
                <a:latin typeface="Helvetica Neue"/>
              </a:rPr>
              <a:t>Exploited-vulnerability counts: CISA KEV entries for 13 network and security vendors, not normalised for installed base</a:t>
            </a:r>
          </a:p>
        </p:txBody>
      </p:sp>
      <p:pic>
        <p:nvPicPr>
          <p:cNvPr id="11" name="Picture 137" descr="qa_kev_vendor_exposure_deck.png"/>
          <p:cNvPicPr>
            <a:picLocks noChangeAspect="1"/>
          </p:cNvPicPr>
          <p:nvPr/>
        </p:nvPicPr>
        <p:blipFill>
          <a:blip r:embed="rId5"/>
          <a:stretch>
            <a:fillRect/>
          </a:stretch>
        </p:blipFill>
        <p:spPr>
          <a:xfrm>
            <a:off x="5908916" y="1818132"/>
            <a:ext cx="1989607" cy="1103376"/>
          </a:xfrm>
          <a:prstGeom prst="rect">
            <a:avLst/>
          </a:prstGeom>
        </p:spPr>
      </p:pic>
      <p:sp>
        <p:nvSpPr>
          <p:cNvPr id="12" name="TextBox 135"/>
          <p:cNvSpPr txBox="1"/>
          <p:nvPr/>
        </p:nvSpPr>
        <p:spPr>
          <a:xfrm>
            <a:off x="4983480" y="3646932"/>
            <a:ext cx="38404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IT MEANS FOR HPE</a:t>
            </a:r>
          </a:p>
        </p:txBody>
      </p:sp>
      <p:sp>
        <p:nvSpPr>
          <p:cNvPr id="13" name="TextBox 136"/>
          <p:cNvSpPr txBox="1"/>
          <p:nvPr/>
        </p:nvSpPr>
        <p:spPr>
          <a:xfrm>
            <a:off x="4983480" y="3866388"/>
            <a:ext cx="3840480" cy="82296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Not an outlier: </a:t>
            </a:r>
            <a:r>
              <a:rPr sz="850" b="0">
                <a:solidFill>
                  <a:srgbClr val="1F2421"/>
                </a:solidFill>
                <a:latin typeface="Helvetica Neue"/>
              </a:rPr>
              <a:t>8 entries, 8th of 13 vendors (Cisco 97). The risk is a new implant-style incident while HPE cross-sells Juniper.</a:t>
            </a:r>
          </a:p>
          <a:p>
            <a:pPr algn="l" marL="155448" indent="-155448">
              <a:spcAft>
                <a:spcPts val="200"/>
              </a:spcAft>
              <a:buClr>
                <a:srgbClr val="135927"/>
              </a:buClr>
              <a:buSzPct val="100000"/>
              <a:buFont typeface="Helvetica Neue"/>
              <a:buChar char="•"/>
            </a:pPr>
            <a:r>
              <a:rPr sz="850" b="1">
                <a:solidFill>
                  <a:srgbClr val="1F2421"/>
                </a:solidFill>
                <a:latin typeface="Helvetica Neue"/>
              </a:rPr>
              <a:t>Refresh driver: </a:t>
            </a:r>
            <a:r>
              <a:rPr sz="850" b="0">
                <a:solidFill>
                  <a:srgbClr val="1F2421"/>
                </a:solidFill>
                <a:latin typeface="Helvetica Neue"/>
              </a:rPr>
              <a:t>end-of-life routers were the target; replacing them is Networking revenue. Watch KEV additions and the 30-Sep Investor Day.</a:t>
            </a:r>
          </a:p>
        </p:txBody>
      </p:sp>
      <p:sp>
        <p:nvSpPr>
          <p:cNvPr id="14"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CISA KEV catalogue 2026.09.11 (not normalised for installed base); Mandiant; Checkoway et al.; Juniper docs; DOJ; FCC. Report section 12.</a:t>
            </a:r>
          </a:p>
        </p:txBody>
      </p:sp>
      <p:sp>
        <p:nvSpPr>
          <p:cNvPr id="15"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28</a:t>
            </a:r>
          </a:p>
        </p:txBody>
      </p:sp>
      <p:sp>
        <p:nvSpPr>
          <p:cNvPr id="16" name="axis note qa_kev_vendor_exposure"/>
          <p:cNvSpPr txBox="1"/>
          <p:nvPr/>
        </p:nvSpPr>
        <p:spPr>
          <a:xfrm>
            <a:off x="5296095" y="2958084"/>
            <a:ext cx="3215248"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Number of entries in CISA's Known Exploited Vulnerabilities catalogue, count (0–100).</a:t>
            </a:r>
          </a:p>
          <a:p>
            <a:r>
              <a:rPr sz="700" b="1">
                <a:solidFill>
                  <a:srgbClr val="135927"/>
                </a:solidFill>
                <a:latin typeface="Helvetica Neue"/>
              </a:rPr>
              <a:t>Behaviour  </a:t>
            </a:r>
            <a:r>
              <a:rPr sz="700" b="0">
                <a:solidFill>
                  <a:srgbClr val="404040"/>
                </a:solidFill>
                <a:latin typeface="Helvetica Neue"/>
              </a:rPr>
              <a:t>the distribution is highly skewed — Cisco 97 entries, Ivanti 35 and Fortinet 30, against Juniper's 8, which ranks 8th of 13 and below the group median of 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Three business models with measurably different financial structures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(1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Structure differs by business model</a:t>
            </a:r>
            <a:r>
              <a:rPr sz="1050" b="0">
                <a:solidFill>
                  <a:srgbClr val="404040"/>
                </a:solidFill>
                <a:latin typeface="Helvetica Neue"/>
              </a:rPr>
              <a:t> — neoclouds carry capex and depreciation, landlords duration, server providers order timing.</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10-K, 10-Q, 20-F, 6-K and 8-K filings; Bona Fide analysis. TTM to Jun/Jul-2026. DLR operating income excludes real-estate gains; DLR backlog coverage estimated.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29</a:t>
            </a:r>
          </a:p>
        </p:txBody>
      </p:sp>
      <p:pic>
        <p:nvPicPr>
          <p:cNvPr id="8" name="Picture 133" descr="qa_q2_profile_deck.png"/>
          <p:cNvPicPr>
            <a:picLocks noChangeAspect="1"/>
          </p:cNvPicPr>
          <p:nvPr/>
        </p:nvPicPr>
        <p:blipFill>
          <a:blip r:embed="rId5"/>
          <a:stretch>
            <a:fillRect/>
          </a:stretch>
        </p:blipFill>
        <p:spPr>
          <a:xfrm>
            <a:off x="325947" y="1481328"/>
            <a:ext cx="5245985" cy="2673097"/>
          </a:xfrm>
          <a:prstGeom prst="rect">
            <a:avLst/>
          </a:prstGeom>
        </p:spPr>
      </p:pic>
      <p:sp>
        <p:nvSpPr>
          <p:cNvPr id="9"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NUMBERS SAY</a:t>
            </a:r>
          </a:p>
        </p:txBody>
      </p:sp>
      <p:sp>
        <p:nvSpPr>
          <p:cNvPr id="10" name="TextBox 136"/>
          <p:cNvSpPr txBox="1"/>
          <p:nvPr/>
        </p:nvSpPr>
        <p:spPr>
          <a:xfrm>
            <a:off x="5760720" y="1700784"/>
            <a:ext cx="3063240" cy="30175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Landlords: </a:t>
            </a:r>
            <a:r>
              <a:rPr sz="850" b="0">
                <a:solidFill>
                  <a:srgbClr val="1F2421"/>
                </a:solidFill>
                <a:latin typeface="Helvetica Neue"/>
              </a:rPr>
              <a:t>property and leases are 62% of Digital Realty's assets; depreciation cuts a 44% EBITDA margin to 14%; revenue has not fallen year on year since 2018.</a:t>
            </a:r>
          </a:p>
          <a:p>
            <a:pPr algn="l" marL="155448" indent="-155448">
              <a:spcAft>
                <a:spcPts val="300"/>
              </a:spcAft>
              <a:buClr>
                <a:srgbClr val="135927"/>
              </a:buClr>
              <a:buSzPct val="100000"/>
              <a:buFont typeface="Helvetica Neue"/>
              <a:buChar char="•"/>
            </a:pPr>
            <a:r>
              <a:rPr sz="850" b="1">
                <a:solidFill>
                  <a:srgbClr val="1F2421"/>
                </a:solidFill>
                <a:latin typeface="Helvetica Neue"/>
              </a:rPr>
              <a:t>Neoclouds: </a:t>
            </a:r>
            <a:r>
              <a:rPr sz="850" b="0">
                <a:solidFill>
                  <a:srgbClr val="1F2421"/>
                </a:solidFill>
                <a:latin typeface="Helvetica Neue"/>
              </a:rPr>
              <a:t>capex 2.7–8.2x revenue; depreciation plus interest 67%–74% of revenue; backlog 14–28x revenue; free cash flow −435% to −127%.</a:t>
            </a:r>
          </a:p>
          <a:p>
            <a:pPr algn="l" marL="155448" indent="-155448">
              <a:spcAft>
                <a:spcPts val="300"/>
              </a:spcAft>
              <a:buClr>
                <a:srgbClr val="135927"/>
              </a:buClr>
              <a:buSzPct val="100000"/>
              <a:buFont typeface="Helvetica Neue"/>
              <a:buChar char="•"/>
            </a:pPr>
            <a:r>
              <a:rPr sz="850" b="1">
                <a:solidFill>
                  <a:srgbClr val="1F2421"/>
                </a:solidFill>
                <a:latin typeface="Helvetica Neue"/>
              </a:rPr>
              <a:t>Server providers: </a:t>
            </a:r>
            <a:r>
              <a:rPr sz="850" b="0">
                <a:solidFill>
                  <a:srgbClr val="1F2421"/>
                </a:solidFill>
                <a:latin typeface="Helvetica Neue"/>
              </a:rPr>
              <a:t>capex ≤0.06x revenue, operating margins 6%–9%, positive free cash flow, backlog under a year of revenue.</a:t>
            </a:r>
          </a:p>
          <a:p>
            <a:pPr algn="l" marL="155448" indent="-155448">
              <a:spcAft>
                <a:spcPts val="300"/>
              </a:spcAft>
              <a:buClr>
                <a:srgbClr val="135927"/>
              </a:buClr>
              <a:buSzPct val="100000"/>
              <a:buFont typeface="Helvetica Neue"/>
              <a:buChar char="•"/>
            </a:pPr>
            <a:r>
              <a:rPr sz="850" b="1">
                <a:solidFill>
                  <a:srgbClr val="1F2421"/>
                </a:solidFill>
                <a:latin typeface="Helvetica Neue"/>
              </a:rPr>
              <a:t>Phase shift: </a:t>
            </a:r>
            <a:r>
              <a:rPr sz="850" b="0">
                <a:solidFill>
                  <a:srgbClr val="1F2421"/>
                </a:solidFill>
                <a:latin typeface="Helvetica Neue"/>
              </a:rPr>
              <a:t>in our stylised 100 MW model, cash payback takes ~11.5 years for the landlord, ~3.2 for the neocloud (if GPUs stay contracted), two quarters for the server provider.</a:t>
            </a:r>
          </a:p>
          <a:p>
            <a:pPr algn="l" marL="155448" indent="-155448">
              <a:spcAft>
                <a:spcPts val="300"/>
              </a:spcAft>
              <a:buClr>
                <a:srgbClr val="135927"/>
              </a:buClr>
              <a:buSzPct val="100000"/>
              <a:buFont typeface="Helvetica Neue"/>
              <a:buChar char="•"/>
            </a:pPr>
            <a:r>
              <a:rPr sz="850" b="1">
                <a:solidFill>
                  <a:srgbClr val="1F2421"/>
                </a:solidFill>
                <a:latin typeface="Helvetica Neue"/>
              </a:rPr>
              <a:t>Useful life: </a:t>
            </a:r>
            <a:r>
              <a:rPr sz="850" b="0">
                <a:solidFill>
                  <a:srgbClr val="1F2421"/>
                </a:solidFill>
                <a:latin typeface="Helvetica Neue"/>
              </a:rPr>
              <a:t>CoreWeave's operating margin is −3% on a 6-year GPU life, −26% on 4 years.</a:t>
            </a:r>
          </a:p>
        </p:txBody>
      </p:sp>
      <p:sp>
        <p:nvSpPr>
          <p:cNvPr id="11" name="axis note qa_q2_profile"/>
          <p:cNvSpPr txBox="1"/>
          <p:nvPr/>
        </p:nvSpPr>
        <p:spPr>
          <a:xfrm>
            <a:off x="320040" y="4191001"/>
            <a:ext cx="52578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Each panel has its own measured ratio on the x-axis: share of total assets (%), capex to revenue (x), depreciation and amortisation to revenue (%), interest expense to revenue (%), GAAP operating…</a:t>
            </a:r>
          </a:p>
          <a:p>
            <a:r>
              <a:rPr sz="700" b="1">
                <a:solidFill>
                  <a:srgbClr val="135927"/>
                </a:solidFill>
                <a:latin typeface="Helvetica Neue"/>
              </a:rPr>
              <a:t>Behaviour  </a:t>
            </a:r>
            <a:r>
              <a:rPr sz="700" b="0">
                <a:solidFill>
                  <a:srgbClr val="404040"/>
                </a:solidFill>
                <a:latin typeface="Helvetica Neue"/>
              </a:rPr>
              <a:t>the three groups separate in every panel — neocloud capex is 2.7–8.2x revenue against ≤0.06x for server providers, and committed costs are 67–74% of revenue against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Revenue elasticity is highest for servers; AI beta highest for neoclouds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(2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Exposure differs by layer</a:t>
            </a:r>
            <a:r>
              <a:rPr sz="1050" b="0">
                <a:solidFill>
                  <a:srgbClr val="404040"/>
                </a:solidFill>
                <a:latin typeface="Helvetica Neue"/>
              </a:rPr>
              <a:t> — minimum-variance mix 45% landlords and 55% servers; maximum-Sharpe 72% servers and 28% neoclouds.</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Yahoo Finance; FRED; Bona Fide analysis (code/business_model_analysis.py). Daily returns 31-Mar-2025 to 11-Sep-2026; revenue elasticity 2018Q2–2026Q2. n.s. = not significant at 5%.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30</a:t>
            </a:r>
          </a:p>
        </p:txBody>
      </p:sp>
      <p:pic>
        <p:nvPicPr>
          <p:cNvPr id="8" name="Picture 133" descr="qa_q2_frontier_deck.png"/>
          <p:cNvPicPr>
            <a:picLocks noChangeAspect="1"/>
          </p:cNvPicPr>
          <p:nvPr/>
        </p:nvPicPr>
        <p:blipFill>
          <a:blip r:embed="rId5"/>
          <a:stretch>
            <a:fillRect/>
          </a:stretch>
        </p:blipFill>
        <p:spPr>
          <a:xfrm>
            <a:off x="1293358" y="1734312"/>
            <a:ext cx="3311163" cy="1246633"/>
          </a:xfrm>
          <a:prstGeom prst="rect">
            <a:avLst/>
          </a:prstGeom>
        </p:spPr>
      </p:pic>
      <p:graphicFrame>
        <p:nvGraphicFramePr>
          <p:cNvPr id="9" name="Table 134"/>
          <p:cNvGraphicFramePr>
            <a:graphicFrameLocks noGrp="1"/>
          </p:cNvGraphicFramePr>
          <p:nvPr/>
        </p:nvGraphicFramePr>
        <p:xfrm>
          <a:off x="320040" y="3916680"/>
          <a:ext cx="5257800" cy="804672"/>
        </p:xfrm>
        <a:graphic>
          <a:graphicData uri="http://schemas.openxmlformats.org/drawingml/2006/table">
            <a:tbl>
              <a:tblPr firstRow="1" bandRow="1">
                <a:tableStyleId>{5C22544A-7EE6-4342-B048-85BDC9FD1C3A}</a:tableStyleId>
              </a:tblPr>
              <a:tblGrid>
                <a:gridCol w="1188720"/>
                <a:gridCol w="1143000"/>
                <a:gridCol w="914400"/>
                <a:gridCol w="914400"/>
                <a:gridCol w="1097280"/>
              </a:tblGrid>
              <a:tr h="201168">
                <a:tc>
                  <a:txBody>
                    <a:bodyPr/>
                    <a:lstStyle/>
                    <a:p>
                      <a:r>
                        <a:rPr sz="800" b="1">
                          <a:solidFill>
                            <a:srgbClr val="FCC80D"/>
                          </a:solidFill>
                          <a:latin typeface="Helvetica Neue"/>
                        </a:rPr>
                        <a:t>Model</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Revenue elasticity</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AI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Market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Per +10bp yield</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01168">
                <a:tc>
                  <a:txBody>
                    <a:bodyPr/>
                    <a:lstStyle/>
                    <a:p>
                      <a:r>
                        <a:rPr sz="800" b="1">
                          <a:solidFill>
                            <a:srgbClr val="1F2421"/>
                          </a:solidFill>
                          <a:latin typeface="Helvetica Neue"/>
                        </a:rPr>
                        <a:t>Landlords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0.06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0.03–0.31</a:t>
                      </a:r>
                      <a:r>
                        <a:rPr sz="650" b="0">
                          <a:solidFill>
                            <a:srgbClr val="6B6B6B"/>
                          </a:solidFill>
                          <a:latin typeface="Helvetica Neue"/>
                        </a:rPr>
                        <a:t>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0.7–2.9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−0.6%</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01168">
                <a:tc>
                  <a:txBody>
                    <a:bodyPr/>
                    <a:lstStyle/>
                    <a:p>
                      <a:r>
                        <a:rPr sz="800" b="1">
                          <a:solidFill>
                            <a:srgbClr val="1F2421"/>
                          </a:solidFill>
                          <a:latin typeface="Helvetica Neue"/>
                        </a:rPr>
                        <a:t>Neoclouds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too new</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0.40–0.85</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2.5–2.9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01168">
                <a:tc>
                  <a:txBody>
                    <a:bodyPr/>
                    <a:lstStyle/>
                    <a:p>
                      <a:r>
                        <a:rPr sz="800" b="1">
                          <a:solidFill>
                            <a:srgbClr val="1F2421"/>
                          </a:solidFill>
                          <a:latin typeface="Helvetica Neue"/>
                        </a:rPr>
                        <a:t>Server providers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0.41–0.84</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0.02–0.18</a:t>
                      </a:r>
                      <a:r>
                        <a:rPr sz="650" b="0">
                          <a:solidFill>
                            <a:srgbClr val="6B6B6B"/>
                          </a:solidFill>
                          <a:latin typeface="Helvetica Neue"/>
                        </a:rPr>
                        <a:t>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1.7–2.0</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WHICH IS MORE ELASTIC?</a:t>
            </a:r>
          </a:p>
        </p:txBody>
      </p:sp>
      <p:sp>
        <p:nvSpPr>
          <p:cNvPr id="11" name="TextBox 136"/>
          <p:cNvSpPr txBox="1"/>
          <p:nvPr/>
        </p:nvSpPr>
        <p:spPr>
          <a:xfrm>
            <a:off x="5760720" y="1700784"/>
            <a:ext cx="3063240" cy="9144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Revenue: </a:t>
            </a:r>
            <a:r>
              <a:rPr sz="850" b="0">
                <a:solidFill>
                  <a:srgbClr val="1F2421"/>
                </a:solidFill>
                <a:latin typeface="Helvetica Neue"/>
              </a:rPr>
              <a:t>server providers. Dell 0.84 and HPE 0.41 per point of capex growth, summed over five quarters; the gap is significant (p = 0.004); Digital Realty 0.06, n.s.</a:t>
            </a:r>
          </a:p>
          <a:p>
            <a:pPr algn="l" marL="155448" indent="-155448">
              <a:spcAft>
                <a:spcPts val="300"/>
              </a:spcAft>
              <a:buClr>
                <a:srgbClr val="135927"/>
              </a:buClr>
              <a:buSzPct val="100000"/>
              <a:buFont typeface="Helvetica Neue"/>
              <a:buChar char="•"/>
            </a:pPr>
            <a:r>
              <a:rPr sz="850" b="1">
                <a:solidFill>
                  <a:srgbClr val="1F2421"/>
                </a:solidFill>
                <a:latin typeface="Helvetica Neue"/>
              </a:rPr>
              <a:t>Share price: </a:t>
            </a:r>
            <a:r>
              <a:rPr sz="850" b="0">
                <a:solidFill>
                  <a:srgbClr val="1F2421"/>
                </a:solidFill>
                <a:latin typeface="Helvetica Neue"/>
              </a:rPr>
              <a:t>neoclouds. AI beta 0.81–0.85 for Nebius and CoreWeave, against 0.02–0.18 for HPE and Dell (not significant).</a:t>
            </a:r>
          </a:p>
        </p:txBody>
      </p:sp>
      <p:sp>
        <p:nvSpPr>
          <p:cNvPr id="12" name="TextBox 135"/>
          <p:cNvSpPr txBox="1"/>
          <p:nvPr/>
        </p:nvSpPr>
        <p:spPr>
          <a:xfrm>
            <a:off x="5760720" y="274320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ONE MODEL OR SEVERAL?</a:t>
            </a:r>
          </a:p>
        </p:txBody>
      </p:sp>
      <p:sp>
        <p:nvSpPr>
          <p:cNvPr id="13" name="TextBox 136"/>
          <p:cNvSpPr txBox="1"/>
          <p:nvPr/>
        </p:nvSpPr>
        <p:spPr>
          <a:xfrm>
            <a:off x="5760720" y="2980944"/>
            <a:ext cx="3063240" cy="17373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Efficiency test: </a:t>
            </a:r>
            <a:r>
              <a:rPr sz="850" b="0">
                <a:solidFill>
                  <a:srgbClr val="1F2421"/>
                </a:solidFill>
                <a:latin typeface="Helvetica Neue"/>
              </a:rPr>
              <a:t>only the neocloud basket touches the frontier, at its riskiest end; landlord and server baskets sit below it.</a:t>
            </a:r>
          </a:p>
          <a:p>
            <a:pPr algn="l" marL="155448" indent="-155448">
              <a:spcAft>
                <a:spcPts val="300"/>
              </a:spcAft>
              <a:buClr>
                <a:srgbClr val="135927"/>
              </a:buClr>
              <a:buSzPct val="100000"/>
              <a:buFont typeface="Helvetica Neue"/>
              <a:buChar char="•"/>
            </a:pPr>
            <a:r>
              <a:rPr sz="850" b="1">
                <a:solidFill>
                  <a:srgbClr val="1F2421"/>
                </a:solidFill>
                <a:latin typeface="Helvetica Neue"/>
              </a:rPr>
              <a:t>Lowest risk: </a:t>
            </a:r>
            <a:r>
              <a:rPr sz="850" b="0">
                <a:solidFill>
                  <a:srgbClr val="1F2421"/>
                </a:solidFill>
                <a:latin typeface="Helvetica Neue"/>
              </a:rPr>
              <a:t>landlords 45% + servers 55%; neoclouds get no weight in 97% of 2,000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Best Sharpe: </a:t>
            </a:r>
            <a:r>
              <a:rPr sz="850" b="0">
                <a:solidFill>
                  <a:srgbClr val="1F2421"/>
                </a:solidFill>
                <a:latin typeface="Helvetica Neue"/>
              </a:rPr>
              <a:t>servers 72% + neoclouds 28%; servers weighted in 98% of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Caveat: </a:t>
            </a:r>
            <a:r>
              <a:rPr sz="850" b="0">
                <a:solidFill>
                  <a:srgbClr val="1F2421"/>
                </a:solidFill>
                <a:latin typeface="Helvetica Neue"/>
              </a:rPr>
              <a:t>17 months of AI-upcycle returns; the covariance estimates are more reliable than the mean returns.</a:t>
            </a:r>
          </a:p>
        </p:txBody>
      </p:sp>
      <p:sp>
        <p:nvSpPr>
          <p:cNvPr id="14" name="Our test"/>
          <p:cNvSpPr txBox="1"/>
          <p:nvPr/>
        </p:nvSpPr>
        <p:spPr>
          <a:xfrm>
            <a:off x="320040" y="1417320"/>
            <a:ext cx="52578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10  </a:t>
            </a:r>
            <a:r>
              <a:rPr sz="800" b="0">
                <a:solidFill>
                  <a:srgbClr val="404040"/>
                </a:solidFill>
                <a:latin typeface="Helvetica Neue"/>
              </a:rPr>
              <a:t>Portfolio construction: long-only minimum-variance and maximum-Sharpe weights on daily basket returns, re-estimated on 2,000 block bootstraps</a:t>
            </a:r>
          </a:p>
        </p:txBody>
      </p:sp>
      <p:sp>
        <p:nvSpPr>
          <p:cNvPr id="15" name="Our test"/>
          <p:cNvSpPr txBox="1"/>
          <p:nvPr/>
        </p:nvSpPr>
        <p:spPr>
          <a:xfrm>
            <a:off x="320040" y="3599688"/>
            <a:ext cx="52578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9  </a:t>
            </a:r>
            <a:r>
              <a:rPr sz="800" b="0">
                <a:solidFill>
                  <a:srgbClr val="404040"/>
                </a:solidFill>
                <a:latin typeface="Helvetica Neue"/>
              </a:rPr>
              <a:t>Elasticity of revenue and share price to AI demand: revenue on hyperscaler capex growth (33 quarters); daily returns on four factors (365 days)</a:t>
            </a:r>
          </a:p>
        </p:txBody>
      </p:sp>
      <p:sp>
        <p:nvSpPr>
          <p:cNvPr id="16" name="axis note qa_q2_frontier"/>
          <p:cNvSpPr txBox="1"/>
          <p:nvPr/>
        </p:nvSpPr>
        <p:spPr>
          <a:xfrm>
            <a:off x="520215" y="3017521"/>
            <a:ext cx="4857448"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Left panel: annualised volatility of daily returns, per cent (25–115%), so further right is riskier. Right panel: the weight assigned to each basket in the minimum-variance portfolio, per cent…</a:t>
            </a:r>
          </a:p>
          <a:p>
            <a:r>
              <a:rPr sz="700" b="1">
                <a:solidFill>
                  <a:srgbClr val="135927"/>
                </a:solidFill>
                <a:latin typeface="Helvetica Neue"/>
              </a:rPr>
              <a:t>Behaviour  </a:t>
            </a:r>
            <a:r>
              <a:rPr sz="700" b="0">
                <a:solidFill>
                  <a:srgbClr val="404040"/>
                </a:solidFill>
                <a:latin typeface="Helvetica Neue"/>
              </a:rPr>
              <a:t>the server basket (56% volatility) and landlord basket (60%) sit below the frontier while the neocloud basket sits on it at the extreme.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GreenLake adds customers and retention, not yet networking-level profit</a:t>
            </a:r>
            <a:endParaRPr/>
          </a:p>
        </p:txBody>
      </p:sp>
      <p:pic>
        <p:nvPicPr>
          <p:cNvPr id="11" name="Google Shape;130;p30" descr="image.png"/>
          <p:cNvPicPr>
            <a:picLocks noChangeAspect="1"/>
          </p:cNvPicPr>
          <p:nvPr/>
        </p:nvPicPr>
        <p:blipFill>
          <a:blip r:embed="rId2"/>
          <a:stretch>
            <a:fillRect/>
          </a:stretch>
        </p:blipFill>
        <p:spPr>
          <a:xfrm>
            <a:off x="7981149" y="-31578"/>
            <a:ext cx="910634" cy="1410217"/>
          </a:xfrm>
          <a:prstGeom prst="rect">
            <a:avLst/>
          </a:prstGeom>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3</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Growing platform, not yet a second Juniper</a:t>
            </a:r>
            <a:r>
              <a:rPr sz="1050" b="0">
                <a:solidFill>
                  <a:srgbClr val="404040"/>
                </a:solidFill>
                <a:latin typeface="Helvetica Neue"/>
              </a:rPr>
              <a:t> — 52,000 customers (+18%) and net retention near 110%, but a 5.8% FY25 segment margin against networking's 23.3%.</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8-K earnings releases; FY2024–FY2025 10-K; 2025 Securities Analyst Meeting; Q2–Q3 FY26 calls; PeerSpot; Futurum; The Register; Bona Fide analysis (code/greenlake_analysis.py).</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31</a:t>
            </a:r>
          </a:p>
        </p:txBody>
      </p:sp>
      <p:sp>
        <p:nvSpPr>
          <p:cNvPr id="9"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NUMBERS SAY</a:t>
            </a:r>
          </a:p>
        </p:txBody>
      </p:sp>
      <p:sp>
        <p:nvSpPr>
          <p:cNvPr id="10" name="TextBox 136"/>
          <p:cNvSpPr txBox="1"/>
          <p:nvPr/>
        </p:nvSpPr>
        <p:spPr>
          <a:xfrm>
            <a:off x="5760720" y="1700784"/>
            <a:ext cx="3063240" cy="30175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Scale: </a:t>
            </a:r>
            <a:r>
              <a:rPr sz="850" b="0">
                <a:solidFill>
                  <a:srgbClr val="1F2421"/>
                </a:solidFill>
                <a:latin typeface="Helvetica Neue"/>
              </a:rPr>
              <a:t>52,000 customers (+18%) managing 6.7m systems; ARR of $3.15bn also counts lease income and software support, and the ~$3.5bn FY26 target implies +11%.</a:t>
            </a:r>
          </a:p>
          <a:p>
            <a:pPr algn="l" marL="155448" indent="-155448">
              <a:spcAft>
                <a:spcPts val="300"/>
              </a:spcAft>
              <a:buClr>
                <a:srgbClr val="135927"/>
              </a:buClr>
              <a:buSzPct val="100000"/>
              <a:buFont typeface="Helvetica Neue"/>
              <a:buChar char="•"/>
            </a:pPr>
            <a:r>
              <a:rPr sz="850" b="1">
                <a:solidFill>
                  <a:srgbClr val="1F2421"/>
                </a:solidFill>
                <a:latin typeface="Helvetica Neue"/>
              </a:rPr>
              <a:t>Profitability: </a:t>
            </a:r>
            <a:r>
              <a:rPr sz="850" b="0">
                <a:solidFill>
                  <a:srgbClr val="1F2421"/>
                </a:solidFill>
                <a:latin typeface="Helvetica Neue"/>
              </a:rPr>
              <a:t>Hybrid Cloud, GreenLake's FY25 segment, earned 4.4–5.8% in FY23–25 against 23–25% for networking; matching networking's profit would take ~$27bn of revenue at that margin.</a:t>
            </a:r>
          </a:p>
          <a:p>
            <a:pPr algn="l" marL="155448" indent="-155448">
              <a:spcAft>
                <a:spcPts val="300"/>
              </a:spcAft>
              <a:buClr>
                <a:srgbClr val="135927"/>
              </a:buClr>
              <a:buSzPct val="100000"/>
              <a:buFont typeface="Helvetica Neue"/>
              <a:buChar char="•"/>
            </a:pPr>
            <a:r>
              <a:rPr sz="850" b="1">
                <a:solidFill>
                  <a:srgbClr val="1F2421"/>
                </a:solidFill>
                <a:latin typeface="Helvetica Neue"/>
              </a:rPr>
              <a:t>IT operations: </a:t>
            </a:r>
            <a:r>
              <a:rPr sz="850" b="0">
                <a:solidFill>
                  <a:srgbClr val="1F2421"/>
                </a:solidFill>
                <a:latin typeface="Helvetica Neue"/>
              </a:rPr>
              <a:t>one console plus OpsRamp, Morpheus and VM Essentials target tool sprawl and VMware licence cost; users rate it 4.3/5 (14 reviews), but no independent incident-resolution data exist yet.</a:t>
            </a:r>
          </a:p>
          <a:p>
            <a:pPr algn="l" marL="155448" indent="-155448">
              <a:spcAft>
                <a:spcPts val="300"/>
              </a:spcAft>
              <a:buClr>
                <a:srgbClr val="135927"/>
              </a:buClr>
              <a:buSzPct val="100000"/>
              <a:buFont typeface="Helvetica Neue"/>
              <a:buChar char="•"/>
            </a:pPr>
            <a:r>
              <a:rPr sz="850" b="1">
                <a:solidFill>
                  <a:srgbClr val="1F2421"/>
                </a:solidFill>
                <a:latin typeface="Helvetica Neue"/>
              </a:rPr>
              <a:t>Monitor: </a:t>
            </a:r>
            <a:r>
              <a:rPr sz="850" b="0">
                <a:solidFill>
                  <a:srgbClr val="1F2421"/>
                </a:solidFill>
                <a:latin typeface="Helvetica Neue"/>
              </a:rPr>
              <a:t>the December ARR disclosure against ~$3.5bn; any software revenue or margin line; net retention at or above 110%.</a:t>
            </a:r>
          </a:p>
        </p:txBody>
      </p:sp>
      <p:sp>
        <p:nvSpPr>
          <p:cNvPr id="14" name="Our test"/>
          <p:cNvSpPr txBox="1"/>
          <p:nvPr/>
        </p:nvSpPr>
        <p:spPr>
          <a:xfrm>
            <a:off x="320040" y="1417320"/>
            <a:ext cx="5257800" cy="280416"/>
          </a:xfrm>
          <a:prstGeom prst="rect">
            <a:avLst/>
          </a:prstGeom>
          <a:noFill/>
        </p:spPr>
        <p:txBody>
          <a:bodyPr wrap="square" anchor="t" lIns="36576" rIns="36576" tIns="18288" bIns="18288">
            <a:spAutoFit/>
          </a:bodyPr>
          <a:lstStyle/>
          <a:p>
            <a:r>
              <a:rPr sz="800" b="1">
                <a:solidFill>
                  <a:srgbClr val="135927"/>
                </a:solidFill>
                <a:latin typeface="Helvetica Neue"/>
              </a:rPr>
              <a:t>EXPERIMENT 11  </a:t>
            </a:r>
            <a:r>
              <a:rPr sz="800" b="0">
                <a:solidFill>
                  <a:srgbClr val="404040"/>
                </a:solidFill>
                <a:latin typeface="Helvetica Neue"/>
              </a:rPr>
              <a:t>GreenLake scale and profitability test: ARR from 17 earnings releases (Q4 FY21–Q4 FY25); segment margins FY2023–FY2025 from the 10-K</a:t>
            </a:r>
          </a:p>
        </p:txBody>
      </p:sp>
      <p:pic>
        <p:nvPicPr>
          <p:cNvPr id="15" name="Picture q3" descr="qa_q3_greenlake_deck.png"/>
          <p:cNvPicPr>
            <a:picLocks noChangeAspect="1"/>
          </p:cNvPicPr>
          <p:nvPr/>
        </p:nvPicPr>
        <p:blipFill>
          <a:blip r:embed="rId3"/>
          <a:stretch>
            <a:fillRect/>
          </a:stretch>
        </p:blipFill>
        <p:spPr>
          <a:xfrm>
            <a:off x="320040" y="1725168"/>
            <a:ext cx="5257800" cy="1861168"/>
          </a:xfrm>
          <a:prstGeom prst="rect">
            <a:avLst/>
          </a:prstGeom>
        </p:spPr>
      </p:pic>
      <p:sp>
        <p:nvSpPr>
          <p:cNvPr id="16" name="axis note qa_q3_greenlake"/>
          <p:cNvSpPr txBox="1"/>
          <p:nvPr/>
        </p:nvSpPr>
        <p:spPr>
          <a:xfrm>
            <a:off x="320040" y="3622912"/>
            <a:ext cx="5257800" cy="445008"/>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Left: fiscal quarter, Q4 FY21 to Q4 FY25, plus the FY26 target (FY26E); values are ARR in US$bn. Right: fiscal year FY2023–FY2025, one bar per segment; bar height is operating margin.</a:t>
            </a:r>
          </a:p>
          <a:p>
            <a:r>
              <a:rPr sz="700" b="1">
                <a:solidFill>
                  <a:srgbClr val="135927"/>
                </a:solidFill>
                <a:latin typeface="Helvetica Neue"/>
              </a:rPr>
              <a:t>Behaviour  </a:t>
            </a:r>
            <a:r>
              <a:rPr sz="700" b="0">
                <a:solidFill>
                  <a:srgbClr val="404040"/>
                </a:solidFill>
                <a:latin typeface="Helvetica Neue"/>
              </a:rPr>
              <a:t>ARR compounds 34% a year to $1.9bn by Q4 FY24, steps up $0.9bn in the Juniper quarter, and the ~$3.5bn FY26 target implies 11%; Hybrid Cloud margin stays 4.4–5.8% against networking's 23–25%.</a:t>
            </a:r>
          </a:p>
        </p:txBody>
      </p:sp>
    </p:spTree>
  </p:cSld>
  <p:clrMapOvr>
    <a:masterClrMapping/>
  </p:clrMapOvr>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